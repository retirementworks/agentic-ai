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565" r:id="rId2"/>
    <p:sldId id="4276" r:id="rId3"/>
    <p:sldId id="4279" r:id="rId4"/>
    <p:sldId id="4251" r:id="rId5"/>
    <p:sldId id="4286" r:id="rId6"/>
    <p:sldId id="4289" r:id="rId7"/>
    <p:sldId id="4290" r:id="rId8"/>
    <p:sldId id="4291" r:id="rId9"/>
    <p:sldId id="4281" r:id="rId10"/>
    <p:sldId id="4284" r:id="rId11"/>
    <p:sldId id="4280" r:id="rId12"/>
    <p:sldId id="4288" r:id="rId13"/>
    <p:sldId id="4293" r:id="rId14"/>
    <p:sldId id="4285" r:id="rId15"/>
    <p:sldId id="4292" r:id="rId16"/>
    <p:sldId id="4275" r:id="rId17"/>
    <p:sldId id="4294" r:id="rId18"/>
    <p:sldId id="4295" r:id="rId19"/>
    <p:sldId id="4296" r:id="rId20"/>
    <p:sldId id="4297" r:id="rId21"/>
    <p:sldId id="4298" r:id="rId22"/>
    <p:sldId id="4299" r:id="rId23"/>
    <p:sldId id="27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D56E48"/>
    <a:srgbClr val="1BBFD1"/>
    <a:srgbClr val="F9F9F9"/>
    <a:srgbClr val="11CCDD"/>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60" autoAdjust="0"/>
    <p:restoredTop sz="94721"/>
  </p:normalViewPr>
  <p:slideViewPr>
    <p:cSldViewPr snapToGrid="0" snapToObjects="1">
      <p:cViewPr>
        <p:scale>
          <a:sx n="100" d="100"/>
          <a:sy n="100" d="100"/>
        </p:scale>
        <p:origin x="870" y="6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8AF958-CF1A-4F01-8A90-7B0A3553D69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61F92D3-90D4-4332-AC7B-016D13B3699A}">
      <dgm:prSet phldrT="[Text]" custT="1"/>
      <dgm:spPr>
        <a:solidFill>
          <a:srgbClr val="0C1752"/>
        </a:solidFill>
      </dgm:spPr>
      <dgm:t>
        <a:bodyPr/>
        <a:lstStyle/>
        <a:p>
          <a:pPr>
            <a:buNone/>
          </a:pPr>
          <a:r>
            <a:rPr lang="en-CA" sz="1600" b="1" i="0" dirty="0">
              <a:latin typeface="Montserrat" panose="00000500000000000000" pitchFamily="2" charset="0"/>
            </a:rPr>
            <a:t>Web search: </a:t>
          </a:r>
        </a:p>
        <a:p>
          <a:pPr>
            <a:buNone/>
          </a:pPr>
          <a:r>
            <a:rPr lang="en-US" sz="1600" b="0" i="0" dirty="0">
              <a:latin typeface="Montserrat" panose="00000500000000000000" pitchFamily="2" charset="0"/>
            </a:rPr>
            <a:t>Access up-to-date and clearly cited answers from the Internet</a:t>
          </a:r>
          <a:endParaRPr lang="en-CA" sz="1600" dirty="0">
            <a:latin typeface="Montserrat" panose="00000500000000000000" pitchFamily="2" charset="0"/>
          </a:endParaRPr>
        </a:p>
      </dgm:t>
    </dgm:pt>
    <dgm:pt modelId="{4A01D172-D32C-4992-B3F8-68294442A252}" type="parTrans" cxnId="{E2C446CF-0A51-496C-87CE-A8454581B780}">
      <dgm:prSet/>
      <dgm:spPr/>
      <dgm:t>
        <a:bodyPr/>
        <a:lstStyle/>
        <a:p>
          <a:endParaRPr lang="en-CA" sz="1200"/>
        </a:p>
      </dgm:t>
    </dgm:pt>
    <dgm:pt modelId="{FEFEAED3-1EA7-4B71-BB14-F514AF5C3E66}" type="sibTrans" cxnId="{E2C446CF-0A51-496C-87CE-A8454581B780}">
      <dgm:prSet/>
      <dgm:spPr/>
      <dgm:t>
        <a:bodyPr/>
        <a:lstStyle/>
        <a:p>
          <a:endParaRPr lang="en-CA" sz="1200"/>
        </a:p>
      </dgm:t>
    </dgm:pt>
    <dgm:pt modelId="{3FA7E6C9-92DE-438C-8376-F0630F7A275F}">
      <dgm:prSet phldrT="[Text]" custT="1"/>
      <dgm:spPr>
        <a:solidFill>
          <a:srgbClr val="D56E48"/>
        </a:solidFill>
      </dgm:spPr>
      <dgm:t>
        <a:bodyPr/>
        <a:lstStyle/>
        <a:p>
          <a:pPr>
            <a:buNone/>
          </a:pPr>
          <a:r>
            <a:rPr lang="en-CA" sz="1600" b="1" i="0" dirty="0">
              <a:latin typeface="Montserrat" panose="00000500000000000000" pitchFamily="2" charset="0"/>
            </a:rPr>
            <a:t>File search: </a:t>
          </a:r>
        </a:p>
        <a:p>
          <a:pPr>
            <a:buNone/>
          </a:pPr>
          <a:r>
            <a:rPr lang="en-US" sz="1600" b="0" i="0" dirty="0">
              <a:latin typeface="Montserrat" panose="00000500000000000000" pitchFamily="2" charset="0"/>
            </a:rPr>
            <a:t>Retrieve relevant knowledge from internal files.</a:t>
          </a:r>
          <a:endParaRPr lang="en-CA" sz="1600" dirty="0">
            <a:latin typeface="Montserrat" panose="00000500000000000000" pitchFamily="2" charset="0"/>
          </a:endParaRPr>
        </a:p>
      </dgm:t>
    </dgm:pt>
    <dgm:pt modelId="{4DAD5954-D172-463E-A56B-45145338E8EC}" type="parTrans" cxnId="{B535D1C0-C8AB-4F10-BAB6-6DEF98A69392}">
      <dgm:prSet/>
      <dgm:spPr/>
      <dgm:t>
        <a:bodyPr/>
        <a:lstStyle/>
        <a:p>
          <a:endParaRPr lang="en-CA" sz="1200"/>
        </a:p>
      </dgm:t>
    </dgm:pt>
    <dgm:pt modelId="{5DB5E823-2EE9-4A2F-8BA6-64DE3CB5E409}" type="sibTrans" cxnId="{B535D1C0-C8AB-4F10-BAB6-6DEF98A69392}">
      <dgm:prSet/>
      <dgm:spPr/>
      <dgm:t>
        <a:bodyPr/>
        <a:lstStyle/>
        <a:p>
          <a:endParaRPr lang="en-CA" sz="1200"/>
        </a:p>
      </dgm:t>
    </dgm:pt>
    <dgm:pt modelId="{D1FD7987-F316-4385-A7F9-BAFF62334D71}">
      <dgm:prSet phldrT="[Text]" custT="1"/>
      <dgm:spPr>
        <a:solidFill>
          <a:schemeClr val="bg1">
            <a:lumMod val="65000"/>
          </a:schemeClr>
        </a:solidFill>
      </dgm:spPr>
      <dgm:t>
        <a:bodyPr/>
        <a:lstStyle/>
        <a:p>
          <a:pPr>
            <a:buNone/>
          </a:pPr>
          <a:r>
            <a:rPr lang="en-CA" sz="1600" b="1" i="0" dirty="0">
              <a:latin typeface="Montserrat" panose="00000500000000000000" pitchFamily="2" charset="0"/>
            </a:rPr>
            <a:t>Image generation: </a:t>
          </a:r>
        </a:p>
        <a:p>
          <a:pPr>
            <a:buNone/>
          </a:pPr>
          <a:r>
            <a:rPr lang="en-US" sz="1600" b="0" i="0" dirty="0">
              <a:latin typeface="Montserrat" panose="00000500000000000000" pitchFamily="2" charset="0"/>
            </a:rPr>
            <a:t>Create images from natural language</a:t>
          </a:r>
          <a:endParaRPr lang="en-CA" sz="1600" dirty="0">
            <a:latin typeface="Montserrat" panose="00000500000000000000" pitchFamily="2" charset="0"/>
          </a:endParaRPr>
        </a:p>
      </dgm:t>
    </dgm:pt>
    <dgm:pt modelId="{3D727097-9977-4BFC-AC9D-E787A122F76E}" type="parTrans" cxnId="{01F16803-68C9-43A8-876E-8AAC329A05DF}">
      <dgm:prSet/>
      <dgm:spPr/>
      <dgm:t>
        <a:bodyPr/>
        <a:lstStyle/>
        <a:p>
          <a:endParaRPr lang="en-CA" sz="1200"/>
        </a:p>
      </dgm:t>
    </dgm:pt>
    <dgm:pt modelId="{23A13468-BABA-4016-9BB0-B12DD702D8EE}" type="sibTrans" cxnId="{01F16803-68C9-43A8-876E-8AAC329A05DF}">
      <dgm:prSet/>
      <dgm:spPr/>
      <dgm:t>
        <a:bodyPr/>
        <a:lstStyle/>
        <a:p>
          <a:endParaRPr lang="en-CA" sz="1200"/>
        </a:p>
      </dgm:t>
    </dgm:pt>
    <dgm:pt modelId="{DEEA631D-7AA0-45FB-BA25-FF494782FD10}">
      <dgm:prSet phldrT="[Text]" custT="1"/>
      <dgm:spPr>
        <a:solidFill>
          <a:srgbClr val="1BBFD1"/>
        </a:solidFill>
      </dgm:spPr>
      <dgm:t>
        <a:bodyPr/>
        <a:lstStyle/>
        <a:p>
          <a:pPr>
            <a:buNone/>
          </a:pPr>
          <a:r>
            <a:rPr lang="en-CA" sz="1600" b="1" i="0" dirty="0">
              <a:latin typeface="Montserrat" panose="00000500000000000000" pitchFamily="2" charset="0"/>
            </a:rPr>
            <a:t>Code interpreter: </a:t>
          </a:r>
        </a:p>
        <a:p>
          <a:pPr>
            <a:buNone/>
          </a:pPr>
          <a:r>
            <a:rPr lang="en-US" sz="1600" b="0" i="0" dirty="0">
              <a:latin typeface="Montserrat" panose="00000500000000000000" pitchFamily="2" charset="0"/>
            </a:rPr>
            <a:t>Run Python code iteratively with high accuracy.</a:t>
          </a:r>
          <a:endParaRPr lang="en-CA" sz="1600" dirty="0">
            <a:latin typeface="Montserrat" panose="00000500000000000000" pitchFamily="2" charset="0"/>
          </a:endParaRPr>
        </a:p>
      </dgm:t>
    </dgm:pt>
    <dgm:pt modelId="{5B87C385-E613-40F7-B1FD-01544E51D8B2}" type="parTrans" cxnId="{A7E57EE4-3B83-40F3-B78A-F6673C6000E7}">
      <dgm:prSet/>
      <dgm:spPr/>
      <dgm:t>
        <a:bodyPr/>
        <a:lstStyle/>
        <a:p>
          <a:endParaRPr lang="en-CA" sz="1200"/>
        </a:p>
      </dgm:t>
    </dgm:pt>
    <dgm:pt modelId="{18965487-23D4-4812-A538-D0C26A6B422B}" type="sibTrans" cxnId="{A7E57EE4-3B83-40F3-B78A-F6673C6000E7}">
      <dgm:prSet/>
      <dgm:spPr/>
      <dgm:t>
        <a:bodyPr/>
        <a:lstStyle/>
        <a:p>
          <a:endParaRPr lang="en-CA" sz="1200"/>
        </a:p>
      </dgm:t>
    </dgm:pt>
    <dgm:pt modelId="{E68B802F-911C-45E7-887B-1D01C7CB0575}">
      <dgm:prSet phldrT="[Text]" custT="1"/>
      <dgm:spPr>
        <a:solidFill>
          <a:srgbClr val="0C1752"/>
        </a:solidFill>
      </dgm:spPr>
      <dgm:t>
        <a:bodyPr/>
        <a:lstStyle/>
        <a:p>
          <a:pPr>
            <a:buNone/>
          </a:pPr>
          <a:r>
            <a:rPr lang="en-CA" sz="1600" b="1" i="0" dirty="0">
              <a:latin typeface="Montserrat" panose="00000500000000000000" pitchFamily="2" charset="0"/>
            </a:rPr>
            <a:t>Computer use: </a:t>
          </a:r>
        </a:p>
        <a:p>
          <a:pPr>
            <a:buNone/>
          </a:pPr>
          <a:r>
            <a:rPr lang="en-US" sz="1600" b="0" i="0" dirty="0">
              <a:latin typeface="Montserrat" panose="00000500000000000000" pitchFamily="2" charset="0"/>
            </a:rPr>
            <a:t>Build computer-using agents that complete browser-related tasks on your behalf.</a:t>
          </a:r>
          <a:endParaRPr lang="en-CA" sz="1600" dirty="0">
            <a:latin typeface="Montserrat" panose="00000500000000000000" pitchFamily="2" charset="0"/>
          </a:endParaRPr>
        </a:p>
      </dgm:t>
    </dgm:pt>
    <dgm:pt modelId="{D5473B0E-28CB-4382-8CC0-129AFDF5F119}" type="parTrans" cxnId="{7586AFD7-0D7D-4AA8-9022-E1A453BF0BF6}">
      <dgm:prSet/>
      <dgm:spPr/>
      <dgm:t>
        <a:bodyPr/>
        <a:lstStyle/>
        <a:p>
          <a:endParaRPr lang="en-CA" sz="1200"/>
        </a:p>
      </dgm:t>
    </dgm:pt>
    <dgm:pt modelId="{3CCF7387-408C-4748-8E0A-DBAE834D2F4F}" type="sibTrans" cxnId="{7586AFD7-0D7D-4AA8-9022-E1A453BF0BF6}">
      <dgm:prSet/>
      <dgm:spPr/>
      <dgm:t>
        <a:bodyPr/>
        <a:lstStyle/>
        <a:p>
          <a:endParaRPr lang="en-CA" sz="1200"/>
        </a:p>
      </dgm:t>
    </dgm:pt>
    <dgm:pt modelId="{EF594015-6052-4FF8-BEF0-6749CEDF8904}">
      <dgm:prSet phldrT="[Text]" custT="1"/>
      <dgm:spPr>
        <a:solidFill>
          <a:schemeClr val="accent1">
            <a:lumMod val="60000"/>
            <a:lumOff val="40000"/>
          </a:schemeClr>
        </a:solidFill>
      </dgm:spPr>
      <dgm:t>
        <a:bodyPr/>
        <a:lstStyle/>
        <a:p>
          <a:pPr>
            <a:buNone/>
          </a:pPr>
          <a:r>
            <a:rPr lang="en-CA" sz="1600" b="1" i="0" dirty="0">
              <a:latin typeface="Montserrat" panose="00000500000000000000" pitchFamily="2" charset="0"/>
            </a:rPr>
            <a:t>Connectors and MCP servers: </a:t>
          </a:r>
        </a:p>
        <a:p>
          <a:pPr>
            <a:buNone/>
          </a:pPr>
          <a:r>
            <a:rPr lang="en-US" sz="1600" b="0" i="0" dirty="0">
              <a:latin typeface="Montserrat" panose="00000500000000000000" pitchFamily="2" charset="0"/>
            </a:rPr>
            <a:t>Connect to popular business apps and MCP servers to pull context into our models.</a:t>
          </a:r>
          <a:endParaRPr lang="en-CA" sz="1600" dirty="0">
            <a:latin typeface="Montserrat" panose="00000500000000000000" pitchFamily="2" charset="0"/>
          </a:endParaRPr>
        </a:p>
      </dgm:t>
    </dgm:pt>
    <dgm:pt modelId="{DA282434-7624-4501-BFB8-42F5FA4055C5}" type="parTrans" cxnId="{48F6CE78-D66C-4EB3-99EE-59B045A4C137}">
      <dgm:prSet/>
      <dgm:spPr/>
      <dgm:t>
        <a:bodyPr/>
        <a:lstStyle/>
        <a:p>
          <a:endParaRPr lang="en-CA" sz="1200"/>
        </a:p>
      </dgm:t>
    </dgm:pt>
    <dgm:pt modelId="{A499E896-AB38-4C0E-8ED7-CFC4D16E9F6E}" type="sibTrans" cxnId="{48F6CE78-D66C-4EB3-99EE-59B045A4C137}">
      <dgm:prSet/>
      <dgm:spPr/>
      <dgm:t>
        <a:bodyPr/>
        <a:lstStyle/>
        <a:p>
          <a:endParaRPr lang="en-CA" sz="1200"/>
        </a:p>
      </dgm:t>
    </dgm:pt>
    <dgm:pt modelId="{858BDFD9-004C-47D1-BE19-4B82E5207AC5}" type="pres">
      <dgm:prSet presAssocID="{5D8AF958-CF1A-4F01-8A90-7B0A3553D695}" presName="diagram" presStyleCnt="0">
        <dgm:presLayoutVars>
          <dgm:dir/>
          <dgm:resizeHandles val="exact"/>
        </dgm:presLayoutVars>
      </dgm:prSet>
      <dgm:spPr/>
    </dgm:pt>
    <dgm:pt modelId="{D1E96F24-2B3E-4145-936F-950EBAF9736D}" type="pres">
      <dgm:prSet presAssocID="{661F92D3-90D4-4332-AC7B-016D13B3699A}" presName="node" presStyleLbl="node1" presStyleIdx="0" presStyleCnt="6">
        <dgm:presLayoutVars>
          <dgm:bulletEnabled val="1"/>
        </dgm:presLayoutVars>
      </dgm:prSet>
      <dgm:spPr/>
    </dgm:pt>
    <dgm:pt modelId="{AC7C2077-2470-4594-B294-4A7D1A5D6E99}" type="pres">
      <dgm:prSet presAssocID="{FEFEAED3-1EA7-4B71-BB14-F514AF5C3E66}" presName="sibTrans" presStyleCnt="0"/>
      <dgm:spPr/>
    </dgm:pt>
    <dgm:pt modelId="{328538CE-BD28-495C-9EA2-7785179386D4}" type="pres">
      <dgm:prSet presAssocID="{3FA7E6C9-92DE-438C-8376-F0630F7A275F}" presName="node" presStyleLbl="node1" presStyleIdx="1" presStyleCnt="6">
        <dgm:presLayoutVars>
          <dgm:bulletEnabled val="1"/>
        </dgm:presLayoutVars>
      </dgm:prSet>
      <dgm:spPr/>
    </dgm:pt>
    <dgm:pt modelId="{896A0D20-9C7A-4DDF-8350-19BC35D66C6F}" type="pres">
      <dgm:prSet presAssocID="{5DB5E823-2EE9-4A2F-8BA6-64DE3CB5E409}" presName="sibTrans" presStyleCnt="0"/>
      <dgm:spPr/>
    </dgm:pt>
    <dgm:pt modelId="{DCC5610D-25D5-4BE9-919F-87CF5F87B662}" type="pres">
      <dgm:prSet presAssocID="{D1FD7987-F316-4385-A7F9-BAFF62334D71}" presName="node" presStyleLbl="node1" presStyleIdx="2" presStyleCnt="6">
        <dgm:presLayoutVars>
          <dgm:bulletEnabled val="1"/>
        </dgm:presLayoutVars>
      </dgm:prSet>
      <dgm:spPr/>
    </dgm:pt>
    <dgm:pt modelId="{8625776B-BB4F-43FA-B471-21A4DCB39CA4}" type="pres">
      <dgm:prSet presAssocID="{23A13468-BABA-4016-9BB0-B12DD702D8EE}" presName="sibTrans" presStyleCnt="0"/>
      <dgm:spPr/>
    </dgm:pt>
    <dgm:pt modelId="{79294104-58D8-4EDC-B40B-B0A3BEC98E22}" type="pres">
      <dgm:prSet presAssocID="{DEEA631D-7AA0-45FB-BA25-FF494782FD10}" presName="node" presStyleLbl="node1" presStyleIdx="3" presStyleCnt="6">
        <dgm:presLayoutVars>
          <dgm:bulletEnabled val="1"/>
        </dgm:presLayoutVars>
      </dgm:prSet>
      <dgm:spPr/>
    </dgm:pt>
    <dgm:pt modelId="{902C23E2-B16B-40C4-9191-76A718387501}" type="pres">
      <dgm:prSet presAssocID="{18965487-23D4-4812-A538-D0C26A6B422B}" presName="sibTrans" presStyleCnt="0"/>
      <dgm:spPr/>
    </dgm:pt>
    <dgm:pt modelId="{98EE6B9E-C1DB-4C84-ABE1-2D542B3F9D5A}" type="pres">
      <dgm:prSet presAssocID="{E68B802F-911C-45E7-887B-1D01C7CB0575}" presName="node" presStyleLbl="node1" presStyleIdx="4" presStyleCnt="6">
        <dgm:presLayoutVars>
          <dgm:bulletEnabled val="1"/>
        </dgm:presLayoutVars>
      </dgm:prSet>
      <dgm:spPr/>
    </dgm:pt>
    <dgm:pt modelId="{A690D242-5E23-4CD8-9017-B87DDFA9F882}" type="pres">
      <dgm:prSet presAssocID="{3CCF7387-408C-4748-8E0A-DBAE834D2F4F}" presName="sibTrans" presStyleCnt="0"/>
      <dgm:spPr/>
    </dgm:pt>
    <dgm:pt modelId="{65DF5F68-13F6-41BC-A620-7D153736CD32}" type="pres">
      <dgm:prSet presAssocID="{EF594015-6052-4FF8-BEF0-6749CEDF8904}" presName="node" presStyleLbl="node1" presStyleIdx="5" presStyleCnt="6">
        <dgm:presLayoutVars>
          <dgm:bulletEnabled val="1"/>
        </dgm:presLayoutVars>
      </dgm:prSet>
      <dgm:spPr/>
    </dgm:pt>
  </dgm:ptLst>
  <dgm:cxnLst>
    <dgm:cxn modelId="{01F16803-68C9-43A8-876E-8AAC329A05DF}" srcId="{5D8AF958-CF1A-4F01-8A90-7B0A3553D695}" destId="{D1FD7987-F316-4385-A7F9-BAFF62334D71}" srcOrd="2" destOrd="0" parTransId="{3D727097-9977-4BFC-AC9D-E787A122F76E}" sibTransId="{23A13468-BABA-4016-9BB0-B12DD702D8EE}"/>
    <dgm:cxn modelId="{8C15F50A-6A61-4DF6-8AB3-3452F2056EA8}" type="presOf" srcId="{661F92D3-90D4-4332-AC7B-016D13B3699A}" destId="{D1E96F24-2B3E-4145-936F-950EBAF9736D}" srcOrd="0" destOrd="0" presId="urn:microsoft.com/office/officeart/2005/8/layout/default"/>
    <dgm:cxn modelId="{B50F7F33-5C1E-4971-9449-49C612F131B8}" type="presOf" srcId="{EF594015-6052-4FF8-BEF0-6749CEDF8904}" destId="{65DF5F68-13F6-41BC-A620-7D153736CD32}" srcOrd="0" destOrd="0" presId="urn:microsoft.com/office/officeart/2005/8/layout/default"/>
    <dgm:cxn modelId="{C339FD4E-EDE4-45F1-87AE-7F8DB1C51260}" type="presOf" srcId="{D1FD7987-F316-4385-A7F9-BAFF62334D71}" destId="{DCC5610D-25D5-4BE9-919F-87CF5F87B662}" srcOrd="0" destOrd="0" presId="urn:microsoft.com/office/officeart/2005/8/layout/default"/>
    <dgm:cxn modelId="{48F6CE78-D66C-4EB3-99EE-59B045A4C137}" srcId="{5D8AF958-CF1A-4F01-8A90-7B0A3553D695}" destId="{EF594015-6052-4FF8-BEF0-6749CEDF8904}" srcOrd="5" destOrd="0" parTransId="{DA282434-7624-4501-BFB8-42F5FA4055C5}" sibTransId="{A499E896-AB38-4C0E-8ED7-CFC4D16E9F6E}"/>
    <dgm:cxn modelId="{F3EA857F-C822-40CD-8D3D-E20FC6F41168}" type="presOf" srcId="{5D8AF958-CF1A-4F01-8A90-7B0A3553D695}" destId="{858BDFD9-004C-47D1-BE19-4B82E5207AC5}" srcOrd="0" destOrd="0" presId="urn:microsoft.com/office/officeart/2005/8/layout/default"/>
    <dgm:cxn modelId="{B535D1C0-C8AB-4F10-BAB6-6DEF98A69392}" srcId="{5D8AF958-CF1A-4F01-8A90-7B0A3553D695}" destId="{3FA7E6C9-92DE-438C-8376-F0630F7A275F}" srcOrd="1" destOrd="0" parTransId="{4DAD5954-D172-463E-A56B-45145338E8EC}" sibTransId="{5DB5E823-2EE9-4A2F-8BA6-64DE3CB5E409}"/>
    <dgm:cxn modelId="{AD493ACB-70E8-4EEF-A35E-22BFF9573E18}" type="presOf" srcId="{E68B802F-911C-45E7-887B-1D01C7CB0575}" destId="{98EE6B9E-C1DB-4C84-ABE1-2D542B3F9D5A}" srcOrd="0" destOrd="0" presId="urn:microsoft.com/office/officeart/2005/8/layout/default"/>
    <dgm:cxn modelId="{E2C446CF-0A51-496C-87CE-A8454581B780}" srcId="{5D8AF958-CF1A-4F01-8A90-7B0A3553D695}" destId="{661F92D3-90D4-4332-AC7B-016D13B3699A}" srcOrd="0" destOrd="0" parTransId="{4A01D172-D32C-4992-B3F8-68294442A252}" sibTransId="{FEFEAED3-1EA7-4B71-BB14-F514AF5C3E66}"/>
    <dgm:cxn modelId="{B0356FD0-6CEB-4093-87ED-1C03455E298B}" type="presOf" srcId="{DEEA631D-7AA0-45FB-BA25-FF494782FD10}" destId="{79294104-58D8-4EDC-B40B-B0A3BEC98E22}" srcOrd="0" destOrd="0" presId="urn:microsoft.com/office/officeart/2005/8/layout/default"/>
    <dgm:cxn modelId="{7586AFD7-0D7D-4AA8-9022-E1A453BF0BF6}" srcId="{5D8AF958-CF1A-4F01-8A90-7B0A3553D695}" destId="{E68B802F-911C-45E7-887B-1D01C7CB0575}" srcOrd="4" destOrd="0" parTransId="{D5473B0E-28CB-4382-8CC0-129AFDF5F119}" sibTransId="{3CCF7387-408C-4748-8E0A-DBAE834D2F4F}"/>
    <dgm:cxn modelId="{A7E57EE4-3B83-40F3-B78A-F6673C6000E7}" srcId="{5D8AF958-CF1A-4F01-8A90-7B0A3553D695}" destId="{DEEA631D-7AA0-45FB-BA25-FF494782FD10}" srcOrd="3" destOrd="0" parTransId="{5B87C385-E613-40F7-B1FD-01544E51D8B2}" sibTransId="{18965487-23D4-4812-A538-D0C26A6B422B}"/>
    <dgm:cxn modelId="{A0D1C4E5-22CE-42C5-9FBB-7F9F3FF5BF67}" type="presOf" srcId="{3FA7E6C9-92DE-438C-8376-F0630F7A275F}" destId="{328538CE-BD28-495C-9EA2-7785179386D4}" srcOrd="0" destOrd="0" presId="urn:microsoft.com/office/officeart/2005/8/layout/default"/>
    <dgm:cxn modelId="{D7103A82-1998-43C9-BD8B-4B73593AC9B4}" type="presParOf" srcId="{858BDFD9-004C-47D1-BE19-4B82E5207AC5}" destId="{D1E96F24-2B3E-4145-936F-950EBAF9736D}" srcOrd="0" destOrd="0" presId="urn:microsoft.com/office/officeart/2005/8/layout/default"/>
    <dgm:cxn modelId="{DE612C95-7033-49B3-932B-08F855370B71}" type="presParOf" srcId="{858BDFD9-004C-47D1-BE19-4B82E5207AC5}" destId="{AC7C2077-2470-4594-B294-4A7D1A5D6E99}" srcOrd="1" destOrd="0" presId="urn:microsoft.com/office/officeart/2005/8/layout/default"/>
    <dgm:cxn modelId="{C79C063E-46A3-4532-8FC4-3CB18F033E42}" type="presParOf" srcId="{858BDFD9-004C-47D1-BE19-4B82E5207AC5}" destId="{328538CE-BD28-495C-9EA2-7785179386D4}" srcOrd="2" destOrd="0" presId="urn:microsoft.com/office/officeart/2005/8/layout/default"/>
    <dgm:cxn modelId="{A2DB7A97-02D1-4CF0-85EC-A734E1B0BC3B}" type="presParOf" srcId="{858BDFD9-004C-47D1-BE19-4B82E5207AC5}" destId="{896A0D20-9C7A-4DDF-8350-19BC35D66C6F}" srcOrd="3" destOrd="0" presId="urn:microsoft.com/office/officeart/2005/8/layout/default"/>
    <dgm:cxn modelId="{D5015692-B555-4522-9B2B-75302016D70A}" type="presParOf" srcId="{858BDFD9-004C-47D1-BE19-4B82E5207AC5}" destId="{DCC5610D-25D5-4BE9-919F-87CF5F87B662}" srcOrd="4" destOrd="0" presId="urn:microsoft.com/office/officeart/2005/8/layout/default"/>
    <dgm:cxn modelId="{04A33B3A-5AAB-4896-9991-553744F6654E}" type="presParOf" srcId="{858BDFD9-004C-47D1-BE19-4B82E5207AC5}" destId="{8625776B-BB4F-43FA-B471-21A4DCB39CA4}" srcOrd="5" destOrd="0" presId="urn:microsoft.com/office/officeart/2005/8/layout/default"/>
    <dgm:cxn modelId="{38FE7CE8-5B34-4201-B0B6-2277575DDF7C}" type="presParOf" srcId="{858BDFD9-004C-47D1-BE19-4B82E5207AC5}" destId="{79294104-58D8-4EDC-B40B-B0A3BEC98E22}" srcOrd="6" destOrd="0" presId="urn:microsoft.com/office/officeart/2005/8/layout/default"/>
    <dgm:cxn modelId="{AE3984C5-FBA3-43A8-8ADA-86202794A756}" type="presParOf" srcId="{858BDFD9-004C-47D1-BE19-4B82E5207AC5}" destId="{902C23E2-B16B-40C4-9191-76A718387501}" srcOrd="7" destOrd="0" presId="urn:microsoft.com/office/officeart/2005/8/layout/default"/>
    <dgm:cxn modelId="{DE9B9D6B-9219-402B-8A8D-EF5A1815D647}" type="presParOf" srcId="{858BDFD9-004C-47D1-BE19-4B82E5207AC5}" destId="{98EE6B9E-C1DB-4C84-ABE1-2D542B3F9D5A}" srcOrd="8" destOrd="0" presId="urn:microsoft.com/office/officeart/2005/8/layout/default"/>
    <dgm:cxn modelId="{F06A5BCE-0D87-4A55-AD82-1FA0046C5C3F}" type="presParOf" srcId="{858BDFD9-004C-47D1-BE19-4B82E5207AC5}" destId="{A690D242-5E23-4CD8-9017-B87DDFA9F882}" srcOrd="9" destOrd="0" presId="urn:microsoft.com/office/officeart/2005/8/layout/default"/>
    <dgm:cxn modelId="{9E01BF86-9D68-4D50-8863-AC336322639C}" type="presParOf" srcId="{858BDFD9-004C-47D1-BE19-4B82E5207AC5}" destId="{65DF5F68-13F6-41BC-A620-7D153736CD32}"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E96F24-2B3E-4145-936F-950EBAF9736D}">
      <dsp:nvSpPr>
        <dsp:cNvPr id="0" name=""/>
        <dsp:cNvSpPr/>
      </dsp:nvSpPr>
      <dsp:spPr>
        <a:xfrm>
          <a:off x="0" y="251041"/>
          <a:ext cx="2978546" cy="178712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Web search: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Access up-to-date and clearly cited answers from the Internet</a:t>
          </a:r>
          <a:endParaRPr lang="en-CA" sz="1600" kern="1200" dirty="0">
            <a:latin typeface="Montserrat" panose="00000500000000000000" pitchFamily="2" charset="0"/>
          </a:endParaRPr>
        </a:p>
      </dsp:txBody>
      <dsp:txXfrm>
        <a:off x="0" y="251041"/>
        <a:ext cx="2978546" cy="1787128"/>
      </dsp:txXfrm>
    </dsp:sp>
    <dsp:sp modelId="{328538CE-BD28-495C-9EA2-7785179386D4}">
      <dsp:nvSpPr>
        <dsp:cNvPr id="0" name=""/>
        <dsp:cNvSpPr/>
      </dsp:nvSpPr>
      <dsp:spPr>
        <a:xfrm>
          <a:off x="3276401" y="251041"/>
          <a:ext cx="2978546" cy="178712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File search: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Retrieve relevant knowledge from internal files.</a:t>
          </a:r>
          <a:endParaRPr lang="en-CA" sz="1600" kern="1200" dirty="0">
            <a:latin typeface="Montserrat" panose="00000500000000000000" pitchFamily="2" charset="0"/>
          </a:endParaRPr>
        </a:p>
      </dsp:txBody>
      <dsp:txXfrm>
        <a:off x="3276401" y="251041"/>
        <a:ext cx="2978546" cy="1787128"/>
      </dsp:txXfrm>
    </dsp:sp>
    <dsp:sp modelId="{DCC5610D-25D5-4BE9-919F-87CF5F87B662}">
      <dsp:nvSpPr>
        <dsp:cNvPr id="0" name=""/>
        <dsp:cNvSpPr/>
      </dsp:nvSpPr>
      <dsp:spPr>
        <a:xfrm>
          <a:off x="6552803" y="251041"/>
          <a:ext cx="2978546" cy="178712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Image generation: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Create images from natural language</a:t>
          </a:r>
          <a:endParaRPr lang="en-CA" sz="1600" kern="1200" dirty="0">
            <a:latin typeface="Montserrat" panose="00000500000000000000" pitchFamily="2" charset="0"/>
          </a:endParaRPr>
        </a:p>
      </dsp:txBody>
      <dsp:txXfrm>
        <a:off x="6552803" y="251041"/>
        <a:ext cx="2978546" cy="1787128"/>
      </dsp:txXfrm>
    </dsp:sp>
    <dsp:sp modelId="{79294104-58D8-4EDC-B40B-B0A3BEC98E22}">
      <dsp:nvSpPr>
        <dsp:cNvPr id="0" name=""/>
        <dsp:cNvSpPr/>
      </dsp:nvSpPr>
      <dsp:spPr>
        <a:xfrm>
          <a:off x="0" y="2336023"/>
          <a:ext cx="2978546" cy="178712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Code interpreter: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Run Python code iteratively with high accuracy.</a:t>
          </a:r>
          <a:endParaRPr lang="en-CA" sz="1600" kern="1200" dirty="0">
            <a:latin typeface="Montserrat" panose="00000500000000000000" pitchFamily="2" charset="0"/>
          </a:endParaRPr>
        </a:p>
      </dsp:txBody>
      <dsp:txXfrm>
        <a:off x="0" y="2336023"/>
        <a:ext cx="2978546" cy="1787128"/>
      </dsp:txXfrm>
    </dsp:sp>
    <dsp:sp modelId="{98EE6B9E-C1DB-4C84-ABE1-2D542B3F9D5A}">
      <dsp:nvSpPr>
        <dsp:cNvPr id="0" name=""/>
        <dsp:cNvSpPr/>
      </dsp:nvSpPr>
      <dsp:spPr>
        <a:xfrm>
          <a:off x="3276401" y="2336023"/>
          <a:ext cx="2978546" cy="178712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Computer use: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Build computer-using agents that complete browser-related tasks on your behalf.</a:t>
          </a:r>
          <a:endParaRPr lang="en-CA" sz="1600" kern="1200" dirty="0">
            <a:latin typeface="Montserrat" panose="00000500000000000000" pitchFamily="2" charset="0"/>
          </a:endParaRPr>
        </a:p>
      </dsp:txBody>
      <dsp:txXfrm>
        <a:off x="3276401" y="2336023"/>
        <a:ext cx="2978546" cy="1787128"/>
      </dsp:txXfrm>
    </dsp:sp>
    <dsp:sp modelId="{65DF5F68-13F6-41BC-A620-7D153736CD32}">
      <dsp:nvSpPr>
        <dsp:cNvPr id="0" name=""/>
        <dsp:cNvSpPr/>
      </dsp:nvSpPr>
      <dsp:spPr>
        <a:xfrm>
          <a:off x="6552803" y="2336023"/>
          <a:ext cx="2978546" cy="1787128"/>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i="0" kern="1200" dirty="0">
              <a:latin typeface="Montserrat" panose="00000500000000000000" pitchFamily="2" charset="0"/>
            </a:rPr>
            <a:t>Connectors and MCP servers: </a:t>
          </a:r>
        </a:p>
        <a:p>
          <a:pPr marL="0" lvl="0" indent="0" algn="ctr" defTabSz="711200">
            <a:lnSpc>
              <a:spcPct val="90000"/>
            </a:lnSpc>
            <a:spcBef>
              <a:spcPct val="0"/>
            </a:spcBef>
            <a:spcAft>
              <a:spcPct val="35000"/>
            </a:spcAft>
            <a:buNone/>
          </a:pPr>
          <a:r>
            <a:rPr lang="en-US" sz="1600" b="0" i="0" kern="1200" dirty="0">
              <a:latin typeface="Montserrat" panose="00000500000000000000" pitchFamily="2" charset="0"/>
            </a:rPr>
            <a:t>Connect to popular business apps and MCP servers to pull context into our models.</a:t>
          </a:r>
          <a:endParaRPr lang="en-CA" sz="1600" kern="1200" dirty="0">
            <a:latin typeface="Montserrat" panose="00000500000000000000" pitchFamily="2" charset="0"/>
          </a:endParaRPr>
        </a:p>
      </dsp:txBody>
      <dsp:txXfrm>
        <a:off x="6552803" y="2336023"/>
        <a:ext cx="2978546" cy="178712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3/2/2026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3/2/2026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3/2/2026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3/2/2026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3/2/2026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3/2/2026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3/2/2026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3/2/2026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3/2/2026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3/2/2026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3/2/2026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3/2/2026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8.png"/><Relationship Id="rId4" Type="http://schemas.openxmlformats.org/officeDocument/2006/relationships/diagramData" Target="../diagrams/data1.xml"/><Relationship Id="rId9"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openai.com/api/" TargetMode="Externa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134842" y="70651"/>
            <a:ext cx="4875732" cy="1938992"/>
          </a:xfrm>
          <a:prstGeom prst="rect">
            <a:avLst/>
          </a:prstGeom>
        </p:spPr>
        <p:txBody>
          <a:bodyPr wrap="square">
            <a:spAutoFit/>
          </a:bodyPr>
          <a:lstStyle/>
          <a:p>
            <a:r>
              <a:rPr lang="en-US" sz="4000" b="1" dirty="0">
                <a:solidFill>
                  <a:schemeClr val="bg1"/>
                </a:solidFill>
                <a:latin typeface="Montserrat" charset="0"/>
              </a:rPr>
              <a:t>THE AGENTIC AI ENGINEERING BOOTCAMP</a:t>
            </a:r>
            <a:endParaRPr lang="en-US" sz="4000" b="1" dirty="0">
              <a:solidFill>
                <a:schemeClr val="bg1"/>
              </a:solidFill>
              <a:latin typeface="Montserrat" charset="0"/>
              <a:ea typeface="Montserrat" charset="0"/>
              <a:cs typeface="Montserrat" charset="0"/>
            </a:endParaRP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C89AB-19B2-28E0-0DC3-F565F34DE8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6BC209-764C-297C-63E5-32C320075621}"/>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80198CF-B6EA-B829-5639-08374F3ECFB7}"/>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B71889CC-346F-89DA-1EF1-9ADDABB7D33E}"/>
              </a:ext>
            </a:extLst>
          </p:cNvPr>
          <p:cNvSpPr/>
          <p:nvPr/>
        </p:nvSpPr>
        <p:spPr>
          <a:xfrm>
            <a:off x="293914" y="793804"/>
            <a:ext cx="580208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PROBLEM-FIRST FRAMEWORK</a:t>
            </a:r>
          </a:p>
        </p:txBody>
      </p:sp>
      <p:pic>
        <p:nvPicPr>
          <p:cNvPr id="5" name="Picture 4">
            <a:extLst>
              <a:ext uri="{FF2B5EF4-FFF2-40B4-BE49-F238E27FC236}">
                <a16:creationId xmlns:a16="http://schemas.microsoft.com/office/drawing/2014/main" id="{9D10FC0F-33B1-1AE0-DBBE-03C761A7A73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107429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FB7F-924D-47AA-2A4E-819BBD9301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489609-2B81-7363-B53F-9D370C48CE2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F0D1266-3FB8-7145-513B-691CAED9434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4514D08-AD54-60AC-11DF-87663DBB8459}"/>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The Problem First Framework</a:t>
            </a:r>
          </a:p>
        </p:txBody>
      </p:sp>
      <p:sp>
        <p:nvSpPr>
          <p:cNvPr id="9" name="TextBox 8">
            <a:extLst>
              <a:ext uri="{FF2B5EF4-FFF2-40B4-BE49-F238E27FC236}">
                <a16:creationId xmlns:a16="http://schemas.microsoft.com/office/drawing/2014/main" id="{038587CC-A4C0-3616-C22A-2C0D78730C0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 2">
            <a:extLst>
              <a:ext uri="{FF2B5EF4-FFF2-40B4-BE49-F238E27FC236}">
                <a16:creationId xmlns:a16="http://schemas.microsoft.com/office/drawing/2014/main" id="{247B35A9-A7FE-AD1E-03BB-AE3644051517}"/>
              </a:ext>
            </a:extLst>
          </p:cNvPr>
          <p:cNvSpPr/>
          <p:nvPr/>
        </p:nvSpPr>
        <p:spPr>
          <a:xfrm>
            <a:off x="154721" y="925844"/>
            <a:ext cx="11809096" cy="1352931"/>
          </a:xfrm>
          <a:prstGeom prst="rect">
            <a:avLst/>
          </a:prstGeom>
          <a:noFill/>
          <a:ln/>
        </p:spPr>
        <p:txBody>
          <a:bodyPr wrap="square" lIns="0" tIns="0" rIns="0" bIns="0" rtlCol="0" anchor="ctr"/>
          <a:lstStyle/>
          <a:p>
            <a:pPr marL="285750" lvl="0" indent="-285750" eaLnBrk="0" fontAlgn="base" hangingPunct="0">
              <a:spcBef>
                <a:spcPct val="0"/>
              </a:spcBef>
              <a:spcAft>
                <a:spcPct val="0"/>
              </a:spcAft>
              <a:buFont typeface="Arial" panose="020B0604020202020204" pitchFamily="34" charset="0"/>
              <a:buChar char="•"/>
            </a:pPr>
            <a:r>
              <a:rPr lang="en-US" dirty="0">
                <a:latin typeface="Montserrat" panose="00000500000000000000" pitchFamily="2" charset="0"/>
              </a:rPr>
              <a:t>The Problem First framework begins with clearly identifying a real business pain, a task that is slow, expensive, repetitive, or error-prone, before selecting any AI tools or architectures.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Montserrat" panose="00000500000000000000" pitchFamily="2" charset="0"/>
              </a:rPr>
              <a:t>It then guides you to design the agent around solving that pain, map the workflow, define the right level of autonomy, and build a solution that delivers measurable impact.</a:t>
            </a:r>
          </a:p>
        </p:txBody>
      </p:sp>
      <p:sp>
        <p:nvSpPr>
          <p:cNvPr id="4" name="Shape 3">
            <a:extLst>
              <a:ext uri="{FF2B5EF4-FFF2-40B4-BE49-F238E27FC236}">
                <a16:creationId xmlns:a16="http://schemas.microsoft.com/office/drawing/2014/main" id="{7BA62640-A72A-B408-70B7-8743527325EF}"/>
              </a:ext>
            </a:extLst>
          </p:cNvPr>
          <p:cNvSpPr/>
          <p:nvPr/>
        </p:nvSpPr>
        <p:spPr>
          <a:xfrm>
            <a:off x="1007029" y="2423895"/>
            <a:ext cx="594360" cy="594360"/>
          </a:xfrm>
          <a:prstGeom prst="ellipse">
            <a:avLst/>
          </a:prstGeom>
          <a:solidFill>
            <a:srgbClr val="0C1752"/>
          </a:solidFill>
          <a:ln/>
        </p:spPr>
        <p:txBody>
          <a:bodyPr/>
          <a:lstStyle/>
          <a:p>
            <a:endParaRPr lang="en-CA" sz="2400"/>
          </a:p>
        </p:txBody>
      </p:sp>
      <p:sp>
        <p:nvSpPr>
          <p:cNvPr id="8" name="Text 4">
            <a:extLst>
              <a:ext uri="{FF2B5EF4-FFF2-40B4-BE49-F238E27FC236}">
                <a16:creationId xmlns:a16="http://schemas.microsoft.com/office/drawing/2014/main" id="{4CC25E5D-A656-AD6B-0B8B-906C5F10A68F}"/>
              </a:ext>
            </a:extLst>
          </p:cNvPr>
          <p:cNvSpPr/>
          <p:nvPr/>
        </p:nvSpPr>
        <p:spPr>
          <a:xfrm>
            <a:off x="1007029" y="2423895"/>
            <a:ext cx="59436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10" name="Shape 5">
            <a:extLst>
              <a:ext uri="{FF2B5EF4-FFF2-40B4-BE49-F238E27FC236}">
                <a16:creationId xmlns:a16="http://schemas.microsoft.com/office/drawing/2014/main" id="{D02589EE-3C02-8998-318E-9193F33F8687}"/>
              </a:ext>
            </a:extLst>
          </p:cNvPr>
          <p:cNvSpPr/>
          <p:nvPr/>
        </p:nvSpPr>
        <p:spPr>
          <a:xfrm>
            <a:off x="549829" y="3246855"/>
            <a:ext cx="1554480" cy="2560320"/>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000">
              <a:latin typeface="Montserrat" panose="00000500000000000000" pitchFamily="2" charset="0"/>
            </a:endParaRPr>
          </a:p>
        </p:txBody>
      </p:sp>
      <p:sp>
        <p:nvSpPr>
          <p:cNvPr id="11" name="Shape 6">
            <a:extLst>
              <a:ext uri="{FF2B5EF4-FFF2-40B4-BE49-F238E27FC236}">
                <a16:creationId xmlns:a16="http://schemas.microsoft.com/office/drawing/2014/main" id="{F7C5DD27-1CC3-DE2F-D88A-076E8DAA44BC}"/>
              </a:ext>
            </a:extLst>
          </p:cNvPr>
          <p:cNvSpPr/>
          <p:nvPr/>
        </p:nvSpPr>
        <p:spPr>
          <a:xfrm>
            <a:off x="549829" y="3246855"/>
            <a:ext cx="1554480" cy="54864"/>
          </a:xfrm>
          <a:prstGeom prst="rect">
            <a:avLst/>
          </a:prstGeom>
          <a:solidFill>
            <a:srgbClr val="0C1752"/>
          </a:solidFill>
          <a:ln/>
        </p:spPr>
        <p:txBody>
          <a:bodyPr/>
          <a:lstStyle/>
          <a:p>
            <a:endParaRPr lang="en-CA" sz="2000">
              <a:latin typeface="Montserrat" panose="00000500000000000000" pitchFamily="2" charset="0"/>
            </a:endParaRPr>
          </a:p>
        </p:txBody>
      </p:sp>
      <p:sp>
        <p:nvSpPr>
          <p:cNvPr id="12" name="Text 7">
            <a:extLst>
              <a:ext uri="{FF2B5EF4-FFF2-40B4-BE49-F238E27FC236}">
                <a16:creationId xmlns:a16="http://schemas.microsoft.com/office/drawing/2014/main" id="{5C1428A7-2101-17D0-5EFC-361C8DC43756}"/>
              </a:ext>
            </a:extLst>
          </p:cNvPr>
          <p:cNvSpPr/>
          <p:nvPr/>
        </p:nvSpPr>
        <p:spPr>
          <a:xfrm>
            <a:off x="659557" y="3384015"/>
            <a:ext cx="1335024" cy="640080"/>
          </a:xfrm>
          <a:prstGeom prst="rect">
            <a:avLst/>
          </a:prstGeom>
          <a:noFill/>
          <a:ln/>
        </p:spPr>
        <p:txBody>
          <a:bodyPr wrap="square" lIns="0" tIns="0" rIns="0" bIns="0" rtlCol="0" anchor="ctr"/>
          <a:lstStyle/>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Identify</a:t>
            </a:r>
            <a:endParaRPr lang="en-US" sz="1600" dirty="0">
              <a:latin typeface="Montserrat" panose="00000500000000000000" pitchFamily="2" charset="0"/>
            </a:endParaRPr>
          </a:p>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the Pain</a:t>
            </a:r>
            <a:endParaRPr lang="en-US" sz="1600" dirty="0">
              <a:latin typeface="Montserrat" panose="00000500000000000000" pitchFamily="2" charset="0"/>
            </a:endParaRPr>
          </a:p>
        </p:txBody>
      </p:sp>
      <p:sp>
        <p:nvSpPr>
          <p:cNvPr id="13" name="Text 8">
            <a:extLst>
              <a:ext uri="{FF2B5EF4-FFF2-40B4-BE49-F238E27FC236}">
                <a16:creationId xmlns:a16="http://schemas.microsoft.com/office/drawing/2014/main" id="{C5BCE945-1D09-6BAD-5056-0428D1133583}"/>
              </a:ext>
            </a:extLst>
          </p:cNvPr>
          <p:cNvSpPr/>
          <p:nvPr/>
        </p:nvSpPr>
        <p:spPr>
          <a:xfrm>
            <a:off x="659557" y="4069815"/>
            <a:ext cx="1335024" cy="146304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What task is slow, expensive, or error-prone?</a:t>
            </a:r>
            <a:endParaRPr lang="en-US" sz="1200" dirty="0">
              <a:latin typeface="Montserrat" panose="00000500000000000000" pitchFamily="2" charset="0"/>
            </a:endParaRPr>
          </a:p>
        </p:txBody>
      </p:sp>
      <p:sp>
        <p:nvSpPr>
          <p:cNvPr id="15" name="Shape 10">
            <a:extLst>
              <a:ext uri="{FF2B5EF4-FFF2-40B4-BE49-F238E27FC236}">
                <a16:creationId xmlns:a16="http://schemas.microsoft.com/office/drawing/2014/main" id="{0C0E9A0C-0046-AB49-1EB4-AA10ABA315D7}"/>
              </a:ext>
            </a:extLst>
          </p:cNvPr>
          <p:cNvSpPr/>
          <p:nvPr/>
        </p:nvSpPr>
        <p:spPr>
          <a:xfrm>
            <a:off x="3247309" y="2414370"/>
            <a:ext cx="594360" cy="594360"/>
          </a:xfrm>
          <a:prstGeom prst="ellipse">
            <a:avLst/>
          </a:prstGeom>
          <a:solidFill>
            <a:srgbClr val="D56E48"/>
          </a:solidFill>
          <a:ln/>
        </p:spPr>
        <p:txBody>
          <a:bodyPr/>
          <a:lstStyle/>
          <a:p>
            <a:endParaRPr lang="en-CA" sz="2400"/>
          </a:p>
        </p:txBody>
      </p:sp>
      <p:sp>
        <p:nvSpPr>
          <p:cNvPr id="16" name="Text 11">
            <a:extLst>
              <a:ext uri="{FF2B5EF4-FFF2-40B4-BE49-F238E27FC236}">
                <a16:creationId xmlns:a16="http://schemas.microsoft.com/office/drawing/2014/main" id="{E6EA76BB-62E5-EC59-851A-4CF2A17B860A}"/>
              </a:ext>
            </a:extLst>
          </p:cNvPr>
          <p:cNvSpPr/>
          <p:nvPr/>
        </p:nvSpPr>
        <p:spPr>
          <a:xfrm>
            <a:off x="3247309" y="2414370"/>
            <a:ext cx="59436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7" name="Shape 12">
            <a:extLst>
              <a:ext uri="{FF2B5EF4-FFF2-40B4-BE49-F238E27FC236}">
                <a16:creationId xmlns:a16="http://schemas.microsoft.com/office/drawing/2014/main" id="{BC324056-3C76-E33F-54E7-7D339A7B38AC}"/>
              </a:ext>
            </a:extLst>
          </p:cNvPr>
          <p:cNvSpPr/>
          <p:nvPr/>
        </p:nvSpPr>
        <p:spPr>
          <a:xfrm>
            <a:off x="2790109" y="3237330"/>
            <a:ext cx="1554480" cy="2560320"/>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000">
              <a:latin typeface="Montserrat" panose="00000500000000000000" pitchFamily="2" charset="0"/>
            </a:endParaRPr>
          </a:p>
        </p:txBody>
      </p:sp>
      <p:sp>
        <p:nvSpPr>
          <p:cNvPr id="18" name="Shape 13">
            <a:extLst>
              <a:ext uri="{FF2B5EF4-FFF2-40B4-BE49-F238E27FC236}">
                <a16:creationId xmlns:a16="http://schemas.microsoft.com/office/drawing/2014/main" id="{6B2A0572-B62F-8DF8-A1F9-FC6F33851608}"/>
              </a:ext>
            </a:extLst>
          </p:cNvPr>
          <p:cNvSpPr/>
          <p:nvPr/>
        </p:nvSpPr>
        <p:spPr>
          <a:xfrm>
            <a:off x="2790109" y="3237330"/>
            <a:ext cx="1554480" cy="54864"/>
          </a:xfrm>
          <a:prstGeom prst="rect">
            <a:avLst/>
          </a:prstGeom>
          <a:solidFill>
            <a:srgbClr val="D56E48"/>
          </a:solidFill>
          <a:ln/>
        </p:spPr>
        <p:txBody>
          <a:bodyPr/>
          <a:lstStyle/>
          <a:p>
            <a:endParaRPr lang="en-CA" sz="2000">
              <a:latin typeface="Montserrat" panose="00000500000000000000" pitchFamily="2" charset="0"/>
            </a:endParaRPr>
          </a:p>
        </p:txBody>
      </p:sp>
      <p:sp>
        <p:nvSpPr>
          <p:cNvPr id="19" name="Text 14">
            <a:extLst>
              <a:ext uri="{FF2B5EF4-FFF2-40B4-BE49-F238E27FC236}">
                <a16:creationId xmlns:a16="http://schemas.microsoft.com/office/drawing/2014/main" id="{491AB266-CF46-08A4-1376-4D965D13F370}"/>
              </a:ext>
            </a:extLst>
          </p:cNvPr>
          <p:cNvSpPr/>
          <p:nvPr/>
        </p:nvSpPr>
        <p:spPr>
          <a:xfrm>
            <a:off x="2899837" y="3374490"/>
            <a:ext cx="1335024" cy="640080"/>
          </a:xfrm>
          <a:prstGeom prst="rect">
            <a:avLst/>
          </a:prstGeom>
          <a:noFill/>
          <a:ln/>
        </p:spPr>
        <p:txBody>
          <a:bodyPr wrap="square" lIns="0" tIns="0" rIns="0" bIns="0" rtlCol="0" anchor="ctr"/>
          <a:lstStyle/>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Map the</a:t>
            </a:r>
            <a:endParaRPr lang="en-US" sz="1600" dirty="0">
              <a:latin typeface="Montserrat" panose="00000500000000000000" pitchFamily="2" charset="0"/>
            </a:endParaRPr>
          </a:p>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Workflow</a:t>
            </a:r>
            <a:endParaRPr lang="en-US" sz="1600" dirty="0">
              <a:latin typeface="Montserrat" panose="00000500000000000000" pitchFamily="2" charset="0"/>
            </a:endParaRPr>
          </a:p>
        </p:txBody>
      </p:sp>
      <p:sp>
        <p:nvSpPr>
          <p:cNvPr id="20" name="Text 15">
            <a:extLst>
              <a:ext uri="{FF2B5EF4-FFF2-40B4-BE49-F238E27FC236}">
                <a16:creationId xmlns:a16="http://schemas.microsoft.com/office/drawing/2014/main" id="{4A90EF44-B8BE-CCB2-5AD4-E63035C463D0}"/>
              </a:ext>
            </a:extLst>
          </p:cNvPr>
          <p:cNvSpPr/>
          <p:nvPr/>
        </p:nvSpPr>
        <p:spPr>
          <a:xfrm>
            <a:off x="2899837" y="4060290"/>
            <a:ext cx="1335024" cy="146304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Break the human process into discrete steps.</a:t>
            </a:r>
            <a:endParaRPr lang="en-US" sz="1200" dirty="0">
              <a:latin typeface="Montserrat" panose="00000500000000000000" pitchFamily="2" charset="0"/>
            </a:endParaRPr>
          </a:p>
        </p:txBody>
      </p:sp>
      <p:sp>
        <p:nvSpPr>
          <p:cNvPr id="22" name="Shape 17">
            <a:extLst>
              <a:ext uri="{FF2B5EF4-FFF2-40B4-BE49-F238E27FC236}">
                <a16:creationId xmlns:a16="http://schemas.microsoft.com/office/drawing/2014/main" id="{2005858F-6188-16BA-145D-34FDF6B594C1}"/>
              </a:ext>
            </a:extLst>
          </p:cNvPr>
          <p:cNvSpPr/>
          <p:nvPr/>
        </p:nvSpPr>
        <p:spPr>
          <a:xfrm>
            <a:off x="5370937" y="2414370"/>
            <a:ext cx="594360" cy="594360"/>
          </a:xfrm>
          <a:prstGeom prst="ellipse">
            <a:avLst/>
          </a:prstGeom>
          <a:solidFill>
            <a:srgbClr val="1BBFD1"/>
          </a:solidFill>
          <a:ln/>
        </p:spPr>
        <p:txBody>
          <a:bodyPr/>
          <a:lstStyle/>
          <a:p>
            <a:endParaRPr lang="en-CA" sz="2400"/>
          </a:p>
        </p:txBody>
      </p:sp>
      <p:sp>
        <p:nvSpPr>
          <p:cNvPr id="23" name="Text 18">
            <a:extLst>
              <a:ext uri="{FF2B5EF4-FFF2-40B4-BE49-F238E27FC236}">
                <a16:creationId xmlns:a16="http://schemas.microsoft.com/office/drawing/2014/main" id="{D259A70D-F602-D7E6-A843-F6126E832890}"/>
              </a:ext>
            </a:extLst>
          </p:cNvPr>
          <p:cNvSpPr/>
          <p:nvPr/>
        </p:nvSpPr>
        <p:spPr>
          <a:xfrm>
            <a:off x="5370937" y="2414370"/>
            <a:ext cx="59436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24" name="Shape 19">
            <a:extLst>
              <a:ext uri="{FF2B5EF4-FFF2-40B4-BE49-F238E27FC236}">
                <a16:creationId xmlns:a16="http://schemas.microsoft.com/office/drawing/2014/main" id="{ACB22E3F-BB04-650B-FBB9-0881CDDA5097}"/>
              </a:ext>
            </a:extLst>
          </p:cNvPr>
          <p:cNvSpPr/>
          <p:nvPr/>
        </p:nvSpPr>
        <p:spPr>
          <a:xfrm>
            <a:off x="4913737" y="3237330"/>
            <a:ext cx="1554480" cy="2560320"/>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000">
              <a:latin typeface="Montserrat" panose="00000500000000000000" pitchFamily="2" charset="0"/>
            </a:endParaRPr>
          </a:p>
        </p:txBody>
      </p:sp>
      <p:sp>
        <p:nvSpPr>
          <p:cNvPr id="25" name="Shape 20">
            <a:extLst>
              <a:ext uri="{FF2B5EF4-FFF2-40B4-BE49-F238E27FC236}">
                <a16:creationId xmlns:a16="http://schemas.microsoft.com/office/drawing/2014/main" id="{3E725AA7-86AA-1615-5C1F-D07E15674713}"/>
              </a:ext>
            </a:extLst>
          </p:cNvPr>
          <p:cNvSpPr/>
          <p:nvPr/>
        </p:nvSpPr>
        <p:spPr>
          <a:xfrm>
            <a:off x="4913737" y="3237330"/>
            <a:ext cx="1554480" cy="54864"/>
          </a:xfrm>
          <a:prstGeom prst="rect">
            <a:avLst/>
          </a:prstGeom>
          <a:solidFill>
            <a:srgbClr val="1BBFD1"/>
          </a:solidFill>
          <a:ln/>
        </p:spPr>
        <p:txBody>
          <a:bodyPr/>
          <a:lstStyle/>
          <a:p>
            <a:endParaRPr lang="en-CA" sz="2000">
              <a:latin typeface="Montserrat" panose="00000500000000000000" pitchFamily="2" charset="0"/>
            </a:endParaRPr>
          </a:p>
        </p:txBody>
      </p:sp>
      <p:sp>
        <p:nvSpPr>
          <p:cNvPr id="26" name="Text 21">
            <a:extLst>
              <a:ext uri="{FF2B5EF4-FFF2-40B4-BE49-F238E27FC236}">
                <a16:creationId xmlns:a16="http://schemas.microsoft.com/office/drawing/2014/main" id="{476B3CAF-76D4-9296-816B-AD71D9975C1B}"/>
              </a:ext>
            </a:extLst>
          </p:cNvPr>
          <p:cNvSpPr/>
          <p:nvPr/>
        </p:nvSpPr>
        <p:spPr>
          <a:xfrm>
            <a:off x="5023465" y="3374490"/>
            <a:ext cx="1335024" cy="640080"/>
          </a:xfrm>
          <a:prstGeom prst="rect">
            <a:avLst/>
          </a:prstGeom>
          <a:noFill/>
          <a:ln/>
        </p:spPr>
        <p:txBody>
          <a:bodyPr wrap="square" lIns="0" tIns="0" rIns="0" bIns="0" rtlCol="0" anchor="ctr"/>
          <a:lstStyle/>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Set the</a:t>
            </a:r>
            <a:endParaRPr lang="en-US" sz="1600" dirty="0">
              <a:latin typeface="Montserrat" panose="00000500000000000000" pitchFamily="2" charset="0"/>
            </a:endParaRPr>
          </a:p>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Autonomy Level</a:t>
            </a:r>
            <a:endParaRPr lang="en-US" sz="1600" dirty="0">
              <a:latin typeface="Montserrat" panose="00000500000000000000" pitchFamily="2" charset="0"/>
            </a:endParaRPr>
          </a:p>
        </p:txBody>
      </p:sp>
      <p:sp>
        <p:nvSpPr>
          <p:cNvPr id="27" name="Text 22">
            <a:extLst>
              <a:ext uri="{FF2B5EF4-FFF2-40B4-BE49-F238E27FC236}">
                <a16:creationId xmlns:a16="http://schemas.microsoft.com/office/drawing/2014/main" id="{E518DC1A-BF49-F9D4-5A9F-1621FC685F2A}"/>
              </a:ext>
            </a:extLst>
          </p:cNvPr>
          <p:cNvSpPr/>
          <p:nvPr/>
        </p:nvSpPr>
        <p:spPr>
          <a:xfrm>
            <a:off x="5023465" y="4060290"/>
            <a:ext cx="1335024" cy="146304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Augmented LLM? Workflow? Fully autonomous?</a:t>
            </a:r>
            <a:endParaRPr lang="en-US" sz="1200" dirty="0">
              <a:latin typeface="Montserrat" panose="00000500000000000000" pitchFamily="2" charset="0"/>
            </a:endParaRPr>
          </a:p>
        </p:txBody>
      </p:sp>
      <p:sp>
        <p:nvSpPr>
          <p:cNvPr id="29" name="Shape 24">
            <a:extLst>
              <a:ext uri="{FF2B5EF4-FFF2-40B4-BE49-F238E27FC236}">
                <a16:creationId xmlns:a16="http://schemas.microsoft.com/office/drawing/2014/main" id="{43D2D3FE-0929-0E81-831E-EF4EEDE4832D}"/>
              </a:ext>
            </a:extLst>
          </p:cNvPr>
          <p:cNvSpPr/>
          <p:nvPr/>
        </p:nvSpPr>
        <p:spPr>
          <a:xfrm>
            <a:off x="7711801" y="2423895"/>
            <a:ext cx="594360" cy="594360"/>
          </a:xfrm>
          <a:prstGeom prst="ellipse">
            <a:avLst/>
          </a:prstGeom>
          <a:solidFill>
            <a:schemeClr val="bg1">
              <a:lumMod val="65000"/>
            </a:schemeClr>
          </a:solidFill>
          <a:ln/>
        </p:spPr>
        <p:txBody>
          <a:bodyPr/>
          <a:lstStyle/>
          <a:p>
            <a:endParaRPr lang="en-CA" sz="2400"/>
          </a:p>
        </p:txBody>
      </p:sp>
      <p:sp>
        <p:nvSpPr>
          <p:cNvPr id="30" name="Text 25">
            <a:extLst>
              <a:ext uri="{FF2B5EF4-FFF2-40B4-BE49-F238E27FC236}">
                <a16:creationId xmlns:a16="http://schemas.microsoft.com/office/drawing/2014/main" id="{1F2126FA-6A42-A64B-96D1-55CBA4CA8C6A}"/>
              </a:ext>
            </a:extLst>
          </p:cNvPr>
          <p:cNvSpPr/>
          <p:nvPr/>
        </p:nvSpPr>
        <p:spPr>
          <a:xfrm>
            <a:off x="7711801" y="2423895"/>
            <a:ext cx="59436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31" name="Shape 26">
            <a:extLst>
              <a:ext uri="{FF2B5EF4-FFF2-40B4-BE49-F238E27FC236}">
                <a16:creationId xmlns:a16="http://schemas.microsoft.com/office/drawing/2014/main" id="{9CDE0D37-C3C4-EB97-F69C-35B6710D7368}"/>
              </a:ext>
            </a:extLst>
          </p:cNvPr>
          <p:cNvSpPr/>
          <p:nvPr/>
        </p:nvSpPr>
        <p:spPr>
          <a:xfrm>
            <a:off x="7254601" y="3246855"/>
            <a:ext cx="1554480" cy="2560320"/>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000">
              <a:latin typeface="Montserrat" panose="00000500000000000000" pitchFamily="2" charset="0"/>
            </a:endParaRPr>
          </a:p>
        </p:txBody>
      </p:sp>
      <p:sp>
        <p:nvSpPr>
          <p:cNvPr id="32" name="Shape 27">
            <a:extLst>
              <a:ext uri="{FF2B5EF4-FFF2-40B4-BE49-F238E27FC236}">
                <a16:creationId xmlns:a16="http://schemas.microsoft.com/office/drawing/2014/main" id="{3A8932AB-C675-7DEA-1FD5-9188F924CE7D}"/>
              </a:ext>
            </a:extLst>
          </p:cNvPr>
          <p:cNvSpPr/>
          <p:nvPr/>
        </p:nvSpPr>
        <p:spPr>
          <a:xfrm>
            <a:off x="7254601" y="3246855"/>
            <a:ext cx="1554480" cy="54864"/>
          </a:xfrm>
          <a:prstGeom prst="rect">
            <a:avLst/>
          </a:prstGeom>
          <a:solidFill>
            <a:schemeClr val="bg1">
              <a:lumMod val="65000"/>
            </a:schemeClr>
          </a:solidFill>
          <a:ln/>
        </p:spPr>
        <p:txBody>
          <a:bodyPr/>
          <a:lstStyle/>
          <a:p>
            <a:endParaRPr lang="en-CA" sz="2000">
              <a:latin typeface="Montserrat" panose="00000500000000000000" pitchFamily="2" charset="0"/>
            </a:endParaRPr>
          </a:p>
        </p:txBody>
      </p:sp>
      <p:sp>
        <p:nvSpPr>
          <p:cNvPr id="33" name="Text 28">
            <a:extLst>
              <a:ext uri="{FF2B5EF4-FFF2-40B4-BE49-F238E27FC236}">
                <a16:creationId xmlns:a16="http://schemas.microsoft.com/office/drawing/2014/main" id="{7A79B93E-2FE0-FAA0-1ADF-5A7BF72C2184}"/>
              </a:ext>
            </a:extLst>
          </p:cNvPr>
          <p:cNvSpPr/>
          <p:nvPr/>
        </p:nvSpPr>
        <p:spPr>
          <a:xfrm>
            <a:off x="7364329" y="3384015"/>
            <a:ext cx="1444752" cy="640080"/>
          </a:xfrm>
          <a:prstGeom prst="rect">
            <a:avLst/>
          </a:prstGeom>
          <a:noFill/>
          <a:ln/>
        </p:spPr>
        <p:txBody>
          <a:bodyPr wrap="square" lIns="0" tIns="0" rIns="0" bIns="0" rtlCol="0" anchor="ctr"/>
          <a:lstStyle/>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Select the</a:t>
            </a:r>
            <a:endParaRPr lang="en-US" sz="1600" dirty="0">
              <a:latin typeface="Montserrat" panose="00000500000000000000" pitchFamily="2" charset="0"/>
            </a:endParaRPr>
          </a:p>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Architecture</a:t>
            </a:r>
            <a:endParaRPr lang="en-US" sz="1600" dirty="0">
              <a:latin typeface="Montserrat" panose="00000500000000000000" pitchFamily="2" charset="0"/>
            </a:endParaRPr>
          </a:p>
        </p:txBody>
      </p:sp>
      <p:sp>
        <p:nvSpPr>
          <p:cNvPr id="34" name="Text 29">
            <a:extLst>
              <a:ext uri="{FF2B5EF4-FFF2-40B4-BE49-F238E27FC236}">
                <a16:creationId xmlns:a16="http://schemas.microsoft.com/office/drawing/2014/main" id="{FE33A218-CBEE-9163-33B0-E58F2FF2C2C5}"/>
              </a:ext>
            </a:extLst>
          </p:cNvPr>
          <p:cNvSpPr/>
          <p:nvPr/>
        </p:nvSpPr>
        <p:spPr>
          <a:xfrm>
            <a:off x="7364329" y="4069815"/>
            <a:ext cx="1335024" cy="146304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Chaining, Routing, Parallelization, or more?</a:t>
            </a:r>
            <a:endParaRPr lang="en-US" sz="1200" dirty="0">
              <a:latin typeface="Montserrat" panose="00000500000000000000" pitchFamily="2" charset="0"/>
            </a:endParaRPr>
          </a:p>
        </p:txBody>
      </p:sp>
      <p:sp>
        <p:nvSpPr>
          <p:cNvPr id="36" name="Shape 31">
            <a:extLst>
              <a:ext uri="{FF2B5EF4-FFF2-40B4-BE49-F238E27FC236}">
                <a16:creationId xmlns:a16="http://schemas.microsoft.com/office/drawing/2014/main" id="{F45EC7AC-CAED-3E91-A6B3-F0541F2D3699}"/>
              </a:ext>
            </a:extLst>
          </p:cNvPr>
          <p:cNvSpPr/>
          <p:nvPr/>
        </p:nvSpPr>
        <p:spPr>
          <a:xfrm>
            <a:off x="10014946" y="2414370"/>
            <a:ext cx="594360" cy="594360"/>
          </a:xfrm>
          <a:prstGeom prst="ellipse">
            <a:avLst/>
          </a:prstGeom>
          <a:solidFill>
            <a:schemeClr val="accent1">
              <a:lumMod val="60000"/>
              <a:lumOff val="40000"/>
            </a:schemeClr>
          </a:solidFill>
          <a:ln/>
        </p:spPr>
        <p:txBody>
          <a:bodyPr/>
          <a:lstStyle/>
          <a:p>
            <a:endParaRPr lang="en-CA" sz="2400"/>
          </a:p>
        </p:txBody>
      </p:sp>
      <p:sp>
        <p:nvSpPr>
          <p:cNvPr id="37" name="Text 32">
            <a:extLst>
              <a:ext uri="{FF2B5EF4-FFF2-40B4-BE49-F238E27FC236}">
                <a16:creationId xmlns:a16="http://schemas.microsoft.com/office/drawing/2014/main" id="{44F873E5-2DDC-B4F6-0AC1-6E68FE91B1AC}"/>
              </a:ext>
            </a:extLst>
          </p:cNvPr>
          <p:cNvSpPr/>
          <p:nvPr/>
        </p:nvSpPr>
        <p:spPr>
          <a:xfrm>
            <a:off x="10014946" y="2414370"/>
            <a:ext cx="59436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5</a:t>
            </a:r>
            <a:endParaRPr lang="en-US" sz="2800" dirty="0"/>
          </a:p>
        </p:txBody>
      </p:sp>
      <p:sp>
        <p:nvSpPr>
          <p:cNvPr id="38" name="Shape 33">
            <a:extLst>
              <a:ext uri="{FF2B5EF4-FFF2-40B4-BE49-F238E27FC236}">
                <a16:creationId xmlns:a16="http://schemas.microsoft.com/office/drawing/2014/main" id="{F0135879-8A1C-1FBD-1CC2-432830FC4F9D}"/>
              </a:ext>
            </a:extLst>
          </p:cNvPr>
          <p:cNvSpPr/>
          <p:nvPr/>
        </p:nvSpPr>
        <p:spPr>
          <a:xfrm>
            <a:off x="9557746" y="3237330"/>
            <a:ext cx="1554480" cy="2560320"/>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000">
              <a:latin typeface="Montserrat" panose="00000500000000000000" pitchFamily="2" charset="0"/>
            </a:endParaRPr>
          </a:p>
        </p:txBody>
      </p:sp>
      <p:sp>
        <p:nvSpPr>
          <p:cNvPr id="39" name="Shape 34">
            <a:extLst>
              <a:ext uri="{FF2B5EF4-FFF2-40B4-BE49-F238E27FC236}">
                <a16:creationId xmlns:a16="http://schemas.microsoft.com/office/drawing/2014/main" id="{E09B8C81-0AF1-DF3C-F943-384F1BCC5499}"/>
              </a:ext>
            </a:extLst>
          </p:cNvPr>
          <p:cNvSpPr/>
          <p:nvPr/>
        </p:nvSpPr>
        <p:spPr>
          <a:xfrm>
            <a:off x="9557746" y="3237330"/>
            <a:ext cx="1554480" cy="54864"/>
          </a:xfrm>
          <a:prstGeom prst="rect">
            <a:avLst/>
          </a:prstGeom>
          <a:solidFill>
            <a:schemeClr val="accent1">
              <a:lumMod val="60000"/>
              <a:lumOff val="40000"/>
            </a:schemeClr>
          </a:solidFill>
          <a:ln/>
        </p:spPr>
        <p:txBody>
          <a:bodyPr/>
          <a:lstStyle/>
          <a:p>
            <a:endParaRPr lang="en-CA" sz="2000">
              <a:latin typeface="Montserrat" panose="00000500000000000000" pitchFamily="2" charset="0"/>
            </a:endParaRPr>
          </a:p>
        </p:txBody>
      </p:sp>
      <p:sp>
        <p:nvSpPr>
          <p:cNvPr id="40" name="Text 35">
            <a:extLst>
              <a:ext uri="{FF2B5EF4-FFF2-40B4-BE49-F238E27FC236}">
                <a16:creationId xmlns:a16="http://schemas.microsoft.com/office/drawing/2014/main" id="{40C8792E-E479-F8EF-7C44-BA91737C1826}"/>
              </a:ext>
            </a:extLst>
          </p:cNvPr>
          <p:cNvSpPr/>
          <p:nvPr/>
        </p:nvSpPr>
        <p:spPr>
          <a:xfrm>
            <a:off x="9667474" y="3374490"/>
            <a:ext cx="1335024" cy="640080"/>
          </a:xfrm>
          <a:prstGeom prst="rect">
            <a:avLst/>
          </a:prstGeom>
          <a:noFill/>
          <a:ln/>
        </p:spPr>
        <p:txBody>
          <a:bodyPr wrap="square" lIns="0" tIns="0" rIns="0" bIns="0" rtlCol="0" anchor="ctr"/>
          <a:lstStyle/>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Build &amp;</a:t>
            </a:r>
            <a:endParaRPr lang="en-US" sz="1600" dirty="0">
              <a:latin typeface="Montserrat" panose="00000500000000000000" pitchFamily="2" charset="0"/>
            </a:endParaRPr>
          </a:p>
          <a:p>
            <a:pPr marL="0" indent="0">
              <a:buNone/>
            </a:pPr>
            <a:r>
              <a:rPr lang="en-US" sz="1600" b="1" dirty="0">
                <a:solidFill>
                  <a:srgbClr val="0D1B2A"/>
                </a:solidFill>
                <a:latin typeface="Montserrat" panose="00000500000000000000" pitchFamily="2" charset="0"/>
                <a:ea typeface="Calibri" pitchFamily="34" charset="-122"/>
                <a:cs typeface="Calibri" pitchFamily="34" charset="-120"/>
              </a:rPr>
              <a:t>Validate</a:t>
            </a:r>
            <a:endParaRPr lang="en-US" sz="1600" dirty="0">
              <a:latin typeface="Montserrat" panose="00000500000000000000" pitchFamily="2" charset="0"/>
            </a:endParaRPr>
          </a:p>
        </p:txBody>
      </p:sp>
      <p:sp>
        <p:nvSpPr>
          <p:cNvPr id="41" name="Text 36">
            <a:extLst>
              <a:ext uri="{FF2B5EF4-FFF2-40B4-BE49-F238E27FC236}">
                <a16:creationId xmlns:a16="http://schemas.microsoft.com/office/drawing/2014/main" id="{08FDB8BC-7F7A-9887-B98B-19A026E631D9}"/>
              </a:ext>
            </a:extLst>
          </p:cNvPr>
          <p:cNvSpPr/>
          <p:nvPr/>
        </p:nvSpPr>
        <p:spPr>
          <a:xfrm>
            <a:off x="9667474" y="4060290"/>
            <a:ext cx="1335024" cy="146304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Ship the MVP, measure against baseline.</a:t>
            </a:r>
            <a:endParaRPr lang="en-US" sz="1200" dirty="0">
              <a:latin typeface="Montserrat" panose="00000500000000000000" pitchFamily="2" charset="0"/>
            </a:endParaRPr>
          </a:p>
        </p:txBody>
      </p:sp>
      <p:sp>
        <p:nvSpPr>
          <p:cNvPr id="42" name="Arrow: Right 41">
            <a:extLst>
              <a:ext uri="{FF2B5EF4-FFF2-40B4-BE49-F238E27FC236}">
                <a16:creationId xmlns:a16="http://schemas.microsoft.com/office/drawing/2014/main" id="{8A54BC05-0F7C-80E6-BAFF-342AC467184B}"/>
              </a:ext>
            </a:extLst>
          </p:cNvPr>
          <p:cNvSpPr/>
          <p:nvPr/>
        </p:nvSpPr>
        <p:spPr>
          <a:xfrm>
            <a:off x="2218609" y="4241265"/>
            <a:ext cx="481203" cy="32004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Arrow: Right 42">
            <a:extLst>
              <a:ext uri="{FF2B5EF4-FFF2-40B4-BE49-F238E27FC236}">
                <a16:creationId xmlns:a16="http://schemas.microsoft.com/office/drawing/2014/main" id="{67F2A6C6-E90C-699A-10E4-D2571D2CA306}"/>
              </a:ext>
            </a:extLst>
          </p:cNvPr>
          <p:cNvSpPr/>
          <p:nvPr/>
        </p:nvSpPr>
        <p:spPr>
          <a:xfrm>
            <a:off x="4387451" y="4206975"/>
            <a:ext cx="481203" cy="32004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Arrow: Right 43">
            <a:extLst>
              <a:ext uri="{FF2B5EF4-FFF2-40B4-BE49-F238E27FC236}">
                <a16:creationId xmlns:a16="http://schemas.microsoft.com/office/drawing/2014/main" id="{1B0D1DDD-A899-ECE0-4475-23682B3B0EE7}"/>
              </a:ext>
            </a:extLst>
          </p:cNvPr>
          <p:cNvSpPr/>
          <p:nvPr/>
        </p:nvSpPr>
        <p:spPr>
          <a:xfrm>
            <a:off x="6654480" y="4197450"/>
            <a:ext cx="481203" cy="32004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Arrow: Right 44">
            <a:extLst>
              <a:ext uri="{FF2B5EF4-FFF2-40B4-BE49-F238E27FC236}">
                <a16:creationId xmlns:a16="http://schemas.microsoft.com/office/drawing/2014/main" id="{0A78BF00-8C1C-2D11-DEA5-066EFEC2838F}"/>
              </a:ext>
            </a:extLst>
          </p:cNvPr>
          <p:cNvSpPr/>
          <p:nvPr/>
        </p:nvSpPr>
        <p:spPr>
          <a:xfrm>
            <a:off x="8934869" y="4213425"/>
            <a:ext cx="481203" cy="32004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48823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500"/>
                                        <p:tgtEl>
                                          <p:spTgt spid="4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500"/>
                                        <p:tgtEl>
                                          <p:spTgt spid="4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50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5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50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50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56AF-F60F-CAED-49CE-00ACEE695D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47B363-2781-E787-5FF6-D7392607B1D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263B67A-15DF-4755-8F4B-7DD1E0CA733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1E49AC4-3462-58B4-91C9-5AACEEEB20C6}"/>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Common Mistake to Avoid</a:t>
            </a:r>
          </a:p>
        </p:txBody>
      </p:sp>
      <p:sp>
        <p:nvSpPr>
          <p:cNvPr id="9" name="TextBox 8">
            <a:extLst>
              <a:ext uri="{FF2B5EF4-FFF2-40B4-BE49-F238E27FC236}">
                <a16:creationId xmlns:a16="http://schemas.microsoft.com/office/drawing/2014/main" id="{AC84299F-42B0-D71A-B7EA-420A1F36E13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Shape 2">
            <a:extLst>
              <a:ext uri="{FF2B5EF4-FFF2-40B4-BE49-F238E27FC236}">
                <a16:creationId xmlns:a16="http://schemas.microsoft.com/office/drawing/2014/main" id="{CEC56390-202C-72CE-0511-7AE857839BCB}"/>
              </a:ext>
            </a:extLst>
          </p:cNvPr>
          <p:cNvSpPr/>
          <p:nvPr/>
        </p:nvSpPr>
        <p:spPr>
          <a:xfrm>
            <a:off x="512129" y="1666875"/>
            <a:ext cx="4849335" cy="3914775"/>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8" name="Shape 3">
            <a:extLst>
              <a:ext uri="{FF2B5EF4-FFF2-40B4-BE49-F238E27FC236}">
                <a16:creationId xmlns:a16="http://schemas.microsoft.com/office/drawing/2014/main" id="{BC797855-6FAE-1F61-E34B-94D5401A00EF}"/>
              </a:ext>
            </a:extLst>
          </p:cNvPr>
          <p:cNvSpPr/>
          <p:nvPr/>
        </p:nvSpPr>
        <p:spPr>
          <a:xfrm>
            <a:off x="512130" y="1666875"/>
            <a:ext cx="4849334" cy="594359"/>
          </a:xfrm>
          <a:prstGeom prst="rect">
            <a:avLst/>
          </a:prstGeom>
          <a:solidFill>
            <a:srgbClr val="0C1752"/>
          </a:solidFill>
          <a:ln/>
        </p:spPr>
        <p:txBody>
          <a:bodyPr/>
          <a:lstStyle/>
          <a:p>
            <a:endParaRPr lang="en-CA">
              <a:solidFill>
                <a:srgbClr val="0C1752"/>
              </a:solidFill>
              <a:latin typeface="Montserrat" panose="00000500000000000000" pitchFamily="2" charset="0"/>
            </a:endParaRPr>
          </a:p>
        </p:txBody>
      </p:sp>
      <p:sp>
        <p:nvSpPr>
          <p:cNvPr id="10" name="Text 4">
            <a:extLst>
              <a:ext uri="{FF2B5EF4-FFF2-40B4-BE49-F238E27FC236}">
                <a16:creationId xmlns:a16="http://schemas.microsoft.com/office/drawing/2014/main" id="{1C0E59C4-C3DD-CA03-256D-E074A4B84AF7}"/>
              </a:ext>
            </a:extLst>
          </p:cNvPr>
          <p:cNvSpPr/>
          <p:nvPr/>
        </p:nvSpPr>
        <p:spPr>
          <a:xfrm>
            <a:off x="695010" y="1735454"/>
            <a:ext cx="3566160" cy="457200"/>
          </a:xfrm>
          <a:prstGeom prst="rect">
            <a:avLst/>
          </a:prstGeom>
          <a:noFill/>
          <a:ln/>
        </p:spPr>
        <p:txBody>
          <a:bodyPr wrap="square" lIns="0" tIns="0" rIns="0" bIns="0" rtlCol="0" anchor="ctr"/>
          <a:lstStyle/>
          <a:p>
            <a:pPr marL="0" indent="0">
              <a:buNone/>
            </a:pPr>
            <a:r>
              <a:rPr lang="en-US" b="1" dirty="0">
                <a:solidFill>
                  <a:srgbClr val="FFFFFF"/>
                </a:solidFill>
                <a:latin typeface="Montserrat" panose="00000500000000000000" pitchFamily="2" charset="0"/>
                <a:ea typeface="Calibri" pitchFamily="34" charset="-122"/>
                <a:cs typeface="Calibri" pitchFamily="34" charset="-120"/>
              </a:rPr>
              <a:t>TOOL-FIRST (AVOID THIS)</a:t>
            </a:r>
            <a:endParaRPr lang="en-US" dirty="0">
              <a:latin typeface="Montserrat" panose="00000500000000000000" pitchFamily="2" charset="0"/>
            </a:endParaRPr>
          </a:p>
        </p:txBody>
      </p:sp>
      <p:sp>
        <p:nvSpPr>
          <p:cNvPr id="11" name="Text 5">
            <a:extLst>
              <a:ext uri="{FF2B5EF4-FFF2-40B4-BE49-F238E27FC236}">
                <a16:creationId xmlns:a16="http://schemas.microsoft.com/office/drawing/2014/main" id="{AD31A0FE-576E-3560-08AD-004676572A5B}"/>
              </a:ext>
            </a:extLst>
          </p:cNvPr>
          <p:cNvSpPr/>
          <p:nvPr/>
        </p:nvSpPr>
        <p:spPr>
          <a:xfrm>
            <a:off x="740729" y="2556363"/>
            <a:ext cx="4411185" cy="2286000"/>
          </a:xfrm>
          <a:prstGeom prst="rect">
            <a:avLst/>
          </a:prstGeom>
          <a:noFill/>
          <a:ln/>
        </p:spPr>
        <p:txBody>
          <a:bodyPr wrap="square" lIns="0" tIns="0" rIns="0" bIns="0" rtlCol="0" anchor="t"/>
          <a:lstStyle/>
          <a:p>
            <a:pPr marL="0" indent="0">
              <a:buNone/>
            </a:pPr>
            <a:r>
              <a:rPr lang="en-US" i="1" dirty="0">
                <a:latin typeface="Montserrat" panose="00000500000000000000" pitchFamily="2" charset="0"/>
              </a:rPr>
              <a:t>"I just learned about autonomous agents...</a:t>
            </a:r>
            <a:endParaRPr lang="en-US" dirty="0">
              <a:latin typeface="Montserrat" panose="00000500000000000000" pitchFamily="2" charset="0"/>
            </a:endParaRPr>
          </a:p>
          <a:p>
            <a:pPr marL="0" indent="0">
              <a:buNone/>
            </a:pPr>
            <a:r>
              <a:rPr lang="en-US" i="1" dirty="0">
                <a:latin typeface="Montserrat" panose="00000500000000000000" pitchFamily="2" charset="0"/>
              </a:rPr>
              <a:t>let me find a use case for them!"</a:t>
            </a:r>
            <a:endParaRPr lang="en-US" dirty="0">
              <a:latin typeface="Montserrat" panose="00000500000000000000" pitchFamily="2" charset="0"/>
            </a:endParaRPr>
          </a:p>
          <a:p>
            <a:endParaRPr lang="en-US" dirty="0">
              <a:latin typeface="Montserrat" panose="00000500000000000000" pitchFamily="2" charset="0"/>
            </a:endParaRPr>
          </a:p>
          <a:p>
            <a:pPr marL="285750" indent="-285750">
              <a:buSzPct val="100000"/>
              <a:buFont typeface="Arial" panose="020B0604020202020204" pitchFamily="34" charset="0"/>
              <a:buChar char="•"/>
            </a:pPr>
            <a:r>
              <a:rPr lang="en-US" dirty="0">
                <a:latin typeface="Montserrat" panose="00000500000000000000" pitchFamily="2" charset="0"/>
              </a:rPr>
              <a:t>Leads to over-engineered solutions</a:t>
            </a:r>
          </a:p>
          <a:p>
            <a:pPr marL="285750" indent="-285750">
              <a:buSzPct val="100000"/>
              <a:buFont typeface="Arial" panose="020B0604020202020204" pitchFamily="34" charset="0"/>
              <a:buChar char="•"/>
            </a:pPr>
            <a:r>
              <a:rPr lang="en-US" dirty="0">
                <a:latin typeface="Montserrat" panose="00000500000000000000" pitchFamily="2" charset="0"/>
              </a:rPr>
              <a:t>Solving problems that don't exist</a:t>
            </a:r>
          </a:p>
          <a:p>
            <a:pPr marL="285750" indent="-285750">
              <a:buSzPct val="100000"/>
              <a:buFont typeface="Arial" panose="020B0604020202020204" pitchFamily="34" charset="0"/>
              <a:buChar char="•"/>
            </a:pPr>
            <a:r>
              <a:rPr lang="en-US" dirty="0">
                <a:latin typeface="Montserrat" panose="00000500000000000000" pitchFamily="2" charset="0"/>
              </a:rPr>
              <a:t>Higher cost, lower reliability</a:t>
            </a:r>
          </a:p>
          <a:p>
            <a:pPr marL="285750" indent="-285750">
              <a:buSzPct val="100000"/>
              <a:buFont typeface="Arial" panose="020B0604020202020204" pitchFamily="34" charset="0"/>
              <a:buChar char="•"/>
            </a:pPr>
            <a:r>
              <a:rPr lang="en-US" dirty="0">
                <a:latin typeface="Montserrat" panose="00000500000000000000" pitchFamily="2" charset="0"/>
              </a:rPr>
              <a:t>Impressive demos, zero production value</a:t>
            </a:r>
          </a:p>
        </p:txBody>
      </p:sp>
      <p:sp>
        <p:nvSpPr>
          <p:cNvPr id="13" name="Shape 6">
            <a:extLst>
              <a:ext uri="{FF2B5EF4-FFF2-40B4-BE49-F238E27FC236}">
                <a16:creationId xmlns:a16="http://schemas.microsoft.com/office/drawing/2014/main" id="{F9F7F797-9617-A88C-3CFA-35F1AAF57592}"/>
              </a:ext>
            </a:extLst>
          </p:cNvPr>
          <p:cNvSpPr/>
          <p:nvPr/>
        </p:nvSpPr>
        <p:spPr>
          <a:xfrm>
            <a:off x="6896100" y="1666875"/>
            <a:ext cx="4764720" cy="3914774"/>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14" name="Shape 7">
            <a:extLst>
              <a:ext uri="{FF2B5EF4-FFF2-40B4-BE49-F238E27FC236}">
                <a16:creationId xmlns:a16="http://schemas.microsoft.com/office/drawing/2014/main" id="{30EA2B2D-83D4-2FAF-3DE5-0260D7002FD1}"/>
              </a:ext>
            </a:extLst>
          </p:cNvPr>
          <p:cNvSpPr/>
          <p:nvPr/>
        </p:nvSpPr>
        <p:spPr>
          <a:xfrm>
            <a:off x="6896100" y="1666874"/>
            <a:ext cx="4764720" cy="578237"/>
          </a:xfrm>
          <a:prstGeom prst="rect">
            <a:avLst/>
          </a:prstGeom>
          <a:solidFill>
            <a:srgbClr val="D56E48"/>
          </a:solidFill>
          <a:ln/>
        </p:spPr>
        <p:txBody>
          <a:bodyPr/>
          <a:lstStyle/>
          <a:p>
            <a:endParaRPr lang="en-CA">
              <a:latin typeface="Montserrat" panose="00000500000000000000" pitchFamily="2" charset="0"/>
            </a:endParaRPr>
          </a:p>
        </p:txBody>
      </p:sp>
      <p:sp>
        <p:nvSpPr>
          <p:cNvPr id="15" name="Text 8">
            <a:extLst>
              <a:ext uri="{FF2B5EF4-FFF2-40B4-BE49-F238E27FC236}">
                <a16:creationId xmlns:a16="http://schemas.microsoft.com/office/drawing/2014/main" id="{F3A47332-BA70-9182-2944-F2DC3A647C4C}"/>
              </a:ext>
            </a:extLst>
          </p:cNvPr>
          <p:cNvSpPr/>
          <p:nvPr/>
        </p:nvSpPr>
        <p:spPr>
          <a:xfrm>
            <a:off x="7261860" y="1666875"/>
            <a:ext cx="3566160" cy="457200"/>
          </a:xfrm>
          <a:prstGeom prst="rect">
            <a:avLst/>
          </a:prstGeom>
          <a:noFill/>
          <a:ln/>
        </p:spPr>
        <p:txBody>
          <a:bodyPr wrap="square" lIns="0" tIns="0" rIns="0" bIns="0" rtlCol="0" anchor="ctr"/>
          <a:lstStyle/>
          <a:p>
            <a:pPr marL="0" indent="0">
              <a:buNone/>
            </a:pPr>
            <a:r>
              <a:rPr lang="en-US" b="1" dirty="0">
                <a:solidFill>
                  <a:srgbClr val="FFFFFF"/>
                </a:solidFill>
                <a:latin typeface="Montserrat" panose="00000500000000000000" pitchFamily="2" charset="0"/>
                <a:ea typeface="Calibri" pitchFamily="34" charset="-122"/>
                <a:cs typeface="Calibri" pitchFamily="34" charset="-120"/>
              </a:rPr>
              <a:t>PROBLEM-FIRST (DO THIS)</a:t>
            </a:r>
            <a:endParaRPr lang="en-US" dirty="0">
              <a:latin typeface="Montserrat" panose="00000500000000000000" pitchFamily="2" charset="0"/>
            </a:endParaRPr>
          </a:p>
        </p:txBody>
      </p:sp>
      <p:sp>
        <p:nvSpPr>
          <p:cNvPr id="16" name="Text 9">
            <a:extLst>
              <a:ext uri="{FF2B5EF4-FFF2-40B4-BE49-F238E27FC236}">
                <a16:creationId xmlns:a16="http://schemas.microsoft.com/office/drawing/2014/main" id="{128C7348-D3FA-E4C8-9394-18F27F4BBDD3}"/>
              </a:ext>
            </a:extLst>
          </p:cNvPr>
          <p:cNvSpPr/>
          <p:nvPr/>
        </p:nvSpPr>
        <p:spPr>
          <a:xfrm>
            <a:off x="7307579" y="2583473"/>
            <a:ext cx="4372291" cy="2286000"/>
          </a:xfrm>
          <a:prstGeom prst="rect">
            <a:avLst/>
          </a:prstGeom>
          <a:noFill/>
          <a:ln/>
        </p:spPr>
        <p:txBody>
          <a:bodyPr wrap="square" lIns="0" tIns="0" rIns="0" bIns="0" rtlCol="0" anchor="t"/>
          <a:lstStyle/>
          <a:p>
            <a:pPr marL="0" indent="0">
              <a:buNone/>
            </a:pPr>
            <a:r>
              <a:rPr lang="en-US" i="1" dirty="0">
                <a:latin typeface="Montserrat" panose="00000500000000000000" pitchFamily="2" charset="0"/>
              </a:rPr>
              <a:t>"Our legal team spends 40 hours/week</a:t>
            </a:r>
            <a:endParaRPr lang="en-US" dirty="0">
              <a:latin typeface="Montserrat" panose="00000500000000000000" pitchFamily="2" charset="0"/>
            </a:endParaRPr>
          </a:p>
          <a:p>
            <a:pPr marL="0" indent="0">
              <a:buNone/>
            </a:pPr>
            <a:r>
              <a:rPr lang="en-US" i="1" dirty="0">
                <a:latin typeface="Montserrat" panose="00000500000000000000" pitchFamily="2" charset="0"/>
              </a:rPr>
              <a:t>classifying incoming documents..."</a:t>
            </a:r>
            <a:endParaRPr lang="en-US" dirty="0">
              <a:latin typeface="Montserrat" panose="00000500000000000000" pitchFamily="2" charset="0"/>
            </a:endParaRPr>
          </a:p>
          <a:p>
            <a:pPr marL="0" indent="0">
              <a:buNone/>
            </a:pPr>
            <a:endParaRPr lang="en-US" dirty="0">
              <a:latin typeface="Montserrat" panose="00000500000000000000" pitchFamily="2" charset="0"/>
            </a:endParaRPr>
          </a:p>
          <a:p>
            <a:pPr marL="285750" indent="-285750">
              <a:buSzPct val="100000"/>
              <a:buFont typeface="Arial" panose="020B0604020202020204" pitchFamily="34" charset="0"/>
              <a:buChar char="•"/>
            </a:pPr>
            <a:r>
              <a:rPr lang="en-US" dirty="0">
                <a:latin typeface="Montserrat" panose="00000500000000000000" pitchFamily="2" charset="0"/>
              </a:rPr>
              <a:t>Right-sized architecture</a:t>
            </a:r>
          </a:p>
          <a:p>
            <a:pPr marL="285750" indent="-285750">
              <a:buSzPct val="100000"/>
              <a:buFont typeface="Arial" panose="020B0604020202020204" pitchFamily="34" charset="0"/>
              <a:buChar char="•"/>
            </a:pPr>
            <a:r>
              <a:rPr lang="en-US" dirty="0">
                <a:latin typeface="Montserrat" panose="00000500000000000000" pitchFamily="2" charset="0"/>
              </a:rPr>
              <a:t>Measurable ROI from day one</a:t>
            </a:r>
          </a:p>
          <a:p>
            <a:pPr marL="285750" indent="-285750">
              <a:buSzPct val="100000"/>
              <a:buFont typeface="Arial" panose="020B0604020202020204" pitchFamily="34" charset="0"/>
              <a:buChar char="•"/>
            </a:pPr>
            <a:r>
              <a:rPr lang="en-US" dirty="0">
                <a:latin typeface="Montserrat" panose="00000500000000000000" pitchFamily="2" charset="0"/>
              </a:rPr>
              <a:t>Lower complexity, higher reliability</a:t>
            </a:r>
          </a:p>
          <a:p>
            <a:pPr marL="285750" indent="-285750">
              <a:buSzPct val="100000"/>
              <a:buFont typeface="Arial" panose="020B0604020202020204" pitchFamily="34" charset="0"/>
              <a:buChar char="•"/>
            </a:pPr>
            <a:r>
              <a:rPr lang="en-US" dirty="0">
                <a:latin typeface="Montserrat" panose="00000500000000000000" pitchFamily="2" charset="0"/>
              </a:rPr>
              <a:t>Solves real pain points</a:t>
            </a:r>
          </a:p>
        </p:txBody>
      </p:sp>
    </p:spTree>
    <p:extLst>
      <p:ext uri="{BB962C8B-B14F-4D97-AF65-F5344CB8AC3E}">
        <p14:creationId xmlns:p14="http://schemas.microsoft.com/office/powerpoint/2010/main" val="184467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0" grpId="0" animBg="1"/>
      <p:bldP spid="11"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790C4-C945-D7D7-958A-2147AD92B6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A145EF-03B0-2029-A81B-6ABA20BF85F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096B9894-1D58-3D69-0FE9-AD68D8E8EE2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E2BCA69-46C9-8B18-8D4D-54526CC97EC5}"/>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Scenario</a:t>
            </a:r>
          </a:p>
        </p:txBody>
      </p:sp>
      <p:sp>
        <p:nvSpPr>
          <p:cNvPr id="9" name="TextBox 8">
            <a:extLst>
              <a:ext uri="{FF2B5EF4-FFF2-40B4-BE49-F238E27FC236}">
                <a16:creationId xmlns:a16="http://schemas.microsoft.com/office/drawing/2014/main" id="{C583895C-2499-5912-481F-47D5D509EBD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9" name="Text 1">
            <a:extLst>
              <a:ext uri="{FF2B5EF4-FFF2-40B4-BE49-F238E27FC236}">
                <a16:creationId xmlns:a16="http://schemas.microsoft.com/office/drawing/2014/main" id="{B7210913-89F4-BB3D-5835-609CE752C9F4}"/>
              </a:ext>
            </a:extLst>
          </p:cNvPr>
          <p:cNvSpPr/>
          <p:nvPr/>
        </p:nvSpPr>
        <p:spPr>
          <a:xfrm>
            <a:off x="704934" y="885823"/>
            <a:ext cx="7680960" cy="640080"/>
          </a:xfrm>
          <a:prstGeom prst="rect">
            <a:avLst/>
          </a:prstGeom>
          <a:noFill/>
          <a:ln/>
        </p:spPr>
        <p:txBody>
          <a:bodyPr wrap="square" lIns="0" tIns="0" rIns="0" bIns="0" rtlCol="0" anchor="ctr"/>
          <a:lstStyle/>
          <a:p>
            <a:pPr marL="0" indent="0">
              <a:buNone/>
            </a:pPr>
            <a:r>
              <a:rPr lang="en-US" sz="3200" b="1" dirty="0">
                <a:solidFill>
                  <a:srgbClr val="0B1D33"/>
                </a:solidFill>
                <a:latin typeface="Montserrat" panose="00000500000000000000" pitchFamily="2" charset="0"/>
                <a:ea typeface="Georgia" pitchFamily="34" charset="-122"/>
                <a:cs typeface="Georgia" pitchFamily="34" charset="-120"/>
              </a:rPr>
              <a:t>Meet Sarah, a Product Manager</a:t>
            </a:r>
            <a:endParaRPr lang="en-US" sz="3200" dirty="0">
              <a:latin typeface="Montserrat" panose="00000500000000000000" pitchFamily="2" charset="0"/>
            </a:endParaRPr>
          </a:p>
        </p:txBody>
      </p:sp>
      <p:sp>
        <p:nvSpPr>
          <p:cNvPr id="20" name="Shape 2">
            <a:extLst>
              <a:ext uri="{FF2B5EF4-FFF2-40B4-BE49-F238E27FC236}">
                <a16:creationId xmlns:a16="http://schemas.microsoft.com/office/drawing/2014/main" id="{348B2438-E46E-7D14-1DF2-4197C54A24D5}"/>
              </a:ext>
            </a:extLst>
          </p:cNvPr>
          <p:cNvSpPr/>
          <p:nvPr/>
        </p:nvSpPr>
        <p:spPr>
          <a:xfrm>
            <a:off x="731520" y="1645919"/>
            <a:ext cx="10812780" cy="3811905"/>
          </a:xfrm>
          <a:prstGeom prst="rect">
            <a:avLst/>
          </a:prstGeom>
          <a:solidFill>
            <a:schemeClr val="bg2"/>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22" name="Text 4">
            <a:extLst>
              <a:ext uri="{FF2B5EF4-FFF2-40B4-BE49-F238E27FC236}">
                <a16:creationId xmlns:a16="http://schemas.microsoft.com/office/drawing/2014/main" id="{D1317975-989D-9BFD-3535-D0381DE836D1}"/>
              </a:ext>
            </a:extLst>
          </p:cNvPr>
          <p:cNvSpPr/>
          <p:nvPr/>
        </p:nvSpPr>
        <p:spPr>
          <a:xfrm>
            <a:off x="1051560" y="1783079"/>
            <a:ext cx="10130790" cy="2969895"/>
          </a:xfrm>
          <a:prstGeom prst="rect">
            <a:avLst/>
          </a:prstGeom>
          <a:noFill/>
          <a:ln/>
        </p:spPr>
        <p:txBody>
          <a:bodyPr wrap="square" lIns="0" tIns="0" rIns="0" bIns="0" rtlCol="0" anchor="t"/>
          <a:lstStyle/>
          <a:p>
            <a:pPr marL="0" indent="0">
              <a:buNone/>
            </a:pPr>
            <a:r>
              <a:rPr lang="en-US" sz="2400" b="1" dirty="0">
                <a:solidFill>
                  <a:srgbClr val="0B1D33"/>
                </a:solidFill>
                <a:latin typeface="Montserrat" panose="00000500000000000000" pitchFamily="2" charset="0"/>
                <a:ea typeface="Calibri" pitchFamily="34" charset="-122"/>
                <a:cs typeface="Calibri" pitchFamily="34" charset="-120"/>
              </a:rPr>
              <a:t>It's Sunday evening.</a:t>
            </a:r>
            <a:endParaRPr lang="en-US" sz="2400" dirty="0">
              <a:latin typeface="Montserrat" panose="00000500000000000000" pitchFamily="2" charset="0"/>
            </a:endParaRPr>
          </a:p>
          <a:p>
            <a:pPr marL="0" indent="0">
              <a:buNone/>
            </a:pPr>
            <a:endParaRPr lang="en-US" sz="2400" dirty="0">
              <a:latin typeface="Montserrat" panose="00000500000000000000" pitchFamily="2" charset="0"/>
            </a:endParaRPr>
          </a:p>
          <a:p>
            <a:pPr marL="0" indent="0">
              <a:buNone/>
            </a:pPr>
            <a:r>
              <a:rPr lang="en-US" sz="2000" dirty="0">
                <a:solidFill>
                  <a:srgbClr val="0B1D33"/>
                </a:solidFill>
                <a:latin typeface="Montserrat" panose="00000500000000000000" pitchFamily="2" charset="0"/>
                <a:ea typeface="Calibri" pitchFamily="34" charset="-122"/>
                <a:cs typeface="Calibri" pitchFamily="34" charset="-120"/>
              </a:rPr>
              <a:t>Sarah has a critical strategy meeting Monday morning. She needs to understand a competitor's recent moves, new product launches, pricing shifts, customer sentiment, and potential market impact.</a:t>
            </a:r>
            <a:endParaRPr lang="en-US" sz="2400" dirty="0">
              <a:latin typeface="Montserrat" panose="00000500000000000000" pitchFamily="2" charset="0"/>
            </a:endParaRPr>
          </a:p>
          <a:p>
            <a:pPr marL="0" indent="0">
              <a:buNone/>
            </a:pPr>
            <a:endParaRPr lang="en-US" sz="2400" dirty="0">
              <a:latin typeface="Montserrat" panose="00000500000000000000" pitchFamily="2" charset="0"/>
            </a:endParaRPr>
          </a:p>
          <a:p>
            <a:pPr marL="0" indent="0">
              <a:buNone/>
            </a:pPr>
            <a:r>
              <a:rPr lang="en-US" sz="2000" dirty="0">
                <a:solidFill>
                  <a:srgbClr val="0B1D33"/>
                </a:solidFill>
                <a:latin typeface="Montserrat" panose="00000500000000000000" pitchFamily="2" charset="0"/>
                <a:ea typeface="Calibri" pitchFamily="34" charset="-122"/>
                <a:cs typeface="Calibri" pitchFamily="34" charset="-120"/>
              </a:rPr>
              <a:t>She opens her laptop and starts the familiar ritual: searching across industry news sites, checking SEC filings, scrolling through social media chatter, pulling product reviews, tabulating everything into a coherent picture.</a:t>
            </a:r>
            <a:endParaRPr lang="en-US" sz="2400" dirty="0">
              <a:latin typeface="Montserrat" panose="00000500000000000000" pitchFamily="2" charset="0"/>
            </a:endParaRPr>
          </a:p>
        </p:txBody>
      </p:sp>
      <p:sp>
        <p:nvSpPr>
          <p:cNvPr id="23" name="Text 5">
            <a:extLst>
              <a:ext uri="{FF2B5EF4-FFF2-40B4-BE49-F238E27FC236}">
                <a16:creationId xmlns:a16="http://schemas.microsoft.com/office/drawing/2014/main" id="{E056F051-90E7-A189-15D8-D2CB2EDF7828}"/>
              </a:ext>
            </a:extLst>
          </p:cNvPr>
          <p:cNvSpPr/>
          <p:nvPr/>
        </p:nvSpPr>
        <p:spPr>
          <a:xfrm>
            <a:off x="3129467" y="5830931"/>
            <a:ext cx="7680960" cy="365760"/>
          </a:xfrm>
          <a:prstGeom prst="rect">
            <a:avLst/>
          </a:prstGeom>
          <a:noFill/>
          <a:ln/>
        </p:spPr>
        <p:txBody>
          <a:bodyPr wrap="square" lIns="0" tIns="0" rIns="0" bIns="0" rtlCol="0" anchor="ctr"/>
          <a:lstStyle/>
          <a:p>
            <a:pPr marL="0" indent="0">
              <a:buNone/>
            </a:pPr>
            <a:r>
              <a:rPr lang="en-US" sz="2400" b="1" i="1" dirty="0">
                <a:latin typeface="Montserrat" panose="00000500000000000000" pitchFamily="2" charset="0"/>
                <a:ea typeface="Georgia" pitchFamily="34" charset="-122"/>
                <a:cs typeface="Georgia" pitchFamily="34" charset="-120"/>
              </a:rPr>
              <a:t>This is the problem we will solve.</a:t>
            </a:r>
            <a:endParaRPr lang="en-US" sz="2400" dirty="0">
              <a:latin typeface="Montserrat" panose="00000500000000000000" pitchFamily="2" charset="0"/>
            </a:endParaRPr>
          </a:p>
        </p:txBody>
      </p:sp>
    </p:spTree>
    <p:extLst>
      <p:ext uri="{BB962C8B-B14F-4D97-AF65-F5344CB8AC3E}">
        <p14:creationId xmlns:p14="http://schemas.microsoft.com/office/powerpoint/2010/main" val="1152078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9F698-64D2-F04F-AC7C-6F7368F408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4A3AFA-A025-572D-B327-EE22ADDE23F8}"/>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43D45D2-54E6-4284-19A9-AB9AC2AD398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5C28F70-79EA-6553-14E9-967FDFF0B40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Identify the Pain Point</a:t>
            </a:r>
          </a:p>
        </p:txBody>
      </p:sp>
      <p:sp>
        <p:nvSpPr>
          <p:cNvPr id="9" name="TextBox 8">
            <a:extLst>
              <a:ext uri="{FF2B5EF4-FFF2-40B4-BE49-F238E27FC236}">
                <a16:creationId xmlns:a16="http://schemas.microsoft.com/office/drawing/2014/main" id="{50221B16-677A-5D51-D4ED-6AF23D541509}"/>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Shape 2">
            <a:extLst>
              <a:ext uri="{FF2B5EF4-FFF2-40B4-BE49-F238E27FC236}">
                <a16:creationId xmlns:a16="http://schemas.microsoft.com/office/drawing/2014/main" id="{A362E1FF-971D-42AB-16D8-A275F4F55912}"/>
              </a:ext>
            </a:extLst>
          </p:cNvPr>
          <p:cNvSpPr/>
          <p:nvPr/>
        </p:nvSpPr>
        <p:spPr>
          <a:xfrm>
            <a:off x="950595" y="1693069"/>
            <a:ext cx="2468880" cy="2194560"/>
          </a:xfrm>
          <a:prstGeom prst="rect">
            <a:avLst/>
          </a:prstGeom>
          <a:solidFill>
            <a:srgbClr val="D56E48"/>
          </a:solidFill>
          <a:ln/>
          <a:effectLst>
            <a:outerShdw blurRad="101600" dist="38100" dir="8100000" algn="bl" rotWithShape="0">
              <a:srgbClr val="000000">
                <a:alpha val="18000"/>
              </a:srgbClr>
            </a:outerShdw>
          </a:effectLst>
        </p:spPr>
        <p:txBody>
          <a:bodyPr/>
          <a:lstStyle/>
          <a:p>
            <a:endParaRPr lang="en-CA" sz="2000">
              <a:latin typeface="Montserrat" panose="00000500000000000000" pitchFamily="2" charset="0"/>
            </a:endParaRPr>
          </a:p>
        </p:txBody>
      </p:sp>
      <p:sp>
        <p:nvSpPr>
          <p:cNvPr id="4" name="Text 4">
            <a:extLst>
              <a:ext uri="{FF2B5EF4-FFF2-40B4-BE49-F238E27FC236}">
                <a16:creationId xmlns:a16="http://schemas.microsoft.com/office/drawing/2014/main" id="{9AF871FD-36A8-C276-5B67-A15AED1893AE}"/>
              </a:ext>
            </a:extLst>
          </p:cNvPr>
          <p:cNvSpPr/>
          <p:nvPr/>
        </p:nvSpPr>
        <p:spPr>
          <a:xfrm>
            <a:off x="950595" y="1967389"/>
            <a:ext cx="2468880" cy="640080"/>
          </a:xfrm>
          <a:prstGeom prst="rect">
            <a:avLst/>
          </a:prstGeom>
          <a:noFill/>
          <a:ln/>
        </p:spPr>
        <p:txBody>
          <a:bodyPr wrap="square" lIns="0" tIns="0" rIns="0" bIns="0" rtlCol="0" anchor="ctr"/>
          <a:lstStyle/>
          <a:p>
            <a:pPr marL="0" indent="0" algn="ctr">
              <a:buNone/>
            </a:pPr>
            <a:r>
              <a:rPr lang="en-US" sz="4000" b="1" dirty="0">
                <a:solidFill>
                  <a:schemeClr val="bg1"/>
                </a:solidFill>
                <a:latin typeface="Montserrat" panose="00000500000000000000" pitchFamily="2" charset="0"/>
                <a:ea typeface="Georgia" pitchFamily="34" charset="-122"/>
                <a:cs typeface="Georgia" pitchFamily="34" charset="-120"/>
              </a:rPr>
              <a:t>3–4</a:t>
            </a:r>
            <a:endParaRPr lang="en-US" sz="4000" dirty="0">
              <a:solidFill>
                <a:schemeClr val="bg1"/>
              </a:solidFill>
              <a:latin typeface="Montserrat" panose="00000500000000000000" pitchFamily="2" charset="0"/>
            </a:endParaRPr>
          </a:p>
        </p:txBody>
      </p:sp>
      <p:sp>
        <p:nvSpPr>
          <p:cNvPr id="8" name="Text 5">
            <a:extLst>
              <a:ext uri="{FF2B5EF4-FFF2-40B4-BE49-F238E27FC236}">
                <a16:creationId xmlns:a16="http://schemas.microsoft.com/office/drawing/2014/main" id="{B91E2320-7F16-AD14-FD9A-7F3CB1B14721}"/>
              </a:ext>
            </a:extLst>
          </p:cNvPr>
          <p:cNvSpPr/>
          <p:nvPr/>
        </p:nvSpPr>
        <p:spPr>
          <a:xfrm>
            <a:off x="950595" y="2698909"/>
            <a:ext cx="2468880" cy="32004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hours</a:t>
            </a:r>
            <a:endParaRPr lang="en-US" dirty="0">
              <a:solidFill>
                <a:schemeClr val="bg1"/>
              </a:solidFill>
              <a:latin typeface="Montserrat" panose="00000500000000000000" pitchFamily="2" charset="0"/>
            </a:endParaRPr>
          </a:p>
        </p:txBody>
      </p:sp>
      <p:sp>
        <p:nvSpPr>
          <p:cNvPr id="10" name="Text 6">
            <a:extLst>
              <a:ext uri="{FF2B5EF4-FFF2-40B4-BE49-F238E27FC236}">
                <a16:creationId xmlns:a16="http://schemas.microsoft.com/office/drawing/2014/main" id="{D3DA328B-DA8D-4127-8C41-5565737F5A96}"/>
              </a:ext>
            </a:extLst>
          </p:cNvPr>
          <p:cNvSpPr/>
          <p:nvPr/>
        </p:nvSpPr>
        <p:spPr>
          <a:xfrm>
            <a:off x="950595" y="3110389"/>
            <a:ext cx="2468880" cy="457200"/>
          </a:xfrm>
          <a:prstGeom prst="rect">
            <a:avLst/>
          </a:prstGeom>
          <a:noFill/>
          <a:ln/>
        </p:spPr>
        <p:txBody>
          <a:bodyPr wrap="square" lIns="0" tIns="0" rIns="0" bIns="0" rtlCol="0" anchor="t"/>
          <a:lstStyle/>
          <a:p>
            <a:pPr marL="0" indent="0" algn="ctr">
              <a:buNone/>
            </a:pPr>
            <a:r>
              <a:rPr lang="en-US" sz="1400" dirty="0">
                <a:solidFill>
                  <a:schemeClr val="bg1"/>
                </a:solidFill>
                <a:latin typeface="Montserrat" panose="00000500000000000000" pitchFamily="2" charset="0"/>
                <a:ea typeface="Calibri" pitchFamily="34" charset="-122"/>
                <a:cs typeface="Calibri" pitchFamily="34" charset="-120"/>
              </a:rPr>
              <a:t>per research session</a:t>
            </a:r>
            <a:endParaRPr lang="en-US" sz="1400" dirty="0">
              <a:solidFill>
                <a:schemeClr val="bg1"/>
              </a:solidFill>
              <a:latin typeface="Montserrat" panose="00000500000000000000" pitchFamily="2" charset="0"/>
            </a:endParaRPr>
          </a:p>
        </p:txBody>
      </p:sp>
      <p:sp>
        <p:nvSpPr>
          <p:cNvPr id="11" name="Shape 7">
            <a:extLst>
              <a:ext uri="{FF2B5EF4-FFF2-40B4-BE49-F238E27FC236}">
                <a16:creationId xmlns:a16="http://schemas.microsoft.com/office/drawing/2014/main" id="{EEF9F685-961D-8830-FDEB-42047C85144E}"/>
              </a:ext>
            </a:extLst>
          </p:cNvPr>
          <p:cNvSpPr/>
          <p:nvPr/>
        </p:nvSpPr>
        <p:spPr>
          <a:xfrm>
            <a:off x="4709160" y="1707833"/>
            <a:ext cx="2468880" cy="2194560"/>
          </a:xfrm>
          <a:prstGeom prst="rect">
            <a:avLst/>
          </a:prstGeom>
          <a:solidFill>
            <a:srgbClr val="0C1752"/>
          </a:solidFill>
          <a:ln/>
          <a:effectLst>
            <a:outerShdw blurRad="101600" dist="38100" dir="8100000" algn="bl" rotWithShape="0">
              <a:srgbClr val="000000">
                <a:alpha val="18000"/>
              </a:srgbClr>
            </a:outerShdw>
          </a:effectLst>
        </p:spPr>
        <p:txBody>
          <a:bodyPr/>
          <a:lstStyle/>
          <a:p>
            <a:endParaRPr lang="en-CA" sz="2000">
              <a:latin typeface="Montserrat" panose="00000500000000000000" pitchFamily="2" charset="0"/>
            </a:endParaRPr>
          </a:p>
        </p:txBody>
      </p:sp>
      <p:sp>
        <p:nvSpPr>
          <p:cNvPr id="13" name="Text 9">
            <a:extLst>
              <a:ext uri="{FF2B5EF4-FFF2-40B4-BE49-F238E27FC236}">
                <a16:creationId xmlns:a16="http://schemas.microsoft.com/office/drawing/2014/main" id="{DF931A34-431F-3A7A-6F0A-DBE671E1CDB2}"/>
              </a:ext>
            </a:extLst>
          </p:cNvPr>
          <p:cNvSpPr/>
          <p:nvPr/>
        </p:nvSpPr>
        <p:spPr>
          <a:xfrm>
            <a:off x="4709160" y="1982153"/>
            <a:ext cx="2468880" cy="640080"/>
          </a:xfrm>
          <a:prstGeom prst="rect">
            <a:avLst/>
          </a:prstGeom>
          <a:noFill/>
          <a:ln/>
        </p:spPr>
        <p:txBody>
          <a:bodyPr wrap="square" lIns="0" tIns="0" rIns="0" bIns="0" rtlCol="0" anchor="ctr"/>
          <a:lstStyle/>
          <a:p>
            <a:pPr marL="0" indent="0" algn="ctr">
              <a:buNone/>
            </a:pPr>
            <a:r>
              <a:rPr lang="en-US" sz="4000" b="1" dirty="0">
                <a:solidFill>
                  <a:schemeClr val="bg1"/>
                </a:solidFill>
                <a:latin typeface="Montserrat" panose="00000500000000000000" pitchFamily="2" charset="0"/>
                <a:ea typeface="Georgia" pitchFamily="34" charset="-122"/>
                <a:cs typeface="Georgia" pitchFamily="34" charset="-120"/>
              </a:rPr>
              <a:t>150–200</a:t>
            </a:r>
            <a:endParaRPr lang="en-US" sz="4000" dirty="0">
              <a:solidFill>
                <a:schemeClr val="bg1"/>
              </a:solidFill>
              <a:latin typeface="Montserrat" panose="00000500000000000000" pitchFamily="2" charset="0"/>
            </a:endParaRPr>
          </a:p>
        </p:txBody>
      </p:sp>
      <p:sp>
        <p:nvSpPr>
          <p:cNvPr id="14" name="Text 10">
            <a:extLst>
              <a:ext uri="{FF2B5EF4-FFF2-40B4-BE49-F238E27FC236}">
                <a16:creationId xmlns:a16="http://schemas.microsoft.com/office/drawing/2014/main" id="{D82BC9F6-F8C1-5FEB-4FF4-5989BE59DD20}"/>
              </a:ext>
            </a:extLst>
          </p:cNvPr>
          <p:cNvSpPr/>
          <p:nvPr/>
        </p:nvSpPr>
        <p:spPr>
          <a:xfrm>
            <a:off x="4709160" y="2713673"/>
            <a:ext cx="2468880" cy="32004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hours/yr</a:t>
            </a:r>
            <a:endParaRPr lang="en-US" dirty="0">
              <a:solidFill>
                <a:schemeClr val="bg1"/>
              </a:solidFill>
              <a:latin typeface="Montserrat" panose="00000500000000000000" pitchFamily="2" charset="0"/>
            </a:endParaRPr>
          </a:p>
        </p:txBody>
      </p:sp>
      <p:sp>
        <p:nvSpPr>
          <p:cNvPr id="15" name="Text 11">
            <a:extLst>
              <a:ext uri="{FF2B5EF4-FFF2-40B4-BE49-F238E27FC236}">
                <a16:creationId xmlns:a16="http://schemas.microsoft.com/office/drawing/2014/main" id="{9DD3FF39-121D-0A65-608D-603D263AFFCF}"/>
              </a:ext>
            </a:extLst>
          </p:cNvPr>
          <p:cNvSpPr/>
          <p:nvPr/>
        </p:nvSpPr>
        <p:spPr>
          <a:xfrm>
            <a:off x="4709160" y="3125153"/>
            <a:ext cx="2285198" cy="457200"/>
          </a:xfrm>
          <a:prstGeom prst="rect">
            <a:avLst/>
          </a:prstGeom>
          <a:noFill/>
          <a:ln/>
        </p:spPr>
        <p:txBody>
          <a:bodyPr wrap="square" lIns="0" tIns="0" rIns="0" bIns="0" rtlCol="0" anchor="t"/>
          <a:lstStyle/>
          <a:p>
            <a:pPr marL="0" indent="0" algn="ctr">
              <a:buNone/>
            </a:pPr>
            <a:r>
              <a:rPr lang="en-US" sz="1400" dirty="0">
                <a:solidFill>
                  <a:schemeClr val="bg1"/>
                </a:solidFill>
                <a:latin typeface="Montserrat" panose="00000500000000000000" pitchFamily="2" charset="0"/>
                <a:ea typeface="Calibri" pitchFamily="34" charset="-122"/>
                <a:cs typeface="Calibri" pitchFamily="34" charset="-120"/>
              </a:rPr>
              <a:t>spent on competitive intelligence research</a:t>
            </a:r>
            <a:endParaRPr lang="en-US" sz="1400" dirty="0">
              <a:solidFill>
                <a:schemeClr val="bg1"/>
              </a:solidFill>
              <a:latin typeface="Montserrat" panose="00000500000000000000" pitchFamily="2" charset="0"/>
            </a:endParaRPr>
          </a:p>
        </p:txBody>
      </p:sp>
      <p:sp>
        <p:nvSpPr>
          <p:cNvPr id="16" name="Shape 12">
            <a:extLst>
              <a:ext uri="{FF2B5EF4-FFF2-40B4-BE49-F238E27FC236}">
                <a16:creationId xmlns:a16="http://schemas.microsoft.com/office/drawing/2014/main" id="{4CFBA8B9-261E-E2D5-5A3B-277D26A2C112}"/>
              </a:ext>
            </a:extLst>
          </p:cNvPr>
          <p:cNvSpPr/>
          <p:nvPr/>
        </p:nvSpPr>
        <p:spPr>
          <a:xfrm>
            <a:off x="8389620" y="1707833"/>
            <a:ext cx="2468880" cy="2194560"/>
          </a:xfrm>
          <a:prstGeom prst="rect">
            <a:avLst/>
          </a:prstGeom>
          <a:solidFill>
            <a:schemeClr val="bg1">
              <a:lumMod val="65000"/>
            </a:schemeClr>
          </a:solidFill>
          <a:ln/>
          <a:effectLst>
            <a:outerShdw blurRad="101600" dist="38100" dir="8100000" algn="bl" rotWithShape="0">
              <a:srgbClr val="000000">
                <a:alpha val="18000"/>
              </a:srgbClr>
            </a:outerShdw>
          </a:effectLst>
        </p:spPr>
        <p:txBody>
          <a:bodyPr/>
          <a:lstStyle/>
          <a:p>
            <a:endParaRPr lang="en-CA" sz="2000">
              <a:latin typeface="Montserrat" panose="00000500000000000000" pitchFamily="2" charset="0"/>
            </a:endParaRPr>
          </a:p>
        </p:txBody>
      </p:sp>
      <p:sp>
        <p:nvSpPr>
          <p:cNvPr id="18" name="Text 14">
            <a:extLst>
              <a:ext uri="{FF2B5EF4-FFF2-40B4-BE49-F238E27FC236}">
                <a16:creationId xmlns:a16="http://schemas.microsoft.com/office/drawing/2014/main" id="{DC6E4D05-66DE-C043-0591-A428A122B565}"/>
              </a:ext>
            </a:extLst>
          </p:cNvPr>
          <p:cNvSpPr/>
          <p:nvPr/>
        </p:nvSpPr>
        <p:spPr>
          <a:xfrm>
            <a:off x="8389620" y="1982153"/>
            <a:ext cx="2468880" cy="640080"/>
          </a:xfrm>
          <a:prstGeom prst="rect">
            <a:avLst/>
          </a:prstGeom>
          <a:noFill/>
          <a:ln/>
        </p:spPr>
        <p:txBody>
          <a:bodyPr wrap="square" lIns="0" tIns="0" rIns="0" bIns="0" rtlCol="0" anchor="ctr"/>
          <a:lstStyle/>
          <a:p>
            <a:pPr marL="0" indent="0" algn="ctr">
              <a:buNone/>
            </a:pPr>
            <a:r>
              <a:rPr lang="en-US" sz="4000" b="1" dirty="0">
                <a:solidFill>
                  <a:schemeClr val="bg1"/>
                </a:solidFill>
                <a:latin typeface="Montserrat" panose="00000500000000000000" pitchFamily="2" charset="0"/>
                <a:ea typeface="Georgia" pitchFamily="34" charset="-122"/>
                <a:cs typeface="Georgia" pitchFamily="34" charset="-120"/>
              </a:rPr>
              <a:t>1+</a:t>
            </a:r>
            <a:endParaRPr lang="en-US" sz="4000" dirty="0">
              <a:solidFill>
                <a:schemeClr val="bg1"/>
              </a:solidFill>
              <a:latin typeface="Montserrat" panose="00000500000000000000" pitchFamily="2" charset="0"/>
            </a:endParaRPr>
          </a:p>
        </p:txBody>
      </p:sp>
      <p:sp>
        <p:nvSpPr>
          <p:cNvPr id="21" name="Text 15">
            <a:extLst>
              <a:ext uri="{FF2B5EF4-FFF2-40B4-BE49-F238E27FC236}">
                <a16:creationId xmlns:a16="http://schemas.microsoft.com/office/drawing/2014/main" id="{A082FF9E-A0CD-BA9E-3C3B-7DDBC3C3F7E6}"/>
              </a:ext>
            </a:extLst>
          </p:cNvPr>
          <p:cNvSpPr/>
          <p:nvPr/>
        </p:nvSpPr>
        <p:spPr>
          <a:xfrm>
            <a:off x="8389620" y="2713673"/>
            <a:ext cx="2468880" cy="32004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month</a:t>
            </a:r>
            <a:endParaRPr lang="en-US" dirty="0">
              <a:solidFill>
                <a:schemeClr val="bg1"/>
              </a:solidFill>
              <a:latin typeface="Montserrat" panose="00000500000000000000" pitchFamily="2" charset="0"/>
            </a:endParaRPr>
          </a:p>
        </p:txBody>
      </p:sp>
      <p:sp>
        <p:nvSpPr>
          <p:cNvPr id="24" name="Text 16">
            <a:extLst>
              <a:ext uri="{FF2B5EF4-FFF2-40B4-BE49-F238E27FC236}">
                <a16:creationId xmlns:a16="http://schemas.microsoft.com/office/drawing/2014/main" id="{65814392-C962-7BC3-FE3F-35AE21447A15}"/>
              </a:ext>
            </a:extLst>
          </p:cNvPr>
          <p:cNvSpPr/>
          <p:nvPr/>
        </p:nvSpPr>
        <p:spPr>
          <a:xfrm>
            <a:off x="8389620" y="3125153"/>
            <a:ext cx="2468880" cy="457200"/>
          </a:xfrm>
          <a:prstGeom prst="rect">
            <a:avLst/>
          </a:prstGeom>
          <a:noFill/>
          <a:ln/>
        </p:spPr>
        <p:txBody>
          <a:bodyPr wrap="square" lIns="0" tIns="0" rIns="0" bIns="0" rtlCol="0" anchor="t"/>
          <a:lstStyle/>
          <a:p>
            <a:pPr marL="0" indent="0" algn="ctr">
              <a:buNone/>
            </a:pPr>
            <a:r>
              <a:rPr lang="en-US" sz="1400" dirty="0">
                <a:solidFill>
                  <a:schemeClr val="bg1"/>
                </a:solidFill>
                <a:latin typeface="Montserrat" panose="00000500000000000000" pitchFamily="2" charset="0"/>
                <a:ea typeface="Calibri" pitchFamily="34" charset="-122"/>
                <a:cs typeface="Calibri" pitchFamily="34" charset="-120"/>
              </a:rPr>
              <a:t>of work time lost annually</a:t>
            </a:r>
            <a:endParaRPr lang="en-US" sz="1400" dirty="0">
              <a:solidFill>
                <a:schemeClr val="bg1"/>
              </a:solidFill>
              <a:latin typeface="Montserrat" panose="00000500000000000000" pitchFamily="2" charset="0"/>
            </a:endParaRPr>
          </a:p>
        </p:txBody>
      </p:sp>
      <p:sp>
        <p:nvSpPr>
          <p:cNvPr id="25" name="Text 17">
            <a:extLst>
              <a:ext uri="{FF2B5EF4-FFF2-40B4-BE49-F238E27FC236}">
                <a16:creationId xmlns:a16="http://schemas.microsoft.com/office/drawing/2014/main" id="{AF7D0669-B0CD-480C-02A9-A4E222DEA93D}"/>
              </a:ext>
            </a:extLst>
          </p:cNvPr>
          <p:cNvSpPr/>
          <p:nvPr/>
        </p:nvSpPr>
        <p:spPr>
          <a:xfrm>
            <a:off x="1021273" y="4798585"/>
            <a:ext cx="10149453" cy="457200"/>
          </a:xfrm>
          <a:prstGeom prst="rect">
            <a:avLst/>
          </a:prstGeom>
          <a:noFill/>
          <a:ln/>
        </p:spPr>
        <p:txBody>
          <a:bodyPr wrap="square" lIns="0" tIns="0" rIns="0" bIns="0" rtlCol="0" anchor="ctr"/>
          <a:lstStyle/>
          <a:p>
            <a:pPr marL="0" indent="0">
              <a:buNone/>
            </a:pPr>
            <a:r>
              <a:rPr lang="en-US" sz="2400" i="1" dirty="0">
                <a:solidFill>
                  <a:srgbClr val="0C1752"/>
                </a:solidFill>
                <a:latin typeface="Calibri" pitchFamily="34" charset="0"/>
                <a:ea typeface="Calibri" pitchFamily="34" charset="-122"/>
                <a:cs typeface="Calibri" pitchFamily="34" charset="-120"/>
              </a:rPr>
              <a:t>What if an AI agent could do the tedious gathering in minutes, so Sarah can focus on strategic thinking?</a:t>
            </a:r>
            <a:endParaRPr lang="en-US" sz="2400" dirty="0">
              <a:solidFill>
                <a:srgbClr val="0C1752"/>
              </a:solidFill>
            </a:endParaRPr>
          </a:p>
        </p:txBody>
      </p:sp>
    </p:spTree>
    <p:extLst>
      <p:ext uri="{BB962C8B-B14F-4D97-AF65-F5344CB8AC3E}">
        <p14:creationId xmlns:p14="http://schemas.microsoft.com/office/powerpoint/2010/main" val="111525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P spid="10" grpId="0" animBg="1"/>
      <p:bldP spid="11" grpId="0" animBg="1"/>
      <p:bldP spid="13" grpId="0" animBg="1"/>
      <p:bldP spid="14" grpId="0" animBg="1"/>
      <p:bldP spid="15" grpId="0" animBg="1"/>
      <p:bldP spid="16" grpId="0" animBg="1"/>
      <p:bldP spid="18" grpId="0" animBg="1"/>
      <p:bldP spid="21"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DD30A-A782-FF5F-E217-D9DED5C2FD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A03CA2-2F2C-207D-46C8-BC9B58A15C4C}"/>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EF28AAB-73A7-3907-06B9-A441903D30B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90AB6D3-4578-2212-FD3A-2E5A49D0AF68}"/>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2. Map Sarah's Research Workflow</a:t>
            </a:r>
          </a:p>
        </p:txBody>
      </p:sp>
      <p:sp>
        <p:nvSpPr>
          <p:cNvPr id="9" name="TextBox 8">
            <a:extLst>
              <a:ext uri="{FF2B5EF4-FFF2-40B4-BE49-F238E27FC236}">
                <a16:creationId xmlns:a16="http://schemas.microsoft.com/office/drawing/2014/main" id="{3677041D-AD75-6D85-2EFA-41BDCA418F0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Shape 2">
            <a:extLst>
              <a:ext uri="{FF2B5EF4-FFF2-40B4-BE49-F238E27FC236}">
                <a16:creationId xmlns:a16="http://schemas.microsoft.com/office/drawing/2014/main" id="{E22DF643-04A7-E994-BF6D-079B466AEAEC}"/>
              </a:ext>
            </a:extLst>
          </p:cNvPr>
          <p:cNvSpPr/>
          <p:nvPr/>
        </p:nvSpPr>
        <p:spPr>
          <a:xfrm>
            <a:off x="1135380" y="749088"/>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12" name="Shape 3">
            <a:extLst>
              <a:ext uri="{FF2B5EF4-FFF2-40B4-BE49-F238E27FC236}">
                <a16:creationId xmlns:a16="http://schemas.microsoft.com/office/drawing/2014/main" id="{C5F7CC8B-15BF-AD27-4C4F-E573D9D16A46}"/>
              </a:ext>
            </a:extLst>
          </p:cNvPr>
          <p:cNvSpPr/>
          <p:nvPr/>
        </p:nvSpPr>
        <p:spPr>
          <a:xfrm>
            <a:off x="1318260" y="977688"/>
            <a:ext cx="411480" cy="411480"/>
          </a:xfrm>
          <a:prstGeom prst="ellipse">
            <a:avLst/>
          </a:prstGeom>
          <a:solidFill>
            <a:srgbClr val="0C1752"/>
          </a:solidFill>
          <a:ln>
            <a:solidFill>
              <a:srgbClr val="0C1752"/>
            </a:solidFill>
          </a:ln>
        </p:spPr>
        <p:txBody>
          <a:bodyPr/>
          <a:lstStyle/>
          <a:p>
            <a:endParaRPr lang="en-CA">
              <a:latin typeface="Montserrat" panose="00000500000000000000" pitchFamily="2" charset="0"/>
            </a:endParaRPr>
          </a:p>
        </p:txBody>
      </p:sp>
      <p:sp>
        <p:nvSpPr>
          <p:cNvPr id="17" name="Text 4">
            <a:extLst>
              <a:ext uri="{FF2B5EF4-FFF2-40B4-BE49-F238E27FC236}">
                <a16:creationId xmlns:a16="http://schemas.microsoft.com/office/drawing/2014/main" id="{2AD11B59-37B4-64EB-4F40-079D2A5E8D25}"/>
              </a:ext>
            </a:extLst>
          </p:cNvPr>
          <p:cNvSpPr/>
          <p:nvPr/>
        </p:nvSpPr>
        <p:spPr>
          <a:xfrm>
            <a:off x="1318260" y="9776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1</a:t>
            </a:r>
            <a:endParaRPr lang="en-US" sz="1600" dirty="0">
              <a:latin typeface="Montserrat" panose="00000500000000000000" pitchFamily="2" charset="0"/>
            </a:endParaRPr>
          </a:p>
        </p:txBody>
      </p:sp>
      <p:sp>
        <p:nvSpPr>
          <p:cNvPr id="19" name="Text 5">
            <a:extLst>
              <a:ext uri="{FF2B5EF4-FFF2-40B4-BE49-F238E27FC236}">
                <a16:creationId xmlns:a16="http://schemas.microsoft.com/office/drawing/2014/main" id="{E420DCA5-7CE0-BED1-2726-4C6C6CD0AF98}"/>
              </a:ext>
            </a:extLst>
          </p:cNvPr>
          <p:cNvSpPr/>
          <p:nvPr/>
        </p:nvSpPr>
        <p:spPr>
          <a:xfrm>
            <a:off x="1866900" y="858816"/>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Define scope</a:t>
            </a:r>
            <a:endParaRPr lang="en-US" sz="1500" dirty="0">
              <a:latin typeface="Montserrat" panose="00000500000000000000" pitchFamily="2" charset="0"/>
            </a:endParaRPr>
          </a:p>
        </p:txBody>
      </p:sp>
      <p:sp>
        <p:nvSpPr>
          <p:cNvPr id="20" name="Text 6">
            <a:extLst>
              <a:ext uri="{FF2B5EF4-FFF2-40B4-BE49-F238E27FC236}">
                <a16:creationId xmlns:a16="http://schemas.microsoft.com/office/drawing/2014/main" id="{E1748F5F-DE2B-5709-6A40-9329D2E2A311}"/>
              </a:ext>
            </a:extLst>
          </p:cNvPr>
          <p:cNvSpPr/>
          <p:nvPr/>
        </p:nvSpPr>
        <p:spPr>
          <a:xfrm>
            <a:off x="1866900" y="1178856"/>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Identify competitor &amp; key questions</a:t>
            </a:r>
            <a:endParaRPr lang="en-US" sz="1200" dirty="0">
              <a:latin typeface="Montserrat" panose="00000500000000000000" pitchFamily="2" charset="0"/>
            </a:endParaRPr>
          </a:p>
        </p:txBody>
      </p:sp>
      <p:sp>
        <p:nvSpPr>
          <p:cNvPr id="22" name="Shape 7">
            <a:extLst>
              <a:ext uri="{FF2B5EF4-FFF2-40B4-BE49-F238E27FC236}">
                <a16:creationId xmlns:a16="http://schemas.microsoft.com/office/drawing/2014/main" id="{ADA5BA01-F79C-4F6D-33AA-33A4FD1EA17E}"/>
              </a:ext>
            </a:extLst>
          </p:cNvPr>
          <p:cNvSpPr/>
          <p:nvPr/>
        </p:nvSpPr>
        <p:spPr>
          <a:xfrm>
            <a:off x="4244340" y="1023408"/>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23" name="Text 8">
            <a:extLst>
              <a:ext uri="{FF2B5EF4-FFF2-40B4-BE49-F238E27FC236}">
                <a16:creationId xmlns:a16="http://schemas.microsoft.com/office/drawing/2014/main" id="{B7318466-6116-927E-B889-CD84427CE43B}"/>
              </a:ext>
            </a:extLst>
          </p:cNvPr>
          <p:cNvSpPr/>
          <p:nvPr/>
        </p:nvSpPr>
        <p:spPr>
          <a:xfrm>
            <a:off x="4244340" y="1023408"/>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~5 min</a:t>
            </a:r>
            <a:endParaRPr lang="en-US" sz="1000" dirty="0">
              <a:latin typeface="Montserrat" panose="00000500000000000000" pitchFamily="2" charset="0"/>
            </a:endParaRPr>
          </a:p>
        </p:txBody>
      </p:sp>
      <p:sp>
        <p:nvSpPr>
          <p:cNvPr id="26" name="Shape 9">
            <a:extLst>
              <a:ext uri="{FF2B5EF4-FFF2-40B4-BE49-F238E27FC236}">
                <a16:creationId xmlns:a16="http://schemas.microsoft.com/office/drawing/2014/main" id="{E62807D3-309B-72CD-6667-93CB089FF6D8}"/>
              </a:ext>
            </a:extLst>
          </p:cNvPr>
          <p:cNvSpPr/>
          <p:nvPr/>
        </p:nvSpPr>
        <p:spPr>
          <a:xfrm>
            <a:off x="1135380" y="1832652"/>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27" name="Shape 10">
            <a:extLst>
              <a:ext uri="{FF2B5EF4-FFF2-40B4-BE49-F238E27FC236}">
                <a16:creationId xmlns:a16="http://schemas.microsoft.com/office/drawing/2014/main" id="{59CD08CB-0E0C-C10C-BCDA-65308C6DDAD6}"/>
              </a:ext>
            </a:extLst>
          </p:cNvPr>
          <p:cNvSpPr/>
          <p:nvPr/>
        </p:nvSpPr>
        <p:spPr>
          <a:xfrm>
            <a:off x="1318260" y="2061252"/>
            <a:ext cx="411480" cy="411480"/>
          </a:xfrm>
          <a:prstGeom prst="ellipse">
            <a:avLst/>
          </a:prstGeom>
          <a:solidFill>
            <a:srgbClr val="D56E48"/>
          </a:solidFill>
          <a:ln>
            <a:noFill/>
          </a:ln>
        </p:spPr>
        <p:txBody>
          <a:bodyPr/>
          <a:lstStyle/>
          <a:p>
            <a:endParaRPr lang="en-CA">
              <a:latin typeface="Montserrat" panose="00000500000000000000" pitchFamily="2" charset="0"/>
            </a:endParaRPr>
          </a:p>
        </p:txBody>
      </p:sp>
      <p:sp>
        <p:nvSpPr>
          <p:cNvPr id="28" name="Text 11">
            <a:extLst>
              <a:ext uri="{FF2B5EF4-FFF2-40B4-BE49-F238E27FC236}">
                <a16:creationId xmlns:a16="http://schemas.microsoft.com/office/drawing/2014/main" id="{B34A2007-5F50-DF22-72FA-A2B625FEB8C7}"/>
              </a:ext>
            </a:extLst>
          </p:cNvPr>
          <p:cNvSpPr/>
          <p:nvPr/>
        </p:nvSpPr>
        <p:spPr>
          <a:xfrm>
            <a:off x="1318260" y="206125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2</a:t>
            </a:r>
            <a:endParaRPr lang="en-US" sz="1600" dirty="0">
              <a:latin typeface="Montserrat" panose="00000500000000000000" pitchFamily="2" charset="0"/>
            </a:endParaRPr>
          </a:p>
        </p:txBody>
      </p:sp>
      <p:sp>
        <p:nvSpPr>
          <p:cNvPr id="29" name="Text 12">
            <a:extLst>
              <a:ext uri="{FF2B5EF4-FFF2-40B4-BE49-F238E27FC236}">
                <a16:creationId xmlns:a16="http://schemas.microsoft.com/office/drawing/2014/main" id="{CB1D9F00-F29C-74B6-0E31-1613BFA8DF8B}"/>
              </a:ext>
            </a:extLst>
          </p:cNvPr>
          <p:cNvSpPr/>
          <p:nvPr/>
        </p:nvSpPr>
        <p:spPr>
          <a:xfrm>
            <a:off x="1866900" y="1942380"/>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Search &amp; gather</a:t>
            </a:r>
            <a:endParaRPr lang="en-US" sz="1500" dirty="0">
              <a:latin typeface="Montserrat" panose="00000500000000000000" pitchFamily="2" charset="0"/>
            </a:endParaRPr>
          </a:p>
        </p:txBody>
      </p:sp>
      <p:sp>
        <p:nvSpPr>
          <p:cNvPr id="30" name="Text 13">
            <a:extLst>
              <a:ext uri="{FF2B5EF4-FFF2-40B4-BE49-F238E27FC236}">
                <a16:creationId xmlns:a16="http://schemas.microsoft.com/office/drawing/2014/main" id="{6854F40B-F379-5A81-555B-B25C8448EFC4}"/>
              </a:ext>
            </a:extLst>
          </p:cNvPr>
          <p:cNvSpPr/>
          <p:nvPr/>
        </p:nvSpPr>
        <p:spPr>
          <a:xfrm>
            <a:off x="1866900" y="2262420"/>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Browse news, filings, social, reviews</a:t>
            </a:r>
            <a:endParaRPr lang="en-US" sz="1200" dirty="0">
              <a:latin typeface="Montserrat" panose="00000500000000000000" pitchFamily="2" charset="0"/>
            </a:endParaRPr>
          </a:p>
        </p:txBody>
      </p:sp>
      <p:sp>
        <p:nvSpPr>
          <p:cNvPr id="31" name="Shape 14">
            <a:extLst>
              <a:ext uri="{FF2B5EF4-FFF2-40B4-BE49-F238E27FC236}">
                <a16:creationId xmlns:a16="http://schemas.microsoft.com/office/drawing/2014/main" id="{BC9621F7-C47C-3900-5996-66CF5F67A2D6}"/>
              </a:ext>
            </a:extLst>
          </p:cNvPr>
          <p:cNvSpPr/>
          <p:nvPr/>
        </p:nvSpPr>
        <p:spPr>
          <a:xfrm>
            <a:off x="4244340" y="2106972"/>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32" name="Text 15">
            <a:extLst>
              <a:ext uri="{FF2B5EF4-FFF2-40B4-BE49-F238E27FC236}">
                <a16:creationId xmlns:a16="http://schemas.microsoft.com/office/drawing/2014/main" id="{895941BD-D65C-BD34-F728-745EB842841D}"/>
              </a:ext>
            </a:extLst>
          </p:cNvPr>
          <p:cNvSpPr/>
          <p:nvPr/>
        </p:nvSpPr>
        <p:spPr>
          <a:xfrm>
            <a:off x="4244340" y="2106972"/>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~60 min</a:t>
            </a:r>
            <a:endParaRPr lang="en-US" sz="1000" dirty="0">
              <a:latin typeface="Montserrat" panose="00000500000000000000" pitchFamily="2" charset="0"/>
            </a:endParaRPr>
          </a:p>
        </p:txBody>
      </p:sp>
      <p:sp>
        <p:nvSpPr>
          <p:cNvPr id="33" name="Shape 16">
            <a:extLst>
              <a:ext uri="{FF2B5EF4-FFF2-40B4-BE49-F238E27FC236}">
                <a16:creationId xmlns:a16="http://schemas.microsoft.com/office/drawing/2014/main" id="{A1FA278A-8770-5468-4268-67F05131E8E6}"/>
              </a:ext>
            </a:extLst>
          </p:cNvPr>
          <p:cNvSpPr/>
          <p:nvPr/>
        </p:nvSpPr>
        <p:spPr>
          <a:xfrm>
            <a:off x="1135380" y="2862495"/>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34" name="Shape 17">
            <a:extLst>
              <a:ext uri="{FF2B5EF4-FFF2-40B4-BE49-F238E27FC236}">
                <a16:creationId xmlns:a16="http://schemas.microsoft.com/office/drawing/2014/main" id="{EF0C297B-D6A8-B44C-CB9D-057E3D4ADBE2}"/>
              </a:ext>
            </a:extLst>
          </p:cNvPr>
          <p:cNvSpPr/>
          <p:nvPr/>
        </p:nvSpPr>
        <p:spPr>
          <a:xfrm>
            <a:off x="1318260" y="3091095"/>
            <a:ext cx="411480" cy="411480"/>
          </a:xfrm>
          <a:prstGeom prst="ellipse">
            <a:avLst/>
          </a:prstGeom>
          <a:solidFill>
            <a:srgbClr val="1BBFD1"/>
          </a:solidFill>
          <a:ln/>
        </p:spPr>
        <p:txBody>
          <a:bodyPr/>
          <a:lstStyle/>
          <a:p>
            <a:endParaRPr lang="en-CA">
              <a:latin typeface="Montserrat" panose="00000500000000000000" pitchFamily="2" charset="0"/>
            </a:endParaRPr>
          </a:p>
        </p:txBody>
      </p:sp>
      <p:sp>
        <p:nvSpPr>
          <p:cNvPr id="35" name="Text 18">
            <a:extLst>
              <a:ext uri="{FF2B5EF4-FFF2-40B4-BE49-F238E27FC236}">
                <a16:creationId xmlns:a16="http://schemas.microsoft.com/office/drawing/2014/main" id="{9E0F5643-A476-C086-3A3A-FBD6B5C9E0D0}"/>
              </a:ext>
            </a:extLst>
          </p:cNvPr>
          <p:cNvSpPr/>
          <p:nvPr/>
        </p:nvSpPr>
        <p:spPr>
          <a:xfrm>
            <a:off x="1318260" y="3091095"/>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3</a:t>
            </a:r>
            <a:endParaRPr lang="en-US" sz="1600" dirty="0">
              <a:latin typeface="Montserrat" panose="00000500000000000000" pitchFamily="2" charset="0"/>
            </a:endParaRPr>
          </a:p>
        </p:txBody>
      </p:sp>
      <p:sp>
        <p:nvSpPr>
          <p:cNvPr id="36" name="Text 19">
            <a:extLst>
              <a:ext uri="{FF2B5EF4-FFF2-40B4-BE49-F238E27FC236}">
                <a16:creationId xmlns:a16="http://schemas.microsoft.com/office/drawing/2014/main" id="{F79A579F-48D0-8FB8-46F8-9D5482CE6361}"/>
              </a:ext>
            </a:extLst>
          </p:cNvPr>
          <p:cNvSpPr/>
          <p:nvPr/>
        </p:nvSpPr>
        <p:spPr>
          <a:xfrm>
            <a:off x="1866900" y="2972223"/>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Read &amp; extract</a:t>
            </a:r>
            <a:endParaRPr lang="en-US" sz="1500" dirty="0">
              <a:latin typeface="Montserrat" panose="00000500000000000000" pitchFamily="2" charset="0"/>
            </a:endParaRPr>
          </a:p>
        </p:txBody>
      </p:sp>
      <p:sp>
        <p:nvSpPr>
          <p:cNvPr id="37" name="Text 20">
            <a:extLst>
              <a:ext uri="{FF2B5EF4-FFF2-40B4-BE49-F238E27FC236}">
                <a16:creationId xmlns:a16="http://schemas.microsoft.com/office/drawing/2014/main" id="{30E8B9D5-DC84-3B79-99D3-5ED34F107BE9}"/>
              </a:ext>
            </a:extLst>
          </p:cNvPr>
          <p:cNvSpPr/>
          <p:nvPr/>
        </p:nvSpPr>
        <p:spPr>
          <a:xfrm>
            <a:off x="1866900" y="3292263"/>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Pull key facts from each source</a:t>
            </a:r>
            <a:endParaRPr lang="en-US" sz="1200" dirty="0">
              <a:latin typeface="Montserrat" panose="00000500000000000000" pitchFamily="2" charset="0"/>
            </a:endParaRPr>
          </a:p>
        </p:txBody>
      </p:sp>
      <p:sp>
        <p:nvSpPr>
          <p:cNvPr id="38" name="Shape 21">
            <a:extLst>
              <a:ext uri="{FF2B5EF4-FFF2-40B4-BE49-F238E27FC236}">
                <a16:creationId xmlns:a16="http://schemas.microsoft.com/office/drawing/2014/main" id="{1F34A02B-1FB6-7C51-5587-EBD80555E955}"/>
              </a:ext>
            </a:extLst>
          </p:cNvPr>
          <p:cNvSpPr/>
          <p:nvPr/>
        </p:nvSpPr>
        <p:spPr>
          <a:xfrm>
            <a:off x="4244340" y="3136815"/>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39" name="Text 22">
            <a:extLst>
              <a:ext uri="{FF2B5EF4-FFF2-40B4-BE49-F238E27FC236}">
                <a16:creationId xmlns:a16="http://schemas.microsoft.com/office/drawing/2014/main" id="{55D5A05D-7751-183B-8F33-DA2642F0B875}"/>
              </a:ext>
            </a:extLst>
          </p:cNvPr>
          <p:cNvSpPr/>
          <p:nvPr/>
        </p:nvSpPr>
        <p:spPr>
          <a:xfrm>
            <a:off x="4244340" y="3136815"/>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~45 min</a:t>
            </a:r>
            <a:endParaRPr lang="en-US" sz="1000" dirty="0">
              <a:latin typeface="Montserrat" panose="00000500000000000000" pitchFamily="2" charset="0"/>
            </a:endParaRPr>
          </a:p>
        </p:txBody>
      </p:sp>
      <p:sp>
        <p:nvSpPr>
          <p:cNvPr id="40" name="Shape 23">
            <a:extLst>
              <a:ext uri="{FF2B5EF4-FFF2-40B4-BE49-F238E27FC236}">
                <a16:creationId xmlns:a16="http://schemas.microsoft.com/office/drawing/2014/main" id="{DCB5162A-590B-BCBB-36B5-DFCF39A6CA01}"/>
              </a:ext>
            </a:extLst>
          </p:cNvPr>
          <p:cNvSpPr/>
          <p:nvPr/>
        </p:nvSpPr>
        <p:spPr>
          <a:xfrm>
            <a:off x="1135380" y="3816138"/>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41" name="Shape 24">
            <a:extLst>
              <a:ext uri="{FF2B5EF4-FFF2-40B4-BE49-F238E27FC236}">
                <a16:creationId xmlns:a16="http://schemas.microsoft.com/office/drawing/2014/main" id="{D47485DA-47BA-261A-3F81-5B0385A0277B}"/>
              </a:ext>
            </a:extLst>
          </p:cNvPr>
          <p:cNvSpPr/>
          <p:nvPr/>
        </p:nvSpPr>
        <p:spPr>
          <a:xfrm>
            <a:off x="1318260" y="4044738"/>
            <a:ext cx="411480" cy="411480"/>
          </a:xfrm>
          <a:prstGeom prst="ellipse">
            <a:avLst/>
          </a:prstGeom>
          <a:solidFill>
            <a:schemeClr val="bg1">
              <a:lumMod val="65000"/>
            </a:schemeClr>
          </a:solidFill>
          <a:ln/>
        </p:spPr>
        <p:txBody>
          <a:bodyPr/>
          <a:lstStyle/>
          <a:p>
            <a:endParaRPr lang="en-CA">
              <a:latin typeface="Montserrat" panose="00000500000000000000" pitchFamily="2" charset="0"/>
            </a:endParaRPr>
          </a:p>
        </p:txBody>
      </p:sp>
      <p:sp>
        <p:nvSpPr>
          <p:cNvPr id="42" name="Text 25">
            <a:extLst>
              <a:ext uri="{FF2B5EF4-FFF2-40B4-BE49-F238E27FC236}">
                <a16:creationId xmlns:a16="http://schemas.microsoft.com/office/drawing/2014/main" id="{A42CA76D-4E6F-FD3E-C583-81D3BAD432F3}"/>
              </a:ext>
            </a:extLst>
          </p:cNvPr>
          <p:cNvSpPr/>
          <p:nvPr/>
        </p:nvSpPr>
        <p:spPr>
          <a:xfrm>
            <a:off x="1318260" y="404473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4</a:t>
            </a:r>
            <a:endParaRPr lang="en-US" sz="1600" dirty="0">
              <a:latin typeface="Montserrat" panose="00000500000000000000" pitchFamily="2" charset="0"/>
            </a:endParaRPr>
          </a:p>
        </p:txBody>
      </p:sp>
      <p:sp>
        <p:nvSpPr>
          <p:cNvPr id="43" name="Text 26">
            <a:extLst>
              <a:ext uri="{FF2B5EF4-FFF2-40B4-BE49-F238E27FC236}">
                <a16:creationId xmlns:a16="http://schemas.microsoft.com/office/drawing/2014/main" id="{65701A1D-DD5D-221A-2544-B0520585131C}"/>
              </a:ext>
            </a:extLst>
          </p:cNvPr>
          <p:cNvSpPr/>
          <p:nvPr/>
        </p:nvSpPr>
        <p:spPr>
          <a:xfrm>
            <a:off x="1866900" y="3925866"/>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Organize findings</a:t>
            </a:r>
            <a:endParaRPr lang="en-US" sz="1500" dirty="0">
              <a:latin typeface="Montserrat" panose="00000500000000000000" pitchFamily="2" charset="0"/>
            </a:endParaRPr>
          </a:p>
        </p:txBody>
      </p:sp>
      <p:sp>
        <p:nvSpPr>
          <p:cNvPr id="44" name="Text 27">
            <a:extLst>
              <a:ext uri="{FF2B5EF4-FFF2-40B4-BE49-F238E27FC236}">
                <a16:creationId xmlns:a16="http://schemas.microsoft.com/office/drawing/2014/main" id="{C4BDC4D5-95C7-B390-9BF0-A4AB51F578B2}"/>
              </a:ext>
            </a:extLst>
          </p:cNvPr>
          <p:cNvSpPr/>
          <p:nvPr/>
        </p:nvSpPr>
        <p:spPr>
          <a:xfrm>
            <a:off x="1866900" y="4245906"/>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Group by theme, check consistency</a:t>
            </a:r>
            <a:endParaRPr lang="en-US" sz="1200" dirty="0">
              <a:latin typeface="Montserrat" panose="00000500000000000000" pitchFamily="2" charset="0"/>
            </a:endParaRPr>
          </a:p>
        </p:txBody>
      </p:sp>
      <p:sp>
        <p:nvSpPr>
          <p:cNvPr id="45" name="Shape 28">
            <a:extLst>
              <a:ext uri="{FF2B5EF4-FFF2-40B4-BE49-F238E27FC236}">
                <a16:creationId xmlns:a16="http://schemas.microsoft.com/office/drawing/2014/main" id="{6C8DEE61-D93F-A90C-18B4-4926E254E0DE}"/>
              </a:ext>
            </a:extLst>
          </p:cNvPr>
          <p:cNvSpPr/>
          <p:nvPr/>
        </p:nvSpPr>
        <p:spPr>
          <a:xfrm>
            <a:off x="4244340" y="4090458"/>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46" name="Text 29">
            <a:extLst>
              <a:ext uri="{FF2B5EF4-FFF2-40B4-BE49-F238E27FC236}">
                <a16:creationId xmlns:a16="http://schemas.microsoft.com/office/drawing/2014/main" id="{D2A169D8-89DA-0668-7B22-6A4376D27214}"/>
              </a:ext>
            </a:extLst>
          </p:cNvPr>
          <p:cNvSpPr/>
          <p:nvPr/>
        </p:nvSpPr>
        <p:spPr>
          <a:xfrm>
            <a:off x="4244340" y="4090458"/>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~30 min</a:t>
            </a:r>
            <a:endParaRPr lang="en-US" sz="1000" dirty="0">
              <a:latin typeface="Montserrat" panose="00000500000000000000" pitchFamily="2" charset="0"/>
            </a:endParaRPr>
          </a:p>
        </p:txBody>
      </p:sp>
      <p:sp>
        <p:nvSpPr>
          <p:cNvPr id="47" name="Shape 30">
            <a:extLst>
              <a:ext uri="{FF2B5EF4-FFF2-40B4-BE49-F238E27FC236}">
                <a16:creationId xmlns:a16="http://schemas.microsoft.com/office/drawing/2014/main" id="{36976BD6-DE8F-1671-6E5D-725B58E23980}"/>
              </a:ext>
            </a:extLst>
          </p:cNvPr>
          <p:cNvSpPr/>
          <p:nvPr/>
        </p:nvSpPr>
        <p:spPr>
          <a:xfrm>
            <a:off x="1135380" y="4803690"/>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48" name="Shape 31">
            <a:extLst>
              <a:ext uri="{FF2B5EF4-FFF2-40B4-BE49-F238E27FC236}">
                <a16:creationId xmlns:a16="http://schemas.microsoft.com/office/drawing/2014/main" id="{495ECE3C-542D-45B9-6568-E728B6BFD42A}"/>
              </a:ext>
            </a:extLst>
          </p:cNvPr>
          <p:cNvSpPr/>
          <p:nvPr/>
        </p:nvSpPr>
        <p:spPr>
          <a:xfrm>
            <a:off x="1318260" y="5032290"/>
            <a:ext cx="411480" cy="411480"/>
          </a:xfrm>
          <a:prstGeom prst="ellipse">
            <a:avLst/>
          </a:prstGeom>
          <a:solidFill>
            <a:schemeClr val="accent1">
              <a:lumMod val="60000"/>
              <a:lumOff val="40000"/>
            </a:schemeClr>
          </a:solidFill>
          <a:ln/>
        </p:spPr>
        <p:txBody>
          <a:bodyPr/>
          <a:lstStyle/>
          <a:p>
            <a:endParaRPr lang="en-CA">
              <a:latin typeface="Montserrat" panose="00000500000000000000" pitchFamily="2" charset="0"/>
            </a:endParaRPr>
          </a:p>
        </p:txBody>
      </p:sp>
      <p:sp>
        <p:nvSpPr>
          <p:cNvPr id="49" name="Text 32">
            <a:extLst>
              <a:ext uri="{FF2B5EF4-FFF2-40B4-BE49-F238E27FC236}">
                <a16:creationId xmlns:a16="http://schemas.microsoft.com/office/drawing/2014/main" id="{7EA4257F-422C-1095-5904-2D3199C92D99}"/>
              </a:ext>
            </a:extLst>
          </p:cNvPr>
          <p:cNvSpPr/>
          <p:nvPr/>
        </p:nvSpPr>
        <p:spPr>
          <a:xfrm>
            <a:off x="1318260" y="503229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5</a:t>
            </a:r>
            <a:endParaRPr lang="en-US" sz="1600" dirty="0">
              <a:latin typeface="Montserrat" panose="00000500000000000000" pitchFamily="2" charset="0"/>
            </a:endParaRPr>
          </a:p>
        </p:txBody>
      </p:sp>
      <p:sp>
        <p:nvSpPr>
          <p:cNvPr id="50" name="Text 33">
            <a:extLst>
              <a:ext uri="{FF2B5EF4-FFF2-40B4-BE49-F238E27FC236}">
                <a16:creationId xmlns:a16="http://schemas.microsoft.com/office/drawing/2014/main" id="{9365AED4-1F0F-5F50-1D1E-39E14461D45D}"/>
              </a:ext>
            </a:extLst>
          </p:cNvPr>
          <p:cNvSpPr/>
          <p:nvPr/>
        </p:nvSpPr>
        <p:spPr>
          <a:xfrm>
            <a:off x="1866900" y="4913418"/>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Synthesize</a:t>
            </a:r>
            <a:endParaRPr lang="en-US" sz="1500" dirty="0">
              <a:latin typeface="Montserrat" panose="00000500000000000000" pitchFamily="2" charset="0"/>
            </a:endParaRPr>
          </a:p>
        </p:txBody>
      </p:sp>
      <p:sp>
        <p:nvSpPr>
          <p:cNvPr id="51" name="Text 34">
            <a:extLst>
              <a:ext uri="{FF2B5EF4-FFF2-40B4-BE49-F238E27FC236}">
                <a16:creationId xmlns:a16="http://schemas.microsoft.com/office/drawing/2014/main" id="{C2276C49-44C8-6480-8377-4C0CEB7600EC}"/>
              </a:ext>
            </a:extLst>
          </p:cNvPr>
          <p:cNvSpPr/>
          <p:nvPr/>
        </p:nvSpPr>
        <p:spPr>
          <a:xfrm>
            <a:off x="1866900" y="5233458"/>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Write narrative with recommendations</a:t>
            </a:r>
            <a:endParaRPr lang="en-US" sz="1200" dirty="0">
              <a:latin typeface="Montserrat" panose="00000500000000000000" pitchFamily="2" charset="0"/>
            </a:endParaRPr>
          </a:p>
        </p:txBody>
      </p:sp>
      <p:sp>
        <p:nvSpPr>
          <p:cNvPr id="52" name="Shape 35">
            <a:extLst>
              <a:ext uri="{FF2B5EF4-FFF2-40B4-BE49-F238E27FC236}">
                <a16:creationId xmlns:a16="http://schemas.microsoft.com/office/drawing/2014/main" id="{E67AE318-52D9-5EF0-15D4-A2EEA1BD9ECF}"/>
              </a:ext>
            </a:extLst>
          </p:cNvPr>
          <p:cNvSpPr/>
          <p:nvPr/>
        </p:nvSpPr>
        <p:spPr>
          <a:xfrm>
            <a:off x="4244340" y="5078010"/>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53" name="Text 36">
            <a:extLst>
              <a:ext uri="{FF2B5EF4-FFF2-40B4-BE49-F238E27FC236}">
                <a16:creationId xmlns:a16="http://schemas.microsoft.com/office/drawing/2014/main" id="{C86E6C10-A678-FA63-1877-9E244454DB00}"/>
              </a:ext>
            </a:extLst>
          </p:cNvPr>
          <p:cNvSpPr/>
          <p:nvPr/>
        </p:nvSpPr>
        <p:spPr>
          <a:xfrm>
            <a:off x="4244340" y="5078010"/>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~30 min</a:t>
            </a:r>
            <a:endParaRPr lang="en-US" sz="1000" dirty="0">
              <a:latin typeface="Montserrat" panose="00000500000000000000" pitchFamily="2" charset="0"/>
            </a:endParaRPr>
          </a:p>
        </p:txBody>
      </p:sp>
      <p:sp>
        <p:nvSpPr>
          <p:cNvPr id="54" name="Shape 37">
            <a:extLst>
              <a:ext uri="{FF2B5EF4-FFF2-40B4-BE49-F238E27FC236}">
                <a16:creationId xmlns:a16="http://schemas.microsoft.com/office/drawing/2014/main" id="{0639F080-1D85-D95A-8B0E-C42E7F2228EC}"/>
              </a:ext>
            </a:extLst>
          </p:cNvPr>
          <p:cNvSpPr/>
          <p:nvPr/>
        </p:nvSpPr>
        <p:spPr>
          <a:xfrm>
            <a:off x="1135380" y="5792385"/>
            <a:ext cx="3840480" cy="8686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CA">
              <a:latin typeface="Montserrat" panose="00000500000000000000" pitchFamily="2" charset="0"/>
            </a:endParaRPr>
          </a:p>
        </p:txBody>
      </p:sp>
      <p:sp>
        <p:nvSpPr>
          <p:cNvPr id="55" name="Shape 38">
            <a:extLst>
              <a:ext uri="{FF2B5EF4-FFF2-40B4-BE49-F238E27FC236}">
                <a16:creationId xmlns:a16="http://schemas.microsoft.com/office/drawing/2014/main" id="{D31F32E9-1088-04C9-0C15-F207D9B12422}"/>
              </a:ext>
            </a:extLst>
          </p:cNvPr>
          <p:cNvSpPr/>
          <p:nvPr/>
        </p:nvSpPr>
        <p:spPr>
          <a:xfrm>
            <a:off x="1318260" y="6020985"/>
            <a:ext cx="411480" cy="411480"/>
          </a:xfrm>
          <a:prstGeom prst="ellipse">
            <a:avLst/>
          </a:prstGeom>
          <a:solidFill>
            <a:schemeClr val="bg2">
              <a:lumMod val="25000"/>
            </a:schemeClr>
          </a:solidFill>
          <a:ln/>
        </p:spPr>
        <p:txBody>
          <a:bodyPr/>
          <a:lstStyle/>
          <a:p>
            <a:endParaRPr lang="en-CA">
              <a:latin typeface="Montserrat" panose="00000500000000000000" pitchFamily="2" charset="0"/>
            </a:endParaRPr>
          </a:p>
        </p:txBody>
      </p:sp>
      <p:sp>
        <p:nvSpPr>
          <p:cNvPr id="56" name="Text 39">
            <a:extLst>
              <a:ext uri="{FF2B5EF4-FFF2-40B4-BE49-F238E27FC236}">
                <a16:creationId xmlns:a16="http://schemas.microsoft.com/office/drawing/2014/main" id="{6D5BB4B9-D008-EB7E-45AF-877E200E3488}"/>
              </a:ext>
            </a:extLst>
          </p:cNvPr>
          <p:cNvSpPr/>
          <p:nvPr/>
        </p:nvSpPr>
        <p:spPr>
          <a:xfrm>
            <a:off x="1318260" y="6020985"/>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6</a:t>
            </a:r>
            <a:endParaRPr lang="en-US" sz="1600" dirty="0">
              <a:latin typeface="Montserrat" panose="00000500000000000000" pitchFamily="2" charset="0"/>
            </a:endParaRPr>
          </a:p>
        </p:txBody>
      </p:sp>
      <p:sp>
        <p:nvSpPr>
          <p:cNvPr id="57" name="Text 40">
            <a:extLst>
              <a:ext uri="{FF2B5EF4-FFF2-40B4-BE49-F238E27FC236}">
                <a16:creationId xmlns:a16="http://schemas.microsoft.com/office/drawing/2014/main" id="{CC102C78-0ABD-4BDB-10EE-D85AAC301062}"/>
              </a:ext>
            </a:extLst>
          </p:cNvPr>
          <p:cNvSpPr/>
          <p:nvPr/>
        </p:nvSpPr>
        <p:spPr>
          <a:xfrm>
            <a:off x="1866900" y="5902113"/>
            <a:ext cx="2286000" cy="320040"/>
          </a:xfrm>
          <a:prstGeom prst="rect">
            <a:avLst/>
          </a:prstGeom>
          <a:noFill/>
          <a:ln/>
        </p:spPr>
        <p:txBody>
          <a:bodyPr wrap="square" lIns="0" tIns="0" rIns="0" bIns="0" rtlCol="0" anchor="ctr"/>
          <a:lstStyle/>
          <a:p>
            <a:pPr marL="0" indent="0">
              <a:buNone/>
            </a:pPr>
            <a:r>
              <a:rPr lang="en-US" sz="1500" b="1" dirty="0">
                <a:solidFill>
                  <a:srgbClr val="0B1D33"/>
                </a:solidFill>
                <a:latin typeface="Montserrat" panose="00000500000000000000" pitchFamily="2" charset="0"/>
                <a:ea typeface="Calibri" pitchFamily="34" charset="-122"/>
                <a:cs typeface="Calibri" pitchFamily="34" charset="-120"/>
              </a:rPr>
              <a:t>Format &amp; review</a:t>
            </a:r>
            <a:endParaRPr lang="en-US" sz="1500" dirty="0">
              <a:latin typeface="Montserrat" panose="00000500000000000000" pitchFamily="2" charset="0"/>
            </a:endParaRPr>
          </a:p>
        </p:txBody>
      </p:sp>
      <p:sp>
        <p:nvSpPr>
          <p:cNvPr id="58" name="Text 41">
            <a:extLst>
              <a:ext uri="{FF2B5EF4-FFF2-40B4-BE49-F238E27FC236}">
                <a16:creationId xmlns:a16="http://schemas.microsoft.com/office/drawing/2014/main" id="{58888E73-984A-69E2-9919-FE292A60E403}"/>
              </a:ext>
            </a:extLst>
          </p:cNvPr>
          <p:cNvSpPr/>
          <p:nvPr/>
        </p:nvSpPr>
        <p:spPr>
          <a:xfrm>
            <a:off x="1866900" y="6222153"/>
            <a:ext cx="2286000" cy="320040"/>
          </a:xfrm>
          <a:prstGeom prst="rect">
            <a:avLst/>
          </a:prstGeom>
          <a:noFill/>
          <a:ln/>
        </p:spPr>
        <p:txBody>
          <a:bodyPr wrap="square" lIns="0" tIns="0" rIns="0" bIns="0" rtlCol="0" anchor="ctr"/>
          <a:lstStyle/>
          <a:p>
            <a:pPr marL="0" indent="0">
              <a:buNone/>
            </a:pPr>
            <a:r>
              <a:rPr lang="en-US" sz="1200" dirty="0">
                <a:solidFill>
                  <a:srgbClr val="64748B"/>
                </a:solidFill>
                <a:latin typeface="Montserrat" panose="00000500000000000000" pitchFamily="2" charset="0"/>
                <a:ea typeface="Calibri" pitchFamily="34" charset="-122"/>
                <a:cs typeface="Calibri" pitchFamily="34" charset="-120"/>
              </a:rPr>
              <a:t>Polish for stakeholder consumption</a:t>
            </a:r>
            <a:endParaRPr lang="en-US" sz="1200" dirty="0">
              <a:latin typeface="Montserrat" panose="00000500000000000000" pitchFamily="2" charset="0"/>
            </a:endParaRPr>
          </a:p>
        </p:txBody>
      </p:sp>
      <p:sp>
        <p:nvSpPr>
          <p:cNvPr id="59" name="Shape 42">
            <a:extLst>
              <a:ext uri="{FF2B5EF4-FFF2-40B4-BE49-F238E27FC236}">
                <a16:creationId xmlns:a16="http://schemas.microsoft.com/office/drawing/2014/main" id="{C609D00D-6C8B-EEA3-1A63-F9653CF2A8B5}"/>
              </a:ext>
            </a:extLst>
          </p:cNvPr>
          <p:cNvSpPr/>
          <p:nvPr/>
        </p:nvSpPr>
        <p:spPr>
          <a:xfrm>
            <a:off x="4244340" y="6066705"/>
            <a:ext cx="548640" cy="320040"/>
          </a:xfrm>
          <a:prstGeom prst="rect">
            <a:avLst/>
          </a:prstGeom>
          <a:solidFill>
            <a:srgbClr val="E2E8F0"/>
          </a:solidFill>
          <a:ln/>
        </p:spPr>
        <p:txBody>
          <a:bodyPr/>
          <a:lstStyle/>
          <a:p>
            <a:endParaRPr lang="en-CA">
              <a:latin typeface="Montserrat" panose="00000500000000000000" pitchFamily="2" charset="0"/>
            </a:endParaRPr>
          </a:p>
        </p:txBody>
      </p:sp>
      <p:sp>
        <p:nvSpPr>
          <p:cNvPr id="60" name="Text 43">
            <a:extLst>
              <a:ext uri="{FF2B5EF4-FFF2-40B4-BE49-F238E27FC236}">
                <a16:creationId xmlns:a16="http://schemas.microsoft.com/office/drawing/2014/main" id="{43E515EF-C821-32A8-0A2F-0AE96A570867}"/>
              </a:ext>
            </a:extLst>
          </p:cNvPr>
          <p:cNvSpPr/>
          <p:nvPr/>
        </p:nvSpPr>
        <p:spPr>
          <a:xfrm>
            <a:off x="4244340" y="6066705"/>
            <a:ext cx="548640" cy="320040"/>
          </a:xfrm>
          <a:prstGeom prst="rect">
            <a:avLst/>
          </a:prstGeom>
          <a:noFill/>
          <a:ln/>
        </p:spPr>
        <p:txBody>
          <a:bodyPr wrap="square" lIns="0" tIns="0" rIns="0" bIns="0" rtlCol="0" anchor="ctr"/>
          <a:lstStyle/>
          <a:p>
            <a:pPr marL="0" indent="0" algn="ctr">
              <a:buNone/>
            </a:pPr>
            <a:r>
              <a:rPr lang="en-US" sz="1000" dirty="0">
                <a:solidFill>
                  <a:srgbClr val="0B1D33"/>
                </a:solidFill>
                <a:latin typeface="Montserrat" panose="00000500000000000000" pitchFamily="2" charset="0"/>
                <a:ea typeface="Calibri" pitchFamily="34" charset="-122"/>
                <a:cs typeface="Calibri" pitchFamily="34" charset="-120"/>
              </a:rPr>
              <a:t>~15 min</a:t>
            </a:r>
            <a:endParaRPr lang="en-US" sz="1000" dirty="0">
              <a:latin typeface="Montserrat" panose="00000500000000000000" pitchFamily="2" charset="0"/>
            </a:endParaRPr>
          </a:p>
        </p:txBody>
      </p:sp>
      <p:sp>
        <p:nvSpPr>
          <p:cNvPr id="81" name="Left Brace 80">
            <a:extLst>
              <a:ext uri="{FF2B5EF4-FFF2-40B4-BE49-F238E27FC236}">
                <a16:creationId xmlns:a16="http://schemas.microsoft.com/office/drawing/2014/main" id="{34177306-AC93-5469-FAD8-9B71E05594D4}"/>
              </a:ext>
            </a:extLst>
          </p:cNvPr>
          <p:cNvSpPr/>
          <p:nvPr/>
        </p:nvSpPr>
        <p:spPr>
          <a:xfrm rot="10800000">
            <a:off x="5116264" y="1777068"/>
            <a:ext cx="466725" cy="2907749"/>
          </a:xfrm>
          <a:prstGeom prst="leftBrace">
            <a:avLst>
              <a:gd name="adj1" fmla="val 114455"/>
              <a:gd name="adj2" fmla="val 50000"/>
            </a:avLst>
          </a:prstGeom>
          <a:ln w="38100">
            <a:solidFill>
              <a:srgbClr val="0C17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latin typeface="Montserrat" panose="00000500000000000000" pitchFamily="2" charset="0"/>
            </a:endParaRPr>
          </a:p>
        </p:txBody>
      </p:sp>
      <p:sp>
        <p:nvSpPr>
          <p:cNvPr id="83" name="TextBox 82">
            <a:extLst>
              <a:ext uri="{FF2B5EF4-FFF2-40B4-BE49-F238E27FC236}">
                <a16:creationId xmlns:a16="http://schemas.microsoft.com/office/drawing/2014/main" id="{7BF2448C-5123-D24E-7EA6-B74DB8967275}"/>
              </a:ext>
            </a:extLst>
          </p:cNvPr>
          <p:cNvSpPr txBox="1"/>
          <p:nvPr/>
        </p:nvSpPr>
        <p:spPr>
          <a:xfrm>
            <a:off x="5764846" y="2965972"/>
            <a:ext cx="5703254" cy="707886"/>
          </a:xfrm>
          <a:prstGeom prst="rect">
            <a:avLst/>
          </a:prstGeom>
          <a:noFill/>
        </p:spPr>
        <p:txBody>
          <a:bodyPr wrap="square">
            <a:spAutoFit/>
          </a:bodyPr>
          <a:lstStyle/>
          <a:p>
            <a:pPr marL="0" indent="0">
              <a:buNone/>
            </a:pPr>
            <a:r>
              <a:rPr lang="en-US" sz="2000" dirty="0">
                <a:solidFill>
                  <a:srgbClr val="0B1D33"/>
                </a:solidFill>
                <a:latin typeface="Montserrat" panose="00000500000000000000" pitchFamily="2" charset="0"/>
                <a:ea typeface="Calibri" pitchFamily="34" charset="-122"/>
                <a:cs typeface="Calibri" pitchFamily="34" charset="-120"/>
              </a:rPr>
              <a:t>Steps 2–4 consume ~75% of total time, perfect targets for automation.</a:t>
            </a:r>
            <a:endParaRPr lang="en-US" sz="2000" dirty="0">
              <a:latin typeface="Montserrat" panose="00000500000000000000" pitchFamily="2" charset="0"/>
            </a:endParaRPr>
          </a:p>
        </p:txBody>
      </p:sp>
    </p:spTree>
    <p:extLst>
      <p:ext uri="{BB962C8B-B14F-4D97-AF65-F5344CB8AC3E}">
        <p14:creationId xmlns:p14="http://schemas.microsoft.com/office/powerpoint/2010/main" val="3866612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50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5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500"/>
                                        <p:tgtEl>
                                          <p:spTgt spid="4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500"/>
                                        <p:tgtEl>
                                          <p:spTgt spid="4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5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5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500"/>
                                        <p:tgtEl>
                                          <p:spTgt spid="4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500"/>
                                        <p:tgtEl>
                                          <p:spTgt spid="4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500"/>
                                        <p:tgtEl>
                                          <p:spTgt spid="4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500"/>
                                        <p:tgtEl>
                                          <p:spTgt spid="4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500"/>
                                        <p:tgtEl>
                                          <p:spTgt spid="4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500"/>
                                        <p:tgtEl>
                                          <p:spTgt spid="5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fade">
                                      <p:cBhvr>
                                        <p:cTn id="111" dur="500"/>
                                        <p:tgtEl>
                                          <p:spTgt spid="5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2"/>
                                        </p:tgtEl>
                                        <p:attrNameLst>
                                          <p:attrName>style.visibility</p:attrName>
                                        </p:attrNameLst>
                                      </p:cBhvr>
                                      <p:to>
                                        <p:strVal val="visible"/>
                                      </p:to>
                                    </p:set>
                                    <p:animEffect transition="in" filter="fade">
                                      <p:cBhvr>
                                        <p:cTn id="114" dur="500"/>
                                        <p:tgtEl>
                                          <p:spTgt spid="5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fade">
                                      <p:cBhvr>
                                        <p:cTn id="117" dur="500"/>
                                        <p:tgtEl>
                                          <p:spTgt spid="53"/>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500"/>
                                        <p:tgtEl>
                                          <p:spTgt spid="5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fade">
                                      <p:cBhvr>
                                        <p:cTn id="125" dur="500"/>
                                        <p:tgtEl>
                                          <p:spTgt spid="5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500"/>
                                        <p:tgtEl>
                                          <p:spTgt spid="5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7"/>
                                        </p:tgtEl>
                                        <p:attrNameLst>
                                          <p:attrName>style.visibility</p:attrName>
                                        </p:attrNameLst>
                                      </p:cBhvr>
                                      <p:to>
                                        <p:strVal val="visible"/>
                                      </p:to>
                                    </p:set>
                                    <p:animEffect transition="in" filter="fade">
                                      <p:cBhvr>
                                        <p:cTn id="131" dur="500"/>
                                        <p:tgtEl>
                                          <p:spTgt spid="5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fade">
                                      <p:cBhvr>
                                        <p:cTn id="134" dur="500"/>
                                        <p:tgtEl>
                                          <p:spTgt spid="5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fade">
                                      <p:cBhvr>
                                        <p:cTn id="137" dur="500"/>
                                        <p:tgtEl>
                                          <p:spTgt spid="5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0"/>
                                        </p:tgtEl>
                                        <p:attrNameLst>
                                          <p:attrName>style.visibility</p:attrName>
                                        </p:attrNameLst>
                                      </p:cBhvr>
                                      <p:to>
                                        <p:strVal val="visible"/>
                                      </p:to>
                                    </p:set>
                                    <p:animEffect transition="in" filter="fade">
                                      <p:cBhvr>
                                        <p:cTn id="140" dur="500"/>
                                        <p:tgtEl>
                                          <p:spTgt spid="60"/>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81"/>
                                        </p:tgtEl>
                                        <p:attrNameLst>
                                          <p:attrName>style.visibility</p:attrName>
                                        </p:attrNameLst>
                                      </p:cBhvr>
                                      <p:to>
                                        <p:strVal val="visible"/>
                                      </p:to>
                                    </p:set>
                                    <p:animEffect transition="in" filter="fade">
                                      <p:cBhvr>
                                        <p:cTn id="145" dur="500"/>
                                        <p:tgtEl>
                                          <p:spTgt spid="8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3"/>
                                        </p:tgtEl>
                                        <p:attrNameLst>
                                          <p:attrName>style.visibility</p:attrName>
                                        </p:attrNameLst>
                                      </p:cBhvr>
                                      <p:to>
                                        <p:strVal val="visible"/>
                                      </p:to>
                                    </p:set>
                                    <p:animEffect transition="in" filter="fade">
                                      <p:cBhvr>
                                        <p:cTn id="148"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7" grpId="0" animBg="1"/>
      <p:bldP spid="19" grpId="0" animBg="1"/>
      <p:bldP spid="20" grpId="0" animBg="1"/>
      <p:bldP spid="22" grpId="0" animBg="1"/>
      <p:bldP spid="23"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81" grpId="0" animBg="1"/>
      <p:bldP spid="8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C0AA4-2EFC-E861-5750-1CF5958A0D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9742F7-EAA7-B745-8906-4052CD9EEF53}"/>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2E19CD6-DFCE-EE8B-F85C-1366F177B8D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6A18A44-BCC3-EE74-FE62-CE769F486217}"/>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3. Set the Autonomy level</a:t>
            </a:r>
          </a:p>
        </p:txBody>
      </p:sp>
      <p:sp>
        <p:nvSpPr>
          <p:cNvPr id="9" name="TextBox 8">
            <a:extLst>
              <a:ext uri="{FF2B5EF4-FFF2-40B4-BE49-F238E27FC236}">
                <a16:creationId xmlns:a16="http://schemas.microsoft.com/office/drawing/2014/main" id="{C2B570EE-A7A1-161C-96FE-2AC40214F5B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Shape 11">
            <a:extLst>
              <a:ext uri="{FF2B5EF4-FFF2-40B4-BE49-F238E27FC236}">
                <a16:creationId xmlns:a16="http://schemas.microsoft.com/office/drawing/2014/main" id="{8EDFD8FA-A761-D8CC-96B4-B72F11AA6DED}"/>
              </a:ext>
            </a:extLst>
          </p:cNvPr>
          <p:cNvSpPr/>
          <p:nvPr/>
        </p:nvSpPr>
        <p:spPr>
          <a:xfrm>
            <a:off x="274320" y="1562100"/>
            <a:ext cx="3316920" cy="3752850"/>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11" name="Text 15">
            <a:extLst>
              <a:ext uri="{FF2B5EF4-FFF2-40B4-BE49-F238E27FC236}">
                <a16:creationId xmlns:a16="http://schemas.microsoft.com/office/drawing/2014/main" id="{9B93DF6A-3386-AA22-BE7D-12B019642740}"/>
              </a:ext>
            </a:extLst>
          </p:cNvPr>
          <p:cNvSpPr/>
          <p:nvPr/>
        </p:nvSpPr>
        <p:spPr>
          <a:xfrm>
            <a:off x="428324" y="2409712"/>
            <a:ext cx="3164517" cy="685800"/>
          </a:xfrm>
          <a:prstGeom prst="rect">
            <a:avLst/>
          </a:prstGeom>
          <a:noFill/>
          <a:ln/>
        </p:spPr>
        <p:txBody>
          <a:bodyPr wrap="square" lIns="0" tIns="0" rIns="0" bIns="0" rtlCol="0" anchor="ctr"/>
          <a:lstStyle/>
          <a:p>
            <a:pPr marL="0" indent="0">
              <a:buNone/>
            </a:pPr>
            <a:r>
              <a:rPr lang="en-US" sz="1600" b="1" dirty="0">
                <a:solidFill>
                  <a:srgbClr val="0C1752"/>
                </a:solidFill>
                <a:latin typeface="Montserrat" panose="00000500000000000000" pitchFamily="2" charset="0"/>
                <a:ea typeface="Calibri" pitchFamily="34" charset="-122"/>
                <a:cs typeface="Calibri" pitchFamily="34" charset="-120"/>
              </a:rPr>
              <a:t>A single LLM call enhanced with tools (search, retrieval, code execution). The simplest form of an agent.</a:t>
            </a:r>
            <a:endParaRPr lang="en-US" sz="1600" b="1" dirty="0">
              <a:solidFill>
                <a:srgbClr val="0C1752"/>
              </a:solidFill>
              <a:latin typeface="Montserrat" panose="00000500000000000000" pitchFamily="2" charset="0"/>
            </a:endParaRPr>
          </a:p>
        </p:txBody>
      </p:sp>
      <p:sp>
        <p:nvSpPr>
          <p:cNvPr id="13" name="Text 16">
            <a:extLst>
              <a:ext uri="{FF2B5EF4-FFF2-40B4-BE49-F238E27FC236}">
                <a16:creationId xmlns:a16="http://schemas.microsoft.com/office/drawing/2014/main" id="{F3F837C3-8455-A25E-672C-7FBF07CE1B6F}"/>
              </a:ext>
            </a:extLst>
          </p:cNvPr>
          <p:cNvSpPr/>
          <p:nvPr/>
        </p:nvSpPr>
        <p:spPr>
          <a:xfrm>
            <a:off x="411480" y="3522345"/>
            <a:ext cx="750570" cy="182880"/>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When:</a:t>
            </a:r>
            <a:endParaRPr lang="en-US" sz="1400" dirty="0">
              <a:solidFill>
                <a:srgbClr val="0C1752"/>
              </a:solidFill>
              <a:latin typeface="Montserrat" panose="00000500000000000000" pitchFamily="2" charset="0"/>
            </a:endParaRPr>
          </a:p>
        </p:txBody>
      </p:sp>
      <p:sp>
        <p:nvSpPr>
          <p:cNvPr id="14" name="Text 17">
            <a:extLst>
              <a:ext uri="{FF2B5EF4-FFF2-40B4-BE49-F238E27FC236}">
                <a16:creationId xmlns:a16="http://schemas.microsoft.com/office/drawing/2014/main" id="{E188CEE7-1801-8BD6-A737-B2324F7E662B}"/>
              </a:ext>
            </a:extLst>
          </p:cNvPr>
          <p:cNvSpPr/>
          <p:nvPr/>
        </p:nvSpPr>
        <p:spPr>
          <a:xfrm>
            <a:off x="411479" y="3705225"/>
            <a:ext cx="2893695" cy="411480"/>
          </a:xfrm>
          <a:prstGeom prst="rect">
            <a:avLst/>
          </a:prstGeom>
          <a:noFill/>
          <a:ln/>
        </p:spPr>
        <p:txBody>
          <a:bodyPr wrap="square" lIns="0" tIns="0" rIns="0" bIns="0" rtlCol="0" anchor="ctr"/>
          <a:lstStyle/>
          <a:p>
            <a:pPr marL="0" indent="0">
              <a:buNone/>
            </a:pPr>
            <a:r>
              <a:rPr lang="en-US" sz="1400" dirty="0">
                <a:solidFill>
                  <a:srgbClr val="0C1752"/>
                </a:solidFill>
                <a:latin typeface="Montserrat" panose="00000500000000000000" pitchFamily="2" charset="0"/>
                <a:ea typeface="Calibri" pitchFamily="34" charset="-122"/>
                <a:cs typeface="Calibri" pitchFamily="34" charset="-120"/>
              </a:rPr>
              <a:t>Task has 1-2 steps, clear input/output, single domain</a:t>
            </a:r>
            <a:endParaRPr lang="en-US" sz="1400" dirty="0">
              <a:solidFill>
                <a:srgbClr val="0C1752"/>
              </a:solidFill>
              <a:latin typeface="Montserrat" panose="00000500000000000000" pitchFamily="2" charset="0"/>
            </a:endParaRPr>
          </a:p>
        </p:txBody>
      </p:sp>
      <p:sp>
        <p:nvSpPr>
          <p:cNvPr id="15" name="Text 18">
            <a:extLst>
              <a:ext uri="{FF2B5EF4-FFF2-40B4-BE49-F238E27FC236}">
                <a16:creationId xmlns:a16="http://schemas.microsoft.com/office/drawing/2014/main" id="{2B92AD37-4588-8016-9904-84D87D4E2AA3}"/>
              </a:ext>
            </a:extLst>
          </p:cNvPr>
          <p:cNvSpPr/>
          <p:nvPr/>
        </p:nvSpPr>
        <p:spPr>
          <a:xfrm>
            <a:off x="428324" y="4503012"/>
            <a:ext cx="902970" cy="135550"/>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Example:</a:t>
            </a:r>
            <a:endParaRPr lang="en-US" sz="1400" dirty="0">
              <a:solidFill>
                <a:srgbClr val="0C1752"/>
              </a:solidFill>
              <a:latin typeface="Montserrat" panose="00000500000000000000" pitchFamily="2" charset="0"/>
            </a:endParaRPr>
          </a:p>
        </p:txBody>
      </p:sp>
      <p:sp>
        <p:nvSpPr>
          <p:cNvPr id="16" name="Text 19">
            <a:extLst>
              <a:ext uri="{FF2B5EF4-FFF2-40B4-BE49-F238E27FC236}">
                <a16:creationId xmlns:a16="http://schemas.microsoft.com/office/drawing/2014/main" id="{BFEE0D9C-3042-14E0-A794-D25532BAE215}"/>
              </a:ext>
            </a:extLst>
          </p:cNvPr>
          <p:cNvSpPr/>
          <p:nvPr/>
        </p:nvSpPr>
        <p:spPr>
          <a:xfrm>
            <a:off x="411478" y="4772027"/>
            <a:ext cx="3074671" cy="457200"/>
          </a:xfrm>
          <a:prstGeom prst="rect">
            <a:avLst/>
          </a:prstGeom>
          <a:noFill/>
          <a:ln/>
        </p:spPr>
        <p:txBody>
          <a:bodyPr wrap="square" lIns="0" tIns="0" rIns="0" bIns="0" rtlCol="0" anchor="ctr"/>
          <a:lstStyle/>
          <a:p>
            <a:pPr marL="0" indent="0">
              <a:buNone/>
            </a:pPr>
            <a:r>
              <a:rPr lang="en-US" sz="1400" i="1" dirty="0">
                <a:solidFill>
                  <a:srgbClr val="0C1752"/>
                </a:solidFill>
                <a:latin typeface="Montserrat" panose="00000500000000000000" pitchFamily="2" charset="0"/>
                <a:ea typeface="Calibri" pitchFamily="34" charset="-122"/>
                <a:cs typeface="Calibri" pitchFamily="34" charset="-120"/>
              </a:rPr>
              <a:t>Research assistant that searches the web and summarizes findings</a:t>
            </a:r>
            <a:endParaRPr lang="en-US" sz="1400" dirty="0">
              <a:solidFill>
                <a:srgbClr val="0C1752"/>
              </a:solidFill>
              <a:latin typeface="Montserrat" panose="00000500000000000000" pitchFamily="2" charset="0"/>
            </a:endParaRPr>
          </a:p>
        </p:txBody>
      </p:sp>
      <p:sp>
        <p:nvSpPr>
          <p:cNvPr id="18" name="Shape 20">
            <a:extLst>
              <a:ext uri="{FF2B5EF4-FFF2-40B4-BE49-F238E27FC236}">
                <a16:creationId xmlns:a16="http://schemas.microsoft.com/office/drawing/2014/main" id="{E6E093CB-948E-B463-A143-A0D40EC456F2}"/>
              </a:ext>
            </a:extLst>
          </p:cNvPr>
          <p:cNvSpPr/>
          <p:nvPr/>
        </p:nvSpPr>
        <p:spPr>
          <a:xfrm>
            <a:off x="4144639" y="1588177"/>
            <a:ext cx="3429000" cy="3752850"/>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dirty="0">
              <a:latin typeface="Montserrat" panose="00000500000000000000" pitchFamily="2" charset="0"/>
            </a:endParaRPr>
          </a:p>
        </p:txBody>
      </p:sp>
      <p:sp>
        <p:nvSpPr>
          <p:cNvPr id="61" name="Text 24">
            <a:extLst>
              <a:ext uri="{FF2B5EF4-FFF2-40B4-BE49-F238E27FC236}">
                <a16:creationId xmlns:a16="http://schemas.microsoft.com/office/drawing/2014/main" id="{298B94F9-A474-8597-DFC1-DDE985677F69}"/>
              </a:ext>
            </a:extLst>
          </p:cNvPr>
          <p:cNvSpPr/>
          <p:nvPr/>
        </p:nvSpPr>
        <p:spPr>
          <a:xfrm>
            <a:off x="4264653" y="2409712"/>
            <a:ext cx="3308986" cy="685800"/>
          </a:xfrm>
          <a:prstGeom prst="rect">
            <a:avLst/>
          </a:prstGeom>
          <a:noFill/>
          <a:ln/>
        </p:spPr>
        <p:txBody>
          <a:bodyPr wrap="square" lIns="0" tIns="0" rIns="0" bIns="0" rtlCol="0" anchor="ctr"/>
          <a:lstStyle/>
          <a:p>
            <a:r>
              <a:rPr lang="en-US" sz="1600" b="1" dirty="0">
                <a:solidFill>
                  <a:srgbClr val="0C1752"/>
                </a:solidFill>
                <a:latin typeface="Montserrat" panose="00000500000000000000" pitchFamily="2" charset="0"/>
                <a:ea typeface="Calibri" pitchFamily="34" charset="-122"/>
                <a:cs typeface="Calibri" pitchFamily="34" charset="-120"/>
              </a:rPr>
              <a:t>Multiple LLM calls orchestrated in a predefined pattern: chains, routing, parallelization.</a:t>
            </a:r>
          </a:p>
        </p:txBody>
      </p:sp>
      <p:sp>
        <p:nvSpPr>
          <p:cNvPr id="62" name="Text 25">
            <a:extLst>
              <a:ext uri="{FF2B5EF4-FFF2-40B4-BE49-F238E27FC236}">
                <a16:creationId xmlns:a16="http://schemas.microsoft.com/office/drawing/2014/main" id="{6F7E66D7-9DCC-C186-0773-4DEA426DA5F9}"/>
              </a:ext>
            </a:extLst>
          </p:cNvPr>
          <p:cNvSpPr/>
          <p:nvPr/>
        </p:nvSpPr>
        <p:spPr>
          <a:xfrm>
            <a:off x="4281798" y="3548123"/>
            <a:ext cx="785501" cy="208239"/>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When:</a:t>
            </a:r>
            <a:endParaRPr lang="en-US" sz="1400" dirty="0">
              <a:solidFill>
                <a:srgbClr val="0C1752"/>
              </a:solidFill>
              <a:latin typeface="Montserrat" panose="00000500000000000000" pitchFamily="2" charset="0"/>
            </a:endParaRPr>
          </a:p>
        </p:txBody>
      </p:sp>
      <p:sp>
        <p:nvSpPr>
          <p:cNvPr id="63" name="Text 26">
            <a:extLst>
              <a:ext uri="{FF2B5EF4-FFF2-40B4-BE49-F238E27FC236}">
                <a16:creationId xmlns:a16="http://schemas.microsoft.com/office/drawing/2014/main" id="{B91C689E-D306-5F43-DD4B-A25FCE3F11C8}"/>
              </a:ext>
            </a:extLst>
          </p:cNvPr>
          <p:cNvSpPr/>
          <p:nvPr/>
        </p:nvSpPr>
        <p:spPr>
          <a:xfrm>
            <a:off x="4281799" y="3731004"/>
            <a:ext cx="3202302" cy="411480"/>
          </a:xfrm>
          <a:prstGeom prst="rect">
            <a:avLst/>
          </a:prstGeom>
          <a:noFill/>
          <a:ln/>
        </p:spPr>
        <p:txBody>
          <a:bodyPr wrap="square" lIns="0" tIns="0" rIns="0" bIns="0" rtlCol="0" anchor="ctr"/>
          <a:lstStyle/>
          <a:p>
            <a:pPr marL="0" indent="0">
              <a:buNone/>
            </a:pPr>
            <a:r>
              <a:rPr lang="en-US" sz="1400" dirty="0">
                <a:solidFill>
                  <a:srgbClr val="0C1752"/>
                </a:solidFill>
                <a:latin typeface="Montserrat" panose="00000500000000000000" pitchFamily="2" charset="0"/>
                <a:ea typeface="Calibri" pitchFamily="34" charset="-122"/>
                <a:cs typeface="Calibri" pitchFamily="34" charset="-120"/>
              </a:rPr>
              <a:t>Task has multiple steps, branches, or needs coordination</a:t>
            </a:r>
            <a:endParaRPr lang="en-US" sz="1400" dirty="0">
              <a:solidFill>
                <a:srgbClr val="0C1752"/>
              </a:solidFill>
              <a:latin typeface="Montserrat" panose="00000500000000000000" pitchFamily="2" charset="0"/>
            </a:endParaRPr>
          </a:p>
        </p:txBody>
      </p:sp>
      <p:sp>
        <p:nvSpPr>
          <p:cNvPr id="64" name="Text 27">
            <a:extLst>
              <a:ext uri="{FF2B5EF4-FFF2-40B4-BE49-F238E27FC236}">
                <a16:creationId xmlns:a16="http://schemas.microsoft.com/office/drawing/2014/main" id="{7494F860-6821-49E6-E63B-BF658043A3A9}"/>
              </a:ext>
            </a:extLst>
          </p:cNvPr>
          <p:cNvSpPr/>
          <p:nvPr/>
        </p:nvSpPr>
        <p:spPr>
          <a:xfrm>
            <a:off x="4230363" y="4594206"/>
            <a:ext cx="969330" cy="127040"/>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Example:</a:t>
            </a:r>
            <a:endParaRPr lang="en-US" sz="1400" dirty="0">
              <a:solidFill>
                <a:srgbClr val="0C1752"/>
              </a:solidFill>
              <a:latin typeface="Montserrat" panose="00000500000000000000" pitchFamily="2" charset="0"/>
            </a:endParaRPr>
          </a:p>
        </p:txBody>
      </p:sp>
      <p:sp>
        <p:nvSpPr>
          <p:cNvPr id="65" name="Text 28">
            <a:extLst>
              <a:ext uri="{FF2B5EF4-FFF2-40B4-BE49-F238E27FC236}">
                <a16:creationId xmlns:a16="http://schemas.microsoft.com/office/drawing/2014/main" id="{D25C662F-1DA4-1FD7-53EC-8FFEE1985205}"/>
              </a:ext>
            </a:extLst>
          </p:cNvPr>
          <p:cNvSpPr/>
          <p:nvPr/>
        </p:nvSpPr>
        <p:spPr>
          <a:xfrm>
            <a:off x="4230362" y="4777086"/>
            <a:ext cx="3202303" cy="457200"/>
          </a:xfrm>
          <a:prstGeom prst="rect">
            <a:avLst/>
          </a:prstGeom>
          <a:noFill/>
          <a:ln/>
        </p:spPr>
        <p:txBody>
          <a:bodyPr wrap="square" lIns="0" tIns="0" rIns="0" bIns="0" rtlCol="0" anchor="ctr"/>
          <a:lstStyle/>
          <a:p>
            <a:pPr marL="0" indent="0">
              <a:buNone/>
            </a:pPr>
            <a:r>
              <a:rPr lang="en-US" sz="1400" i="1" dirty="0">
                <a:solidFill>
                  <a:srgbClr val="0C1752"/>
                </a:solidFill>
                <a:latin typeface="Montserrat" panose="00000500000000000000" pitchFamily="2" charset="0"/>
                <a:ea typeface="Calibri" pitchFamily="34" charset="-122"/>
                <a:cs typeface="Calibri" pitchFamily="34" charset="-120"/>
              </a:rPr>
              <a:t>Content pipeline: 1. research, 2. draft, 3. edit, 4. format for channels</a:t>
            </a:r>
            <a:endParaRPr lang="en-US" sz="1400" dirty="0">
              <a:solidFill>
                <a:srgbClr val="0C1752"/>
              </a:solidFill>
              <a:latin typeface="Montserrat" panose="00000500000000000000" pitchFamily="2" charset="0"/>
            </a:endParaRPr>
          </a:p>
        </p:txBody>
      </p:sp>
      <p:sp>
        <p:nvSpPr>
          <p:cNvPr id="66" name="Shape 29">
            <a:extLst>
              <a:ext uri="{FF2B5EF4-FFF2-40B4-BE49-F238E27FC236}">
                <a16:creationId xmlns:a16="http://schemas.microsoft.com/office/drawing/2014/main" id="{93A1F6F9-1500-D713-1A1A-C479E4E7C5FC}"/>
              </a:ext>
            </a:extLst>
          </p:cNvPr>
          <p:cNvSpPr/>
          <p:nvPr/>
        </p:nvSpPr>
        <p:spPr>
          <a:xfrm>
            <a:off x="8142281" y="1578058"/>
            <a:ext cx="3428999" cy="3776898"/>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70" name="Text 33">
            <a:extLst>
              <a:ext uri="{FF2B5EF4-FFF2-40B4-BE49-F238E27FC236}">
                <a16:creationId xmlns:a16="http://schemas.microsoft.com/office/drawing/2014/main" id="{72512BC9-070A-CDF1-EAA9-C98AEA708C52}"/>
              </a:ext>
            </a:extLst>
          </p:cNvPr>
          <p:cNvSpPr/>
          <p:nvPr/>
        </p:nvSpPr>
        <p:spPr>
          <a:xfrm>
            <a:off x="8341546" y="2453343"/>
            <a:ext cx="3001453" cy="685800"/>
          </a:xfrm>
          <a:prstGeom prst="rect">
            <a:avLst/>
          </a:prstGeom>
          <a:noFill/>
          <a:ln/>
        </p:spPr>
        <p:txBody>
          <a:bodyPr wrap="square" lIns="0" tIns="0" rIns="0" bIns="0" rtlCol="0" anchor="ctr"/>
          <a:lstStyle/>
          <a:p>
            <a:r>
              <a:rPr lang="en-US" sz="1600" b="1" dirty="0">
                <a:solidFill>
                  <a:srgbClr val="0C1752"/>
                </a:solidFill>
                <a:latin typeface="Montserrat" panose="00000500000000000000" pitchFamily="2" charset="0"/>
                <a:ea typeface="Calibri" pitchFamily="34" charset="-122"/>
                <a:cs typeface="Calibri" pitchFamily="34" charset="-120"/>
              </a:rPr>
              <a:t>Self-directed agent with planning, memory, and open-ended tool use. Makes its own decisions.</a:t>
            </a:r>
          </a:p>
        </p:txBody>
      </p:sp>
      <p:sp>
        <p:nvSpPr>
          <p:cNvPr id="71" name="Text 34">
            <a:extLst>
              <a:ext uri="{FF2B5EF4-FFF2-40B4-BE49-F238E27FC236}">
                <a16:creationId xmlns:a16="http://schemas.microsoft.com/office/drawing/2014/main" id="{6AC780DE-E7FE-CA49-8CE8-6815495D96DA}"/>
              </a:ext>
            </a:extLst>
          </p:cNvPr>
          <p:cNvSpPr/>
          <p:nvPr/>
        </p:nvSpPr>
        <p:spPr>
          <a:xfrm>
            <a:off x="8341546" y="3573483"/>
            <a:ext cx="783404" cy="182879"/>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When:</a:t>
            </a:r>
            <a:endParaRPr lang="en-US" sz="1400" dirty="0">
              <a:solidFill>
                <a:srgbClr val="0C1752"/>
              </a:solidFill>
              <a:latin typeface="Montserrat" panose="00000500000000000000" pitchFamily="2" charset="0"/>
            </a:endParaRPr>
          </a:p>
        </p:txBody>
      </p:sp>
      <p:sp>
        <p:nvSpPr>
          <p:cNvPr id="72" name="Text 35">
            <a:extLst>
              <a:ext uri="{FF2B5EF4-FFF2-40B4-BE49-F238E27FC236}">
                <a16:creationId xmlns:a16="http://schemas.microsoft.com/office/drawing/2014/main" id="{6B70258A-3AFC-A2D1-CEB4-0DAC7D3713C4}"/>
              </a:ext>
            </a:extLst>
          </p:cNvPr>
          <p:cNvSpPr/>
          <p:nvPr/>
        </p:nvSpPr>
        <p:spPr>
          <a:xfrm>
            <a:off x="8341546" y="3756363"/>
            <a:ext cx="3117028" cy="411480"/>
          </a:xfrm>
          <a:prstGeom prst="rect">
            <a:avLst/>
          </a:prstGeom>
          <a:noFill/>
          <a:ln/>
        </p:spPr>
        <p:txBody>
          <a:bodyPr wrap="square" lIns="0" tIns="0" rIns="0" bIns="0" rtlCol="0" anchor="ctr"/>
          <a:lstStyle/>
          <a:p>
            <a:pPr marL="0" indent="0">
              <a:buNone/>
            </a:pPr>
            <a:r>
              <a:rPr lang="en-US" sz="1400" dirty="0">
                <a:solidFill>
                  <a:srgbClr val="0C1752"/>
                </a:solidFill>
                <a:latin typeface="Montserrat" panose="00000500000000000000" pitchFamily="2" charset="0"/>
                <a:ea typeface="Calibri" pitchFamily="34" charset="-122"/>
                <a:cs typeface="Calibri" pitchFamily="34" charset="-120"/>
              </a:rPr>
              <a:t>Task is open-ended, exploratory, requires adaptive planning</a:t>
            </a:r>
            <a:endParaRPr lang="en-US" sz="1400" dirty="0">
              <a:solidFill>
                <a:srgbClr val="0C1752"/>
              </a:solidFill>
              <a:latin typeface="Montserrat" panose="00000500000000000000" pitchFamily="2" charset="0"/>
            </a:endParaRPr>
          </a:p>
        </p:txBody>
      </p:sp>
      <p:sp>
        <p:nvSpPr>
          <p:cNvPr id="73" name="Text 36">
            <a:extLst>
              <a:ext uri="{FF2B5EF4-FFF2-40B4-BE49-F238E27FC236}">
                <a16:creationId xmlns:a16="http://schemas.microsoft.com/office/drawing/2014/main" id="{BA4D0E0D-E7B3-EE07-7958-6A8E20B3A0CA}"/>
              </a:ext>
            </a:extLst>
          </p:cNvPr>
          <p:cNvSpPr/>
          <p:nvPr/>
        </p:nvSpPr>
        <p:spPr>
          <a:xfrm>
            <a:off x="8341547" y="4447342"/>
            <a:ext cx="1053466" cy="190514"/>
          </a:xfrm>
          <a:prstGeom prst="rect">
            <a:avLst/>
          </a:prstGeom>
          <a:noFill/>
          <a:ln/>
        </p:spPr>
        <p:txBody>
          <a:bodyPr wrap="square" lIns="0" tIns="0" rIns="0" bIns="0" rtlCol="0" anchor="ctr"/>
          <a:lstStyle/>
          <a:p>
            <a:pPr marL="0" indent="0">
              <a:buNone/>
            </a:pPr>
            <a:r>
              <a:rPr lang="en-US" sz="1400" b="1" dirty="0">
                <a:solidFill>
                  <a:srgbClr val="0C1752"/>
                </a:solidFill>
                <a:latin typeface="Montserrat" panose="00000500000000000000" pitchFamily="2" charset="0"/>
                <a:ea typeface="Calibri" pitchFamily="34" charset="-122"/>
                <a:cs typeface="Calibri" pitchFamily="34" charset="-120"/>
              </a:rPr>
              <a:t>Example:</a:t>
            </a:r>
            <a:endParaRPr lang="en-US" sz="1400" dirty="0">
              <a:solidFill>
                <a:srgbClr val="0C1752"/>
              </a:solidFill>
              <a:latin typeface="Montserrat" panose="00000500000000000000" pitchFamily="2" charset="0"/>
            </a:endParaRPr>
          </a:p>
        </p:txBody>
      </p:sp>
      <p:sp>
        <p:nvSpPr>
          <p:cNvPr id="74" name="Text 37">
            <a:extLst>
              <a:ext uri="{FF2B5EF4-FFF2-40B4-BE49-F238E27FC236}">
                <a16:creationId xmlns:a16="http://schemas.microsoft.com/office/drawing/2014/main" id="{2641B7A3-BCC3-A17D-58C2-0B74D5E5FE59}"/>
              </a:ext>
            </a:extLst>
          </p:cNvPr>
          <p:cNvSpPr/>
          <p:nvPr/>
        </p:nvSpPr>
        <p:spPr>
          <a:xfrm>
            <a:off x="8311289" y="4767806"/>
            <a:ext cx="3275235" cy="457200"/>
          </a:xfrm>
          <a:prstGeom prst="rect">
            <a:avLst/>
          </a:prstGeom>
          <a:noFill/>
          <a:ln/>
        </p:spPr>
        <p:txBody>
          <a:bodyPr wrap="square" lIns="0" tIns="0" rIns="0" bIns="0" rtlCol="0" anchor="ctr"/>
          <a:lstStyle/>
          <a:p>
            <a:pPr marL="0" indent="0">
              <a:buNone/>
            </a:pPr>
            <a:r>
              <a:rPr lang="en-US" sz="1400" i="1" dirty="0">
                <a:solidFill>
                  <a:srgbClr val="0C1752"/>
                </a:solidFill>
                <a:latin typeface="Montserrat" panose="00000500000000000000" pitchFamily="2" charset="0"/>
                <a:ea typeface="Calibri" pitchFamily="34" charset="-122"/>
                <a:cs typeface="Calibri" pitchFamily="34" charset="-120"/>
              </a:rPr>
              <a:t>M&amp;A due diligence agent researching across multiple databases</a:t>
            </a:r>
            <a:endParaRPr lang="en-US" sz="1400" dirty="0">
              <a:solidFill>
                <a:srgbClr val="0C1752"/>
              </a:solidFill>
              <a:latin typeface="Montserrat" panose="00000500000000000000" pitchFamily="2" charset="0"/>
            </a:endParaRPr>
          </a:p>
        </p:txBody>
      </p:sp>
      <p:sp>
        <p:nvSpPr>
          <p:cNvPr id="75" name="Shape 3">
            <a:extLst>
              <a:ext uri="{FF2B5EF4-FFF2-40B4-BE49-F238E27FC236}">
                <a16:creationId xmlns:a16="http://schemas.microsoft.com/office/drawing/2014/main" id="{40018DB8-7B24-9DCE-F1D4-9BB7CE3E1958}"/>
              </a:ext>
            </a:extLst>
          </p:cNvPr>
          <p:cNvSpPr/>
          <p:nvPr/>
        </p:nvSpPr>
        <p:spPr>
          <a:xfrm>
            <a:off x="274320" y="1567816"/>
            <a:ext cx="3316920" cy="594359"/>
          </a:xfrm>
          <a:prstGeom prst="rect">
            <a:avLst/>
          </a:prstGeom>
          <a:solidFill>
            <a:srgbClr val="0C1752"/>
          </a:solidFill>
          <a:ln/>
        </p:spPr>
        <p:txBody>
          <a:bodyPr/>
          <a:lstStyle/>
          <a:p>
            <a:endParaRPr lang="en-CA">
              <a:solidFill>
                <a:srgbClr val="0C1752"/>
              </a:solidFill>
              <a:latin typeface="Montserrat" panose="00000500000000000000" pitchFamily="2" charset="0"/>
            </a:endParaRPr>
          </a:p>
        </p:txBody>
      </p:sp>
      <p:sp>
        <p:nvSpPr>
          <p:cNvPr id="8" name="Text 13">
            <a:extLst>
              <a:ext uri="{FF2B5EF4-FFF2-40B4-BE49-F238E27FC236}">
                <a16:creationId xmlns:a16="http://schemas.microsoft.com/office/drawing/2014/main" id="{CEC358E2-F3FB-65FD-C5C0-E38C769CED46}"/>
              </a:ext>
            </a:extLst>
          </p:cNvPr>
          <p:cNvSpPr/>
          <p:nvPr/>
        </p:nvSpPr>
        <p:spPr>
          <a:xfrm>
            <a:off x="411480" y="1653540"/>
            <a:ext cx="2468880" cy="320040"/>
          </a:xfrm>
          <a:prstGeom prst="rect">
            <a:avLst/>
          </a:prstGeom>
          <a:noFill/>
          <a:ln/>
        </p:spPr>
        <p:txBody>
          <a:bodyPr wrap="square" lIns="0" tIns="0" rIns="0" bIns="0" rtlCol="0" anchor="ctr"/>
          <a:lstStyle/>
          <a:p>
            <a:pPr marL="0" indent="0">
              <a:buNone/>
            </a:pPr>
            <a:r>
              <a:rPr lang="en-US" sz="2000" b="1" dirty="0">
                <a:solidFill>
                  <a:schemeClr val="bg1"/>
                </a:solidFill>
                <a:latin typeface="Montserrat" panose="00000500000000000000" pitchFamily="2" charset="0"/>
                <a:ea typeface="Calibri" pitchFamily="34" charset="-122"/>
                <a:cs typeface="Calibri" pitchFamily="34" charset="-120"/>
              </a:rPr>
              <a:t>Augmented LLM</a:t>
            </a:r>
            <a:r>
              <a:rPr lang="en-US" sz="2000" b="1" dirty="0">
                <a:solidFill>
                  <a:srgbClr val="0C1752"/>
                </a:solidFill>
                <a:latin typeface="Montserrat" panose="00000500000000000000" pitchFamily="2" charset="0"/>
                <a:ea typeface="Calibri" pitchFamily="34" charset="-122"/>
                <a:cs typeface="Calibri" pitchFamily="34" charset="-120"/>
              </a:rPr>
              <a:t> L</a:t>
            </a:r>
            <a:endParaRPr lang="en-US" sz="2000" dirty="0">
              <a:solidFill>
                <a:srgbClr val="0C1752"/>
              </a:solidFill>
              <a:latin typeface="Montserrat" panose="00000500000000000000" pitchFamily="2" charset="0"/>
            </a:endParaRPr>
          </a:p>
        </p:txBody>
      </p:sp>
      <p:sp>
        <p:nvSpPr>
          <p:cNvPr id="76" name="Shape 3">
            <a:extLst>
              <a:ext uri="{FF2B5EF4-FFF2-40B4-BE49-F238E27FC236}">
                <a16:creationId xmlns:a16="http://schemas.microsoft.com/office/drawing/2014/main" id="{B27B83E0-CC3C-47EC-95CA-2CB25160818C}"/>
              </a:ext>
            </a:extLst>
          </p:cNvPr>
          <p:cNvSpPr/>
          <p:nvPr/>
        </p:nvSpPr>
        <p:spPr>
          <a:xfrm>
            <a:off x="4144639" y="1578058"/>
            <a:ext cx="3444243" cy="594359"/>
          </a:xfrm>
          <a:prstGeom prst="rect">
            <a:avLst/>
          </a:prstGeom>
          <a:solidFill>
            <a:srgbClr val="D56E48"/>
          </a:solidFill>
          <a:ln/>
        </p:spPr>
        <p:txBody>
          <a:bodyPr/>
          <a:lstStyle/>
          <a:p>
            <a:endParaRPr lang="en-CA">
              <a:solidFill>
                <a:srgbClr val="0C1752"/>
              </a:solidFill>
              <a:latin typeface="Montserrat" panose="00000500000000000000" pitchFamily="2" charset="0"/>
            </a:endParaRPr>
          </a:p>
        </p:txBody>
      </p:sp>
      <p:sp>
        <p:nvSpPr>
          <p:cNvPr id="24" name="Text 22">
            <a:extLst>
              <a:ext uri="{FF2B5EF4-FFF2-40B4-BE49-F238E27FC236}">
                <a16:creationId xmlns:a16="http://schemas.microsoft.com/office/drawing/2014/main" id="{BA3B2FFA-F003-9FA9-1A17-011B3C105CC9}"/>
              </a:ext>
            </a:extLst>
          </p:cNvPr>
          <p:cNvSpPr/>
          <p:nvPr/>
        </p:nvSpPr>
        <p:spPr>
          <a:xfrm>
            <a:off x="4281799" y="1679617"/>
            <a:ext cx="2468880" cy="320040"/>
          </a:xfrm>
          <a:prstGeom prst="rect">
            <a:avLst/>
          </a:prstGeom>
          <a:noFill/>
          <a:ln/>
        </p:spPr>
        <p:txBody>
          <a:bodyPr wrap="square" lIns="0" tIns="0" rIns="0" bIns="0" rtlCol="0" anchor="ctr"/>
          <a:lstStyle/>
          <a:p>
            <a:r>
              <a:rPr lang="en-US" sz="2000" b="1" dirty="0">
                <a:solidFill>
                  <a:schemeClr val="bg1"/>
                </a:solidFill>
                <a:latin typeface="Montserrat" panose="00000500000000000000" pitchFamily="2" charset="0"/>
                <a:ea typeface="Calibri" pitchFamily="34" charset="-122"/>
                <a:cs typeface="Calibri" pitchFamily="34" charset="-120"/>
              </a:rPr>
              <a:t>Workflow</a:t>
            </a:r>
          </a:p>
        </p:txBody>
      </p:sp>
      <p:sp>
        <p:nvSpPr>
          <p:cNvPr id="77" name="Shape 3">
            <a:extLst>
              <a:ext uri="{FF2B5EF4-FFF2-40B4-BE49-F238E27FC236}">
                <a16:creationId xmlns:a16="http://schemas.microsoft.com/office/drawing/2014/main" id="{561333C9-F9F5-3614-52C6-E1076D8F8CFE}"/>
              </a:ext>
            </a:extLst>
          </p:cNvPr>
          <p:cNvSpPr/>
          <p:nvPr/>
        </p:nvSpPr>
        <p:spPr>
          <a:xfrm>
            <a:off x="8142281" y="1577652"/>
            <a:ext cx="3444243" cy="594359"/>
          </a:xfrm>
          <a:prstGeom prst="rect">
            <a:avLst/>
          </a:prstGeom>
          <a:solidFill>
            <a:schemeClr val="bg1">
              <a:lumMod val="65000"/>
            </a:schemeClr>
          </a:solidFill>
          <a:ln/>
        </p:spPr>
        <p:txBody>
          <a:bodyPr/>
          <a:lstStyle/>
          <a:p>
            <a:endParaRPr lang="en-CA" dirty="0">
              <a:solidFill>
                <a:srgbClr val="0C1752"/>
              </a:solidFill>
              <a:latin typeface="Montserrat" panose="00000500000000000000" pitchFamily="2" charset="0"/>
            </a:endParaRPr>
          </a:p>
        </p:txBody>
      </p:sp>
      <p:sp>
        <p:nvSpPr>
          <p:cNvPr id="68" name="Text 31">
            <a:extLst>
              <a:ext uri="{FF2B5EF4-FFF2-40B4-BE49-F238E27FC236}">
                <a16:creationId xmlns:a16="http://schemas.microsoft.com/office/drawing/2014/main" id="{FB27E14D-B7AB-877D-E5CD-20D8514613D4}"/>
              </a:ext>
            </a:extLst>
          </p:cNvPr>
          <p:cNvSpPr/>
          <p:nvPr/>
        </p:nvSpPr>
        <p:spPr>
          <a:xfrm>
            <a:off x="8341547" y="1691951"/>
            <a:ext cx="2709670" cy="320040"/>
          </a:xfrm>
          <a:prstGeom prst="rect">
            <a:avLst/>
          </a:prstGeom>
          <a:noFill/>
          <a:ln/>
        </p:spPr>
        <p:txBody>
          <a:bodyPr wrap="square" lIns="0" tIns="0" rIns="0" bIns="0" rtlCol="0" anchor="ctr"/>
          <a:lstStyle/>
          <a:p>
            <a:r>
              <a:rPr lang="en-US" sz="2000" b="1" dirty="0">
                <a:solidFill>
                  <a:schemeClr val="bg1"/>
                </a:solidFill>
                <a:latin typeface="Montserrat" panose="00000500000000000000" pitchFamily="2" charset="0"/>
                <a:ea typeface="Calibri" pitchFamily="34" charset="-122"/>
                <a:cs typeface="Calibri" pitchFamily="34" charset="-120"/>
              </a:rPr>
              <a:t>Autonomous Agent</a:t>
            </a:r>
          </a:p>
        </p:txBody>
      </p:sp>
      <p:pic>
        <p:nvPicPr>
          <p:cNvPr id="3" name="Picture 2">
            <a:extLst>
              <a:ext uri="{FF2B5EF4-FFF2-40B4-BE49-F238E27FC236}">
                <a16:creationId xmlns:a16="http://schemas.microsoft.com/office/drawing/2014/main" id="{453EE175-AA94-75F2-35D4-FD8A2A7112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489" y="693893"/>
            <a:ext cx="810582" cy="810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85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fade">
                                      <p:cBhvr>
                                        <p:cTn id="42" dur="500"/>
                                        <p:tgtEl>
                                          <p:spTgt spid="6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4"/>
                                        </p:tgtEl>
                                        <p:attrNameLst>
                                          <p:attrName>style.visibility</p:attrName>
                                        </p:attrNameLst>
                                      </p:cBhvr>
                                      <p:to>
                                        <p:strVal val="visible"/>
                                      </p:to>
                                    </p:set>
                                    <p:animEffect transition="in" filter="fade">
                                      <p:cBhvr>
                                        <p:cTn id="45" dur="500"/>
                                        <p:tgtEl>
                                          <p:spTgt spid="6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fade">
                                      <p:cBhvr>
                                        <p:cTn id="48" dur="500"/>
                                        <p:tgtEl>
                                          <p:spTgt spid="6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fade">
                                      <p:cBhvr>
                                        <p:cTn id="51" dur="500"/>
                                        <p:tgtEl>
                                          <p:spTgt spid="7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500"/>
                                        <p:tgtEl>
                                          <p:spTgt spid="6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0"/>
                                        </p:tgtEl>
                                        <p:attrNameLst>
                                          <p:attrName>style.visibility</p:attrName>
                                        </p:attrNameLst>
                                      </p:cBhvr>
                                      <p:to>
                                        <p:strVal val="visible"/>
                                      </p:to>
                                    </p:set>
                                    <p:animEffect transition="in" filter="fade">
                                      <p:cBhvr>
                                        <p:cTn id="62" dur="500"/>
                                        <p:tgtEl>
                                          <p:spTgt spid="7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500"/>
                                        <p:tgtEl>
                                          <p:spTgt spid="7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2"/>
                                        </p:tgtEl>
                                        <p:attrNameLst>
                                          <p:attrName>style.visibility</p:attrName>
                                        </p:attrNameLst>
                                      </p:cBhvr>
                                      <p:to>
                                        <p:strVal val="visible"/>
                                      </p:to>
                                    </p:set>
                                    <p:animEffect transition="in" filter="fade">
                                      <p:cBhvr>
                                        <p:cTn id="68" dur="500"/>
                                        <p:tgtEl>
                                          <p:spTgt spid="7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animEffect transition="in" filter="fade">
                                      <p:cBhvr>
                                        <p:cTn id="71" dur="500"/>
                                        <p:tgtEl>
                                          <p:spTgt spid="7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4"/>
                                        </p:tgtEl>
                                        <p:attrNameLst>
                                          <p:attrName>style.visibility</p:attrName>
                                        </p:attrNameLst>
                                      </p:cBhvr>
                                      <p:to>
                                        <p:strVal val="visible"/>
                                      </p:to>
                                    </p:set>
                                    <p:animEffect transition="in" filter="fade">
                                      <p:cBhvr>
                                        <p:cTn id="74" dur="500"/>
                                        <p:tgtEl>
                                          <p:spTgt spid="7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animEffect transition="in" filter="fade">
                                      <p:cBhvr>
                                        <p:cTn id="77" dur="500"/>
                                        <p:tgtEl>
                                          <p:spTgt spid="7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fade">
                                      <p:cBhvr>
                                        <p:cTn id="8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3" grpId="0" animBg="1"/>
      <p:bldP spid="14" grpId="0" animBg="1"/>
      <p:bldP spid="15" grpId="0" animBg="1"/>
      <p:bldP spid="16" grpId="0" animBg="1"/>
      <p:bldP spid="18" grpId="0" animBg="1"/>
      <p:bldP spid="61" grpId="0" animBg="1"/>
      <p:bldP spid="62" grpId="0" animBg="1"/>
      <p:bldP spid="63" grpId="0" animBg="1"/>
      <p:bldP spid="64" grpId="0" animBg="1"/>
      <p:bldP spid="65" grpId="0" animBg="1"/>
      <p:bldP spid="66" grpId="0" animBg="1"/>
      <p:bldP spid="70" grpId="0" animBg="1"/>
      <p:bldP spid="71" grpId="0" animBg="1"/>
      <p:bldP spid="72" grpId="0" animBg="1"/>
      <p:bldP spid="73" grpId="0" animBg="1"/>
      <p:bldP spid="74" grpId="0" animBg="1"/>
      <p:bldP spid="75" grpId="0" animBg="1"/>
      <p:bldP spid="8" grpId="0" animBg="1"/>
      <p:bldP spid="76" grpId="0" animBg="1"/>
      <p:bldP spid="24" grpId="0" animBg="1"/>
      <p:bldP spid="77" grpId="0" animBg="1"/>
      <p:bldP spid="6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F3999-B6A6-2E23-A14B-129E24DC49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2165F6-09A3-F3C7-4FE3-6A5A5DCA5E4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44C2626-0A84-9A05-99ED-31EC1B4D463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0075C25-9F68-9370-6049-CF94F7122FA2}"/>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4. Choose Architecture: Augmented LLM</a:t>
            </a:r>
          </a:p>
        </p:txBody>
      </p:sp>
      <p:sp>
        <p:nvSpPr>
          <p:cNvPr id="9" name="TextBox 8">
            <a:extLst>
              <a:ext uri="{FF2B5EF4-FFF2-40B4-BE49-F238E27FC236}">
                <a16:creationId xmlns:a16="http://schemas.microsoft.com/office/drawing/2014/main" id="{44C8935D-9D68-CED1-5B2B-D64627E8FCD9}"/>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096CD364-FC2B-1158-2DD9-B151B20FBA6D}"/>
              </a:ext>
            </a:extLst>
          </p:cNvPr>
          <p:cNvSpPr txBox="1">
            <a:spLocks/>
          </p:cNvSpPr>
          <p:nvPr/>
        </p:nvSpPr>
        <p:spPr>
          <a:xfrm>
            <a:off x="165315" y="948516"/>
            <a:ext cx="11903977"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1800" dirty="0"/>
              <a:t>The basic building block of agentic systems is an LLM enhanced with augmentations such as retrieval, tools, and memory. </a:t>
            </a:r>
          </a:p>
        </p:txBody>
      </p:sp>
      <p:sp>
        <p:nvSpPr>
          <p:cNvPr id="8" name="Shape 3">
            <a:extLst>
              <a:ext uri="{FF2B5EF4-FFF2-40B4-BE49-F238E27FC236}">
                <a16:creationId xmlns:a16="http://schemas.microsoft.com/office/drawing/2014/main" id="{FAEBF112-C68E-7ED3-EB04-C7F6905A0D05}"/>
              </a:ext>
            </a:extLst>
          </p:cNvPr>
          <p:cNvSpPr/>
          <p:nvPr/>
        </p:nvSpPr>
        <p:spPr>
          <a:xfrm>
            <a:off x="4362391" y="1704324"/>
            <a:ext cx="2743200" cy="1097280"/>
          </a:xfrm>
          <a:prstGeom prst="rect">
            <a:avLst/>
          </a:prstGeom>
          <a:solidFill>
            <a:srgbClr val="D56E48"/>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10" name="Text 4">
            <a:extLst>
              <a:ext uri="{FF2B5EF4-FFF2-40B4-BE49-F238E27FC236}">
                <a16:creationId xmlns:a16="http://schemas.microsoft.com/office/drawing/2014/main" id="{E010E05C-1C1E-ACF1-E31A-FDB234A77B43}"/>
              </a:ext>
            </a:extLst>
          </p:cNvPr>
          <p:cNvSpPr/>
          <p:nvPr/>
        </p:nvSpPr>
        <p:spPr>
          <a:xfrm>
            <a:off x="4314429" y="1714471"/>
            <a:ext cx="274320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anose="00000500000000000000" pitchFamily="2" charset="0"/>
                <a:ea typeface="Georgia" pitchFamily="34" charset="-122"/>
                <a:cs typeface="Georgia" pitchFamily="34" charset="-120"/>
              </a:rPr>
              <a:t>LLM</a:t>
            </a:r>
            <a:endParaRPr lang="en-US" sz="2800" dirty="0">
              <a:latin typeface="Montserrat" panose="00000500000000000000" pitchFamily="2" charset="0"/>
            </a:endParaRPr>
          </a:p>
        </p:txBody>
      </p:sp>
      <p:sp>
        <p:nvSpPr>
          <p:cNvPr id="18" name="Shape 11">
            <a:extLst>
              <a:ext uri="{FF2B5EF4-FFF2-40B4-BE49-F238E27FC236}">
                <a16:creationId xmlns:a16="http://schemas.microsoft.com/office/drawing/2014/main" id="{E8E98F19-DE4C-1ADC-72BE-5013832DD31F}"/>
              </a:ext>
            </a:extLst>
          </p:cNvPr>
          <p:cNvSpPr/>
          <p:nvPr/>
        </p:nvSpPr>
        <p:spPr>
          <a:xfrm>
            <a:off x="808699" y="3931653"/>
            <a:ext cx="2697479" cy="1656066"/>
          </a:xfrm>
          <a:prstGeom prst="rect">
            <a:avLst/>
          </a:prstGeom>
          <a:solidFill>
            <a:srgbClr val="0C1752"/>
          </a:solidFill>
          <a:ln/>
          <a:effectLst>
            <a:outerShdw blurRad="76200" dist="25400" dir="8100000" algn="bl" rotWithShape="0">
              <a:srgbClr val="000000">
                <a:alpha val="25000"/>
              </a:srgbClr>
            </a:outerShdw>
          </a:effectLst>
        </p:spPr>
        <p:txBody>
          <a:bodyPr/>
          <a:lstStyle/>
          <a:p>
            <a:endParaRPr lang="en-CA" sz="3200">
              <a:latin typeface="Montserrat" panose="00000500000000000000" pitchFamily="2" charset="0"/>
            </a:endParaRPr>
          </a:p>
        </p:txBody>
      </p:sp>
      <p:sp>
        <p:nvSpPr>
          <p:cNvPr id="20" name="Text 13">
            <a:extLst>
              <a:ext uri="{FF2B5EF4-FFF2-40B4-BE49-F238E27FC236}">
                <a16:creationId xmlns:a16="http://schemas.microsoft.com/office/drawing/2014/main" id="{D436EC74-2DF4-EC1D-D856-FE1B546B3E4B}"/>
              </a:ext>
            </a:extLst>
          </p:cNvPr>
          <p:cNvSpPr/>
          <p:nvPr/>
        </p:nvSpPr>
        <p:spPr>
          <a:xfrm>
            <a:off x="991580" y="3977373"/>
            <a:ext cx="2103120" cy="365760"/>
          </a:xfrm>
          <a:prstGeom prst="rect">
            <a:avLst/>
          </a:prstGeom>
          <a:noFill/>
          <a:ln/>
        </p:spPr>
        <p:txBody>
          <a:bodyPr wrap="square" lIns="0" tIns="0" rIns="0" bIns="0" rtlCol="0" anchor="ctr"/>
          <a:lstStyle/>
          <a:p>
            <a:pPr marL="0" indent="0">
              <a:buNone/>
            </a:pPr>
            <a:r>
              <a:rPr lang="en-US" sz="2400" b="1" dirty="0">
                <a:solidFill>
                  <a:schemeClr val="bg1"/>
                </a:solidFill>
                <a:latin typeface="Montserrat" panose="00000500000000000000" pitchFamily="2" charset="0"/>
                <a:ea typeface="Calibri" pitchFamily="34" charset="-122"/>
                <a:cs typeface="Calibri" pitchFamily="34" charset="-120"/>
              </a:rPr>
              <a:t>Retrieval</a:t>
            </a:r>
            <a:endParaRPr lang="en-US" sz="2400" dirty="0">
              <a:solidFill>
                <a:schemeClr val="bg1"/>
              </a:solidFill>
              <a:latin typeface="Montserrat" panose="00000500000000000000" pitchFamily="2" charset="0"/>
            </a:endParaRPr>
          </a:p>
        </p:txBody>
      </p:sp>
      <p:sp>
        <p:nvSpPr>
          <p:cNvPr id="21" name="Text 14">
            <a:extLst>
              <a:ext uri="{FF2B5EF4-FFF2-40B4-BE49-F238E27FC236}">
                <a16:creationId xmlns:a16="http://schemas.microsoft.com/office/drawing/2014/main" id="{8ACF510A-EF7D-C512-6A5F-6EF55311DBA3}"/>
              </a:ext>
            </a:extLst>
          </p:cNvPr>
          <p:cNvSpPr/>
          <p:nvPr/>
        </p:nvSpPr>
        <p:spPr>
          <a:xfrm>
            <a:off x="962996" y="4617453"/>
            <a:ext cx="2697478" cy="548640"/>
          </a:xfrm>
          <a:prstGeom prst="rect">
            <a:avLst/>
          </a:prstGeom>
          <a:noFill/>
          <a:ln/>
        </p:spPr>
        <p:txBody>
          <a:bodyPr wrap="square" lIns="0" tIns="0" rIns="0" bIns="0" rtlCol="0" anchor="ctr"/>
          <a:lstStyle/>
          <a:p>
            <a:pPr marL="0" indent="0">
              <a:buNone/>
            </a:pPr>
            <a:r>
              <a:rPr lang="en-US" sz="1600" dirty="0">
                <a:solidFill>
                  <a:srgbClr val="A8B2C1"/>
                </a:solidFill>
                <a:latin typeface="Montserrat" panose="00000500000000000000" pitchFamily="2" charset="0"/>
                <a:ea typeface="Calibri" pitchFamily="34" charset="-122"/>
                <a:cs typeface="Calibri" pitchFamily="34" charset="-120"/>
              </a:rPr>
              <a:t>Query knowledge bases,</a:t>
            </a:r>
            <a:endParaRPr lang="en-US" sz="1600" dirty="0">
              <a:latin typeface="Montserrat" panose="00000500000000000000" pitchFamily="2" charset="0"/>
            </a:endParaRPr>
          </a:p>
          <a:p>
            <a:pPr marL="0" indent="0">
              <a:buNone/>
            </a:pPr>
            <a:r>
              <a:rPr lang="en-US" sz="1600" dirty="0">
                <a:solidFill>
                  <a:srgbClr val="A8B2C1"/>
                </a:solidFill>
                <a:latin typeface="Montserrat" panose="00000500000000000000" pitchFamily="2" charset="0"/>
                <a:ea typeface="Calibri" pitchFamily="34" charset="-122"/>
                <a:cs typeface="Calibri" pitchFamily="34" charset="-120"/>
              </a:rPr>
              <a:t>vector DBs, documents</a:t>
            </a:r>
            <a:endParaRPr lang="en-US" sz="1600" dirty="0">
              <a:latin typeface="Montserrat" panose="00000500000000000000" pitchFamily="2" charset="0"/>
            </a:endParaRPr>
          </a:p>
        </p:txBody>
      </p:sp>
      <p:sp>
        <p:nvSpPr>
          <p:cNvPr id="22" name="Shape 15">
            <a:extLst>
              <a:ext uri="{FF2B5EF4-FFF2-40B4-BE49-F238E27FC236}">
                <a16:creationId xmlns:a16="http://schemas.microsoft.com/office/drawing/2014/main" id="{63B45527-0DEE-73C9-548B-17C85E12A1B5}"/>
              </a:ext>
            </a:extLst>
          </p:cNvPr>
          <p:cNvSpPr/>
          <p:nvPr/>
        </p:nvSpPr>
        <p:spPr>
          <a:xfrm>
            <a:off x="4295412" y="3938985"/>
            <a:ext cx="2877158" cy="1648735"/>
          </a:xfrm>
          <a:prstGeom prst="rect">
            <a:avLst/>
          </a:prstGeom>
          <a:solidFill>
            <a:srgbClr val="1BBFD1"/>
          </a:solidFill>
          <a:ln/>
          <a:effectLst>
            <a:outerShdw blurRad="76200" dist="25400" dir="8100000" algn="bl" rotWithShape="0">
              <a:srgbClr val="000000">
                <a:alpha val="25000"/>
              </a:srgbClr>
            </a:outerShdw>
          </a:effectLst>
        </p:spPr>
        <p:txBody>
          <a:bodyPr/>
          <a:lstStyle/>
          <a:p>
            <a:endParaRPr lang="en-CA" sz="3200">
              <a:latin typeface="Montserrat" panose="00000500000000000000" pitchFamily="2" charset="0"/>
            </a:endParaRPr>
          </a:p>
        </p:txBody>
      </p:sp>
      <p:sp>
        <p:nvSpPr>
          <p:cNvPr id="24" name="Text 17">
            <a:extLst>
              <a:ext uri="{FF2B5EF4-FFF2-40B4-BE49-F238E27FC236}">
                <a16:creationId xmlns:a16="http://schemas.microsoft.com/office/drawing/2014/main" id="{FCABFF7E-C57F-3FFA-55B8-130D2897113E}"/>
              </a:ext>
            </a:extLst>
          </p:cNvPr>
          <p:cNvSpPr/>
          <p:nvPr/>
        </p:nvSpPr>
        <p:spPr>
          <a:xfrm>
            <a:off x="4478292" y="3984706"/>
            <a:ext cx="2103120" cy="365760"/>
          </a:xfrm>
          <a:prstGeom prst="rect">
            <a:avLst/>
          </a:prstGeom>
          <a:noFill/>
          <a:ln/>
        </p:spPr>
        <p:txBody>
          <a:bodyPr wrap="square" lIns="0" tIns="0" rIns="0" bIns="0" rtlCol="0" anchor="ctr"/>
          <a:lstStyle/>
          <a:p>
            <a:pPr marL="0" indent="0">
              <a:buNone/>
            </a:pPr>
            <a:r>
              <a:rPr lang="en-US" sz="2400" b="1" dirty="0">
                <a:solidFill>
                  <a:schemeClr val="bg1"/>
                </a:solidFill>
                <a:latin typeface="Montserrat" panose="00000500000000000000" pitchFamily="2" charset="0"/>
                <a:ea typeface="Calibri" pitchFamily="34" charset="-122"/>
                <a:cs typeface="Calibri" pitchFamily="34" charset="-120"/>
              </a:rPr>
              <a:t>Tools</a:t>
            </a:r>
            <a:endParaRPr lang="en-US" sz="2400" dirty="0">
              <a:solidFill>
                <a:schemeClr val="bg1"/>
              </a:solidFill>
              <a:latin typeface="Montserrat" panose="00000500000000000000" pitchFamily="2" charset="0"/>
            </a:endParaRPr>
          </a:p>
        </p:txBody>
      </p:sp>
      <p:sp>
        <p:nvSpPr>
          <p:cNvPr id="25" name="Text 18">
            <a:extLst>
              <a:ext uri="{FF2B5EF4-FFF2-40B4-BE49-F238E27FC236}">
                <a16:creationId xmlns:a16="http://schemas.microsoft.com/office/drawing/2014/main" id="{991E2F33-5753-EE26-F86A-F969D73E012E}"/>
              </a:ext>
            </a:extLst>
          </p:cNvPr>
          <p:cNvSpPr/>
          <p:nvPr/>
        </p:nvSpPr>
        <p:spPr>
          <a:xfrm>
            <a:off x="4513381" y="4602807"/>
            <a:ext cx="2494651" cy="548640"/>
          </a:xfrm>
          <a:prstGeom prst="rect">
            <a:avLst/>
          </a:prstGeom>
          <a:noFill/>
          <a:ln/>
        </p:spPr>
        <p:txBody>
          <a:bodyPr wrap="square" lIns="0" tIns="0" rIns="0" bIns="0" rtlCol="0" anchor="ctr"/>
          <a:lstStyle/>
          <a:p>
            <a:pPr marL="0" indent="0">
              <a:buNone/>
            </a:pPr>
            <a:r>
              <a:rPr lang="en-US" sz="1600" dirty="0">
                <a:solidFill>
                  <a:schemeClr val="bg1"/>
                </a:solidFill>
                <a:latin typeface="Montserrat" panose="00000500000000000000" pitchFamily="2" charset="0"/>
                <a:ea typeface="Calibri" pitchFamily="34" charset="-122"/>
                <a:cs typeface="Calibri" pitchFamily="34" charset="-120"/>
              </a:rPr>
              <a:t>Web search, APIs,</a:t>
            </a:r>
            <a:endParaRPr lang="en-US" sz="1600" dirty="0">
              <a:solidFill>
                <a:schemeClr val="bg1"/>
              </a:solidFill>
              <a:latin typeface="Montserrat" panose="00000500000000000000" pitchFamily="2" charset="0"/>
            </a:endParaRPr>
          </a:p>
          <a:p>
            <a:pPr marL="0" indent="0">
              <a:buNone/>
            </a:pPr>
            <a:r>
              <a:rPr lang="en-US" sz="1600" dirty="0">
                <a:solidFill>
                  <a:schemeClr val="bg1"/>
                </a:solidFill>
                <a:latin typeface="Montserrat" panose="00000500000000000000" pitchFamily="2" charset="0"/>
                <a:ea typeface="Calibri" pitchFamily="34" charset="-122"/>
                <a:cs typeface="Calibri" pitchFamily="34" charset="-120"/>
              </a:rPr>
              <a:t>code execution, actions</a:t>
            </a:r>
            <a:endParaRPr lang="en-US" sz="1600" dirty="0">
              <a:solidFill>
                <a:schemeClr val="bg1"/>
              </a:solidFill>
              <a:latin typeface="Montserrat" panose="00000500000000000000" pitchFamily="2" charset="0"/>
            </a:endParaRPr>
          </a:p>
        </p:txBody>
      </p:sp>
      <p:sp>
        <p:nvSpPr>
          <p:cNvPr id="26" name="Shape 19">
            <a:extLst>
              <a:ext uri="{FF2B5EF4-FFF2-40B4-BE49-F238E27FC236}">
                <a16:creationId xmlns:a16="http://schemas.microsoft.com/office/drawing/2014/main" id="{F2508820-F394-3CCC-EFEC-29D449335868}"/>
              </a:ext>
            </a:extLst>
          </p:cNvPr>
          <p:cNvSpPr/>
          <p:nvPr/>
        </p:nvSpPr>
        <p:spPr>
          <a:xfrm>
            <a:off x="7795514" y="3938985"/>
            <a:ext cx="2877155" cy="1648734"/>
          </a:xfrm>
          <a:prstGeom prst="rect">
            <a:avLst/>
          </a:prstGeom>
          <a:solidFill>
            <a:schemeClr val="bg1">
              <a:lumMod val="65000"/>
            </a:schemeClr>
          </a:solidFill>
          <a:ln/>
          <a:effectLst>
            <a:outerShdw blurRad="76200" dist="25400" dir="8100000" algn="bl" rotWithShape="0">
              <a:srgbClr val="000000">
                <a:alpha val="25000"/>
              </a:srgbClr>
            </a:outerShdw>
          </a:effectLst>
        </p:spPr>
        <p:txBody>
          <a:bodyPr/>
          <a:lstStyle/>
          <a:p>
            <a:endParaRPr lang="en-CA" sz="3200">
              <a:latin typeface="Montserrat" panose="00000500000000000000" pitchFamily="2" charset="0"/>
            </a:endParaRPr>
          </a:p>
        </p:txBody>
      </p:sp>
      <p:sp>
        <p:nvSpPr>
          <p:cNvPr id="28" name="Text 21">
            <a:extLst>
              <a:ext uri="{FF2B5EF4-FFF2-40B4-BE49-F238E27FC236}">
                <a16:creationId xmlns:a16="http://schemas.microsoft.com/office/drawing/2014/main" id="{CFE06B4C-257B-0DAD-8029-AC387B397A39}"/>
              </a:ext>
            </a:extLst>
          </p:cNvPr>
          <p:cNvSpPr/>
          <p:nvPr/>
        </p:nvSpPr>
        <p:spPr>
          <a:xfrm>
            <a:off x="7978395" y="3984705"/>
            <a:ext cx="2103120" cy="365760"/>
          </a:xfrm>
          <a:prstGeom prst="rect">
            <a:avLst/>
          </a:prstGeom>
          <a:noFill/>
          <a:ln/>
        </p:spPr>
        <p:txBody>
          <a:bodyPr wrap="square" lIns="0" tIns="0" rIns="0" bIns="0" rtlCol="0" anchor="ctr"/>
          <a:lstStyle/>
          <a:p>
            <a:pPr marL="0" indent="0">
              <a:buNone/>
            </a:pPr>
            <a:r>
              <a:rPr lang="en-US" sz="2400" b="1" dirty="0">
                <a:solidFill>
                  <a:schemeClr val="bg1"/>
                </a:solidFill>
                <a:latin typeface="Montserrat" panose="00000500000000000000" pitchFamily="2" charset="0"/>
                <a:ea typeface="Calibri" pitchFamily="34" charset="-122"/>
                <a:cs typeface="Calibri" pitchFamily="34" charset="-120"/>
              </a:rPr>
              <a:t>Memory</a:t>
            </a:r>
            <a:endParaRPr lang="en-US" sz="2400" dirty="0">
              <a:solidFill>
                <a:schemeClr val="bg1"/>
              </a:solidFill>
              <a:latin typeface="Montserrat" panose="00000500000000000000" pitchFamily="2" charset="0"/>
            </a:endParaRPr>
          </a:p>
        </p:txBody>
      </p:sp>
      <p:sp>
        <p:nvSpPr>
          <p:cNvPr id="29" name="Text 22">
            <a:extLst>
              <a:ext uri="{FF2B5EF4-FFF2-40B4-BE49-F238E27FC236}">
                <a16:creationId xmlns:a16="http://schemas.microsoft.com/office/drawing/2014/main" id="{A11156DC-8A65-747A-00E6-4FEE79C8890C}"/>
              </a:ext>
            </a:extLst>
          </p:cNvPr>
          <p:cNvSpPr/>
          <p:nvPr/>
        </p:nvSpPr>
        <p:spPr>
          <a:xfrm>
            <a:off x="7978395" y="4617453"/>
            <a:ext cx="2307460" cy="548640"/>
          </a:xfrm>
          <a:prstGeom prst="rect">
            <a:avLst/>
          </a:prstGeom>
          <a:noFill/>
          <a:ln/>
        </p:spPr>
        <p:txBody>
          <a:bodyPr wrap="square" lIns="0" tIns="0" rIns="0" bIns="0" rtlCol="0" anchor="ctr"/>
          <a:lstStyle/>
          <a:p>
            <a:pPr marL="0" indent="0">
              <a:buNone/>
            </a:pPr>
            <a:r>
              <a:rPr lang="en-US" sz="1600" dirty="0">
                <a:solidFill>
                  <a:schemeClr val="bg1"/>
                </a:solidFill>
                <a:latin typeface="Montserrat" panose="00000500000000000000" pitchFamily="2" charset="0"/>
                <a:ea typeface="Calibri" pitchFamily="34" charset="-122"/>
                <a:cs typeface="Calibri" pitchFamily="34" charset="-120"/>
              </a:rPr>
              <a:t>Read/write context,</a:t>
            </a:r>
            <a:endParaRPr lang="en-US" sz="1600" dirty="0">
              <a:solidFill>
                <a:schemeClr val="bg1"/>
              </a:solidFill>
              <a:latin typeface="Montserrat" panose="00000500000000000000" pitchFamily="2" charset="0"/>
            </a:endParaRPr>
          </a:p>
          <a:p>
            <a:pPr marL="0" indent="0">
              <a:buNone/>
            </a:pPr>
            <a:r>
              <a:rPr lang="en-US" sz="1600" dirty="0">
                <a:solidFill>
                  <a:schemeClr val="bg1"/>
                </a:solidFill>
                <a:latin typeface="Montserrat" panose="00000500000000000000" pitchFamily="2" charset="0"/>
                <a:ea typeface="Calibri" pitchFamily="34" charset="-122"/>
                <a:cs typeface="Calibri" pitchFamily="34" charset="-120"/>
              </a:rPr>
              <a:t>conversation history</a:t>
            </a:r>
            <a:endParaRPr lang="en-US" sz="1600" dirty="0">
              <a:solidFill>
                <a:schemeClr val="bg1"/>
              </a:solidFill>
              <a:latin typeface="Montserrat" panose="00000500000000000000" pitchFamily="2" charset="0"/>
            </a:endParaRPr>
          </a:p>
        </p:txBody>
      </p:sp>
      <p:cxnSp>
        <p:nvCxnSpPr>
          <p:cNvPr id="34" name="Straight Arrow Connector 33">
            <a:extLst>
              <a:ext uri="{FF2B5EF4-FFF2-40B4-BE49-F238E27FC236}">
                <a16:creationId xmlns:a16="http://schemas.microsoft.com/office/drawing/2014/main" id="{C45A6D4C-2849-35DA-4A2D-92CF9C20B28A}"/>
              </a:ext>
            </a:extLst>
          </p:cNvPr>
          <p:cNvCxnSpPr/>
          <p:nvPr/>
        </p:nvCxnSpPr>
        <p:spPr>
          <a:xfrm flipV="1">
            <a:off x="2227344" y="2599771"/>
            <a:ext cx="2068068" cy="1257300"/>
          </a:xfrm>
          <a:prstGeom prst="straightConnector1">
            <a:avLst/>
          </a:prstGeom>
          <a:ln w="57150">
            <a:solidFill>
              <a:srgbClr val="0C175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CBD934-AD8D-E77D-BBAE-8B1813E17FD3}"/>
              </a:ext>
            </a:extLst>
          </p:cNvPr>
          <p:cNvSpPr txBox="1"/>
          <p:nvPr/>
        </p:nvSpPr>
        <p:spPr>
          <a:xfrm>
            <a:off x="1504447" y="2598397"/>
            <a:ext cx="2068068" cy="646331"/>
          </a:xfrm>
          <a:prstGeom prst="rect">
            <a:avLst/>
          </a:prstGeom>
          <a:noFill/>
        </p:spPr>
        <p:txBody>
          <a:bodyPr wrap="square" rtlCol="0">
            <a:spAutoFit/>
          </a:bodyPr>
          <a:lstStyle/>
          <a:p>
            <a:pPr algn="ctr"/>
            <a:r>
              <a:rPr lang="en-CA" b="1" dirty="0">
                <a:solidFill>
                  <a:srgbClr val="0C1752"/>
                </a:solidFill>
                <a:latin typeface="Montserrat" panose="00000500000000000000" pitchFamily="2" charset="0"/>
              </a:rPr>
              <a:t>Query &amp; Search Results</a:t>
            </a:r>
          </a:p>
        </p:txBody>
      </p:sp>
      <p:cxnSp>
        <p:nvCxnSpPr>
          <p:cNvPr id="36" name="Straight Arrow Connector 35">
            <a:extLst>
              <a:ext uri="{FF2B5EF4-FFF2-40B4-BE49-F238E27FC236}">
                <a16:creationId xmlns:a16="http://schemas.microsoft.com/office/drawing/2014/main" id="{71269850-24B3-583D-B477-199C8FC60107}"/>
              </a:ext>
            </a:extLst>
          </p:cNvPr>
          <p:cNvCxnSpPr>
            <a:cxnSpLocks/>
          </p:cNvCxnSpPr>
          <p:nvPr/>
        </p:nvCxnSpPr>
        <p:spPr>
          <a:xfrm flipH="1" flipV="1">
            <a:off x="7105591" y="2505841"/>
            <a:ext cx="2198386" cy="1318825"/>
          </a:xfrm>
          <a:prstGeom prst="straightConnector1">
            <a:avLst/>
          </a:prstGeom>
          <a:ln w="57150">
            <a:solidFill>
              <a:srgbClr val="0C175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3653221-38E2-C7DA-AA3E-E29B063C44E9}"/>
              </a:ext>
            </a:extLst>
          </p:cNvPr>
          <p:cNvSpPr txBox="1"/>
          <p:nvPr/>
        </p:nvSpPr>
        <p:spPr>
          <a:xfrm>
            <a:off x="8217787" y="2662938"/>
            <a:ext cx="2068068" cy="646331"/>
          </a:xfrm>
          <a:prstGeom prst="rect">
            <a:avLst/>
          </a:prstGeom>
          <a:noFill/>
        </p:spPr>
        <p:txBody>
          <a:bodyPr wrap="square" rtlCol="0">
            <a:spAutoFit/>
          </a:bodyPr>
          <a:lstStyle/>
          <a:p>
            <a:pPr algn="ctr"/>
            <a:r>
              <a:rPr lang="en-CA" b="1" dirty="0">
                <a:solidFill>
                  <a:srgbClr val="0C1752"/>
                </a:solidFill>
                <a:latin typeface="Montserrat" panose="00000500000000000000" pitchFamily="2" charset="0"/>
              </a:rPr>
              <a:t>Memory Read &amp; Write </a:t>
            </a:r>
          </a:p>
        </p:txBody>
      </p:sp>
      <p:cxnSp>
        <p:nvCxnSpPr>
          <p:cNvPr id="40" name="Straight Arrow Connector 39">
            <a:extLst>
              <a:ext uri="{FF2B5EF4-FFF2-40B4-BE49-F238E27FC236}">
                <a16:creationId xmlns:a16="http://schemas.microsoft.com/office/drawing/2014/main" id="{AC9213BB-CDB4-5C42-1235-3FC7C9B4C237}"/>
              </a:ext>
            </a:extLst>
          </p:cNvPr>
          <p:cNvCxnSpPr>
            <a:cxnSpLocks/>
          </p:cNvCxnSpPr>
          <p:nvPr/>
        </p:nvCxnSpPr>
        <p:spPr>
          <a:xfrm flipH="1" flipV="1">
            <a:off x="5760707" y="2831382"/>
            <a:ext cx="13035" cy="1097456"/>
          </a:xfrm>
          <a:prstGeom prst="straightConnector1">
            <a:avLst/>
          </a:prstGeom>
          <a:ln w="57150">
            <a:solidFill>
              <a:srgbClr val="0C175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B41BF88-DFE1-BE95-1F8C-73FBAC4E6FED}"/>
              </a:ext>
            </a:extLst>
          </p:cNvPr>
          <p:cNvSpPr txBox="1"/>
          <p:nvPr/>
        </p:nvSpPr>
        <p:spPr>
          <a:xfrm>
            <a:off x="5686029" y="3113794"/>
            <a:ext cx="2068068" cy="369332"/>
          </a:xfrm>
          <a:prstGeom prst="rect">
            <a:avLst/>
          </a:prstGeom>
          <a:noFill/>
        </p:spPr>
        <p:txBody>
          <a:bodyPr wrap="square" rtlCol="0">
            <a:spAutoFit/>
          </a:bodyPr>
          <a:lstStyle/>
          <a:p>
            <a:pPr algn="ctr"/>
            <a:r>
              <a:rPr lang="en-CA" b="1" dirty="0">
                <a:solidFill>
                  <a:srgbClr val="0C1752"/>
                </a:solidFill>
                <a:latin typeface="Montserrat" panose="00000500000000000000" pitchFamily="2" charset="0"/>
              </a:rPr>
              <a:t>Call/Response</a:t>
            </a:r>
          </a:p>
        </p:txBody>
      </p:sp>
    </p:spTree>
    <p:extLst>
      <p:ext uri="{BB962C8B-B14F-4D97-AF65-F5344CB8AC3E}">
        <p14:creationId xmlns:p14="http://schemas.microsoft.com/office/powerpoint/2010/main" val="17653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nodeType="with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10" presetClass="entr" presetSubtype="0" fill="hold"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8" grpId="0" animBg="1"/>
      <p:bldP spid="20" grpId="0" animBg="1"/>
      <p:bldP spid="21" grpId="0" animBg="1"/>
      <p:bldP spid="22" grpId="0" animBg="1"/>
      <p:bldP spid="24" grpId="0" animBg="1"/>
      <p:bldP spid="25" grpId="0" animBg="1"/>
      <p:bldP spid="26" grpId="0" animBg="1"/>
      <p:bldP spid="28" grpId="0" animBg="1"/>
      <p:bldP spid="29" grpId="0" animBg="1"/>
      <p:bldP spid="35" grpId="0"/>
      <p:bldP spid="37"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DA11-A3EA-D5D8-8AC3-320EC5DEDB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17CADC-5CB9-0EAD-0D29-05939426F72F}"/>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4011B35-B6F2-1C02-444C-8EA54961D3E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EA31A24-004D-25C4-483A-20F279C0AEC7}"/>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Why Augmented LLM?</a:t>
            </a:r>
          </a:p>
        </p:txBody>
      </p:sp>
      <p:sp>
        <p:nvSpPr>
          <p:cNvPr id="9" name="TextBox 8">
            <a:extLst>
              <a:ext uri="{FF2B5EF4-FFF2-40B4-BE49-F238E27FC236}">
                <a16:creationId xmlns:a16="http://schemas.microsoft.com/office/drawing/2014/main" id="{E11E906F-95A6-38A7-5D0E-02CEC87A7A4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Shape 2">
            <a:extLst>
              <a:ext uri="{FF2B5EF4-FFF2-40B4-BE49-F238E27FC236}">
                <a16:creationId xmlns:a16="http://schemas.microsoft.com/office/drawing/2014/main" id="{AB15791C-D599-72E8-1D92-6A7CA24818A9}"/>
              </a:ext>
            </a:extLst>
          </p:cNvPr>
          <p:cNvSpPr/>
          <p:nvPr/>
        </p:nvSpPr>
        <p:spPr>
          <a:xfrm>
            <a:off x="457199" y="1371600"/>
            <a:ext cx="4981575" cy="4114800"/>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8" name="Shape 3">
            <a:extLst>
              <a:ext uri="{FF2B5EF4-FFF2-40B4-BE49-F238E27FC236}">
                <a16:creationId xmlns:a16="http://schemas.microsoft.com/office/drawing/2014/main" id="{E0E8CDF9-6087-A3E0-2928-DCEC51A67687}"/>
              </a:ext>
            </a:extLst>
          </p:cNvPr>
          <p:cNvSpPr/>
          <p:nvPr/>
        </p:nvSpPr>
        <p:spPr>
          <a:xfrm>
            <a:off x="457200" y="1371599"/>
            <a:ext cx="4981574" cy="600075"/>
          </a:xfrm>
          <a:prstGeom prst="rect">
            <a:avLst/>
          </a:prstGeom>
          <a:solidFill>
            <a:srgbClr val="0C1752"/>
          </a:solidFill>
          <a:ln/>
        </p:spPr>
        <p:txBody>
          <a:bodyPr/>
          <a:lstStyle/>
          <a:p>
            <a:endParaRPr lang="en-CA" sz="2400">
              <a:latin typeface="Montserrat" panose="00000500000000000000" pitchFamily="2" charset="0"/>
            </a:endParaRPr>
          </a:p>
        </p:txBody>
      </p:sp>
      <p:sp>
        <p:nvSpPr>
          <p:cNvPr id="10" name="Text 4">
            <a:extLst>
              <a:ext uri="{FF2B5EF4-FFF2-40B4-BE49-F238E27FC236}">
                <a16:creationId xmlns:a16="http://schemas.microsoft.com/office/drawing/2014/main" id="{0B7CE777-92D2-B397-0F12-923CDC81DD02}"/>
              </a:ext>
            </a:extLst>
          </p:cNvPr>
          <p:cNvSpPr/>
          <p:nvPr/>
        </p:nvSpPr>
        <p:spPr>
          <a:xfrm>
            <a:off x="874599" y="1443036"/>
            <a:ext cx="3750945" cy="457200"/>
          </a:xfrm>
          <a:prstGeom prst="rect">
            <a:avLst/>
          </a:prstGeom>
          <a:noFill/>
          <a:ln/>
        </p:spPr>
        <p:txBody>
          <a:bodyPr wrap="square" lIns="0" tIns="0" rIns="0" bIns="0" rtlCol="0" anchor="ctr"/>
          <a:lstStyle/>
          <a:p>
            <a:pPr marL="0" indent="0" algn="ctr">
              <a:buNone/>
            </a:pPr>
            <a:r>
              <a:rPr lang="en-US" b="1" dirty="0">
                <a:solidFill>
                  <a:srgbClr val="FFFFFF"/>
                </a:solidFill>
                <a:latin typeface="Montserrat" panose="00000500000000000000" pitchFamily="2" charset="0"/>
                <a:ea typeface="Calibri" pitchFamily="34" charset="-122"/>
                <a:cs typeface="Calibri" pitchFamily="34" charset="-120"/>
              </a:rPr>
              <a:t>VANILLA LLM (LIMITED)</a:t>
            </a:r>
            <a:endParaRPr lang="en-US" dirty="0">
              <a:latin typeface="Montserrat" panose="00000500000000000000" pitchFamily="2" charset="0"/>
            </a:endParaRPr>
          </a:p>
        </p:txBody>
      </p:sp>
      <p:sp>
        <p:nvSpPr>
          <p:cNvPr id="11" name="Text 5">
            <a:extLst>
              <a:ext uri="{FF2B5EF4-FFF2-40B4-BE49-F238E27FC236}">
                <a16:creationId xmlns:a16="http://schemas.microsoft.com/office/drawing/2014/main" id="{FB2ED96A-6EF4-78A7-98DA-1A2F0567E232}"/>
              </a:ext>
            </a:extLst>
          </p:cNvPr>
          <p:cNvSpPr/>
          <p:nvPr/>
        </p:nvSpPr>
        <p:spPr>
          <a:xfrm>
            <a:off x="730003" y="2346960"/>
            <a:ext cx="4619625" cy="2377440"/>
          </a:xfrm>
          <a:prstGeom prst="rect">
            <a:avLst/>
          </a:prstGeom>
          <a:noFill/>
          <a:ln/>
        </p:spPr>
        <p:txBody>
          <a:bodyPr wrap="square" lIns="0" tIns="0" rIns="0" bIns="0" rtlCol="0" anchor="t"/>
          <a:lstStyle/>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Knowledge cutoff date</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Cannot access the internet</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No access to private data</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Cannot take actions in the real world</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No persistent memory between sessions</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Hallucinates when it doesn't know</a:t>
            </a:r>
          </a:p>
        </p:txBody>
      </p:sp>
      <p:sp>
        <p:nvSpPr>
          <p:cNvPr id="13" name="Shape 6">
            <a:extLst>
              <a:ext uri="{FF2B5EF4-FFF2-40B4-BE49-F238E27FC236}">
                <a16:creationId xmlns:a16="http://schemas.microsoft.com/office/drawing/2014/main" id="{987A1266-9C73-1BBC-F5C7-CE268AC89D3F}"/>
              </a:ext>
            </a:extLst>
          </p:cNvPr>
          <p:cNvSpPr/>
          <p:nvPr/>
        </p:nvSpPr>
        <p:spPr>
          <a:xfrm>
            <a:off x="6326894" y="1371600"/>
            <a:ext cx="5084056" cy="4114800"/>
          </a:xfrm>
          <a:prstGeom prst="rect">
            <a:avLst/>
          </a:prstGeom>
          <a:solidFill>
            <a:schemeClr val="bg1"/>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4" name="Shape 7">
            <a:extLst>
              <a:ext uri="{FF2B5EF4-FFF2-40B4-BE49-F238E27FC236}">
                <a16:creationId xmlns:a16="http://schemas.microsoft.com/office/drawing/2014/main" id="{D26BED2F-6565-C90D-CC3B-192DA72D4B92}"/>
              </a:ext>
            </a:extLst>
          </p:cNvPr>
          <p:cNvSpPr/>
          <p:nvPr/>
        </p:nvSpPr>
        <p:spPr>
          <a:xfrm>
            <a:off x="6326894" y="1371600"/>
            <a:ext cx="5084056" cy="600074"/>
          </a:xfrm>
          <a:prstGeom prst="rect">
            <a:avLst/>
          </a:prstGeom>
          <a:solidFill>
            <a:srgbClr val="D56E48"/>
          </a:solidFill>
          <a:ln/>
        </p:spPr>
        <p:txBody>
          <a:bodyPr/>
          <a:lstStyle/>
          <a:p>
            <a:endParaRPr lang="en-CA" sz="2400">
              <a:latin typeface="Montserrat" panose="00000500000000000000" pitchFamily="2" charset="0"/>
            </a:endParaRPr>
          </a:p>
        </p:txBody>
      </p:sp>
      <p:sp>
        <p:nvSpPr>
          <p:cNvPr id="15" name="Text 8">
            <a:extLst>
              <a:ext uri="{FF2B5EF4-FFF2-40B4-BE49-F238E27FC236}">
                <a16:creationId xmlns:a16="http://schemas.microsoft.com/office/drawing/2014/main" id="{DBE1F539-3A0F-B3C5-0F3E-7433CC72BE90}"/>
              </a:ext>
            </a:extLst>
          </p:cNvPr>
          <p:cNvSpPr/>
          <p:nvPr/>
        </p:nvSpPr>
        <p:spPr>
          <a:xfrm>
            <a:off x="6854103" y="1443036"/>
            <a:ext cx="3956324" cy="457200"/>
          </a:xfrm>
          <a:prstGeom prst="rect">
            <a:avLst/>
          </a:prstGeom>
          <a:noFill/>
          <a:ln/>
        </p:spPr>
        <p:txBody>
          <a:bodyPr wrap="square" lIns="0" tIns="0" rIns="0" bIns="0" rtlCol="0" anchor="ctr"/>
          <a:lstStyle/>
          <a:p>
            <a:pPr marL="0" indent="0" algn="ctr">
              <a:buNone/>
            </a:pPr>
            <a:r>
              <a:rPr lang="en-US" b="1" dirty="0">
                <a:solidFill>
                  <a:srgbClr val="FFFFFF"/>
                </a:solidFill>
                <a:latin typeface="Montserrat" panose="00000500000000000000" pitchFamily="2" charset="0"/>
                <a:ea typeface="Calibri" pitchFamily="34" charset="-122"/>
                <a:cs typeface="Calibri" pitchFamily="34" charset="-120"/>
              </a:rPr>
              <a:t>AUGMENTED LLM (POWERFUL)</a:t>
            </a:r>
            <a:endParaRPr lang="en-US" dirty="0">
              <a:latin typeface="Montserrat" panose="00000500000000000000" pitchFamily="2" charset="0"/>
            </a:endParaRPr>
          </a:p>
        </p:txBody>
      </p:sp>
      <p:sp>
        <p:nvSpPr>
          <p:cNvPr id="16" name="Text 9">
            <a:extLst>
              <a:ext uri="{FF2B5EF4-FFF2-40B4-BE49-F238E27FC236}">
                <a16:creationId xmlns:a16="http://schemas.microsoft.com/office/drawing/2014/main" id="{B5A7CAFC-C975-D12A-21DD-A334598123C2}"/>
              </a:ext>
            </a:extLst>
          </p:cNvPr>
          <p:cNvSpPr/>
          <p:nvPr/>
        </p:nvSpPr>
        <p:spPr>
          <a:xfrm>
            <a:off x="6555493" y="2346960"/>
            <a:ext cx="4693531" cy="2377440"/>
          </a:xfrm>
          <a:prstGeom prst="rect">
            <a:avLst/>
          </a:prstGeom>
          <a:noFill/>
          <a:ln/>
        </p:spPr>
        <p:txBody>
          <a:bodyPr wrap="square" lIns="0" tIns="0" rIns="0" bIns="0" rtlCol="0" anchor="t"/>
          <a:lstStyle/>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Search the web for real-time info</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Query your own databases &amp; docs</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Call APIs and execute code</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Take actions (send emails, file tickets)</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Remember context across sessions</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Ground answers in real data</a:t>
            </a:r>
          </a:p>
        </p:txBody>
      </p:sp>
    </p:spTree>
    <p:extLst>
      <p:ext uri="{BB962C8B-B14F-4D97-AF65-F5344CB8AC3E}">
        <p14:creationId xmlns:p14="http://schemas.microsoft.com/office/powerpoint/2010/main" val="420299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0" grpId="0" animBg="1"/>
      <p:bldP spid="11"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5072-DCBB-8CFB-F8D6-F2A3159369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8335324-414E-390F-3E07-72561D4095F3}"/>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E918732-1F80-820C-DB97-34029FBF5CC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63ED804A-D1BD-2C11-D800-0432972AED35}"/>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5. Build and Validate</a:t>
            </a:r>
          </a:p>
        </p:txBody>
      </p:sp>
      <p:sp>
        <p:nvSpPr>
          <p:cNvPr id="9" name="TextBox 8">
            <a:extLst>
              <a:ext uri="{FF2B5EF4-FFF2-40B4-BE49-F238E27FC236}">
                <a16:creationId xmlns:a16="http://schemas.microsoft.com/office/drawing/2014/main" id="{3942C887-A96A-30DA-46AD-360D238F56E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F1316E1C-BC4B-3298-9CCF-4391C2F2019C}"/>
              </a:ext>
            </a:extLst>
          </p:cNvPr>
          <p:cNvSpPr txBox="1">
            <a:spLocks/>
          </p:cNvSpPr>
          <p:nvPr/>
        </p:nvSpPr>
        <p:spPr>
          <a:xfrm>
            <a:off x="154720" y="972462"/>
            <a:ext cx="11903977"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1700" dirty="0"/>
              <a:t>Now let’s build a research agent that can search the web and synthesize findings.</a:t>
            </a:r>
          </a:p>
          <a:p>
            <a:pPr>
              <a:lnSpc>
                <a:spcPct val="100000"/>
              </a:lnSpc>
            </a:pPr>
            <a:endParaRPr lang="en-US" sz="1700" dirty="0"/>
          </a:p>
        </p:txBody>
      </p:sp>
      <p:sp>
        <p:nvSpPr>
          <p:cNvPr id="19" name="Shape 3">
            <a:extLst>
              <a:ext uri="{FF2B5EF4-FFF2-40B4-BE49-F238E27FC236}">
                <a16:creationId xmlns:a16="http://schemas.microsoft.com/office/drawing/2014/main" id="{2AB89E12-D7BC-12D9-4491-A4421B8A5FCD}"/>
              </a:ext>
            </a:extLst>
          </p:cNvPr>
          <p:cNvSpPr/>
          <p:nvPr/>
        </p:nvSpPr>
        <p:spPr>
          <a:xfrm>
            <a:off x="457200" y="1737360"/>
            <a:ext cx="5357118" cy="3501390"/>
          </a:xfrm>
          <a:prstGeom prst="rect">
            <a:avLst/>
          </a:prstGeom>
          <a:solidFill>
            <a:srgbClr val="0C1752"/>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21" name="Text 5">
            <a:extLst>
              <a:ext uri="{FF2B5EF4-FFF2-40B4-BE49-F238E27FC236}">
                <a16:creationId xmlns:a16="http://schemas.microsoft.com/office/drawing/2014/main" id="{05EB31E8-A7EE-7A99-4595-CB69B8DF058D}"/>
              </a:ext>
            </a:extLst>
          </p:cNvPr>
          <p:cNvSpPr/>
          <p:nvPr/>
        </p:nvSpPr>
        <p:spPr>
          <a:xfrm>
            <a:off x="640080" y="1847088"/>
            <a:ext cx="3611880" cy="365760"/>
          </a:xfrm>
          <a:prstGeom prst="rect">
            <a:avLst/>
          </a:prstGeom>
          <a:noFill/>
          <a:ln/>
        </p:spPr>
        <p:txBody>
          <a:bodyPr wrap="square" lIns="0" tIns="0" rIns="0" bIns="0" rtlCol="0" anchor="ctr"/>
          <a:lstStyle/>
          <a:p>
            <a:pPr marL="0" indent="0">
              <a:buNone/>
            </a:pPr>
            <a:r>
              <a:rPr lang="en-US" b="1" dirty="0">
                <a:solidFill>
                  <a:schemeClr val="bg1"/>
                </a:solidFill>
                <a:latin typeface="Montserrat" panose="00000500000000000000" pitchFamily="2" charset="0"/>
                <a:ea typeface="Calibri" pitchFamily="34" charset="-122"/>
                <a:cs typeface="Calibri" pitchFamily="34" charset="-120"/>
              </a:rPr>
              <a:t>What We Are Building</a:t>
            </a:r>
            <a:endParaRPr lang="en-US" dirty="0">
              <a:solidFill>
                <a:schemeClr val="bg1"/>
              </a:solidFill>
              <a:latin typeface="Montserrat" panose="00000500000000000000" pitchFamily="2" charset="0"/>
            </a:endParaRPr>
          </a:p>
        </p:txBody>
      </p:sp>
      <p:sp>
        <p:nvSpPr>
          <p:cNvPr id="22" name="Text 6">
            <a:extLst>
              <a:ext uri="{FF2B5EF4-FFF2-40B4-BE49-F238E27FC236}">
                <a16:creationId xmlns:a16="http://schemas.microsoft.com/office/drawing/2014/main" id="{951F0A6F-085B-3073-9FC8-A7E3B8FE57E8}"/>
              </a:ext>
            </a:extLst>
          </p:cNvPr>
          <p:cNvSpPr/>
          <p:nvPr/>
        </p:nvSpPr>
        <p:spPr>
          <a:xfrm>
            <a:off x="640080" y="2411544"/>
            <a:ext cx="4665345" cy="2331720"/>
          </a:xfrm>
          <a:prstGeom prst="rect">
            <a:avLst/>
          </a:prstGeom>
          <a:noFill/>
          <a:ln/>
        </p:spPr>
        <p:txBody>
          <a:bodyPr wrap="square" lIns="0" tIns="0" rIns="0" bIns="0" rtlCol="0" anchor="t"/>
          <a:lstStyle/>
          <a:p>
            <a:pPr marL="0" indent="0">
              <a:buNone/>
            </a:pPr>
            <a:r>
              <a:rPr lang="en-US" sz="1600" dirty="0">
                <a:solidFill>
                  <a:srgbClr val="A8B2C1"/>
                </a:solidFill>
                <a:latin typeface="Montserrat" panose="00000500000000000000" pitchFamily="2" charset="0"/>
                <a:ea typeface="Calibri" pitchFamily="34" charset="-122"/>
                <a:cs typeface="Calibri" pitchFamily="34" charset="-120"/>
              </a:rPr>
              <a:t>A Research Agent powered by OpenAI</a:t>
            </a:r>
            <a:endParaRPr lang="en-US" sz="1600" dirty="0">
              <a:latin typeface="Montserrat" panose="00000500000000000000" pitchFamily="2" charset="0"/>
            </a:endParaRPr>
          </a:p>
          <a:p>
            <a:pPr marL="0" indent="0">
              <a:buNone/>
            </a:pPr>
            <a:endParaRPr lang="en-US" sz="1600" dirty="0">
              <a:latin typeface="Montserrat" panose="00000500000000000000" pitchFamily="2" charset="0"/>
            </a:endParaRPr>
          </a:p>
          <a:p>
            <a:pPr marL="0" indent="0">
              <a:buNone/>
            </a:pPr>
            <a:r>
              <a:rPr lang="en-US" sz="1600" dirty="0">
                <a:solidFill>
                  <a:srgbClr val="A8B2C1"/>
                </a:solidFill>
                <a:latin typeface="Montserrat" panose="00000500000000000000" pitchFamily="2" charset="0"/>
                <a:ea typeface="Calibri" pitchFamily="34" charset="-122"/>
                <a:cs typeface="Calibri" pitchFamily="34" charset="-120"/>
              </a:rPr>
              <a:t>The agent can:</a:t>
            </a:r>
            <a:endParaRPr lang="en-US" sz="1600" dirty="0">
              <a:latin typeface="Montserrat" panose="00000500000000000000" pitchFamily="2" charset="0"/>
            </a:endParaRPr>
          </a:p>
          <a:p>
            <a:pPr marL="285750" indent="-285750">
              <a:buFont typeface="Arial" panose="020B0604020202020204" pitchFamily="34" charset="0"/>
              <a:buChar char="•"/>
            </a:pPr>
            <a:r>
              <a:rPr lang="en-US" sz="1600" dirty="0">
                <a:solidFill>
                  <a:srgbClr val="A8B2C1"/>
                </a:solidFill>
                <a:latin typeface="Montserrat" panose="00000500000000000000" pitchFamily="2" charset="0"/>
                <a:ea typeface="Calibri" pitchFamily="34" charset="-122"/>
                <a:cs typeface="Calibri" pitchFamily="34" charset="-120"/>
              </a:rPr>
              <a:t>Accept a research question from the user</a:t>
            </a:r>
            <a:endParaRPr lang="en-US" sz="1600" dirty="0">
              <a:latin typeface="Montserrat" panose="00000500000000000000" pitchFamily="2" charset="0"/>
            </a:endParaRPr>
          </a:p>
          <a:p>
            <a:pPr marL="285750" indent="-285750">
              <a:buFont typeface="Arial" panose="020B0604020202020204" pitchFamily="34" charset="0"/>
              <a:buChar char="•"/>
            </a:pPr>
            <a:r>
              <a:rPr lang="en-US" sz="1600" dirty="0">
                <a:solidFill>
                  <a:srgbClr val="A8B2C1"/>
                </a:solidFill>
                <a:latin typeface="Montserrat" panose="00000500000000000000" pitchFamily="2" charset="0"/>
                <a:ea typeface="Calibri" pitchFamily="34" charset="-122"/>
                <a:cs typeface="Calibri" pitchFamily="34" charset="-120"/>
              </a:rPr>
              <a:t>Search the web for relevant information</a:t>
            </a:r>
            <a:endParaRPr lang="en-US" sz="1600" dirty="0">
              <a:latin typeface="Montserrat" panose="00000500000000000000" pitchFamily="2" charset="0"/>
            </a:endParaRPr>
          </a:p>
          <a:p>
            <a:pPr marL="285750" indent="-285750">
              <a:buFont typeface="Arial" panose="020B0604020202020204" pitchFamily="34" charset="0"/>
              <a:buChar char="•"/>
            </a:pPr>
            <a:r>
              <a:rPr lang="en-US" sz="1600" dirty="0">
                <a:solidFill>
                  <a:srgbClr val="A8B2C1"/>
                </a:solidFill>
                <a:latin typeface="Montserrat" panose="00000500000000000000" pitchFamily="2" charset="0"/>
                <a:ea typeface="Calibri" pitchFamily="34" charset="-122"/>
                <a:cs typeface="Calibri" pitchFamily="34" charset="-120"/>
              </a:rPr>
              <a:t>Synthesize findings into a clear answer</a:t>
            </a:r>
            <a:endParaRPr lang="en-US" sz="1600" dirty="0">
              <a:latin typeface="Montserrat" panose="00000500000000000000" pitchFamily="2" charset="0"/>
            </a:endParaRPr>
          </a:p>
          <a:p>
            <a:pPr marL="285750" indent="-285750">
              <a:buFont typeface="Arial" panose="020B0604020202020204" pitchFamily="34" charset="0"/>
              <a:buChar char="•"/>
            </a:pPr>
            <a:r>
              <a:rPr lang="en-US" sz="1600" dirty="0">
                <a:solidFill>
                  <a:srgbClr val="A8B2C1"/>
                </a:solidFill>
                <a:latin typeface="Montserrat" panose="00000500000000000000" pitchFamily="2" charset="0"/>
                <a:ea typeface="Calibri" pitchFamily="34" charset="-122"/>
                <a:cs typeface="Calibri" pitchFamily="34" charset="-120"/>
              </a:rPr>
              <a:t>Cite its sources</a:t>
            </a:r>
            <a:endParaRPr lang="en-US" sz="1600" dirty="0">
              <a:latin typeface="Montserrat" panose="00000500000000000000" pitchFamily="2" charset="0"/>
            </a:endParaRPr>
          </a:p>
        </p:txBody>
      </p:sp>
      <p:sp>
        <p:nvSpPr>
          <p:cNvPr id="23" name="Shape 7">
            <a:extLst>
              <a:ext uri="{FF2B5EF4-FFF2-40B4-BE49-F238E27FC236}">
                <a16:creationId xmlns:a16="http://schemas.microsoft.com/office/drawing/2014/main" id="{CBD761DE-66D8-EDB2-661B-D9DF95EFC9E7}"/>
              </a:ext>
            </a:extLst>
          </p:cNvPr>
          <p:cNvSpPr/>
          <p:nvPr/>
        </p:nvSpPr>
        <p:spPr>
          <a:xfrm>
            <a:off x="6391274" y="1737360"/>
            <a:ext cx="5323959" cy="3501390"/>
          </a:xfrm>
          <a:prstGeom prst="rect">
            <a:avLst/>
          </a:prstGeom>
          <a:solidFill>
            <a:schemeClr val="bg1">
              <a:lumMod val="65000"/>
            </a:schemeClr>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25" name="Text 9">
            <a:extLst>
              <a:ext uri="{FF2B5EF4-FFF2-40B4-BE49-F238E27FC236}">
                <a16:creationId xmlns:a16="http://schemas.microsoft.com/office/drawing/2014/main" id="{952EE0C8-097D-DE80-6134-79D1612B6808}"/>
              </a:ext>
            </a:extLst>
          </p:cNvPr>
          <p:cNvSpPr/>
          <p:nvPr/>
        </p:nvSpPr>
        <p:spPr>
          <a:xfrm>
            <a:off x="6642478" y="1780683"/>
            <a:ext cx="3611880" cy="365760"/>
          </a:xfrm>
          <a:prstGeom prst="rect">
            <a:avLst/>
          </a:prstGeom>
          <a:noFill/>
          <a:ln/>
        </p:spPr>
        <p:txBody>
          <a:bodyPr wrap="square" lIns="0" tIns="0" rIns="0" bIns="0" rtlCol="0" anchor="ctr"/>
          <a:lstStyle/>
          <a:p>
            <a:r>
              <a:rPr lang="en-US" b="1" dirty="0">
                <a:solidFill>
                  <a:schemeClr val="bg1"/>
                </a:solidFill>
                <a:latin typeface="Montserrat" panose="00000500000000000000" pitchFamily="2" charset="0"/>
                <a:ea typeface="Calibri" pitchFamily="34" charset="-122"/>
                <a:cs typeface="Calibri" pitchFamily="34" charset="-120"/>
              </a:rPr>
              <a:t>Tech Stack</a:t>
            </a:r>
          </a:p>
        </p:txBody>
      </p:sp>
      <p:sp>
        <p:nvSpPr>
          <p:cNvPr id="26" name="Text 10">
            <a:extLst>
              <a:ext uri="{FF2B5EF4-FFF2-40B4-BE49-F238E27FC236}">
                <a16:creationId xmlns:a16="http://schemas.microsoft.com/office/drawing/2014/main" id="{13C90234-2D78-D298-4192-0113800BBC87}"/>
              </a:ext>
            </a:extLst>
          </p:cNvPr>
          <p:cNvSpPr/>
          <p:nvPr/>
        </p:nvSpPr>
        <p:spPr>
          <a:xfrm>
            <a:off x="6642478" y="2379838"/>
            <a:ext cx="4244597" cy="233172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solidFill>
                  <a:schemeClr val="bg1"/>
                </a:solidFill>
                <a:latin typeface="Montserrat" panose="00000500000000000000" pitchFamily="2" charset="0"/>
                <a:ea typeface="Calibri" pitchFamily="34" charset="-122"/>
                <a:cs typeface="Calibri" pitchFamily="34" charset="-120"/>
              </a:rPr>
              <a:t>OpenAI Agent Builder (no code)</a:t>
            </a:r>
            <a:endParaRPr lang="en-US" sz="1600" dirty="0">
              <a:solidFill>
                <a:schemeClr val="bg1"/>
              </a:solidFill>
              <a:latin typeface="Montserrat" panose="00000500000000000000" pitchFamily="2" charset="0"/>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ea typeface="Calibri" pitchFamily="34" charset="-122"/>
                <a:cs typeface="Calibri" pitchFamily="34" charset="-120"/>
              </a:rPr>
              <a:t>Model: GPT-5 (or latest)</a:t>
            </a:r>
            <a:endParaRPr lang="en-US" sz="1600" dirty="0">
              <a:solidFill>
                <a:schemeClr val="bg1"/>
              </a:solidFill>
              <a:latin typeface="Montserrat" panose="00000500000000000000" pitchFamily="2" charset="0"/>
            </a:endParaRPr>
          </a:p>
          <a:p>
            <a:pPr marL="285750" indent="-285750">
              <a:buFont typeface="Arial" panose="020B0604020202020204" pitchFamily="34" charset="0"/>
              <a:buChar char="•"/>
            </a:pPr>
            <a:r>
              <a:rPr lang="en-US" sz="1600" dirty="0">
                <a:solidFill>
                  <a:schemeClr val="bg1"/>
                </a:solidFill>
                <a:latin typeface="Montserrat" panose="00000500000000000000" pitchFamily="2" charset="0"/>
                <a:ea typeface="Calibri" pitchFamily="34" charset="-122"/>
                <a:cs typeface="Calibri" pitchFamily="34" charset="-120"/>
              </a:rPr>
              <a:t>Tool: Web Search (built-in)</a:t>
            </a:r>
            <a:endParaRPr lang="en-US" sz="1600" dirty="0">
              <a:solidFill>
                <a:schemeClr val="bg1"/>
              </a:solidFill>
              <a:latin typeface="Montserrat" panose="00000500000000000000" pitchFamily="2" charset="0"/>
            </a:endParaRPr>
          </a:p>
          <a:p>
            <a:pPr marL="0" indent="0">
              <a:buNone/>
            </a:pPr>
            <a:endParaRPr lang="en-US" sz="1600" dirty="0">
              <a:solidFill>
                <a:schemeClr val="bg1"/>
              </a:solidFill>
              <a:latin typeface="Montserrat" panose="00000500000000000000" pitchFamily="2" charset="0"/>
            </a:endParaRPr>
          </a:p>
          <a:p>
            <a:pPr marL="0" indent="0">
              <a:buNone/>
            </a:pPr>
            <a:r>
              <a:rPr lang="en-US" sz="1600" dirty="0">
                <a:solidFill>
                  <a:schemeClr val="bg1"/>
                </a:solidFill>
                <a:latin typeface="Montserrat" panose="00000500000000000000" pitchFamily="2" charset="0"/>
                <a:ea typeface="Calibri" pitchFamily="34" charset="-122"/>
                <a:cs typeface="Calibri" pitchFamily="34" charset="-120"/>
              </a:rPr>
              <a:t>No external APIs or complex setup</a:t>
            </a:r>
            <a:endParaRPr lang="en-US" sz="1600" dirty="0">
              <a:solidFill>
                <a:schemeClr val="bg1"/>
              </a:solidFill>
              <a:latin typeface="Montserrat" panose="00000500000000000000" pitchFamily="2" charset="0"/>
            </a:endParaRPr>
          </a:p>
          <a:p>
            <a:pPr marL="0" indent="0">
              <a:buNone/>
            </a:pPr>
            <a:r>
              <a:rPr lang="en-US" sz="1600" dirty="0">
                <a:solidFill>
                  <a:schemeClr val="bg1"/>
                </a:solidFill>
                <a:latin typeface="Montserrat" panose="00000500000000000000" pitchFamily="2" charset="0"/>
                <a:ea typeface="Calibri" pitchFamily="34" charset="-122"/>
                <a:cs typeface="Calibri" pitchFamily="34" charset="-120"/>
              </a:rPr>
              <a:t>Needed; everything runs through the</a:t>
            </a:r>
            <a:endParaRPr lang="en-US" sz="1600" dirty="0">
              <a:solidFill>
                <a:schemeClr val="bg1"/>
              </a:solidFill>
              <a:latin typeface="Montserrat" panose="00000500000000000000" pitchFamily="2" charset="0"/>
            </a:endParaRPr>
          </a:p>
          <a:p>
            <a:pPr marL="0" indent="0">
              <a:buNone/>
            </a:pPr>
            <a:r>
              <a:rPr lang="en-US" sz="1600" dirty="0">
                <a:solidFill>
                  <a:schemeClr val="bg1"/>
                </a:solidFill>
                <a:latin typeface="Montserrat" panose="00000500000000000000" pitchFamily="2" charset="0"/>
                <a:ea typeface="Calibri" pitchFamily="34" charset="-122"/>
                <a:cs typeface="Calibri" pitchFamily="34" charset="-120"/>
              </a:rPr>
              <a:t>OpenAI API platform.</a:t>
            </a:r>
            <a:endParaRPr lang="en-US" sz="16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428064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P spid="23"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83543-1C75-32D7-4414-5FC67E9CFD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AD2E07-3298-A810-2FCB-28A4593443B7}"/>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CFEA22C-CBBB-9CA7-74D4-6322388AD59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56B3FC6-5942-4034-4F18-811F41BEE48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panose="00000500000000000000" pitchFamily="2" charset="0"/>
                <a:ea typeface="Montserrat" charset="0"/>
                <a:cs typeface="Montserrat" charset="0"/>
              </a:rPr>
              <a:t>5. Build &amp; Validate</a:t>
            </a:r>
          </a:p>
        </p:txBody>
      </p:sp>
      <p:sp>
        <p:nvSpPr>
          <p:cNvPr id="9" name="TextBox 8">
            <a:extLst>
              <a:ext uri="{FF2B5EF4-FFF2-40B4-BE49-F238E27FC236}">
                <a16:creationId xmlns:a16="http://schemas.microsoft.com/office/drawing/2014/main" id="{51A8A93C-9A85-C164-07CE-E4E35A708A5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Shape 2">
            <a:extLst>
              <a:ext uri="{FF2B5EF4-FFF2-40B4-BE49-F238E27FC236}">
                <a16:creationId xmlns:a16="http://schemas.microsoft.com/office/drawing/2014/main" id="{15C116E9-FE1C-0AAA-72DF-A8E020FC0B0C}"/>
              </a:ext>
            </a:extLst>
          </p:cNvPr>
          <p:cNvSpPr/>
          <p:nvPr/>
        </p:nvSpPr>
        <p:spPr>
          <a:xfrm>
            <a:off x="273256" y="3693931"/>
            <a:ext cx="1828800" cy="914400"/>
          </a:xfrm>
          <a:prstGeom prst="rect">
            <a:avLst/>
          </a:prstGeom>
          <a:solidFill>
            <a:srgbClr val="415A77"/>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4" name="Text 3">
            <a:extLst>
              <a:ext uri="{FF2B5EF4-FFF2-40B4-BE49-F238E27FC236}">
                <a16:creationId xmlns:a16="http://schemas.microsoft.com/office/drawing/2014/main" id="{E9B72E67-B5B2-D645-AEA7-06426CD7945E}"/>
              </a:ext>
            </a:extLst>
          </p:cNvPr>
          <p:cNvSpPr/>
          <p:nvPr/>
        </p:nvSpPr>
        <p:spPr>
          <a:xfrm>
            <a:off x="273256" y="3693931"/>
            <a:ext cx="182880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User</a:t>
            </a:r>
            <a:endParaRPr lang="en-US" sz="1400" dirty="0">
              <a:latin typeface="Montserrat" panose="00000500000000000000" pitchFamily="2" charset="0"/>
            </a:endParaRPr>
          </a:p>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Question</a:t>
            </a:r>
            <a:endParaRPr lang="en-US" sz="1400" dirty="0">
              <a:latin typeface="Montserrat" panose="00000500000000000000" pitchFamily="2" charset="0"/>
            </a:endParaRPr>
          </a:p>
        </p:txBody>
      </p:sp>
      <p:sp>
        <p:nvSpPr>
          <p:cNvPr id="10" name="Shape 5">
            <a:extLst>
              <a:ext uri="{FF2B5EF4-FFF2-40B4-BE49-F238E27FC236}">
                <a16:creationId xmlns:a16="http://schemas.microsoft.com/office/drawing/2014/main" id="{5F9BEC65-BA42-D557-7522-43C05615177B}"/>
              </a:ext>
            </a:extLst>
          </p:cNvPr>
          <p:cNvSpPr/>
          <p:nvPr/>
        </p:nvSpPr>
        <p:spPr>
          <a:xfrm>
            <a:off x="3571881" y="2429542"/>
            <a:ext cx="4317730" cy="2824076"/>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1" name="Shape 6">
            <a:extLst>
              <a:ext uri="{FF2B5EF4-FFF2-40B4-BE49-F238E27FC236}">
                <a16:creationId xmlns:a16="http://schemas.microsoft.com/office/drawing/2014/main" id="{27C2FC77-336B-26DD-6F18-D2B51F286257}"/>
              </a:ext>
            </a:extLst>
          </p:cNvPr>
          <p:cNvSpPr/>
          <p:nvPr/>
        </p:nvSpPr>
        <p:spPr>
          <a:xfrm>
            <a:off x="3571881" y="2429542"/>
            <a:ext cx="4317730" cy="457200"/>
          </a:xfrm>
          <a:prstGeom prst="rect">
            <a:avLst/>
          </a:prstGeom>
          <a:solidFill>
            <a:srgbClr val="D56E48"/>
          </a:solidFill>
          <a:ln/>
        </p:spPr>
        <p:txBody>
          <a:bodyPr/>
          <a:lstStyle/>
          <a:p>
            <a:endParaRPr lang="en-CA" sz="2400">
              <a:latin typeface="Montserrat" panose="00000500000000000000" pitchFamily="2" charset="0"/>
            </a:endParaRPr>
          </a:p>
        </p:txBody>
      </p:sp>
      <p:sp>
        <p:nvSpPr>
          <p:cNvPr id="12" name="Text 7">
            <a:extLst>
              <a:ext uri="{FF2B5EF4-FFF2-40B4-BE49-F238E27FC236}">
                <a16:creationId xmlns:a16="http://schemas.microsoft.com/office/drawing/2014/main" id="{3E03D929-E9EA-2F60-4369-13D8CC03F546}"/>
              </a:ext>
            </a:extLst>
          </p:cNvPr>
          <p:cNvSpPr/>
          <p:nvPr/>
        </p:nvSpPr>
        <p:spPr>
          <a:xfrm>
            <a:off x="3663321" y="2391849"/>
            <a:ext cx="3017520" cy="457200"/>
          </a:xfrm>
          <a:prstGeom prst="rect">
            <a:avLst/>
          </a:prstGeom>
          <a:noFill/>
          <a:ln/>
        </p:spPr>
        <p:txBody>
          <a:bodyPr wrap="square" lIns="0" tIns="0" rIns="0" bIns="0" rtlCol="0" anchor="ctr"/>
          <a:lstStyle/>
          <a:p>
            <a:pPr marL="0" indent="0">
              <a:buNone/>
            </a:pPr>
            <a:r>
              <a:rPr lang="en-US" b="1" dirty="0">
                <a:solidFill>
                  <a:srgbClr val="FFFFFF"/>
                </a:solidFill>
                <a:latin typeface="Montserrat" panose="00000500000000000000" pitchFamily="2" charset="0"/>
                <a:ea typeface="Calibri" pitchFamily="34" charset="-122"/>
                <a:cs typeface="Calibri" pitchFamily="34" charset="-120"/>
              </a:rPr>
              <a:t>Research Agent</a:t>
            </a:r>
            <a:endParaRPr lang="en-US" dirty="0">
              <a:latin typeface="Montserrat" panose="00000500000000000000" pitchFamily="2" charset="0"/>
            </a:endParaRPr>
          </a:p>
        </p:txBody>
      </p:sp>
      <p:sp>
        <p:nvSpPr>
          <p:cNvPr id="13" name="Shape 8">
            <a:extLst>
              <a:ext uri="{FF2B5EF4-FFF2-40B4-BE49-F238E27FC236}">
                <a16:creationId xmlns:a16="http://schemas.microsoft.com/office/drawing/2014/main" id="{A4D8E960-0DA2-86FD-C9C9-4F0A84FAF91E}"/>
              </a:ext>
            </a:extLst>
          </p:cNvPr>
          <p:cNvSpPr/>
          <p:nvPr/>
        </p:nvSpPr>
        <p:spPr>
          <a:xfrm>
            <a:off x="3732981" y="3159018"/>
            <a:ext cx="3964462" cy="548640"/>
          </a:xfrm>
          <a:prstGeom prst="rect">
            <a:avLst/>
          </a:prstGeom>
          <a:solidFill>
            <a:srgbClr val="E8F5E9"/>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5" name="Text 9">
            <a:extLst>
              <a:ext uri="{FF2B5EF4-FFF2-40B4-BE49-F238E27FC236}">
                <a16:creationId xmlns:a16="http://schemas.microsoft.com/office/drawing/2014/main" id="{5C9A1782-ED88-D6A8-174C-1F375A477938}"/>
              </a:ext>
            </a:extLst>
          </p:cNvPr>
          <p:cNvSpPr/>
          <p:nvPr/>
        </p:nvSpPr>
        <p:spPr>
          <a:xfrm>
            <a:off x="3824421" y="3159018"/>
            <a:ext cx="2651760" cy="548640"/>
          </a:xfrm>
          <a:prstGeom prst="rect">
            <a:avLst/>
          </a:prstGeom>
          <a:noFill/>
          <a:ln/>
        </p:spPr>
        <p:txBody>
          <a:bodyPr wrap="square" lIns="0" tIns="0" rIns="0" bIns="0" rtlCol="0" anchor="ctr"/>
          <a:lstStyle/>
          <a:p>
            <a:pPr marL="0" indent="0">
              <a:buNone/>
            </a:pPr>
            <a:r>
              <a:rPr lang="en-US" sz="1100" i="1" dirty="0">
                <a:solidFill>
                  <a:srgbClr val="0D1B2A"/>
                </a:solidFill>
                <a:latin typeface="Montserrat" panose="00000500000000000000" pitchFamily="2" charset="0"/>
                <a:ea typeface="Calibri" pitchFamily="34" charset="-122"/>
                <a:cs typeface="Calibri" pitchFamily="34" charset="-120"/>
              </a:rPr>
              <a:t>Instructions: "You are a research</a:t>
            </a:r>
            <a:endParaRPr lang="en-US" sz="1100" dirty="0">
              <a:latin typeface="Montserrat" panose="00000500000000000000" pitchFamily="2" charset="0"/>
            </a:endParaRPr>
          </a:p>
          <a:p>
            <a:pPr marL="0" indent="0">
              <a:buNone/>
            </a:pPr>
            <a:r>
              <a:rPr lang="en-US" sz="1100" i="1" dirty="0">
                <a:solidFill>
                  <a:srgbClr val="0D1B2A"/>
                </a:solidFill>
                <a:latin typeface="Montserrat" panose="00000500000000000000" pitchFamily="2" charset="0"/>
                <a:ea typeface="Calibri" pitchFamily="34" charset="-122"/>
                <a:cs typeface="Calibri" pitchFamily="34" charset="-120"/>
              </a:rPr>
              <a:t>assistant. Search and synthesize."</a:t>
            </a:r>
            <a:endParaRPr lang="en-US" sz="1100" dirty="0">
              <a:latin typeface="Montserrat" panose="00000500000000000000" pitchFamily="2" charset="0"/>
            </a:endParaRPr>
          </a:p>
        </p:txBody>
      </p:sp>
      <p:sp>
        <p:nvSpPr>
          <p:cNvPr id="16" name="Shape 10">
            <a:extLst>
              <a:ext uri="{FF2B5EF4-FFF2-40B4-BE49-F238E27FC236}">
                <a16:creationId xmlns:a16="http://schemas.microsoft.com/office/drawing/2014/main" id="{9D34DE8B-DA80-28BF-157C-1D24E675FBE8}"/>
              </a:ext>
            </a:extLst>
          </p:cNvPr>
          <p:cNvSpPr/>
          <p:nvPr/>
        </p:nvSpPr>
        <p:spPr>
          <a:xfrm>
            <a:off x="3748514" y="3943793"/>
            <a:ext cx="3964462" cy="411480"/>
          </a:xfrm>
          <a:prstGeom prst="rect">
            <a:avLst/>
          </a:prstGeom>
          <a:solidFill>
            <a:srgbClr val="F0F4F8"/>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7" name="Text 11">
            <a:extLst>
              <a:ext uri="{FF2B5EF4-FFF2-40B4-BE49-F238E27FC236}">
                <a16:creationId xmlns:a16="http://schemas.microsoft.com/office/drawing/2014/main" id="{A63DC389-474A-E913-F73C-424B2BBE430D}"/>
              </a:ext>
            </a:extLst>
          </p:cNvPr>
          <p:cNvSpPr/>
          <p:nvPr/>
        </p:nvSpPr>
        <p:spPr>
          <a:xfrm>
            <a:off x="3839954" y="3943793"/>
            <a:ext cx="2651760" cy="411480"/>
          </a:xfrm>
          <a:prstGeom prst="rect">
            <a:avLst/>
          </a:prstGeom>
          <a:noFill/>
          <a:ln/>
        </p:spPr>
        <p:txBody>
          <a:bodyPr wrap="square" lIns="0" tIns="0" rIns="0" bIns="0" rtlCol="0" anchor="ctr"/>
          <a:lstStyle/>
          <a:p>
            <a:pPr marL="0" indent="0">
              <a:buNone/>
            </a:pPr>
            <a:r>
              <a:rPr lang="en-US" sz="1400" dirty="0">
                <a:solidFill>
                  <a:srgbClr val="0D1B2A"/>
                </a:solidFill>
                <a:latin typeface="Montserrat" panose="00000500000000000000" pitchFamily="2" charset="0"/>
                <a:ea typeface="Consolas" pitchFamily="34" charset="-122"/>
                <a:cs typeface="Consolas" pitchFamily="34" charset="-120"/>
              </a:rPr>
              <a:t>Model: gpt-5.2</a:t>
            </a:r>
            <a:endParaRPr lang="en-US" sz="1400" dirty="0">
              <a:latin typeface="Montserrat" panose="00000500000000000000" pitchFamily="2" charset="0"/>
            </a:endParaRPr>
          </a:p>
        </p:txBody>
      </p:sp>
      <p:sp>
        <p:nvSpPr>
          <p:cNvPr id="19" name="Shape 12">
            <a:extLst>
              <a:ext uri="{FF2B5EF4-FFF2-40B4-BE49-F238E27FC236}">
                <a16:creationId xmlns:a16="http://schemas.microsoft.com/office/drawing/2014/main" id="{1C274A64-727F-5A38-B3E2-7A528EC192ED}"/>
              </a:ext>
            </a:extLst>
          </p:cNvPr>
          <p:cNvSpPr/>
          <p:nvPr/>
        </p:nvSpPr>
        <p:spPr>
          <a:xfrm>
            <a:off x="3748515" y="4597272"/>
            <a:ext cx="3964461" cy="411480"/>
          </a:xfrm>
          <a:prstGeom prst="rect">
            <a:avLst/>
          </a:prstGeom>
          <a:solidFill>
            <a:srgbClr val="FFF3E0"/>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21" name="Text 14">
            <a:extLst>
              <a:ext uri="{FF2B5EF4-FFF2-40B4-BE49-F238E27FC236}">
                <a16:creationId xmlns:a16="http://schemas.microsoft.com/office/drawing/2014/main" id="{838866A7-8E39-9E6B-4A3A-1CE640A891E7}"/>
              </a:ext>
            </a:extLst>
          </p:cNvPr>
          <p:cNvSpPr/>
          <p:nvPr/>
        </p:nvSpPr>
        <p:spPr>
          <a:xfrm>
            <a:off x="3891921" y="4591408"/>
            <a:ext cx="2560320" cy="411480"/>
          </a:xfrm>
          <a:prstGeom prst="rect">
            <a:avLst/>
          </a:prstGeom>
          <a:noFill/>
          <a:ln/>
        </p:spPr>
        <p:txBody>
          <a:bodyPr wrap="square" lIns="0" tIns="0" rIns="0" bIns="0" rtlCol="0" anchor="ctr"/>
          <a:lstStyle/>
          <a:p>
            <a:pPr marL="0" indent="0">
              <a:buNone/>
            </a:pPr>
            <a:r>
              <a:rPr lang="en-US" sz="1400" dirty="0">
                <a:solidFill>
                  <a:srgbClr val="FB8500"/>
                </a:solidFill>
                <a:latin typeface="Montserrat" panose="00000500000000000000" pitchFamily="2" charset="0"/>
                <a:ea typeface="Consolas" pitchFamily="34" charset="-122"/>
                <a:cs typeface="Consolas" pitchFamily="34" charset="-120"/>
              </a:rPr>
              <a:t>Tool: WebSearchTool()</a:t>
            </a:r>
            <a:endParaRPr lang="en-US" sz="1400" dirty="0">
              <a:latin typeface="Montserrat" panose="00000500000000000000" pitchFamily="2" charset="0"/>
            </a:endParaRPr>
          </a:p>
        </p:txBody>
      </p:sp>
      <p:sp>
        <p:nvSpPr>
          <p:cNvPr id="23" name="Shape 16">
            <a:extLst>
              <a:ext uri="{FF2B5EF4-FFF2-40B4-BE49-F238E27FC236}">
                <a16:creationId xmlns:a16="http://schemas.microsoft.com/office/drawing/2014/main" id="{A883814C-44F1-C055-61A3-7AA51E1DA82D}"/>
              </a:ext>
            </a:extLst>
          </p:cNvPr>
          <p:cNvSpPr/>
          <p:nvPr/>
        </p:nvSpPr>
        <p:spPr>
          <a:xfrm>
            <a:off x="4552811" y="5623527"/>
            <a:ext cx="2468880" cy="1207255"/>
          </a:xfrm>
          <a:prstGeom prst="rect">
            <a:avLst/>
          </a:prstGeom>
          <a:solidFill>
            <a:srgbClr val="FFFFFF"/>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25" name="Text 18">
            <a:extLst>
              <a:ext uri="{FF2B5EF4-FFF2-40B4-BE49-F238E27FC236}">
                <a16:creationId xmlns:a16="http://schemas.microsoft.com/office/drawing/2014/main" id="{5B00B8FD-F7AE-5023-E453-1A9912919245}"/>
              </a:ext>
            </a:extLst>
          </p:cNvPr>
          <p:cNvSpPr/>
          <p:nvPr/>
        </p:nvSpPr>
        <p:spPr>
          <a:xfrm>
            <a:off x="4735691" y="5735720"/>
            <a:ext cx="2103120" cy="320040"/>
          </a:xfrm>
          <a:prstGeom prst="rect">
            <a:avLst/>
          </a:prstGeom>
          <a:noFill/>
          <a:ln/>
        </p:spPr>
        <p:txBody>
          <a:bodyPr wrap="square" lIns="0" tIns="0" rIns="0" bIns="0" rtlCol="0" anchor="ctr"/>
          <a:lstStyle/>
          <a:p>
            <a:pPr marL="0" indent="0">
              <a:buNone/>
            </a:pPr>
            <a:r>
              <a:rPr lang="en-US" sz="1400" b="1" dirty="0">
                <a:solidFill>
                  <a:srgbClr val="FB8500"/>
                </a:solidFill>
                <a:latin typeface="Montserrat" panose="00000500000000000000" pitchFamily="2" charset="0"/>
                <a:ea typeface="Calibri" pitchFamily="34" charset="-122"/>
                <a:cs typeface="Calibri" pitchFamily="34" charset="-120"/>
              </a:rPr>
              <a:t>Web Search Tool</a:t>
            </a:r>
            <a:endParaRPr lang="en-US" sz="1400" dirty="0">
              <a:latin typeface="Montserrat" panose="00000500000000000000" pitchFamily="2" charset="0"/>
            </a:endParaRPr>
          </a:p>
        </p:txBody>
      </p:sp>
      <p:sp>
        <p:nvSpPr>
          <p:cNvPr id="26" name="Text 19">
            <a:extLst>
              <a:ext uri="{FF2B5EF4-FFF2-40B4-BE49-F238E27FC236}">
                <a16:creationId xmlns:a16="http://schemas.microsoft.com/office/drawing/2014/main" id="{2D1B570F-95D6-BF2B-94E7-CB6D83CFD548}"/>
              </a:ext>
            </a:extLst>
          </p:cNvPr>
          <p:cNvSpPr/>
          <p:nvPr/>
        </p:nvSpPr>
        <p:spPr>
          <a:xfrm>
            <a:off x="4644251" y="6107526"/>
            <a:ext cx="2286000" cy="828533"/>
          </a:xfrm>
          <a:prstGeom prst="rect">
            <a:avLst/>
          </a:prstGeom>
          <a:noFill/>
          <a:ln/>
        </p:spPr>
        <p:txBody>
          <a:bodyPr wrap="square" lIns="0" tIns="0" rIns="0" bIns="0" rtlCol="0" anchor="t"/>
          <a:lstStyle/>
          <a:p>
            <a:pPr marL="171450" indent="-171450">
              <a:buSzPct val="100000"/>
              <a:buFont typeface="Arial" panose="020B0604020202020204" pitchFamily="34" charset="0"/>
              <a:buChar char="•"/>
            </a:pPr>
            <a:r>
              <a:rPr lang="en-US" sz="1100" dirty="0">
                <a:solidFill>
                  <a:srgbClr val="415A77"/>
                </a:solidFill>
                <a:latin typeface="Montserrat" panose="00000500000000000000" pitchFamily="2" charset="0"/>
              </a:rPr>
              <a:t>Agent sends search query</a:t>
            </a:r>
            <a:endParaRPr lang="en-US" sz="1100" dirty="0">
              <a:latin typeface="Montserrat" panose="00000500000000000000" pitchFamily="2" charset="0"/>
            </a:endParaRPr>
          </a:p>
          <a:p>
            <a:pPr marL="171450" indent="-171450">
              <a:buSzPct val="100000"/>
              <a:buFont typeface="Arial" panose="020B0604020202020204" pitchFamily="34" charset="0"/>
              <a:buChar char="•"/>
            </a:pPr>
            <a:r>
              <a:rPr lang="en-US" sz="1100" dirty="0">
                <a:solidFill>
                  <a:srgbClr val="415A77"/>
                </a:solidFill>
                <a:latin typeface="Montserrat" panose="00000500000000000000" pitchFamily="2" charset="0"/>
              </a:rPr>
              <a:t>Tool returns results</a:t>
            </a:r>
            <a:endParaRPr lang="en-US" sz="1100" dirty="0">
              <a:latin typeface="Montserrat" panose="00000500000000000000" pitchFamily="2" charset="0"/>
            </a:endParaRPr>
          </a:p>
          <a:p>
            <a:pPr marL="171450" indent="-171450">
              <a:buSzPct val="100000"/>
              <a:buFont typeface="Arial" panose="020B0604020202020204" pitchFamily="34" charset="0"/>
              <a:buChar char="•"/>
            </a:pPr>
            <a:r>
              <a:rPr lang="en-US" sz="1100" dirty="0">
                <a:solidFill>
                  <a:srgbClr val="415A77"/>
                </a:solidFill>
                <a:latin typeface="Montserrat" panose="00000500000000000000" pitchFamily="2" charset="0"/>
              </a:rPr>
              <a:t>Agent synthesizes answer</a:t>
            </a:r>
            <a:endParaRPr lang="en-US" sz="1100" dirty="0">
              <a:latin typeface="Montserrat" panose="00000500000000000000" pitchFamily="2" charset="0"/>
            </a:endParaRPr>
          </a:p>
          <a:p>
            <a:pPr marL="171450" indent="-171450">
              <a:buSzPct val="100000"/>
              <a:buFont typeface="Arial" panose="020B0604020202020204" pitchFamily="34" charset="0"/>
              <a:buChar char="•"/>
            </a:pPr>
            <a:r>
              <a:rPr lang="en-US" sz="1100" dirty="0">
                <a:solidFill>
                  <a:srgbClr val="415A77"/>
                </a:solidFill>
                <a:latin typeface="Montserrat" panose="00000500000000000000" pitchFamily="2" charset="0"/>
              </a:rPr>
              <a:t>Can search multiple times</a:t>
            </a:r>
            <a:endParaRPr lang="en-US" sz="1100" dirty="0">
              <a:latin typeface="Montserrat" panose="00000500000000000000" pitchFamily="2" charset="0"/>
            </a:endParaRPr>
          </a:p>
        </p:txBody>
      </p:sp>
      <p:sp>
        <p:nvSpPr>
          <p:cNvPr id="28" name="Shape 21">
            <a:extLst>
              <a:ext uri="{FF2B5EF4-FFF2-40B4-BE49-F238E27FC236}">
                <a16:creationId xmlns:a16="http://schemas.microsoft.com/office/drawing/2014/main" id="{1B0B8AD9-2625-95F8-EF43-FD659DB3ADAF}"/>
              </a:ext>
            </a:extLst>
          </p:cNvPr>
          <p:cNvSpPr/>
          <p:nvPr/>
        </p:nvSpPr>
        <p:spPr>
          <a:xfrm>
            <a:off x="9226921" y="3464549"/>
            <a:ext cx="2373315" cy="1003782"/>
          </a:xfrm>
          <a:prstGeom prst="rect">
            <a:avLst/>
          </a:prstGeom>
          <a:solidFill>
            <a:schemeClr val="bg1">
              <a:lumMod val="65000"/>
            </a:schemeClr>
          </a:solidFill>
          <a:ln/>
          <a:effectLst>
            <a:outerShdw blurRad="76200" dist="25400" dir="8100000" algn="bl" rotWithShape="0">
              <a:srgbClr val="000000">
                <a:alpha val="25000"/>
              </a:srgbClr>
            </a:outerShdw>
          </a:effectLst>
        </p:spPr>
        <p:txBody>
          <a:bodyPr/>
          <a:lstStyle/>
          <a:p>
            <a:endParaRPr lang="en-CA">
              <a:latin typeface="Montserrat" panose="00000500000000000000" pitchFamily="2" charset="0"/>
            </a:endParaRPr>
          </a:p>
        </p:txBody>
      </p:sp>
      <p:sp>
        <p:nvSpPr>
          <p:cNvPr id="30" name="Text 23">
            <a:extLst>
              <a:ext uri="{FF2B5EF4-FFF2-40B4-BE49-F238E27FC236}">
                <a16:creationId xmlns:a16="http://schemas.microsoft.com/office/drawing/2014/main" id="{DB086531-8880-B74F-AFDD-F97FC1AD8D26}"/>
              </a:ext>
            </a:extLst>
          </p:cNvPr>
          <p:cNvSpPr/>
          <p:nvPr/>
        </p:nvSpPr>
        <p:spPr>
          <a:xfrm>
            <a:off x="9462567" y="3600680"/>
            <a:ext cx="1929762" cy="731520"/>
          </a:xfrm>
          <a:prstGeom prst="rect">
            <a:avLst/>
          </a:prstGeom>
          <a:noFill/>
          <a:ln/>
        </p:spPr>
        <p:txBody>
          <a:bodyPr wrap="square" lIns="0" tIns="0" rIns="0" bIns="0" rtlCol="0" anchor="ctr"/>
          <a:lstStyle/>
          <a:p>
            <a:pPr marL="0" indent="0">
              <a:buNone/>
            </a:pPr>
            <a:r>
              <a:rPr lang="en-US" sz="1500" b="1" dirty="0">
                <a:solidFill>
                  <a:schemeClr val="bg1"/>
                </a:solidFill>
                <a:latin typeface="Montserrat" panose="00000500000000000000" pitchFamily="2" charset="0"/>
                <a:ea typeface="Calibri" pitchFamily="34" charset="-122"/>
                <a:cs typeface="Calibri" pitchFamily="34" charset="-120"/>
              </a:rPr>
              <a:t>Synthesized Research Report with Citations</a:t>
            </a:r>
            <a:endParaRPr lang="en-US" sz="1500" dirty="0">
              <a:solidFill>
                <a:schemeClr val="bg1"/>
              </a:solidFill>
              <a:latin typeface="Montserrat" panose="00000500000000000000" pitchFamily="2" charset="0"/>
            </a:endParaRPr>
          </a:p>
        </p:txBody>
      </p:sp>
      <p:cxnSp>
        <p:nvCxnSpPr>
          <p:cNvPr id="32" name="Straight Arrow Connector 31">
            <a:extLst>
              <a:ext uri="{FF2B5EF4-FFF2-40B4-BE49-F238E27FC236}">
                <a16:creationId xmlns:a16="http://schemas.microsoft.com/office/drawing/2014/main" id="{3AE4C029-471A-5C9E-C2BF-FF518EF02403}"/>
              </a:ext>
            </a:extLst>
          </p:cNvPr>
          <p:cNvCxnSpPr>
            <a:cxnSpLocks/>
          </p:cNvCxnSpPr>
          <p:nvPr/>
        </p:nvCxnSpPr>
        <p:spPr>
          <a:xfrm>
            <a:off x="2226419" y="4080498"/>
            <a:ext cx="1123950"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B6DD861-7CCB-EB55-B156-69248706650B}"/>
              </a:ext>
            </a:extLst>
          </p:cNvPr>
          <p:cNvCxnSpPr>
            <a:cxnSpLocks/>
          </p:cNvCxnSpPr>
          <p:nvPr/>
        </p:nvCxnSpPr>
        <p:spPr>
          <a:xfrm flipV="1">
            <a:off x="5715212" y="5111671"/>
            <a:ext cx="0" cy="664238"/>
          </a:xfrm>
          <a:prstGeom prst="straightConnector1">
            <a:avLst/>
          </a:prstGeom>
          <a:ln w="57150">
            <a:solidFill>
              <a:srgbClr val="0C175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A8D863A-2C2B-A2AE-5A27-F40F865281DA}"/>
              </a:ext>
            </a:extLst>
          </p:cNvPr>
          <p:cNvSpPr txBox="1"/>
          <p:nvPr/>
        </p:nvSpPr>
        <p:spPr>
          <a:xfrm>
            <a:off x="5736234" y="5259124"/>
            <a:ext cx="2068068" cy="369332"/>
          </a:xfrm>
          <a:prstGeom prst="rect">
            <a:avLst/>
          </a:prstGeom>
          <a:noFill/>
        </p:spPr>
        <p:txBody>
          <a:bodyPr wrap="square" rtlCol="0">
            <a:spAutoFit/>
          </a:bodyPr>
          <a:lstStyle/>
          <a:p>
            <a:pPr algn="ctr"/>
            <a:r>
              <a:rPr lang="en-CA" b="1" dirty="0">
                <a:solidFill>
                  <a:srgbClr val="0C1752"/>
                </a:solidFill>
                <a:latin typeface="Montserrat" panose="00000500000000000000" pitchFamily="2" charset="0"/>
              </a:rPr>
              <a:t>Call/Response</a:t>
            </a:r>
          </a:p>
        </p:txBody>
      </p:sp>
      <p:cxnSp>
        <p:nvCxnSpPr>
          <p:cNvPr id="37" name="Straight Arrow Connector 36">
            <a:extLst>
              <a:ext uri="{FF2B5EF4-FFF2-40B4-BE49-F238E27FC236}">
                <a16:creationId xmlns:a16="http://schemas.microsoft.com/office/drawing/2014/main" id="{4A2A9EB1-25EE-8B3F-CE61-9BA508E56182}"/>
              </a:ext>
            </a:extLst>
          </p:cNvPr>
          <p:cNvCxnSpPr>
            <a:cxnSpLocks/>
          </p:cNvCxnSpPr>
          <p:nvPr/>
        </p:nvCxnSpPr>
        <p:spPr>
          <a:xfrm>
            <a:off x="7996291" y="4026669"/>
            <a:ext cx="1123950"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F839FB29-BD05-6017-7461-A88E8B7ABADC}"/>
              </a:ext>
            </a:extLst>
          </p:cNvPr>
          <p:cNvPicPr>
            <a:picLocks noChangeAspect="1"/>
          </p:cNvPicPr>
          <p:nvPr/>
        </p:nvPicPr>
        <p:blipFill>
          <a:blip r:embed="rId4"/>
          <a:stretch>
            <a:fillRect/>
          </a:stretch>
        </p:blipFill>
        <p:spPr>
          <a:xfrm>
            <a:off x="7954441" y="704408"/>
            <a:ext cx="3423764" cy="2462198"/>
          </a:xfrm>
          <a:prstGeom prst="rect">
            <a:avLst/>
          </a:prstGeom>
        </p:spPr>
      </p:pic>
      <p:cxnSp>
        <p:nvCxnSpPr>
          <p:cNvPr id="43" name="Connector: Curved 42">
            <a:extLst>
              <a:ext uri="{FF2B5EF4-FFF2-40B4-BE49-F238E27FC236}">
                <a16:creationId xmlns:a16="http://schemas.microsoft.com/office/drawing/2014/main" id="{1B4305B0-6920-2EC1-CD1A-110CD35FB9F5}"/>
              </a:ext>
            </a:extLst>
          </p:cNvPr>
          <p:cNvCxnSpPr>
            <a:stCxn id="11" idx="0"/>
          </p:cNvCxnSpPr>
          <p:nvPr/>
        </p:nvCxnSpPr>
        <p:spPr>
          <a:xfrm rot="5400000" flipH="1" flipV="1">
            <a:off x="6251710" y="726812"/>
            <a:ext cx="1181767" cy="2223695"/>
          </a:xfrm>
          <a:prstGeom prst="curvedConnector2">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D22B392-EBFA-EFCC-90DB-AD63C5739229}"/>
              </a:ext>
            </a:extLst>
          </p:cNvPr>
          <p:cNvSpPr txBox="1"/>
          <p:nvPr/>
        </p:nvSpPr>
        <p:spPr>
          <a:xfrm>
            <a:off x="4441105" y="958858"/>
            <a:ext cx="2068068" cy="646331"/>
          </a:xfrm>
          <a:prstGeom prst="rect">
            <a:avLst/>
          </a:prstGeom>
          <a:noFill/>
        </p:spPr>
        <p:txBody>
          <a:bodyPr wrap="square" rtlCol="0">
            <a:spAutoFit/>
          </a:bodyPr>
          <a:lstStyle/>
          <a:p>
            <a:pPr algn="ctr"/>
            <a:r>
              <a:rPr lang="en-CA" b="1" dirty="0">
                <a:solidFill>
                  <a:srgbClr val="0C1752"/>
                </a:solidFill>
                <a:latin typeface="Montserrat" panose="00000500000000000000" pitchFamily="2" charset="0"/>
              </a:rPr>
              <a:t>Complete</a:t>
            </a:r>
          </a:p>
          <a:p>
            <a:pPr algn="ctr"/>
            <a:r>
              <a:rPr lang="en-CA" b="1" dirty="0">
                <a:solidFill>
                  <a:srgbClr val="0C1752"/>
                </a:solidFill>
                <a:latin typeface="Montserrat" panose="00000500000000000000" pitchFamily="2" charset="0"/>
              </a:rPr>
              <a:t>System Prompt</a:t>
            </a:r>
          </a:p>
        </p:txBody>
      </p:sp>
    </p:spTree>
    <p:extLst>
      <p:ext uri="{BB962C8B-B14F-4D97-AF65-F5344CB8AC3E}">
        <p14:creationId xmlns:p14="http://schemas.microsoft.com/office/powerpoint/2010/main" val="78806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500"/>
                                        <p:tgtEl>
                                          <p:spTgt spid="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par>
                                <p:cTn id="40" presetID="10" presetClass="entr" presetSubtype="0"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500"/>
                                        <p:tgtEl>
                                          <p:spTgt spid="3"/>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5" grpId="0" animBg="1"/>
      <p:bldP spid="16" grpId="0" animBg="1"/>
      <p:bldP spid="17" grpId="0" animBg="1"/>
      <p:bldP spid="19" grpId="0" animBg="1"/>
      <p:bldP spid="21" grpId="0" animBg="1"/>
      <p:bldP spid="23" grpId="0" animBg="1"/>
      <p:bldP spid="25" grpId="0" animBg="1"/>
      <p:bldP spid="26" grpId="0" animBg="1"/>
      <p:bldP spid="28" grpId="0" animBg="1"/>
      <p:bldP spid="35" grpId="0"/>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0C2B8-4110-BD83-E40B-5852EBBB9D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780C9D-CC7C-2568-7E64-3B3E9271404E}"/>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0468684F-1927-3AF7-5BAC-6F921C45DF9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F7E3B15-59AA-461E-2C31-760B262B10E5}"/>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Agent Prompt &amp; Rationale</a:t>
            </a:r>
          </a:p>
        </p:txBody>
      </p:sp>
      <p:sp>
        <p:nvSpPr>
          <p:cNvPr id="9" name="TextBox 8">
            <a:extLst>
              <a:ext uri="{FF2B5EF4-FFF2-40B4-BE49-F238E27FC236}">
                <a16:creationId xmlns:a16="http://schemas.microsoft.com/office/drawing/2014/main" id="{D7F39692-515D-9255-1C1A-D307FC8F5E0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995589D8-1B60-352C-70F7-0EBC544CCCD4}"/>
              </a:ext>
            </a:extLst>
          </p:cNvPr>
          <p:cNvPicPr>
            <a:picLocks noChangeAspect="1"/>
          </p:cNvPicPr>
          <p:nvPr/>
        </p:nvPicPr>
        <p:blipFill>
          <a:blip r:embed="rId4"/>
          <a:stretch>
            <a:fillRect/>
          </a:stretch>
        </p:blipFill>
        <p:spPr>
          <a:xfrm>
            <a:off x="78522" y="1400673"/>
            <a:ext cx="6455627" cy="4645974"/>
          </a:xfrm>
          <a:prstGeom prst="rect">
            <a:avLst/>
          </a:prstGeom>
        </p:spPr>
      </p:pic>
      <p:sp>
        <p:nvSpPr>
          <p:cNvPr id="11" name="TextBox 10">
            <a:extLst>
              <a:ext uri="{FF2B5EF4-FFF2-40B4-BE49-F238E27FC236}">
                <a16:creationId xmlns:a16="http://schemas.microsoft.com/office/drawing/2014/main" id="{D14C70F6-3087-DDC6-EAD2-A7726C6F9D59}"/>
              </a:ext>
            </a:extLst>
          </p:cNvPr>
          <p:cNvSpPr txBox="1"/>
          <p:nvPr/>
        </p:nvSpPr>
        <p:spPr>
          <a:xfrm>
            <a:off x="130016" y="907669"/>
            <a:ext cx="11630147" cy="338554"/>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The prompt encodes the same workflow a skilled human researcher would follow. </a:t>
            </a:r>
          </a:p>
        </p:txBody>
      </p:sp>
      <p:sp>
        <p:nvSpPr>
          <p:cNvPr id="13" name="TextBox 12">
            <a:extLst>
              <a:ext uri="{FF2B5EF4-FFF2-40B4-BE49-F238E27FC236}">
                <a16:creationId xmlns:a16="http://schemas.microsoft.com/office/drawing/2014/main" id="{1ADEC037-F28E-2D5C-095E-A3E55F3522E3}"/>
              </a:ext>
            </a:extLst>
          </p:cNvPr>
          <p:cNvSpPr txBox="1"/>
          <p:nvPr/>
        </p:nvSpPr>
        <p:spPr>
          <a:xfrm>
            <a:off x="7072313" y="1378685"/>
            <a:ext cx="4914886" cy="938719"/>
          </a:xfrm>
          <a:prstGeom prst="rect">
            <a:avLst/>
          </a:prstGeom>
          <a:noFill/>
        </p:spPr>
        <p:txBody>
          <a:bodyPr wrap="square">
            <a:spAutoFit/>
          </a:bodyPr>
          <a:lstStyle/>
          <a:p>
            <a:pPr>
              <a:buNone/>
            </a:pPr>
            <a:r>
              <a:rPr lang="en-US" sz="1100" b="1" dirty="0">
                <a:latin typeface="Montserrat" panose="00000500000000000000" pitchFamily="2" charset="0"/>
              </a:rPr>
              <a:t>Context</a:t>
            </a:r>
            <a:r>
              <a:rPr lang="en-US" sz="1100" dirty="0">
                <a:latin typeface="Montserrat" panose="00000500000000000000" pitchFamily="2" charset="0"/>
              </a:rPr>
              <a:t> tells the model who it is and what tools it has. The phrase "current, real-time information" signals that it should search, not recall from training data. Without this, the model might not use web search at all.</a:t>
            </a:r>
          </a:p>
          <a:p>
            <a:pPr>
              <a:buNone/>
            </a:pPr>
            <a:endParaRPr lang="en-US" sz="1100" dirty="0">
              <a:latin typeface="Montserrat" panose="00000500000000000000" pitchFamily="2" charset="0"/>
            </a:endParaRPr>
          </a:p>
        </p:txBody>
      </p:sp>
      <p:sp>
        <p:nvSpPr>
          <p:cNvPr id="15" name="TextBox 14">
            <a:extLst>
              <a:ext uri="{FF2B5EF4-FFF2-40B4-BE49-F238E27FC236}">
                <a16:creationId xmlns:a16="http://schemas.microsoft.com/office/drawing/2014/main" id="{D09442C8-6ED9-DE52-E6F8-BD51DE0063F2}"/>
              </a:ext>
            </a:extLst>
          </p:cNvPr>
          <p:cNvSpPr txBox="1"/>
          <p:nvPr/>
        </p:nvSpPr>
        <p:spPr>
          <a:xfrm>
            <a:off x="7121202" y="4922540"/>
            <a:ext cx="4745511" cy="1107996"/>
          </a:xfrm>
          <a:prstGeom prst="rect">
            <a:avLst/>
          </a:prstGeom>
          <a:noFill/>
        </p:spPr>
        <p:txBody>
          <a:bodyPr wrap="square">
            <a:spAutoFit/>
          </a:bodyPr>
          <a:lstStyle/>
          <a:p>
            <a:pPr>
              <a:buNone/>
            </a:pPr>
            <a:endParaRPr lang="en-US" sz="1100" dirty="0">
              <a:latin typeface="Montserrat" panose="00000500000000000000" pitchFamily="2" charset="0"/>
            </a:endParaRPr>
          </a:p>
          <a:p>
            <a:pPr>
              <a:buNone/>
            </a:pPr>
            <a:r>
              <a:rPr lang="en-US" sz="1100" b="1" dirty="0">
                <a:latin typeface="Montserrat" panose="00000500000000000000" pitchFamily="2" charset="0"/>
              </a:rPr>
              <a:t>Output</a:t>
            </a:r>
            <a:r>
              <a:rPr lang="en-US" sz="1100" dirty="0">
                <a:latin typeface="Montserrat" panose="00000500000000000000" pitchFamily="2" charset="0"/>
              </a:rPr>
              <a:t> enforces discipline. The 5-bullet max forces prioritization, the agent must decide what matters most. Specificity requirements (names, numbers, dates) prevent vague summaries. The uncertainty bullet is a safety valve: better to say "this is unverified" than present speculation as fact.</a:t>
            </a:r>
          </a:p>
        </p:txBody>
      </p:sp>
      <p:sp>
        <p:nvSpPr>
          <p:cNvPr id="17" name="TextBox 16">
            <a:extLst>
              <a:ext uri="{FF2B5EF4-FFF2-40B4-BE49-F238E27FC236}">
                <a16:creationId xmlns:a16="http://schemas.microsoft.com/office/drawing/2014/main" id="{1290C4B4-405D-D7ED-2490-30AF4FD8DCB3}"/>
              </a:ext>
            </a:extLst>
          </p:cNvPr>
          <p:cNvSpPr txBox="1"/>
          <p:nvPr/>
        </p:nvSpPr>
        <p:spPr>
          <a:xfrm>
            <a:off x="7143909" y="3818122"/>
            <a:ext cx="4745511" cy="938719"/>
          </a:xfrm>
          <a:prstGeom prst="rect">
            <a:avLst/>
          </a:prstGeom>
          <a:noFill/>
        </p:spPr>
        <p:txBody>
          <a:bodyPr wrap="square">
            <a:spAutoFit/>
          </a:bodyPr>
          <a:lstStyle>
            <a:defPPr>
              <a:defRPr lang="en-US"/>
            </a:defPPr>
            <a:lvl1pPr>
              <a:buNone/>
              <a:defRPr sz="1100">
                <a:latin typeface="Montserrat" panose="00000500000000000000" pitchFamily="2" charset="0"/>
              </a:defRPr>
            </a:lvl1pPr>
          </a:lstStyle>
          <a:p>
            <a:endParaRPr lang="en-US" b="1" dirty="0"/>
          </a:p>
          <a:p>
            <a:r>
              <a:rPr lang="en-US" b="1" dirty="0"/>
              <a:t>Input </a:t>
            </a:r>
            <a:r>
              <a:rPr lang="en-US" dirty="0"/>
              <a:t>is deliberately broad. The agent should handle any research query in the market intelligence domain, not just one specific type. This makes the agent reusable across different research questions.</a:t>
            </a:r>
          </a:p>
        </p:txBody>
      </p:sp>
      <p:sp>
        <p:nvSpPr>
          <p:cNvPr id="19" name="TextBox 18">
            <a:extLst>
              <a:ext uri="{FF2B5EF4-FFF2-40B4-BE49-F238E27FC236}">
                <a16:creationId xmlns:a16="http://schemas.microsoft.com/office/drawing/2014/main" id="{7CE79B03-33C3-45B9-8B40-7EDEF71D5538}"/>
              </a:ext>
            </a:extLst>
          </p:cNvPr>
          <p:cNvSpPr txBox="1"/>
          <p:nvPr/>
        </p:nvSpPr>
        <p:spPr>
          <a:xfrm>
            <a:off x="7121202" y="2370819"/>
            <a:ext cx="4817107" cy="938719"/>
          </a:xfrm>
          <a:prstGeom prst="rect">
            <a:avLst/>
          </a:prstGeom>
          <a:noFill/>
        </p:spPr>
        <p:txBody>
          <a:bodyPr wrap="square">
            <a:spAutoFit/>
          </a:bodyPr>
          <a:lstStyle>
            <a:defPPr>
              <a:defRPr lang="en-US"/>
            </a:defPPr>
            <a:lvl1pPr>
              <a:buNone/>
              <a:defRPr sz="1100" b="1">
                <a:latin typeface="Montserrat" panose="00000500000000000000" pitchFamily="2" charset="0"/>
              </a:defRPr>
            </a:lvl1pPr>
          </a:lstStyle>
          <a:p>
            <a:r>
              <a:rPr lang="en-US" dirty="0"/>
              <a:t>Instruction </a:t>
            </a:r>
            <a:r>
              <a:rPr lang="en-US" b="0" dirty="0"/>
              <a:t>defines the behavior loop. "Not just once" is important. Without it, the model runs a single search and stops. Steps 3–5 encode the human judgment pattern we identified in our problem breakdown: iterative searching, sub-queries, and cross-referencing.</a:t>
            </a:r>
          </a:p>
        </p:txBody>
      </p:sp>
      <p:cxnSp>
        <p:nvCxnSpPr>
          <p:cNvPr id="21" name="Straight Arrow Connector 20">
            <a:extLst>
              <a:ext uri="{FF2B5EF4-FFF2-40B4-BE49-F238E27FC236}">
                <a16:creationId xmlns:a16="http://schemas.microsoft.com/office/drawing/2014/main" id="{34C06343-35B8-0618-2655-95B4BBE16840}"/>
              </a:ext>
            </a:extLst>
          </p:cNvPr>
          <p:cNvCxnSpPr>
            <a:cxnSpLocks/>
          </p:cNvCxnSpPr>
          <p:nvPr/>
        </p:nvCxnSpPr>
        <p:spPr>
          <a:xfrm>
            <a:off x="6610192" y="1828800"/>
            <a:ext cx="462121"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7128673-47B3-06FF-9645-C29F7CEE0C5D}"/>
              </a:ext>
            </a:extLst>
          </p:cNvPr>
          <p:cNvCxnSpPr>
            <a:cxnSpLocks/>
          </p:cNvCxnSpPr>
          <p:nvPr/>
        </p:nvCxnSpPr>
        <p:spPr>
          <a:xfrm>
            <a:off x="6610192" y="2733675"/>
            <a:ext cx="462121"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3B16B2-5380-6DCC-4DD3-6FA9F4D0F93D}"/>
              </a:ext>
            </a:extLst>
          </p:cNvPr>
          <p:cNvCxnSpPr>
            <a:cxnSpLocks/>
          </p:cNvCxnSpPr>
          <p:nvPr/>
        </p:nvCxnSpPr>
        <p:spPr>
          <a:xfrm>
            <a:off x="6659081" y="4371975"/>
            <a:ext cx="462121"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26C89D2-76C4-8873-2DC2-0B06A410BB63}"/>
              </a:ext>
            </a:extLst>
          </p:cNvPr>
          <p:cNvCxnSpPr>
            <a:cxnSpLocks/>
          </p:cNvCxnSpPr>
          <p:nvPr/>
        </p:nvCxnSpPr>
        <p:spPr>
          <a:xfrm>
            <a:off x="6659081" y="5343525"/>
            <a:ext cx="462121" cy="0"/>
          </a:xfrm>
          <a:prstGeom prst="straightConnector1">
            <a:avLst/>
          </a:prstGeom>
          <a:ln w="57150">
            <a:solidFill>
              <a:srgbClr val="0C17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78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7356D-A278-12FA-B113-C3354B5578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29D3B4-212B-D2D1-E01A-3F1CA50E10F0}"/>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18F3828-1625-08A3-F0CE-813FDC9A3A2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0FFC1C5-DB1C-4FCB-2EDC-709BEEB7A09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happens when you run it</a:t>
            </a:r>
          </a:p>
        </p:txBody>
      </p:sp>
      <p:sp>
        <p:nvSpPr>
          <p:cNvPr id="9" name="TextBox 8">
            <a:extLst>
              <a:ext uri="{FF2B5EF4-FFF2-40B4-BE49-F238E27FC236}">
                <a16:creationId xmlns:a16="http://schemas.microsoft.com/office/drawing/2014/main" id="{DA17ADE5-FB09-0CC6-338B-193A8496AB7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30E451A5-7177-2E00-6790-52A99F41EE5C}"/>
              </a:ext>
            </a:extLst>
          </p:cNvPr>
          <p:cNvSpPr txBox="1">
            <a:spLocks/>
          </p:cNvSpPr>
          <p:nvPr/>
        </p:nvSpPr>
        <p:spPr>
          <a:xfrm>
            <a:off x="154720" y="972462"/>
            <a:ext cx="11903977"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buClrTx/>
            </a:pPr>
            <a:r>
              <a:rPr lang="en-US" sz="1700" dirty="0"/>
              <a:t>The agentic loop: think → act → observe → respond</a:t>
            </a:r>
          </a:p>
          <a:p>
            <a:pPr>
              <a:lnSpc>
                <a:spcPct val="100000"/>
              </a:lnSpc>
              <a:buClrTx/>
            </a:pPr>
            <a:endParaRPr lang="en-US" sz="1700" dirty="0"/>
          </a:p>
        </p:txBody>
      </p:sp>
      <p:sp>
        <p:nvSpPr>
          <p:cNvPr id="3" name="Text 2">
            <a:extLst>
              <a:ext uri="{FF2B5EF4-FFF2-40B4-BE49-F238E27FC236}">
                <a16:creationId xmlns:a16="http://schemas.microsoft.com/office/drawing/2014/main" id="{62A9FD71-FC67-724D-8AC1-004AAF541725}"/>
              </a:ext>
            </a:extLst>
          </p:cNvPr>
          <p:cNvSpPr/>
          <p:nvPr/>
        </p:nvSpPr>
        <p:spPr>
          <a:xfrm>
            <a:off x="640080" y="731520"/>
            <a:ext cx="7315200" cy="274320"/>
          </a:xfrm>
          <a:prstGeom prst="rect">
            <a:avLst/>
          </a:prstGeom>
          <a:noFill/>
          <a:ln/>
        </p:spPr>
        <p:txBody>
          <a:bodyPr wrap="square" lIns="0" tIns="0" rIns="0" bIns="0" rtlCol="0" anchor="ctr"/>
          <a:lstStyle/>
          <a:p>
            <a:pPr marL="0" indent="0">
              <a:buNone/>
            </a:pPr>
            <a:endParaRPr lang="en-US" sz="1400" dirty="0"/>
          </a:p>
        </p:txBody>
      </p:sp>
      <p:sp>
        <p:nvSpPr>
          <p:cNvPr id="4" name="Shape 3">
            <a:extLst>
              <a:ext uri="{FF2B5EF4-FFF2-40B4-BE49-F238E27FC236}">
                <a16:creationId xmlns:a16="http://schemas.microsoft.com/office/drawing/2014/main" id="{B9E0E32A-D242-BD5E-8820-C531005B32A4}"/>
              </a:ext>
            </a:extLst>
          </p:cNvPr>
          <p:cNvSpPr/>
          <p:nvPr/>
        </p:nvSpPr>
        <p:spPr>
          <a:xfrm>
            <a:off x="347291" y="1790143"/>
            <a:ext cx="1965960" cy="777240"/>
          </a:xfrm>
          <a:prstGeom prst="rect">
            <a:avLst/>
          </a:prstGeom>
          <a:solidFill>
            <a:srgbClr val="0C1752"/>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8" name="Text 4">
            <a:extLst>
              <a:ext uri="{FF2B5EF4-FFF2-40B4-BE49-F238E27FC236}">
                <a16:creationId xmlns:a16="http://schemas.microsoft.com/office/drawing/2014/main" id="{7EAE958C-062C-3A4E-3833-BB902FBB482C}"/>
              </a:ext>
            </a:extLst>
          </p:cNvPr>
          <p:cNvSpPr/>
          <p:nvPr/>
        </p:nvSpPr>
        <p:spPr>
          <a:xfrm>
            <a:off x="347291" y="1790143"/>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User sends</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research question</a:t>
            </a:r>
            <a:endParaRPr lang="en-US" sz="1400" dirty="0">
              <a:latin typeface="Montserrat" panose="00000500000000000000" pitchFamily="2" charset="0"/>
            </a:endParaRPr>
          </a:p>
        </p:txBody>
      </p:sp>
      <p:sp>
        <p:nvSpPr>
          <p:cNvPr id="11" name="Shape 6">
            <a:extLst>
              <a:ext uri="{FF2B5EF4-FFF2-40B4-BE49-F238E27FC236}">
                <a16:creationId xmlns:a16="http://schemas.microsoft.com/office/drawing/2014/main" id="{A6B5EA77-BD0D-9267-AB58-735EE25F5D99}"/>
              </a:ext>
            </a:extLst>
          </p:cNvPr>
          <p:cNvSpPr/>
          <p:nvPr/>
        </p:nvSpPr>
        <p:spPr>
          <a:xfrm>
            <a:off x="3192679" y="1774903"/>
            <a:ext cx="1965960" cy="777240"/>
          </a:xfrm>
          <a:prstGeom prst="rect">
            <a:avLst/>
          </a:prstGeom>
          <a:solidFill>
            <a:srgbClr val="D56E48"/>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2" name="Text 7">
            <a:extLst>
              <a:ext uri="{FF2B5EF4-FFF2-40B4-BE49-F238E27FC236}">
                <a16:creationId xmlns:a16="http://schemas.microsoft.com/office/drawing/2014/main" id="{54BBECD4-0570-0038-E10F-4B99C5E6404F}"/>
              </a:ext>
            </a:extLst>
          </p:cNvPr>
          <p:cNvSpPr/>
          <p:nvPr/>
        </p:nvSpPr>
        <p:spPr>
          <a:xfrm>
            <a:off x="3192679" y="1774903"/>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Agent reads</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instructions +</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input</a:t>
            </a:r>
            <a:endParaRPr lang="en-US" sz="1400" dirty="0">
              <a:latin typeface="Montserrat" panose="00000500000000000000" pitchFamily="2" charset="0"/>
            </a:endParaRPr>
          </a:p>
        </p:txBody>
      </p:sp>
      <p:sp>
        <p:nvSpPr>
          <p:cNvPr id="15" name="Shape 9">
            <a:extLst>
              <a:ext uri="{FF2B5EF4-FFF2-40B4-BE49-F238E27FC236}">
                <a16:creationId xmlns:a16="http://schemas.microsoft.com/office/drawing/2014/main" id="{DF6DB70A-0AF7-CBAA-79DA-E838BCD16CA0}"/>
              </a:ext>
            </a:extLst>
          </p:cNvPr>
          <p:cNvSpPr/>
          <p:nvPr/>
        </p:nvSpPr>
        <p:spPr>
          <a:xfrm>
            <a:off x="5944609" y="1763287"/>
            <a:ext cx="1965960" cy="777240"/>
          </a:xfrm>
          <a:prstGeom prst="rect">
            <a:avLst/>
          </a:prstGeom>
          <a:solidFill>
            <a:srgbClr val="1BBFD1"/>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16" name="Text 10">
            <a:extLst>
              <a:ext uri="{FF2B5EF4-FFF2-40B4-BE49-F238E27FC236}">
                <a16:creationId xmlns:a16="http://schemas.microsoft.com/office/drawing/2014/main" id="{CF5F00D6-4D0B-80A0-3220-9B10D0AA307D}"/>
              </a:ext>
            </a:extLst>
          </p:cNvPr>
          <p:cNvSpPr/>
          <p:nvPr/>
        </p:nvSpPr>
        <p:spPr>
          <a:xfrm>
            <a:off x="5944609" y="1763287"/>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Agent decides:</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use web search?</a:t>
            </a:r>
            <a:endParaRPr lang="en-US" sz="1400" dirty="0">
              <a:latin typeface="Montserrat" panose="00000500000000000000" pitchFamily="2" charset="0"/>
            </a:endParaRPr>
          </a:p>
        </p:txBody>
      </p:sp>
      <p:sp>
        <p:nvSpPr>
          <p:cNvPr id="19" name="Shape 12">
            <a:extLst>
              <a:ext uri="{FF2B5EF4-FFF2-40B4-BE49-F238E27FC236}">
                <a16:creationId xmlns:a16="http://schemas.microsoft.com/office/drawing/2014/main" id="{3A01EA57-C456-FED8-F752-99948A70B496}"/>
              </a:ext>
            </a:extLst>
          </p:cNvPr>
          <p:cNvSpPr/>
          <p:nvPr/>
        </p:nvSpPr>
        <p:spPr>
          <a:xfrm>
            <a:off x="8895769" y="1763287"/>
            <a:ext cx="1965960" cy="777240"/>
          </a:xfrm>
          <a:prstGeom prst="rect">
            <a:avLst/>
          </a:prstGeom>
          <a:solidFill>
            <a:schemeClr val="bg1">
              <a:lumMod val="65000"/>
            </a:schemeClr>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20" name="Text 13">
            <a:extLst>
              <a:ext uri="{FF2B5EF4-FFF2-40B4-BE49-F238E27FC236}">
                <a16:creationId xmlns:a16="http://schemas.microsoft.com/office/drawing/2014/main" id="{30B9E034-4336-EADF-E13A-00803FDEDF38}"/>
              </a:ext>
            </a:extLst>
          </p:cNvPr>
          <p:cNvSpPr/>
          <p:nvPr/>
        </p:nvSpPr>
        <p:spPr>
          <a:xfrm>
            <a:off x="8895769" y="1763287"/>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WebSearchTool</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executes query</a:t>
            </a:r>
            <a:endParaRPr lang="en-US" sz="1400" dirty="0">
              <a:latin typeface="Montserrat" panose="00000500000000000000" pitchFamily="2" charset="0"/>
            </a:endParaRPr>
          </a:p>
        </p:txBody>
      </p:sp>
      <p:sp>
        <p:nvSpPr>
          <p:cNvPr id="22" name="Shape 15">
            <a:extLst>
              <a:ext uri="{FF2B5EF4-FFF2-40B4-BE49-F238E27FC236}">
                <a16:creationId xmlns:a16="http://schemas.microsoft.com/office/drawing/2014/main" id="{264F1654-E1B7-BBBA-FFB8-ED58FEEC157C}"/>
              </a:ext>
            </a:extLst>
          </p:cNvPr>
          <p:cNvSpPr/>
          <p:nvPr/>
        </p:nvSpPr>
        <p:spPr>
          <a:xfrm>
            <a:off x="347291" y="3346592"/>
            <a:ext cx="1965960" cy="777240"/>
          </a:xfrm>
          <a:prstGeom prst="rect">
            <a:avLst/>
          </a:prstGeom>
          <a:solidFill>
            <a:srgbClr val="D56E48"/>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24" name="Text 17">
            <a:extLst>
              <a:ext uri="{FF2B5EF4-FFF2-40B4-BE49-F238E27FC236}">
                <a16:creationId xmlns:a16="http://schemas.microsoft.com/office/drawing/2014/main" id="{551D778F-1A91-D2BB-E744-7123E0A2298B}"/>
              </a:ext>
            </a:extLst>
          </p:cNvPr>
          <p:cNvSpPr/>
          <p:nvPr/>
        </p:nvSpPr>
        <p:spPr>
          <a:xfrm>
            <a:off x="347291" y="3346592"/>
            <a:ext cx="1965960" cy="777240"/>
          </a:xfrm>
          <a:prstGeom prst="rect">
            <a:avLst/>
          </a:prstGeom>
          <a:noFill/>
          <a:ln/>
        </p:spPr>
        <p:txBody>
          <a:bodyPr wrap="square" lIns="0" tIns="0" rIns="0" bIns="0" rtlCol="0" anchor="ctr"/>
          <a:lstStyle/>
          <a:p>
            <a:pPr marL="0" indent="0" algn="ctr">
              <a:buNone/>
            </a:pPr>
            <a:r>
              <a:rPr lang="en-US" sz="1400" dirty="0">
                <a:solidFill>
                  <a:schemeClr val="bg1"/>
                </a:solidFill>
                <a:latin typeface="Montserrat" panose="00000500000000000000" pitchFamily="2" charset="0"/>
                <a:ea typeface="Calibri" pitchFamily="34" charset="-122"/>
                <a:cs typeface="Calibri" pitchFamily="34" charset="-120"/>
              </a:rPr>
              <a:t>Or: loop back</a:t>
            </a:r>
            <a:endParaRPr lang="en-US" sz="1400" dirty="0">
              <a:solidFill>
                <a:schemeClr val="bg1"/>
              </a:solidFill>
              <a:latin typeface="Montserrat" panose="00000500000000000000" pitchFamily="2" charset="0"/>
            </a:endParaRPr>
          </a:p>
          <a:p>
            <a:pPr marL="0" indent="0" algn="ctr">
              <a:buNone/>
            </a:pPr>
            <a:r>
              <a:rPr lang="en-US" sz="1400" dirty="0">
                <a:solidFill>
                  <a:schemeClr val="bg1"/>
                </a:solidFill>
                <a:latin typeface="Montserrat" panose="00000500000000000000" pitchFamily="2" charset="0"/>
                <a:ea typeface="Calibri" pitchFamily="34" charset="-122"/>
                <a:cs typeface="Calibri" pitchFamily="34" charset="-120"/>
              </a:rPr>
              <a:t>for more searches</a:t>
            </a:r>
            <a:endParaRPr lang="en-US" sz="1400" dirty="0">
              <a:solidFill>
                <a:schemeClr val="bg1"/>
              </a:solidFill>
              <a:latin typeface="Montserrat" panose="00000500000000000000" pitchFamily="2" charset="0"/>
            </a:endParaRPr>
          </a:p>
        </p:txBody>
      </p:sp>
      <p:sp>
        <p:nvSpPr>
          <p:cNvPr id="25" name="Shape 18">
            <a:extLst>
              <a:ext uri="{FF2B5EF4-FFF2-40B4-BE49-F238E27FC236}">
                <a16:creationId xmlns:a16="http://schemas.microsoft.com/office/drawing/2014/main" id="{6760AB44-7FCB-0994-5921-C81A4188418B}"/>
              </a:ext>
            </a:extLst>
          </p:cNvPr>
          <p:cNvSpPr/>
          <p:nvPr/>
        </p:nvSpPr>
        <p:spPr>
          <a:xfrm>
            <a:off x="3192679" y="3331352"/>
            <a:ext cx="1965960" cy="777240"/>
          </a:xfrm>
          <a:prstGeom prst="rect">
            <a:avLst/>
          </a:prstGeom>
          <a:solidFill>
            <a:schemeClr val="bg1">
              <a:lumMod val="65000"/>
            </a:schemeClr>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26" name="Text 19">
            <a:extLst>
              <a:ext uri="{FF2B5EF4-FFF2-40B4-BE49-F238E27FC236}">
                <a16:creationId xmlns:a16="http://schemas.microsoft.com/office/drawing/2014/main" id="{C6F4EE02-A482-7C28-A0CF-0A9DB946FBC7}"/>
              </a:ext>
            </a:extLst>
          </p:cNvPr>
          <p:cNvSpPr/>
          <p:nvPr/>
        </p:nvSpPr>
        <p:spPr>
          <a:xfrm>
            <a:off x="3192679" y="3331352"/>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Response</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delivered to user</a:t>
            </a:r>
            <a:endParaRPr lang="en-US" sz="1400" dirty="0">
              <a:latin typeface="Montserrat" panose="00000500000000000000" pitchFamily="2" charset="0"/>
            </a:endParaRPr>
          </a:p>
        </p:txBody>
      </p:sp>
      <p:sp>
        <p:nvSpPr>
          <p:cNvPr id="28" name="Shape 21">
            <a:extLst>
              <a:ext uri="{FF2B5EF4-FFF2-40B4-BE49-F238E27FC236}">
                <a16:creationId xmlns:a16="http://schemas.microsoft.com/office/drawing/2014/main" id="{1ACC7BE3-604C-C220-376C-D2F31790106E}"/>
              </a:ext>
            </a:extLst>
          </p:cNvPr>
          <p:cNvSpPr/>
          <p:nvPr/>
        </p:nvSpPr>
        <p:spPr>
          <a:xfrm>
            <a:off x="5944609" y="3319736"/>
            <a:ext cx="1965960" cy="777240"/>
          </a:xfrm>
          <a:prstGeom prst="rect">
            <a:avLst/>
          </a:prstGeom>
          <a:solidFill>
            <a:srgbClr val="0C1752"/>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29" name="Text 22">
            <a:extLst>
              <a:ext uri="{FF2B5EF4-FFF2-40B4-BE49-F238E27FC236}">
                <a16:creationId xmlns:a16="http://schemas.microsoft.com/office/drawing/2014/main" id="{31AA08B8-1435-D707-7B48-3D6818422673}"/>
              </a:ext>
            </a:extLst>
          </p:cNvPr>
          <p:cNvSpPr/>
          <p:nvPr/>
        </p:nvSpPr>
        <p:spPr>
          <a:xfrm>
            <a:off x="5944609" y="3319736"/>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Agent synthesizes</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final answer</a:t>
            </a:r>
            <a:endParaRPr lang="en-US" sz="1400" dirty="0">
              <a:latin typeface="Montserrat" panose="00000500000000000000" pitchFamily="2" charset="0"/>
            </a:endParaRPr>
          </a:p>
        </p:txBody>
      </p:sp>
      <p:sp>
        <p:nvSpPr>
          <p:cNvPr id="31" name="Shape 24">
            <a:extLst>
              <a:ext uri="{FF2B5EF4-FFF2-40B4-BE49-F238E27FC236}">
                <a16:creationId xmlns:a16="http://schemas.microsoft.com/office/drawing/2014/main" id="{9C693759-4DA4-090D-CC7B-D9FC632258A4}"/>
              </a:ext>
            </a:extLst>
          </p:cNvPr>
          <p:cNvSpPr/>
          <p:nvPr/>
        </p:nvSpPr>
        <p:spPr>
          <a:xfrm>
            <a:off x="8895769" y="3319736"/>
            <a:ext cx="1965960" cy="777240"/>
          </a:xfrm>
          <a:prstGeom prst="rect">
            <a:avLst/>
          </a:prstGeom>
          <a:solidFill>
            <a:schemeClr val="accent1">
              <a:lumMod val="60000"/>
              <a:lumOff val="40000"/>
            </a:schemeClr>
          </a:solidFill>
          <a:ln/>
          <a:effectLst>
            <a:outerShdw blurRad="76200" dist="25400" dir="8100000" algn="bl" rotWithShape="0">
              <a:srgbClr val="000000">
                <a:alpha val="25000"/>
              </a:srgbClr>
            </a:outerShdw>
          </a:effectLst>
        </p:spPr>
        <p:txBody>
          <a:bodyPr/>
          <a:lstStyle/>
          <a:p>
            <a:endParaRPr lang="en-CA" sz="2400">
              <a:latin typeface="Montserrat" panose="00000500000000000000" pitchFamily="2" charset="0"/>
            </a:endParaRPr>
          </a:p>
        </p:txBody>
      </p:sp>
      <p:sp>
        <p:nvSpPr>
          <p:cNvPr id="32" name="Text 25">
            <a:extLst>
              <a:ext uri="{FF2B5EF4-FFF2-40B4-BE49-F238E27FC236}">
                <a16:creationId xmlns:a16="http://schemas.microsoft.com/office/drawing/2014/main" id="{6FCC1013-B178-06CB-5D54-68551758026E}"/>
              </a:ext>
            </a:extLst>
          </p:cNvPr>
          <p:cNvSpPr/>
          <p:nvPr/>
        </p:nvSpPr>
        <p:spPr>
          <a:xfrm>
            <a:off x="8895769" y="3319736"/>
            <a:ext cx="1965960" cy="777240"/>
          </a:xfrm>
          <a:prstGeom prst="rect">
            <a:avLst/>
          </a:prstGeom>
          <a:noFill/>
          <a:ln/>
        </p:spPr>
        <p:txBody>
          <a:bodyPr wrap="square" lIns="0" tIns="0" rIns="0" bIns="0" rtlCol="0" anchor="ctr"/>
          <a:lstStyle/>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Search results</a:t>
            </a:r>
            <a:endParaRPr lang="en-US" sz="1400" dirty="0">
              <a:latin typeface="Montserrat" panose="00000500000000000000" pitchFamily="2" charset="0"/>
            </a:endParaRPr>
          </a:p>
          <a:p>
            <a:pPr marL="0" indent="0" algn="ctr">
              <a:buNone/>
            </a:pPr>
            <a:r>
              <a:rPr lang="en-US" sz="1400" dirty="0">
                <a:solidFill>
                  <a:srgbClr val="FFFFFF"/>
                </a:solidFill>
                <a:latin typeface="Montserrat" panose="00000500000000000000" pitchFamily="2" charset="0"/>
                <a:ea typeface="Calibri" pitchFamily="34" charset="-122"/>
                <a:cs typeface="Calibri" pitchFamily="34" charset="-120"/>
              </a:rPr>
              <a:t>returned to agent</a:t>
            </a:r>
            <a:endParaRPr lang="en-US" sz="1400" dirty="0">
              <a:latin typeface="Montserrat" panose="00000500000000000000" pitchFamily="2" charset="0"/>
            </a:endParaRPr>
          </a:p>
        </p:txBody>
      </p:sp>
      <p:sp>
        <p:nvSpPr>
          <p:cNvPr id="33" name="Arrow: Right 32">
            <a:extLst>
              <a:ext uri="{FF2B5EF4-FFF2-40B4-BE49-F238E27FC236}">
                <a16:creationId xmlns:a16="http://schemas.microsoft.com/office/drawing/2014/main" id="{63F10D54-7A83-ECFB-D50F-5B3123ED9FA7}"/>
              </a:ext>
            </a:extLst>
          </p:cNvPr>
          <p:cNvSpPr/>
          <p:nvPr/>
        </p:nvSpPr>
        <p:spPr>
          <a:xfrm>
            <a:off x="2552658" y="2026363"/>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Arrow: Right 33">
            <a:extLst>
              <a:ext uri="{FF2B5EF4-FFF2-40B4-BE49-F238E27FC236}">
                <a16:creationId xmlns:a16="http://schemas.microsoft.com/office/drawing/2014/main" id="{1D9152DF-4BE9-1505-B5A8-4FD26BF83845}"/>
              </a:ext>
            </a:extLst>
          </p:cNvPr>
          <p:cNvSpPr/>
          <p:nvPr/>
        </p:nvSpPr>
        <p:spPr>
          <a:xfrm>
            <a:off x="5277073" y="2026363"/>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Arrow: Right 34">
            <a:extLst>
              <a:ext uri="{FF2B5EF4-FFF2-40B4-BE49-F238E27FC236}">
                <a16:creationId xmlns:a16="http://schemas.microsoft.com/office/drawing/2014/main" id="{861A969D-CAA3-0E8E-7FC6-CC881D3914D6}"/>
              </a:ext>
            </a:extLst>
          </p:cNvPr>
          <p:cNvSpPr/>
          <p:nvPr/>
        </p:nvSpPr>
        <p:spPr>
          <a:xfrm>
            <a:off x="8125852" y="2041603"/>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Right 35">
            <a:extLst>
              <a:ext uri="{FF2B5EF4-FFF2-40B4-BE49-F238E27FC236}">
                <a16:creationId xmlns:a16="http://schemas.microsoft.com/office/drawing/2014/main" id="{174CEFC0-CBAA-0305-7E8E-5DC08C18C14F}"/>
              </a:ext>
            </a:extLst>
          </p:cNvPr>
          <p:cNvSpPr/>
          <p:nvPr/>
        </p:nvSpPr>
        <p:spPr>
          <a:xfrm rot="10800000">
            <a:off x="8090546" y="3463831"/>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Arrow: Right 36">
            <a:extLst>
              <a:ext uri="{FF2B5EF4-FFF2-40B4-BE49-F238E27FC236}">
                <a16:creationId xmlns:a16="http://schemas.microsoft.com/office/drawing/2014/main" id="{0BAF9909-03EE-D24A-DF33-FD2863E9976F}"/>
              </a:ext>
            </a:extLst>
          </p:cNvPr>
          <p:cNvSpPr/>
          <p:nvPr/>
        </p:nvSpPr>
        <p:spPr>
          <a:xfrm rot="10800000">
            <a:off x="5252489" y="3511892"/>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Arrow: Right 37">
            <a:extLst>
              <a:ext uri="{FF2B5EF4-FFF2-40B4-BE49-F238E27FC236}">
                <a16:creationId xmlns:a16="http://schemas.microsoft.com/office/drawing/2014/main" id="{4849B882-B9BE-522F-E2DB-08539ACB7847}"/>
              </a:ext>
            </a:extLst>
          </p:cNvPr>
          <p:cNvSpPr/>
          <p:nvPr/>
        </p:nvSpPr>
        <p:spPr>
          <a:xfrm rot="10800000">
            <a:off x="2489547" y="3571196"/>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Arrow: Right 38">
            <a:extLst>
              <a:ext uri="{FF2B5EF4-FFF2-40B4-BE49-F238E27FC236}">
                <a16:creationId xmlns:a16="http://schemas.microsoft.com/office/drawing/2014/main" id="{6C3DD274-7ACD-E611-CFD7-22A400F986BB}"/>
              </a:ext>
            </a:extLst>
          </p:cNvPr>
          <p:cNvSpPr/>
          <p:nvPr/>
        </p:nvSpPr>
        <p:spPr>
          <a:xfrm rot="5400000">
            <a:off x="9622677" y="2812234"/>
            <a:ext cx="512143" cy="274320"/>
          </a:xfrm>
          <a:prstGeom prst="rightArrow">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58548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1" grpId="0" animBg="1"/>
      <p:bldP spid="12" grpId="0" animBg="1"/>
      <p:bldP spid="15" grpId="0" animBg="1"/>
      <p:bldP spid="16" grpId="0" animBg="1"/>
      <p:bldP spid="19" grpId="0" animBg="1"/>
      <p:bldP spid="20" grpId="0" animBg="1"/>
      <p:bldP spid="22" grpId="0" animBg="1"/>
      <p:bldP spid="24" grpId="0" animBg="1"/>
      <p:bldP spid="25" grpId="0" animBg="1"/>
      <p:bldP spid="26"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6C87-0D6D-3762-18F7-2409C129D4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B61BE45-87CA-E2F2-C5CD-C7484FC79693}"/>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99015C3-C505-3603-195A-9279C82CD02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9789C1C9-519F-4CC7-DE96-22A7B9FDFEB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OpenAI Agent Builder</a:t>
            </a:r>
          </a:p>
        </p:txBody>
      </p:sp>
      <p:sp>
        <p:nvSpPr>
          <p:cNvPr id="9" name="TextBox 8">
            <a:extLst>
              <a:ext uri="{FF2B5EF4-FFF2-40B4-BE49-F238E27FC236}">
                <a16:creationId xmlns:a16="http://schemas.microsoft.com/office/drawing/2014/main" id="{D62EC9DE-536D-3533-E501-E1BB8509A21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FD3EBC2E-6563-DC5A-F709-8783C2A02E31}"/>
              </a:ext>
            </a:extLst>
          </p:cNvPr>
          <p:cNvSpPr txBox="1">
            <a:spLocks/>
          </p:cNvSpPr>
          <p:nvPr/>
        </p:nvSpPr>
        <p:spPr>
          <a:xfrm>
            <a:off x="154720" y="972462"/>
            <a:ext cx="11903977"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1700" dirty="0"/>
              <a:t>The Agent builder by OpenAI allows you to build workflows visually with drag-and-drop nodes, versioning, and guardrails. Use templates or start from a blank canvas.</a:t>
            </a:r>
          </a:p>
          <a:p>
            <a:pPr>
              <a:lnSpc>
                <a:spcPct val="100000"/>
              </a:lnSpc>
            </a:pPr>
            <a:endParaRPr lang="en-US" sz="1700" dirty="0"/>
          </a:p>
        </p:txBody>
      </p:sp>
      <p:graphicFrame>
        <p:nvGraphicFramePr>
          <p:cNvPr id="14" name="Diagram 13">
            <a:extLst>
              <a:ext uri="{FF2B5EF4-FFF2-40B4-BE49-F238E27FC236}">
                <a16:creationId xmlns:a16="http://schemas.microsoft.com/office/drawing/2014/main" id="{66FCF358-9068-0334-CF91-BB4843D03E10}"/>
              </a:ext>
            </a:extLst>
          </p:cNvPr>
          <p:cNvGraphicFramePr/>
          <p:nvPr/>
        </p:nvGraphicFramePr>
        <p:xfrm>
          <a:off x="1279077" y="2424996"/>
          <a:ext cx="9531350" cy="43741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26" name="Picture 2" descr="OpenAI staffers reportedly 'taken aback' by 'ominous' logo ...">
            <a:extLst>
              <a:ext uri="{FF2B5EF4-FFF2-40B4-BE49-F238E27FC236}">
                <a16:creationId xmlns:a16="http://schemas.microsoft.com/office/drawing/2014/main" id="{B15CA5EA-D3E3-1DDB-AD71-BE044DDBDCC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28194" r="1143" b="28472"/>
          <a:stretch>
            <a:fillRect/>
          </a:stretch>
        </p:blipFill>
        <p:spPr bwMode="auto">
          <a:xfrm>
            <a:off x="2571640" y="1690538"/>
            <a:ext cx="2516187" cy="68914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30DEF03-DF7D-FE29-B9DA-B56EB4FF1987}"/>
              </a:ext>
            </a:extLst>
          </p:cNvPr>
          <p:cNvPicPr>
            <a:picLocks noChangeAspect="1"/>
          </p:cNvPicPr>
          <p:nvPr/>
        </p:nvPicPr>
        <p:blipFill>
          <a:blip r:embed="rId10">
            <a:clrChange>
              <a:clrFrom>
                <a:srgbClr val="DFDFDF"/>
              </a:clrFrom>
              <a:clrTo>
                <a:srgbClr val="DFDFDF">
                  <a:alpha val="0"/>
                </a:srgbClr>
              </a:clrTo>
            </a:clrChange>
          </a:blip>
          <a:stretch>
            <a:fillRect/>
          </a:stretch>
        </p:blipFill>
        <p:spPr>
          <a:xfrm>
            <a:off x="5769091" y="1588705"/>
            <a:ext cx="3940097" cy="727574"/>
          </a:xfrm>
          <a:prstGeom prst="rect">
            <a:avLst/>
          </a:prstGeom>
        </p:spPr>
      </p:pic>
    </p:spTree>
    <p:extLst>
      <p:ext uri="{BB962C8B-B14F-4D97-AF65-F5344CB8AC3E}">
        <p14:creationId xmlns:p14="http://schemas.microsoft.com/office/powerpoint/2010/main" val="132623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D5CC-3D84-F58A-B5D3-81CD4D7D2E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EEA4C1-4FF8-DB17-DAA1-69F7CC2D2065}"/>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CB3E673B-839C-5538-6B8E-976925F79CA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96DABAB-A29B-E0F9-C9AC-E08A03A4AC36}"/>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Build Researcher Agent (Augmented LLM)</a:t>
            </a:r>
          </a:p>
        </p:txBody>
      </p:sp>
      <p:sp>
        <p:nvSpPr>
          <p:cNvPr id="9" name="TextBox 8">
            <a:extLst>
              <a:ext uri="{FF2B5EF4-FFF2-40B4-BE49-F238E27FC236}">
                <a16:creationId xmlns:a16="http://schemas.microsoft.com/office/drawing/2014/main" id="{ABBA6915-7BDD-B3CD-B3DC-C9486AFB07B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4" name="Picture 3">
            <a:extLst>
              <a:ext uri="{FF2B5EF4-FFF2-40B4-BE49-F238E27FC236}">
                <a16:creationId xmlns:a16="http://schemas.microsoft.com/office/drawing/2014/main" id="{DDB7EB24-66AA-B5CE-066F-B669E171518F}"/>
              </a:ext>
            </a:extLst>
          </p:cNvPr>
          <p:cNvPicPr>
            <a:picLocks noChangeAspect="1"/>
          </p:cNvPicPr>
          <p:nvPr/>
        </p:nvPicPr>
        <p:blipFill>
          <a:blip r:embed="rId4"/>
          <a:stretch>
            <a:fillRect/>
          </a:stretch>
        </p:blipFill>
        <p:spPr>
          <a:xfrm>
            <a:off x="1437097" y="1534011"/>
            <a:ext cx="8217788" cy="4837256"/>
          </a:xfrm>
          <a:prstGeom prst="rect">
            <a:avLst/>
          </a:prstGeom>
        </p:spPr>
      </p:pic>
      <p:sp>
        <p:nvSpPr>
          <p:cNvPr id="10" name="TextBox 9">
            <a:extLst>
              <a:ext uri="{FF2B5EF4-FFF2-40B4-BE49-F238E27FC236}">
                <a16:creationId xmlns:a16="http://schemas.microsoft.com/office/drawing/2014/main" id="{88281FB5-251A-EFA4-6B66-533F3C639192}"/>
              </a:ext>
            </a:extLst>
          </p:cNvPr>
          <p:cNvSpPr txBox="1"/>
          <p:nvPr/>
        </p:nvSpPr>
        <p:spPr>
          <a:xfrm>
            <a:off x="2058131" y="907669"/>
            <a:ext cx="8696772" cy="1015663"/>
          </a:xfrm>
          <a:prstGeom prst="rect">
            <a:avLst/>
          </a:prstGeom>
          <a:noFill/>
        </p:spPr>
        <p:txBody>
          <a:bodyPr wrap="square">
            <a:spAutoFit/>
          </a:bodyPr>
          <a:lstStyle/>
          <a:p>
            <a:r>
              <a:rPr lang="en-CA" sz="2000" b="1" dirty="0">
                <a:latin typeface="Montserrat" panose="00000500000000000000" pitchFamily="2" charset="0"/>
              </a:rPr>
              <a:t>Link to OpenAI API Platform: </a:t>
            </a:r>
            <a:r>
              <a:rPr lang="en-CA" sz="2000" dirty="0">
                <a:latin typeface="Montserrat" panose="00000500000000000000" pitchFamily="2" charset="0"/>
                <a:hlinkClick r:id="rId5"/>
              </a:rPr>
              <a:t>https://openai.com/api/</a:t>
            </a:r>
            <a:endParaRPr lang="en-CA" sz="2000" dirty="0">
              <a:latin typeface="Montserrat" panose="00000500000000000000" pitchFamily="2" charset="0"/>
            </a:endParaRPr>
          </a:p>
          <a:p>
            <a:endParaRPr lang="en-CA" sz="2000" dirty="0">
              <a:latin typeface="Montserrat" panose="00000500000000000000" pitchFamily="2" charset="0"/>
            </a:endParaRPr>
          </a:p>
          <a:p>
            <a:endParaRPr lang="en-CA" sz="2000" dirty="0">
              <a:latin typeface="Montserrat" panose="00000500000000000000" pitchFamily="2" charset="0"/>
            </a:endParaRPr>
          </a:p>
        </p:txBody>
      </p:sp>
    </p:spTree>
    <p:extLst>
      <p:ext uri="{BB962C8B-B14F-4D97-AF65-F5344CB8AC3E}">
        <p14:creationId xmlns:p14="http://schemas.microsoft.com/office/powerpoint/2010/main" val="1194711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08FA4-92A0-EAF1-845A-8DB94FF38C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6F5DE1-0EA8-25B5-9481-C40FDD4D2C68}"/>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096D5CE5-F042-6623-5E0E-D1B62E43CE96}"/>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95606041-D5DF-6DA0-E41A-47118CC673A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Build Researcher Agent (Augmented LLM)</a:t>
            </a:r>
          </a:p>
        </p:txBody>
      </p:sp>
      <p:sp>
        <p:nvSpPr>
          <p:cNvPr id="9" name="TextBox 8">
            <a:extLst>
              <a:ext uri="{FF2B5EF4-FFF2-40B4-BE49-F238E27FC236}">
                <a16:creationId xmlns:a16="http://schemas.microsoft.com/office/drawing/2014/main" id="{B76843B8-6539-0E30-8E29-64823334153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6517835C-5A84-8766-4208-8815D59CCD32}"/>
              </a:ext>
            </a:extLst>
          </p:cNvPr>
          <p:cNvPicPr>
            <a:picLocks noChangeAspect="1"/>
          </p:cNvPicPr>
          <p:nvPr/>
        </p:nvPicPr>
        <p:blipFill>
          <a:blip r:embed="rId4"/>
          <a:stretch>
            <a:fillRect/>
          </a:stretch>
        </p:blipFill>
        <p:spPr>
          <a:xfrm>
            <a:off x="241779" y="1015430"/>
            <a:ext cx="6921022" cy="3969890"/>
          </a:xfrm>
          <a:prstGeom prst="rect">
            <a:avLst/>
          </a:prstGeom>
        </p:spPr>
      </p:pic>
      <p:pic>
        <p:nvPicPr>
          <p:cNvPr id="11" name="Picture 10">
            <a:extLst>
              <a:ext uri="{FF2B5EF4-FFF2-40B4-BE49-F238E27FC236}">
                <a16:creationId xmlns:a16="http://schemas.microsoft.com/office/drawing/2014/main" id="{3B088DFF-2ABD-7D33-B732-4CD7F17EB9A8}"/>
              </a:ext>
            </a:extLst>
          </p:cNvPr>
          <p:cNvPicPr>
            <a:picLocks noChangeAspect="1"/>
          </p:cNvPicPr>
          <p:nvPr/>
        </p:nvPicPr>
        <p:blipFill>
          <a:blip r:embed="rId5"/>
          <a:stretch>
            <a:fillRect/>
          </a:stretch>
        </p:blipFill>
        <p:spPr>
          <a:xfrm>
            <a:off x="3943951" y="2770445"/>
            <a:ext cx="6437699" cy="3697030"/>
          </a:xfrm>
          <a:prstGeom prst="rect">
            <a:avLst/>
          </a:prstGeom>
        </p:spPr>
      </p:pic>
    </p:spTree>
    <p:extLst>
      <p:ext uri="{BB962C8B-B14F-4D97-AF65-F5344CB8AC3E}">
        <p14:creationId xmlns:p14="http://schemas.microsoft.com/office/powerpoint/2010/main" val="3844941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E1BD9-93F2-B7B4-FBC7-26EA7C4451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B88E4E-CB6E-A204-A713-24857CF861D9}"/>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061D9828-DC1C-7505-B873-65FC7B94589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60281DD-C235-8FFC-B4FA-D94B58DD25AB}"/>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Build Researcher Agent (Augmented LLM)</a:t>
            </a:r>
          </a:p>
        </p:txBody>
      </p:sp>
      <p:sp>
        <p:nvSpPr>
          <p:cNvPr id="9" name="TextBox 8">
            <a:extLst>
              <a:ext uri="{FF2B5EF4-FFF2-40B4-BE49-F238E27FC236}">
                <a16:creationId xmlns:a16="http://schemas.microsoft.com/office/drawing/2014/main" id="{7AE1BC9F-CCB6-7EDF-2D40-DCCA2E6032A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4" name="Picture 3">
            <a:extLst>
              <a:ext uri="{FF2B5EF4-FFF2-40B4-BE49-F238E27FC236}">
                <a16:creationId xmlns:a16="http://schemas.microsoft.com/office/drawing/2014/main" id="{952646C9-FE1B-3F29-CCD8-B64B81270843}"/>
              </a:ext>
            </a:extLst>
          </p:cNvPr>
          <p:cNvPicPr>
            <a:picLocks noChangeAspect="1"/>
          </p:cNvPicPr>
          <p:nvPr/>
        </p:nvPicPr>
        <p:blipFill>
          <a:blip r:embed="rId4"/>
          <a:stretch>
            <a:fillRect/>
          </a:stretch>
        </p:blipFill>
        <p:spPr>
          <a:xfrm>
            <a:off x="276225" y="999529"/>
            <a:ext cx="6557088" cy="3620095"/>
          </a:xfrm>
          <a:prstGeom prst="rect">
            <a:avLst/>
          </a:prstGeom>
        </p:spPr>
      </p:pic>
      <p:pic>
        <p:nvPicPr>
          <p:cNvPr id="10" name="Picture 9">
            <a:extLst>
              <a:ext uri="{FF2B5EF4-FFF2-40B4-BE49-F238E27FC236}">
                <a16:creationId xmlns:a16="http://schemas.microsoft.com/office/drawing/2014/main" id="{1429D37C-277F-9FDB-BB00-03B103F4B64B}"/>
              </a:ext>
            </a:extLst>
          </p:cNvPr>
          <p:cNvPicPr>
            <a:picLocks noChangeAspect="1"/>
          </p:cNvPicPr>
          <p:nvPr/>
        </p:nvPicPr>
        <p:blipFill>
          <a:blip r:embed="rId5"/>
          <a:stretch>
            <a:fillRect/>
          </a:stretch>
        </p:blipFill>
        <p:spPr>
          <a:xfrm>
            <a:off x="4772025" y="2809576"/>
            <a:ext cx="6953250" cy="3802790"/>
          </a:xfrm>
          <a:prstGeom prst="rect">
            <a:avLst/>
          </a:prstGeom>
        </p:spPr>
      </p:pic>
    </p:spTree>
    <p:extLst>
      <p:ext uri="{BB962C8B-B14F-4D97-AF65-F5344CB8AC3E}">
        <p14:creationId xmlns:p14="http://schemas.microsoft.com/office/powerpoint/2010/main" val="2648081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116AD-0E6D-9824-0500-463FB0DCED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AA7E46-2F9F-4981-F856-153F445ACD27}"/>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B9A0193D-9246-C26E-BFEB-B578C4B4F5D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D9A8B5F-45B6-2C06-2DD3-7EA73C47817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Build Researcher Agent (Augmented LLM)</a:t>
            </a:r>
          </a:p>
        </p:txBody>
      </p:sp>
      <p:sp>
        <p:nvSpPr>
          <p:cNvPr id="9" name="TextBox 8">
            <a:extLst>
              <a:ext uri="{FF2B5EF4-FFF2-40B4-BE49-F238E27FC236}">
                <a16:creationId xmlns:a16="http://schemas.microsoft.com/office/drawing/2014/main" id="{855C14E2-1877-260B-681F-EC99A37E6E0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D1E2451D-35AF-B6A6-3CDC-1E152C5A2D0F}"/>
              </a:ext>
            </a:extLst>
          </p:cNvPr>
          <p:cNvPicPr>
            <a:picLocks noChangeAspect="1"/>
          </p:cNvPicPr>
          <p:nvPr/>
        </p:nvPicPr>
        <p:blipFill>
          <a:blip r:embed="rId4"/>
          <a:srcRect l="14812" t="12653"/>
          <a:stretch>
            <a:fillRect/>
          </a:stretch>
        </p:blipFill>
        <p:spPr>
          <a:xfrm>
            <a:off x="228600" y="776585"/>
            <a:ext cx="6395883" cy="3539101"/>
          </a:xfrm>
          <a:prstGeom prst="rect">
            <a:avLst/>
          </a:prstGeom>
        </p:spPr>
      </p:pic>
      <p:pic>
        <p:nvPicPr>
          <p:cNvPr id="11" name="Picture 10">
            <a:extLst>
              <a:ext uri="{FF2B5EF4-FFF2-40B4-BE49-F238E27FC236}">
                <a16:creationId xmlns:a16="http://schemas.microsoft.com/office/drawing/2014/main" id="{DBE0FF83-6970-0A95-66B6-4D28CDA3EF1C}"/>
              </a:ext>
            </a:extLst>
          </p:cNvPr>
          <p:cNvPicPr>
            <a:picLocks noChangeAspect="1"/>
          </p:cNvPicPr>
          <p:nvPr/>
        </p:nvPicPr>
        <p:blipFill>
          <a:blip r:embed="rId5"/>
          <a:stretch>
            <a:fillRect/>
          </a:stretch>
        </p:blipFill>
        <p:spPr>
          <a:xfrm>
            <a:off x="5207280" y="3224413"/>
            <a:ext cx="5813145" cy="3331165"/>
          </a:xfrm>
          <a:prstGeom prst="rect">
            <a:avLst/>
          </a:prstGeom>
        </p:spPr>
      </p:pic>
    </p:spTree>
    <p:extLst>
      <p:ext uri="{BB962C8B-B14F-4D97-AF65-F5344CB8AC3E}">
        <p14:creationId xmlns:p14="http://schemas.microsoft.com/office/powerpoint/2010/main" val="658064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1548-DCE1-50EC-E70C-3DC5B27637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5965C1-70CB-52FD-0DB9-15770392442D}"/>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FB34B8C3-2067-50FF-F1D8-3E3BA246818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70E94DB-B15D-B77D-C6BC-393F1E29DCED}"/>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1. Build Researcher Agent (Augmented LLM)</a:t>
            </a:r>
          </a:p>
        </p:txBody>
      </p:sp>
      <p:sp>
        <p:nvSpPr>
          <p:cNvPr id="9" name="TextBox 8">
            <a:extLst>
              <a:ext uri="{FF2B5EF4-FFF2-40B4-BE49-F238E27FC236}">
                <a16:creationId xmlns:a16="http://schemas.microsoft.com/office/drawing/2014/main" id="{0BCD13F2-C5CA-21A8-B4FB-55A5B937BD19}"/>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4" name="Picture 3">
            <a:extLst>
              <a:ext uri="{FF2B5EF4-FFF2-40B4-BE49-F238E27FC236}">
                <a16:creationId xmlns:a16="http://schemas.microsoft.com/office/drawing/2014/main" id="{5A1BB764-9CA9-D7EB-28A9-96AEB690B7BF}"/>
              </a:ext>
            </a:extLst>
          </p:cNvPr>
          <p:cNvPicPr>
            <a:picLocks noChangeAspect="1"/>
          </p:cNvPicPr>
          <p:nvPr/>
        </p:nvPicPr>
        <p:blipFill>
          <a:blip r:embed="rId4"/>
          <a:stretch>
            <a:fillRect/>
          </a:stretch>
        </p:blipFill>
        <p:spPr>
          <a:xfrm>
            <a:off x="154721" y="813626"/>
            <a:ext cx="7324725" cy="3916693"/>
          </a:xfrm>
          <a:prstGeom prst="rect">
            <a:avLst/>
          </a:prstGeom>
        </p:spPr>
      </p:pic>
      <p:pic>
        <p:nvPicPr>
          <p:cNvPr id="10" name="Picture 9">
            <a:extLst>
              <a:ext uri="{FF2B5EF4-FFF2-40B4-BE49-F238E27FC236}">
                <a16:creationId xmlns:a16="http://schemas.microsoft.com/office/drawing/2014/main" id="{2B2A950E-93CC-4475-7F4E-CCA5E0548484}"/>
              </a:ext>
            </a:extLst>
          </p:cNvPr>
          <p:cNvPicPr>
            <a:picLocks noChangeAspect="1"/>
          </p:cNvPicPr>
          <p:nvPr/>
        </p:nvPicPr>
        <p:blipFill>
          <a:blip r:embed="rId5"/>
          <a:stretch>
            <a:fillRect/>
          </a:stretch>
        </p:blipFill>
        <p:spPr>
          <a:xfrm>
            <a:off x="4495576" y="2604892"/>
            <a:ext cx="7391400" cy="4050082"/>
          </a:xfrm>
          <a:prstGeom prst="rect">
            <a:avLst/>
          </a:prstGeom>
        </p:spPr>
      </p:pic>
    </p:spTree>
    <p:extLst>
      <p:ext uri="{BB962C8B-B14F-4D97-AF65-F5344CB8AC3E}">
        <p14:creationId xmlns:p14="http://schemas.microsoft.com/office/powerpoint/2010/main" val="2706250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E3D0-2602-A23C-AE60-64E10FD8E4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7043A7-701A-8102-61F5-7562D52905D6}"/>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C15FE532-372E-F1EA-CB5A-EC947591212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BF75886-8B5A-0433-B9D0-259A7038EA66}"/>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Build an Augmented LLM</a:t>
            </a:r>
          </a:p>
        </p:txBody>
      </p:sp>
      <p:sp>
        <p:nvSpPr>
          <p:cNvPr id="9" name="TextBox 8">
            <a:extLst>
              <a:ext uri="{FF2B5EF4-FFF2-40B4-BE49-F238E27FC236}">
                <a16:creationId xmlns:a16="http://schemas.microsoft.com/office/drawing/2014/main" id="{667A626E-0254-AD1A-1AC8-8F04CFD5D66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2" name="Picture 1">
            <a:extLst>
              <a:ext uri="{FF2B5EF4-FFF2-40B4-BE49-F238E27FC236}">
                <a16:creationId xmlns:a16="http://schemas.microsoft.com/office/drawing/2014/main" id="{09803A7D-6671-D99D-295B-69143C823A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sp>
        <p:nvSpPr>
          <p:cNvPr id="8" name="TextBox 7">
            <a:extLst>
              <a:ext uri="{FF2B5EF4-FFF2-40B4-BE49-F238E27FC236}">
                <a16:creationId xmlns:a16="http://schemas.microsoft.com/office/drawing/2014/main" id="{12F7ADD7-2B0A-6261-4B29-F8DFC9511202}"/>
              </a:ext>
            </a:extLst>
          </p:cNvPr>
          <p:cNvSpPr txBox="1"/>
          <p:nvPr/>
        </p:nvSpPr>
        <p:spPr>
          <a:xfrm>
            <a:off x="242888" y="1020366"/>
            <a:ext cx="8977312" cy="3908762"/>
          </a:xfrm>
          <a:prstGeom prst="rect">
            <a:avLst/>
          </a:prstGeom>
          <a:noFill/>
        </p:spPr>
        <p:txBody>
          <a:bodyPr wrap="square">
            <a:spAutoFit/>
          </a:bodyPr>
          <a:lstStyle/>
          <a:p>
            <a:r>
              <a:rPr lang="en-CA" sz="1600" dirty="0">
                <a:latin typeface="Montserrat" panose="00000500000000000000" pitchFamily="2" charset="0"/>
              </a:rPr>
              <a:t>Hannah is an immigration lawyer who handles 30+ cases a month. Before each client meeting, she manually searches for: recent policy changes from USCIS, new court precedents from immigration courts, any news about the specific visa category the client is applying for. This takes 45 minutes per client prep. She has 8 client meetings per week.</a:t>
            </a:r>
          </a:p>
          <a:p>
            <a:endParaRPr lang="en-CA" sz="1600" dirty="0">
              <a:latin typeface="Montserrat" panose="00000500000000000000" pitchFamily="2" charset="0"/>
            </a:endParaRPr>
          </a:p>
          <a:p>
            <a:r>
              <a:rPr lang="en-CA" sz="1600" b="1" dirty="0">
                <a:latin typeface="Montserrat" panose="00000500000000000000" pitchFamily="2" charset="0"/>
              </a:rPr>
              <a:t>Your task: </a:t>
            </a:r>
            <a:r>
              <a:rPr lang="en-CA" sz="1600" dirty="0">
                <a:latin typeface="Montserrat" panose="00000500000000000000" pitchFamily="2" charset="0"/>
              </a:rPr>
              <a:t>Using the Augmented LLM pattern, design a research agent for her. Answer these three questions:</a:t>
            </a:r>
          </a:p>
          <a:p>
            <a:endParaRPr lang="en-CA" sz="1600" dirty="0">
              <a:latin typeface="Montserrat" panose="00000500000000000000" pitchFamily="2" charset="0"/>
            </a:endParaRPr>
          </a:p>
          <a:p>
            <a:pPr marL="342900" indent="-342900">
              <a:buAutoNum type="arabicPeriod"/>
            </a:pPr>
            <a:r>
              <a:rPr lang="en-CA" sz="1600" dirty="0">
                <a:latin typeface="Montserrat" panose="00000500000000000000" pitchFamily="2" charset="0"/>
              </a:rPr>
              <a:t>What tools does the agent need?</a:t>
            </a:r>
          </a:p>
          <a:p>
            <a:pPr marL="342900" indent="-342900">
              <a:buAutoNum type="arabicPeriod"/>
            </a:pPr>
            <a:r>
              <a:rPr lang="en-CA" sz="1600" dirty="0">
                <a:latin typeface="Montserrat" panose="00000500000000000000" pitchFamily="2" charset="0"/>
              </a:rPr>
              <a:t>Write the full 4-section prompt: Context, Instruction, Input, Output for this agent.</a:t>
            </a:r>
          </a:p>
          <a:p>
            <a:pPr marL="342900" indent="-342900">
              <a:buAutoNum type="arabicPeriod"/>
            </a:pPr>
            <a:r>
              <a:rPr lang="en-CA" sz="1600" dirty="0">
                <a:latin typeface="Montserrat" panose="00000500000000000000" pitchFamily="2" charset="0"/>
              </a:rPr>
              <a:t>Test the Agent using a query: “</a:t>
            </a:r>
            <a:r>
              <a:rPr lang="en-US" sz="1600" i="1" dirty="0">
                <a:latin typeface="Montserrat" panose="00000500000000000000" pitchFamily="2" charset="0"/>
              </a:rPr>
              <a:t>My client is applying for an H-1B visa. She's a software engineer from India with a master's degree from a U.S. university. Are there any recent USCIS policy changes I should know about before our meeting Thursday?</a:t>
            </a:r>
            <a:r>
              <a:rPr lang="en-CA" sz="1600" dirty="0">
                <a:latin typeface="Montserrat" panose="00000500000000000000" pitchFamily="2" charset="0"/>
              </a:rPr>
              <a:t>”</a:t>
            </a:r>
          </a:p>
        </p:txBody>
      </p:sp>
    </p:spTree>
    <p:extLst>
      <p:ext uri="{BB962C8B-B14F-4D97-AF65-F5344CB8AC3E}">
        <p14:creationId xmlns:p14="http://schemas.microsoft.com/office/powerpoint/2010/main" val="3906357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B917-44AB-19E9-8F5B-B4AE89FBB5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BD6771-38D2-CA48-CD9E-9C31360DD950}"/>
              </a:ext>
            </a:extLst>
          </p:cNvPr>
          <p:cNvPicPr>
            <a:picLocks noChangeAspect="1"/>
          </p:cNvPicPr>
          <p:nvPr/>
        </p:nvPicPr>
        <p:blipFill>
          <a:blip r:embed="rId2"/>
          <a:stretch>
            <a:fillRect/>
          </a:stretch>
        </p:blipFill>
        <p:spPr>
          <a:xfrm>
            <a:off x="758" y="0"/>
            <a:ext cx="12224773" cy="6858000"/>
          </a:xfrm>
          <a:prstGeom prst="rect">
            <a:avLst/>
          </a:prstGeom>
        </p:spPr>
      </p:pic>
      <p:pic>
        <p:nvPicPr>
          <p:cNvPr id="6" name="Picture 5">
            <a:extLst>
              <a:ext uri="{FF2B5EF4-FFF2-40B4-BE49-F238E27FC236}">
                <a16:creationId xmlns:a16="http://schemas.microsoft.com/office/drawing/2014/main" id="{3FF21A6E-1FB2-9861-5146-C8033CB4083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74660AE-869D-7263-8DA4-D0B60B7CE91E}"/>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B7C871F-F1E8-ED51-3F34-6550FE0D9E6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2" name="Picture 1">
            <a:extLst>
              <a:ext uri="{FF2B5EF4-FFF2-40B4-BE49-F238E27FC236}">
                <a16:creationId xmlns:a16="http://schemas.microsoft.com/office/drawing/2014/main" id="{30729F76-FBA7-CE3B-750A-BA990E82F7E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sp>
        <p:nvSpPr>
          <p:cNvPr id="8" name="TextBox 7">
            <a:extLst>
              <a:ext uri="{FF2B5EF4-FFF2-40B4-BE49-F238E27FC236}">
                <a16:creationId xmlns:a16="http://schemas.microsoft.com/office/drawing/2014/main" id="{20707A3E-FC90-BD1E-323B-63616B4F4CE9}"/>
              </a:ext>
            </a:extLst>
          </p:cNvPr>
          <p:cNvSpPr txBox="1"/>
          <p:nvPr/>
        </p:nvSpPr>
        <p:spPr>
          <a:xfrm>
            <a:off x="154721" y="834831"/>
            <a:ext cx="9053512" cy="5170646"/>
          </a:xfrm>
          <a:prstGeom prst="rect">
            <a:avLst/>
          </a:prstGeom>
          <a:noFill/>
        </p:spPr>
        <p:txBody>
          <a:bodyPr wrap="square">
            <a:spAutoFit/>
          </a:bodyPr>
          <a:lstStyle/>
          <a:p>
            <a:r>
              <a:rPr lang="en-US" sz="1100" b="1" dirty="0">
                <a:latin typeface="Montserrat" panose="00000500000000000000" pitchFamily="2" charset="0"/>
              </a:rPr>
              <a:t>## Context</a:t>
            </a:r>
          </a:p>
          <a:p>
            <a:r>
              <a:rPr lang="en-US" sz="1100" dirty="0">
                <a:latin typeface="Montserrat" panose="00000500000000000000" pitchFamily="2" charset="0"/>
              </a:rPr>
              <a:t>You are a legal research agent working for a solo immigration attorney. You have access to web search to find current, real-time information about U.S. immigration law, policy, and court decisions. Your job is to produce accurate, structured pre-meeting research briefs that help the attorney prepare for client consultations efficiently.</a:t>
            </a:r>
          </a:p>
          <a:p>
            <a:endParaRPr lang="en-US" sz="1100" dirty="0">
              <a:latin typeface="Montserrat" panose="00000500000000000000" pitchFamily="2" charset="0"/>
            </a:endParaRPr>
          </a:p>
          <a:p>
            <a:endParaRPr lang="en-US" sz="1100" dirty="0">
              <a:latin typeface="Montserrat" panose="00000500000000000000" pitchFamily="2" charset="0"/>
            </a:endParaRPr>
          </a:p>
          <a:p>
            <a:r>
              <a:rPr lang="en-US" sz="1100" b="1" dirty="0">
                <a:latin typeface="Montserrat" panose="00000500000000000000" pitchFamily="2" charset="0"/>
              </a:rPr>
              <a:t>## Instruction:</a:t>
            </a:r>
          </a:p>
          <a:p>
            <a:r>
              <a:rPr lang="en-US" sz="1100" dirty="0">
                <a:latin typeface="Montserrat" panose="00000500000000000000" pitchFamily="2" charset="0"/>
              </a:rPr>
              <a:t>When the attorney submits a client research request: </a:t>
            </a:r>
          </a:p>
          <a:p>
            <a:pPr marL="342900" indent="-342900">
              <a:buAutoNum type="arabicPeriod"/>
            </a:pPr>
            <a:r>
              <a:rPr lang="en-US" sz="1100" dirty="0">
                <a:latin typeface="Montserrat" panose="00000500000000000000" pitchFamily="2" charset="0"/>
              </a:rPr>
              <a:t>Identify the key research areas: relevant visa category, current USCIS policy status, recent court precedents, and any news that may affect the client's case.</a:t>
            </a:r>
          </a:p>
          <a:p>
            <a:pPr marL="342900" indent="-342900">
              <a:buAutoNum type="arabicPeriod"/>
            </a:pPr>
            <a:r>
              <a:rPr lang="en-US" sz="1100" dirty="0">
                <a:latin typeface="Montserrat" panose="00000500000000000000" pitchFamily="2" charset="0"/>
              </a:rPr>
              <a:t>Run web searches,  not just once. Search multiple angles: official USCIS announcements, immigration court decisions, legal commentary, and recent news coverage of the relevant visa category.</a:t>
            </a:r>
          </a:p>
          <a:p>
            <a:pPr marL="342900" indent="-342900">
              <a:buAutoNum type="arabicPeriod"/>
            </a:pPr>
            <a:r>
              <a:rPr lang="en-US" sz="1100" dirty="0">
                <a:latin typeface="Montserrat" panose="00000500000000000000" pitchFamily="2" charset="0"/>
              </a:rPr>
              <a:t>If initial results are thin, outdated, or contradictory, run additional targeted searches. Prioritize government sources (uscis.gov, justice.gov) and established legal publications.</a:t>
            </a:r>
          </a:p>
          <a:p>
            <a:pPr marL="342900" indent="-342900">
              <a:buAutoNum type="arabicPeriod"/>
            </a:pPr>
            <a:r>
              <a:rPr lang="en-US" sz="1100" dirty="0">
                <a:latin typeface="Montserrat" panose="00000500000000000000" pitchFamily="2" charset="0"/>
              </a:rPr>
              <a:t>Cross-reference findings across at least two sources before including any policy or precedent in the brief.</a:t>
            </a:r>
          </a:p>
          <a:p>
            <a:pPr marL="342900" indent="-342900">
              <a:buAutoNum type="arabicPeriod"/>
            </a:pPr>
            <a:r>
              <a:rPr lang="en-US" sz="1100" dirty="0">
                <a:latin typeface="Montserrat" panose="00000500000000000000" pitchFamily="2" charset="0"/>
              </a:rPr>
              <a:t>Flag anything that has changed in the last 90 days,  policy changes and recent precedents are the highest-priority findings.</a:t>
            </a:r>
          </a:p>
          <a:p>
            <a:pPr marL="342900" indent="-342900">
              <a:buAutoNum type="arabicPeriod"/>
            </a:pPr>
            <a:r>
              <a:rPr lang="en-US" sz="1100" dirty="0">
                <a:latin typeface="Montserrat" panose="00000500000000000000" pitchFamily="2" charset="0"/>
              </a:rPr>
              <a:t>Synthesize,  do not paste raw search results. Produce a clean, attorney-ready brief.</a:t>
            </a:r>
          </a:p>
          <a:p>
            <a:pPr marL="342900" indent="-342900">
              <a:buAutoNum type="arabicPeriod"/>
            </a:pPr>
            <a:endParaRPr lang="en-US" sz="1100" b="1" dirty="0">
              <a:latin typeface="Montserrat" panose="00000500000000000000" pitchFamily="2" charset="0"/>
            </a:endParaRPr>
          </a:p>
          <a:p>
            <a:r>
              <a:rPr lang="en-US" sz="1100" b="1" dirty="0">
                <a:latin typeface="Montserrat" panose="00000500000000000000" pitchFamily="2" charset="0"/>
              </a:rPr>
              <a:t>## Input:</a:t>
            </a:r>
          </a:p>
          <a:p>
            <a:r>
              <a:rPr lang="en-US" sz="1100" dirty="0">
                <a:latin typeface="Montserrat" panose="00000500000000000000" pitchFamily="2" charset="0"/>
              </a:rPr>
              <a:t>A client research request specifying: the client's visa category or case type, the nature of their situation, and any specific concerns the attorney wants investigated.</a:t>
            </a:r>
          </a:p>
          <a:p>
            <a:endParaRPr lang="en-US" sz="1100" dirty="0">
              <a:latin typeface="Montserrat" panose="00000500000000000000" pitchFamily="2" charset="0"/>
            </a:endParaRPr>
          </a:p>
          <a:p>
            <a:r>
              <a:rPr lang="en-US" sz="1100" b="1" dirty="0">
                <a:latin typeface="Montserrat" panose="00000500000000000000" pitchFamily="2" charset="0"/>
              </a:rPr>
              <a:t>## Output</a:t>
            </a:r>
          </a:p>
          <a:p>
            <a:r>
              <a:rPr lang="en-US" sz="1100" dirty="0">
                <a:latin typeface="Montserrat" panose="00000500000000000000" pitchFamily="2" charset="0"/>
              </a:rPr>
              <a:t>Return a structured pre-meeting brief with:</a:t>
            </a:r>
          </a:p>
          <a:p>
            <a:r>
              <a:rPr lang="en-US" sz="1100" dirty="0">
                <a:latin typeface="Montserrat" panose="00000500000000000000" pitchFamily="2" charset="0"/>
              </a:rPr>
              <a:t>-    Current policy status: what the current rules are for this visa category, and any recent changes</a:t>
            </a:r>
          </a:p>
          <a:p>
            <a:pPr marL="171450" indent="-171450">
              <a:buFontTx/>
              <a:buChar char="-"/>
            </a:pPr>
            <a:r>
              <a:rPr lang="en-US" sz="1100" dirty="0">
                <a:latin typeface="Montserrat" panose="00000500000000000000" pitchFamily="2" charset="0"/>
              </a:rPr>
              <a:t>Relevant precedents: 1-2 recent court decisions that may apply, with case names and dates if available</a:t>
            </a:r>
          </a:p>
          <a:p>
            <a:pPr marL="171450" indent="-171450">
              <a:buFontTx/>
              <a:buChar char="-"/>
            </a:pPr>
            <a:r>
              <a:rPr lang="en-US" sz="1100" dirty="0">
                <a:latin typeface="Montserrat" panose="00000500000000000000" pitchFamily="2" charset="0"/>
              </a:rPr>
              <a:t>Risk flags: anything in current news or policy trends that could complicate this case</a:t>
            </a:r>
          </a:p>
          <a:p>
            <a:r>
              <a:rPr lang="en-US" sz="1100" dirty="0">
                <a:latin typeface="Montserrat" panose="00000500000000000000" pitchFamily="2" charset="0"/>
              </a:rPr>
              <a:t>- Open questions: what remains unclear or unverified that the attorney should investigate further</a:t>
            </a:r>
          </a:p>
          <a:p>
            <a:r>
              <a:rPr lang="en-US" sz="1100" dirty="0">
                <a:latin typeface="Montserrat" panose="00000500000000000000" pitchFamily="2" charset="0"/>
              </a:rPr>
              <a:t>- Maximum 4 bullets per section; use specific names, dates, and sources where available</a:t>
            </a:r>
            <a:endParaRPr lang="en-CA" sz="1100" dirty="0">
              <a:latin typeface="Montserrat" panose="00000500000000000000" pitchFamily="2" charset="0"/>
            </a:endParaRPr>
          </a:p>
        </p:txBody>
      </p:sp>
    </p:spTree>
    <p:extLst>
      <p:ext uri="{BB962C8B-B14F-4D97-AF65-F5344CB8AC3E}">
        <p14:creationId xmlns:p14="http://schemas.microsoft.com/office/powerpoint/2010/main" val="552461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6593</TotalTime>
  <Words>2109</Words>
  <Application>Microsoft Office PowerPoint</Application>
  <PresentationFormat>Widescreen</PresentationFormat>
  <Paragraphs>271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Georgia</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635</cp:revision>
  <dcterms:created xsi:type="dcterms:W3CDTF">2019-11-18T17:58:36Z</dcterms:created>
  <dcterms:modified xsi:type="dcterms:W3CDTF">2026-03-03T04:05:48Z</dcterms:modified>
</cp:coreProperties>
</file>