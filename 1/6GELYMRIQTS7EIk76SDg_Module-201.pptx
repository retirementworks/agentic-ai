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565" r:id="rId2"/>
    <p:sldId id="568" r:id="rId3"/>
    <p:sldId id="256" r:id="rId4"/>
    <p:sldId id="4294" r:id="rId5"/>
    <p:sldId id="574" r:id="rId6"/>
    <p:sldId id="4293" r:id="rId7"/>
    <p:sldId id="4240" r:id="rId8"/>
    <p:sldId id="4238" r:id="rId9"/>
    <p:sldId id="4239" r:id="rId10"/>
    <p:sldId id="4242" r:id="rId11"/>
    <p:sldId id="4280" r:id="rId12"/>
    <p:sldId id="4230" r:id="rId13"/>
    <p:sldId id="4277" r:id="rId14"/>
    <p:sldId id="4281" r:id="rId15"/>
    <p:sldId id="4282" r:id="rId16"/>
    <p:sldId id="4278" r:id="rId17"/>
    <p:sldId id="4283" r:id="rId18"/>
    <p:sldId id="4285" r:id="rId19"/>
    <p:sldId id="4233" r:id="rId20"/>
    <p:sldId id="4274" r:id="rId21"/>
    <p:sldId id="4275" r:id="rId22"/>
    <p:sldId id="4284" r:id="rId23"/>
    <p:sldId id="4279" r:id="rId24"/>
    <p:sldId id="4286" r:id="rId25"/>
    <p:sldId id="4288" r:id="rId26"/>
    <p:sldId id="4231" r:id="rId27"/>
    <p:sldId id="4291" r:id="rId28"/>
    <p:sldId id="4290" r:id="rId29"/>
    <p:sldId id="259" r:id="rId30"/>
    <p:sldId id="257" r:id="rId31"/>
    <p:sldId id="4289" r:id="rId32"/>
    <p:sldId id="4292" r:id="rId33"/>
    <p:sldId id="4241" r:id="rId34"/>
    <p:sldId id="4118" r:id="rId35"/>
    <p:sldId id="4249" r:id="rId36"/>
    <p:sldId id="4248" r:id="rId37"/>
    <p:sldId id="4121" r:id="rId38"/>
    <p:sldId id="4122" r:id="rId39"/>
    <p:sldId id="4123" r:id="rId40"/>
    <p:sldId id="2772"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6E48"/>
    <a:srgbClr val="1BBFD1"/>
    <a:srgbClr val="0C1752"/>
    <a:srgbClr val="F9F9F9"/>
    <a:srgbClr val="11CCDD"/>
    <a:srgbClr val="E7C24C"/>
    <a:srgbClr val="FF0909"/>
    <a:srgbClr val="4472C4"/>
    <a:srgbClr val="D1C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60" autoAdjust="0"/>
    <p:restoredTop sz="94721"/>
  </p:normalViewPr>
  <p:slideViewPr>
    <p:cSldViewPr snapToGrid="0" snapToObjects="1">
      <p:cViewPr varScale="1">
        <p:scale>
          <a:sx n="119" d="100"/>
          <a:sy n="119" d="100"/>
        </p:scale>
        <p:origin x="150" y="3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BCFDA7-93D9-4AF7-8F6B-E93AF28C0D6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2267CB31-4F66-4683-AA7C-C939A71A7C7E}">
      <dgm:prSet custT="1"/>
      <dgm:spPr>
        <a:solidFill>
          <a:srgbClr val="0C1752"/>
        </a:solidFill>
      </dgm:spPr>
      <dgm:t>
        <a:bodyPr/>
        <a:lstStyle/>
        <a:p>
          <a:pPr>
            <a:buNone/>
          </a:pPr>
          <a:r>
            <a:rPr lang="en-US" sz="1300" b="1" dirty="0">
              <a:latin typeface="Montserrat" panose="00000500000000000000" pitchFamily="2" charset="0"/>
            </a:rPr>
            <a:t>Understand agentic AI architectures</a:t>
          </a:r>
          <a:r>
            <a:rPr lang="en-US" sz="1300" dirty="0">
              <a:latin typeface="Montserrat" panose="00000500000000000000" pitchFamily="2" charset="0"/>
            </a:rPr>
            <a:t> and how agents use perception–reasoning–action loops to solve problems.</a:t>
          </a:r>
        </a:p>
      </dgm:t>
    </dgm:pt>
    <dgm:pt modelId="{E7015A59-9732-414A-BB7D-3D352369424C}" type="parTrans" cxnId="{E32EB29D-A875-4C32-935B-C960B2DFA382}">
      <dgm:prSet/>
      <dgm:spPr/>
      <dgm:t>
        <a:bodyPr/>
        <a:lstStyle/>
        <a:p>
          <a:endParaRPr lang="en-CA" sz="1300"/>
        </a:p>
      </dgm:t>
    </dgm:pt>
    <dgm:pt modelId="{51CCCB75-E27A-4A8D-8305-62F5DDD25D72}" type="sibTrans" cxnId="{E32EB29D-A875-4C32-935B-C960B2DFA382}">
      <dgm:prSet/>
      <dgm:spPr/>
      <dgm:t>
        <a:bodyPr/>
        <a:lstStyle/>
        <a:p>
          <a:endParaRPr lang="en-CA" sz="1300"/>
        </a:p>
      </dgm:t>
    </dgm:pt>
    <dgm:pt modelId="{6CDECDE1-5617-4BEB-A073-A941DECCCD2F}">
      <dgm:prSet custT="1"/>
      <dgm:spPr>
        <a:solidFill>
          <a:srgbClr val="D56E48"/>
        </a:solidFill>
      </dgm:spPr>
      <dgm:t>
        <a:bodyPr/>
        <a:lstStyle/>
        <a:p>
          <a:pPr>
            <a:buNone/>
          </a:pPr>
          <a:r>
            <a:rPr lang="en-US" sz="1300" b="1">
              <a:latin typeface="Montserrat" panose="00000500000000000000" pitchFamily="2" charset="0"/>
            </a:rPr>
            <a:t>Design problem-first AI systems</a:t>
          </a:r>
          <a:r>
            <a:rPr lang="en-US" sz="1300">
              <a:latin typeface="Montserrat" panose="00000500000000000000" pitchFamily="2" charset="0"/>
            </a:rPr>
            <a:t> by decomposing workflows into agent tasks and defining clear success metrics.</a:t>
          </a:r>
        </a:p>
      </dgm:t>
    </dgm:pt>
    <dgm:pt modelId="{F5209085-C538-4AE1-ACB4-6908C7A34013}" type="parTrans" cxnId="{04D7E6EC-2C98-4DF2-AC39-A6BD85C8D630}">
      <dgm:prSet/>
      <dgm:spPr/>
      <dgm:t>
        <a:bodyPr/>
        <a:lstStyle/>
        <a:p>
          <a:endParaRPr lang="en-CA" sz="1300"/>
        </a:p>
      </dgm:t>
    </dgm:pt>
    <dgm:pt modelId="{92255C6A-CEE0-4933-A7E7-CC975E22B204}" type="sibTrans" cxnId="{04D7E6EC-2C98-4DF2-AC39-A6BD85C8D630}">
      <dgm:prSet/>
      <dgm:spPr/>
      <dgm:t>
        <a:bodyPr/>
        <a:lstStyle/>
        <a:p>
          <a:endParaRPr lang="en-CA" sz="1300"/>
        </a:p>
      </dgm:t>
    </dgm:pt>
    <dgm:pt modelId="{E442317F-4B4E-417E-A10F-82C08C8C79E6}">
      <dgm:prSet custT="1"/>
      <dgm:spPr>
        <a:solidFill>
          <a:srgbClr val="1BBFD1"/>
        </a:solidFill>
      </dgm:spPr>
      <dgm:t>
        <a:bodyPr/>
        <a:lstStyle/>
        <a:p>
          <a:pPr>
            <a:buNone/>
          </a:pPr>
          <a:r>
            <a:rPr lang="en-US" sz="1300" b="1">
              <a:latin typeface="Montserrat" panose="00000500000000000000" pitchFamily="2" charset="0"/>
            </a:rPr>
            <a:t>Build agents with memory and context</a:t>
          </a:r>
          <a:r>
            <a:rPr lang="en-US" sz="1300">
              <a:latin typeface="Montserrat" panose="00000500000000000000" pitchFamily="2" charset="0"/>
            </a:rPr>
            <a:t> using short-term, long-term, and episodic memory along with effective context engineering.</a:t>
          </a:r>
        </a:p>
      </dgm:t>
    </dgm:pt>
    <dgm:pt modelId="{1C04AF0F-8F07-4630-B100-889E86BA50B3}" type="parTrans" cxnId="{010C5F37-1DF1-46B7-A544-91B1C02A1B42}">
      <dgm:prSet/>
      <dgm:spPr/>
      <dgm:t>
        <a:bodyPr/>
        <a:lstStyle/>
        <a:p>
          <a:endParaRPr lang="en-CA" sz="1300"/>
        </a:p>
      </dgm:t>
    </dgm:pt>
    <dgm:pt modelId="{0F6F7A9E-BEFA-4013-9793-07CECAC3F1CE}" type="sibTrans" cxnId="{010C5F37-1DF1-46B7-A544-91B1C02A1B42}">
      <dgm:prSet/>
      <dgm:spPr/>
      <dgm:t>
        <a:bodyPr/>
        <a:lstStyle/>
        <a:p>
          <a:endParaRPr lang="en-CA" sz="1300"/>
        </a:p>
      </dgm:t>
    </dgm:pt>
    <dgm:pt modelId="{359CA2BC-97FF-43F8-BD70-E6A06017F7CC}">
      <dgm:prSet custT="1"/>
      <dgm:spPr>
        <a:solidFill>
          <a:schemeClr val="bg1">
            <a:lumMod val="65000"/>
          </a:schemeClr>
        </a:solidFill>
      </dgm:spPr>
      <dgm:t>
        <a:bodyPr/>
        <a:lstStyle/>
        <a:p>
          <a:pPr>
            <a:buNone/>
          </a:pPr>
          <a:r>
            <a:rPr lang="en-US" sz="1300" b="1">
              <a:latin typeface="Montserrat" panose="00000500000000000000" pitchFamily="2" charset="0"/>
            </a:rPr>
            <a:t>Integrate tools and structured outputs</a:t>
          </a:r>
          <a:r>
            <a:rPr lang="en-US" sz="1300">
              <a:latin typeface="Montserrat" panose="00000500000000000000" pitchFamily="2" charset="0"/>
            </a:rPr>
            <a:t> through function calling, schema design, validation, and reliable error handling.</a:t>
          </a:r>
        </a:p>
      </dgm:t>
    </dgm:pt>
    <dgm:pt modelId="{E5E7F66C-7B8D-4A30-8A82-190B19311276}" type="parTrans" cxnId="{66A6E6C8-7FA0-4112-8846-534C461B703C}">
      <dgm:prSet/>
      <dgm:spPr/>
      <dgm:t>
        <a:bodyPr/>
        <a:lstStyle/>
        <a:p>
          <a:endParaRPr lang="en-CA" sz="1300"/>
        </a:p>
      </dgm:t>
    </dgm:pt>
    <dgm:pt modelId="{9DF55E05-55AA-4D32-825A-262D932D90D0}" type="sibTrans" cxnId="{66A6E6C8-7FA0-4112-8846-534C461B703C}">
      <dgm:prSet/>
      <dgm:spPr/>
      <dgm:t>
        <a:bodyPr/>
        <a:lstStyle/>
        <a:p>
          <a:endParaRPr lang="en-CA" sz="1300"/>
        </a:p>
      </dgm:t>
    </dgm:pt>
    <dgm:pt modelId="{52B71945-1544-4D1E-9913-A013816336B9}">
      <dgm:prSet custT="1"/>
      <dgm:spPr>
        <a:solidFill>
          <a:srgbClr val="0C1752"/>
        </a:solidFill>
      </dgm:spPr>
      <dgm:t>
        <a:bodyPr/>
        <a:lstStyle/>
        <a:p>
          <a:pPr>
            <a:buNone/>
          </a:pPr>
          <a:r>
            <a:rPr lang="en-US" sz="1300" b="1">
              <a:latin typeface="Montserrat" panose="00000500000000000000" pitchFamily="2" charset="0"/>
            </a:rPr>
            <a:t>Architect multi-agent systems</a:t>
          </a:r>
          <a:r>
            <a:rPr lang="en-US" sz="1300">
              <a:latin typeface="Montserrat" panose="00000500000000000000" pitchFamily="2" charset="0"/>
            </a:rPr>
            <a:t> using sequential, parallel, and hierarchical orchestration patterns with safe coordination.</a:t>
          </a:r>
        </a:p>
      </dgm:t>
    </dgm:pt>
    <dgm:pt modelId="{7C650C65-3B73-4A52-9C09-ADC60CC24422}" type="parTrans" cxnId="{E2A6A371-1C3C-4928-81C8-DBB9CA893B99}">
      <dgm:prSet/>
      <dgm:spPr/>
      <dgm:t>
        <a:bodyPr/>
        <a:lstStyle/>
        <a:p>
          <a:endParaRPr lang="en-CA" sz="1300"/>
        </a:p>
      </dgm:t>
    </dgm:pt>
    <dgm:pt modelId="{3CBB684A-9A92-43E7-9F3A-CF1A80DBBB40}" type="sibTrans" cxnId="{E2A6A371-1C3C-4928-81C8-DBB9CA893B99}">
      <dgm:prSet/>
      <dgm:spPr/>
      <dgm:t>
        <a:bodyPr/>
        <a:lstStyle/>
        <a:p>
          <a:endParaRPr lang="en-CA" sz="1300"/>
        </a:p>
      </dgm:t>
    </dgm:pt>
    <dgm:pt modelId="{94A29998-DCC8-40A5-9A0C-7B11E52215A4}">
      <dgm:prSet custT="1"/>
      <dgm:spPr>
        <a:solidFill>
          <a:srgbClr val="D56E48"/>
        </a:solidFill>
      </dgm:spPr>
      <dgm:t>
        <a:bodyPr/>
        <a:lstStyle/>
        <a:p>
          <a:pPr>
            <a:buNone/>
          </a:pPr>
          <a:r>
            <a:rPr lang="en-CA" sz="1300" b="1" dirty="0">
              <a:latin typeface="Montserrat" panose="00000500000000000000" pitchFamily="2" charset="0"/>
            </a:rPr>
            <a:t>Implement retrieval-augmented generation (RAG)</a:t>
          </a:r>
          <a:r>
            <a:rPr lang="en-CA" sz="1300" dirty="0">
              <a:latin typeface="Montserrat" panose="00000500000000000000" pitchFamily="2" charset="0"/>
            </a:rPr>
            <a:t> pipelines with embeddings and vector databases.</a:t>
          </a:r>
        </a:p>
      </dgm:t>
    </dgm:pt>
    <dgm:pt modelId="{F5107B93-287D-43CA-8678-6D62FDF3209A}" type="parTrans" cxnId="{75633684-98C3-43EE-9034-BBEBA7D0CB79}">
      <dgm:prSet/>
      <dgm:spPr/>
      <dgm:t>
        <a:bodyPr/>
        <a:lstStyle/>
        <a:p>
          <a:endParaRPr lang="en-CA" sz="1300"/>
        </a:p>
      </dgm:t>
    </dgm:pt>
    <dgm:pt modelId="{BAB093B3-24AE-4419-8723-A1D601001CD0}" type="sibTrans" cxnId="{75633684-98C3-43EE-9034-BBEBA7D0CB79}">
      <dgm:prSet/>
      <dgm:spPr/>
      <dgm:t>
        <a:bodyPr/>
        <a:lstStyle/>
        <a:p>
          <a:endParaRPr lang="en-CA" sz="1300"/>
        </a:p>
      </dgm:t>
    </dgm:pt>
    <dgm:pt modelId="{3B409CBA-7C40-4AF0-AEFC-F541363B480A}">
      <dgm:prSet custT="1"/>
      <dgm:spPr>
        <a:solidFill>
          <a:srgbClr val="1BBFD1"/>
        </a:solidFill>
      </dgm:spPr>
      <dgm:t>
        <a:bodyPr/>
        <a:lstStyle/>
        <a:p>
          <a:pPr>
            <a:buNone/>
          </a:pPr>
          <a:r>
            <a:rPr lang="en-US" sz="1300" b="1" dirty="0">
              <a:latin typeface="Montserrat" panose="00000500000000000000" pitchFamily="2" charset="0"/>
            </a:rPr>
            <a:t>Develop agentic coding workflows</a:t>
          </a:r>
          <a:r>
            <a:rPr lang="en-US" sz="1300" dirty="0">
              <a:latin typeface="Montserrat" panose="00000500000000000000" pitchFamily="2" charset="0"/>
            </a:rPr>
            <a:t> to build real applications and ship an AI agent MVP using modern AI development tools (Claude Code &amp; Codex).</a:t>
          </a:r>
        </a:p>
      </dgm:t>
    </dgm:pt>
    <dgm:pt modelId="{C1E7AC7F-CBA2-4155-B5CC-30E0A26BE07A}" type="parTrans" cxnId="{C63AD850-7B1E-43F4-A5D3-9AEA5F53D9E7}">
      <dgm:prSet/>
      <dgm:spPr/>
      <dgm:t>
        <a:bodyPr/>
        <a:lstStyle/>
        <a:p>
          <a:endParaRPr lang="en-CA" sz="1300"/>
        </a:p>
      </dgm:t>
    </dgm:pt>
    <dgm:pt modelId="{644E5F33-9EA9-4C4E-B920-2F5648335679}" type="sibTrans" cxnId="{C63AD850-7B1E-43F4-A5D3-9AEA5F53D9E7}">
      <dgm:prSet/>
      <dgm:spPr/>
      <dgm:t>
        <a:bodyPr/>
        <a:lstStyle/>
        <a:p>
          <a:endParaRPr lang="en-CA" sz="1300"/>
        </a:p>
      </dgm:t>
    </dgm:pt>
    <dgm:pt modelId="{E073BC15-F583-4133-AF5A-1592318D9ED9}">
      <dgm:prSet custT="1"/>
      <dgm:spPr>
        <a:solidFill>
          <a:schemeClr val="bg1">
            <a:lumMod val="65000"/>
          </a:schemeClr>
        </a:solidFill>
      </dgm:spPr>
      <dgm:t>
        <a:bodyPr/>
        <a:lstStyle/>
        <a:p>
          <a:pPr>
            <a:buNone/>
          </a:pPr>
          <a:r>
            <a:rPr lang="en-US" sz="1300" b="1" dirty="0">
              <a:latin typeface="Montserrat" panose="00000500000000000000" pitchFamily="2" charset="0"/>
            </a:rPr>
            <a:t>Evaluate, test, and secure AI agents</a:t>
          </a:r>
          <a:r>
            <a:rPr lang="en-US" sz="1300" dirty="0">
              <a:latin typeface="Montserrat" panose="00000500000000000000" pitchFamily="2" charset="0"/>
            </a:rPr>
            <a:t> with automated evals, adversarial testing, debugging techniques, and guardrails.</a:t>
          </a:r>
        </a:p>
      </dgm:t>
    </dgm:pt>
    <dgm:pt modelId="{FA350E65-A2B3-4A6A-B326-CC6517FAC35E}" type="parTrans" cxnId="{D57C78B8-D6D9-4EDB-91DA-5543C5C70DEC}">
      <dgm:prSet/>
      <dgm:spPr/>
      <dgm:t>
        <a:bodyPr/>
        <a:lstStyle/>
        <a:p>
          <a:endParaRPr lang="en-CA" sz="1300"/>
        </a:p>
      </dgm:t>
    </dgm:pt>
    <dgm:pt modelId="{B6A779AF-F507-40DD-B820-2EACCD123C5C}" type="sibTrans" cxnId="{D57C78B8-D6D9-4EDB-91DA-5543C5C70DEC}">
      <dgm:prSet/>
      <dgm:spPr/>
      <dgm:t>
        <a:bodyPr/>
        <a:lstStyle/>
        <a:p>
          <a:endParaRPr lang="en-CA" sz="1300"/>
        </a:p>
      </dgm:t>
    </dgm:pt>
    <dgm:pt modelId="{3FBA7381-58B9-4C00-8677-045B70F0550C}">
      <dgm:prSet custT="1"/>
      <dgm:spPr>
        <a:solidFill>
          <a:schemeClr val="accent1">
            <a:lumMod val="60000"/>
            <a:lumOff val="40000"/>
          </a:schemeClr>
        </a:solidFill>
      </dgm:spPr>
      <dgm:t>
        <a:bodyPr/>
        <a:lstStyle/>
        <a:p>
          <a:pPr>
            <a:buNone/>
          </a:pPr>
          <a:r>
            <a:rPr lang="en-US" sz="1300" b="1" dirty="0">
              <a:latin typeface="Montserrat" panose="00000500000000000000" pitchFamily="2" charset="0"/>
            </a:rPr>
            <a:t>Deploy and operate production-grade agent systems</a:t>
          </a:r>
          <a:r>
            <a:rPr lang="en-US" sz="1300" dirty="0">
              <a:latin typeface="Montserrat" panose="00000500000000000000" pitchFamily="2" charset="0"/>
            </a:rPr>
            <a:t> with monitoring, cost optimization, governance, and scalable cloud deployment.</a:t>
          </a:r>
        </a:p>
      </dgm:t>
    </dgm:pt>
    <dgm:pt modelId="{336B2C62-7810-4552-B8A9-36BC0E579DF8}" type="parTrans" cxnId="{1050A3E5-B3F2-4F2A-B132-BE58D1D6A661}">
      <dgm:prSet/>
      <dgm:spPr/>
      <dgm:t>
        <a:bodyPr/>
        <a:lstStyle/>
        <a:p>
          <a:endParaRPr lang="en-CA" sz="1300"/>
        </a:p>
      </dgm:t>
    </dgm:pt>
    <dgm:pt modelId="{5519F990-4D3E-464D-857C-A046E810450C}" type="sibTrans" cxnId="{1050A3E5-B3F2-4F2A-B132-BE58D1D6A661}">
      <dgm:prSet/>
      <dgm:spPr/>
      <dgm:t>
        <a:bodyPr/>
        <a:lstStyle/>
        <a:p>
          <a:endParaRPr lang="en-CA" sz="1300"/>
        </a:p>
      </dgm:t>
    </dgm:pt>
    <dgm:pt modelId="{7ADA8973-FC52-4BE0-BA5F-3C26538A7173}" type="pres">
      <dgm:prSet presAssocID="{0EBCFDA7-93D9-4AF7-8F6B-E93AF28C0D66}" presName="diagram" presStyleCnt="0">
        <dgm:presLayoutVars>
          <dgm:dir/>
          <dgm:resizeHandles val="exact"/>
        </dgm:presLayoutVars>
      </dgm:prSet>
      <dgm:spPr/>
    </dgm:pt>
    <dgm:pt modelId="{0353F168-E2F2-4BF2-9127-1F18A7AB26C6}" type="pres">
      <dgm:prSet presAssocID="{2267CB31-4F66-4683-AA7C-C939A71A7C7E}" presName="node" presStyleLbl="node1" presStyleIdx="0" presStyleCnt="9">
        <dgm:presLayoutVars>
          <dgm:bulletEnabled val="1"/>
        </dgm:presLayoutVars>
      </dgm:prSet>
      <dgm:spPr/>
    </dgm:pt>
    <dgm:pt modelId="{418C3677-CDA3-465C-AEE5-3265370D6469}" type="pres">
      <dgm:prSet presAssocID="{51CCCB75-E27A-4A8D-8305-62F5DDD25D72}" presName="sibTrans" presStyleCnt="0"/>
      <dgm:spPr/>
    </dgm:pt>
    <dgm:pt modelId="{B5B24182-6AEB-4632-A7F1-DA25427AB613}" type="pres">
      <dgm:prSet presAssocID="{6CDECDE1-5617-4BEB-A073-A941DECCCD2F}" presName="node" presStyleLbl="node1" presStyleIdx="1" presStyleCnt="9">
        <dgm:presLayoutVars>
          <dgm:bulletEnabled val="1"/>
        </dgm:presLayoutVars>
      </dgm:prSet>
      <dgm:spPr/>
    </dgm:pt>
    <dgm:pt modelId="{2E2DDA53-8BD2-4A4A-A7EF-CD11ABD9BC77}" type="pres">
      <dgm:prSet presAssocID="{92255C6A-CEE0-4933-A7E7-CC975E22B204}" presName="sibTrans" presStyleCnt="0"/>
      <dgm:spPr/>
    </dgm:pt>
    <dgm:pt modelId="{60F1E27E-515E-4AD7-8611-4A46E32F9647}" type="pres">
      <dgm:prSet presAssocID="{E442317F-4B4E-417E-A10F-82C08C8C79E6}" presName="node" presStyleLbl="node1" presStyleIdx="2" presStyleCnt="9">
        <dgm:presLayoutVars>
          <dgm:bulletEnabled val="1"/>
        </dgm:presLayoutVars>
      </dgm:prSet>
      <dgm:spPr/>
    </dgm:pt>
    <dgm:pt modelId="{F4B440EE-F842-4890-B233-1DD74A1F481A}" type="pres">
      <dgm:prSet presAssocID="{0F6F7A9E-BEFA-4013-9793-07CECAC3F1CE}" presName="sibTrans" presStyleCnt="0"/>
      <dgm:spPr/>
    </dgm:pt>
    <dgm:pt modelId="{49955CF1-8B55-48DE-9A30-8F30E28EF567}" type="pres">
      <dgm:prSet presAssocID="{359CA2BC-97FF-43F8-BD70-E6A06017F7CC}" presName="node" presStyleLbl="node1" presStyleIdx="3" presStyleCnt="9">
        <dgm:presLayoutVars>
          <dgm:bulletEnabled val="1"/>
        </dgm:presLayoutVars>
      </dgm:prSet>
      <dgm:spPr/>
    </dgm:pt>
    <dgm:pt modelId="{40B26D0C-C89D-4262-A561-14816EF5FFEF}" type="pres">
      <dgm:prSet presAssocID="{9DF55E05-55AA-4D32-825A-262D932D90D0}" presName="sibTrans" presStyleCnt="0"/>
      <dgm:spPr/>
    </dgm:pt>
    <dgm:pt modelId="{9422227E-9921-481C-93BB-8F3BDCDD9A3A}" type="pres">
      <dgm:prSet presAssocID="{52B71945-1544-4D1E-9913-A013816336B9}" presName="node" presStyleLbl="node1" presStyleIdx="4" presStyleCnt="9">
        <dgm:presLayoutVars>
          <dgm:bulletEnabled val="1"/>
        </dgm:presLayoutVars>
      </dgm:prSet>
      <dgm:spPr/>
    </dgm:pt>
    <dgm:pt modelId="{3AB2EA3C-DBF8-4688-BB91-B2FAB1B0337F}" type="pres">
      <dgm:prSet presAssocID="{3CBB684A-9A92-43E7-9F3A-CF1A80DBBB40}" presName="sibTrans" presStyleCnt="0"/>
      <dgm:spPr/>
    </dgm:pt>
    <dgm:pt modelId="{CA347ABC-0AF2-4660-A4A8-22294E20AC94}" type="pres">
      <dgm:prSet presAssocID="{94A29998-DCC8-40A5-9A0C-7B11E52215A4}" presName="node" presStyleLbl="node1" presStyleIdx="5" presStyleCnt="9">
        <dgm:presLayoutVars>
          <dgm:bulletEnabled val="1"/>
        </dgm:presLayoutVars>
      </dgm:prSet>
      <dgm:spPr/>
    </dgm:pt>
    <dgm:pt modelId="{E51021DC-0EE7-43ED-AC06-7F41117F77F1}" type="pres">
      <dgm:prSet presAssocID="{BAB093B3-24AE-4419-8723-A1D601001CD0}" presName="sibTrans" presStyleCnt="0"/>
      <dgm:spPr/>
    </dgm:pt>
    <dgm:pt modelId="{00427C60-DC1A-4438-ACE7-B59EDE6DA284}" type="pres">
      <dgm:prSet presAssocID="{3B409CBA-7C40-4AF0-AEFC-F541363B480A}" presName="node" presStyleLbl="node1" presStyleIdx="6" presStyleCnt="9">
        <dgm:presLayoutVars>
          <dgm:bulletEnabled val="1"/>
        </dgm:presLayoutVars>
      </dgm:prSet>
      <dgm:spPr/>
    </dgm:pt>
    <dgm:pt modelId="{CDB4B802-4A79-43CC-A46B-B13F2B3165D3}" type="pres">
      <dgm:prSet presAssocID="{644E5F33-9EA9-4C4E-B920-2F5648335679}" presName="sibTrans" presStyleCnt="0"/>
      <dgm:spPr/>
    </dgm:pt>
    <dgm:pt modelId="{D62B9485-1D72-41D4-888B-011B08942627}" type="pres">
      <dgm:prSet presAssocID="{E073BC15-F583-4133-AF5A-1592318D9ED9}" presName="node" presStyleLbl="node1" presStyleIdx="7" presStyleCnt="9">
        <dgm:presLayoutVars>
          <dgm:bulletEnabled val="1"/>
        </dgm:presLayoutVars>
      </dgm:prSet>
      <dgm:spPr/>
    </dgm:pt>
    <dgm:pt modelId="{2D329416-3F49-4295-9EFF-C72A3CECA2EA}" type="pres">
      <dgm:prSet presAssocID="{B6A779AF-F507-40DD-B820-2EACCD123C5C}" presName="sibTrans" presStyleCnt="0"/>
      <dgm:spPr/>
    </dgm:pt>
    <dgm:pt modelId="{24D07BB6-9F50-424C-A059-3C01B027A5F5}" type="pres">
      <dgm:prSet presAssocID="{3FBA7381-58B9-4C00-8677-045B70F0550C}" presName="node" presStyleLbl="node1" presStyleIdx="8" presStyleCnt="9">
        <dgm:presLayoutVars>
          <dgm:bulletEnabled val="1"/>
        </dgm:presLayoutVars>
      </dgm:prSet>
      <dgm:spPr/>
    </dgm:pt>
  </dgm:ptLst>
  <dgm:cxnLst>
    <dgm:cxn modelId="{010C5F37-1DF1-46B7-A544-91B1C02A1B42}" srcId="{0EBCFDA7-93D9-4AF7-8F6B-E93AF28C0D66}" destId="{E442317F-4B4E-417E-A10F-82C08C8C79E6}" srcOrd="2" destOrd="0" parTransId="{1C04AF0F-8F07-4630-B100-889E86BA50B3}" sibTransId="{0F6F7A9E-BEFA-4013-9793-07CECAC3F1CE}"/>
    <dgm:cxn modelId="{1AC4EB46-7B7C-4920-9DE4-44D707F8B0FA}" type="presOf" srcId="{E442317F-4B4E-417E-A10F-82C08C8C79E6}" destId="{60F1E27E-515E-4AD7-8611-4A46E32F9647}" srcOrd="0" destOrd="0" presId="urn:microsoft.com/office/officeart/2005/8/layout/default"/>
    <dgm:cxn modelId="{C63AD850-7B1E-43F4-A5D3-9AEA5F53D9E7}" srcId="{0EBCFDA7-93D9-4AF7-8F6B-E93AF28C0D66}" destId="{3B409CBA-7C40-4AF0-AEFC-F541363B480A}" srcOrd="6" destOrd="0" parTransId="{C1E7AC7F-CBA2-4155-B5CC-30E0A26BE07A}" sibTransId="{644E5F33-9EA9-4C4E-B920-2F5648335679}"/>
    <dgm:cxn modelId="{E2A6A371-1C3C-4928-81C8-DBB9CA893B99}" srcId="{0EBCFDA7-93D9-4AF7-8F6B-E93AF28C0D66}" destId="{52B71945-1544-4D1E-9913-A013816336B9}" srcOrd="4" destOrd="0" parTransId="{7C650C65-3B73-4A52-9C09-ADC60CC24422}" sibTransId="{3CBB684A-9A92-43E7-9F3A-CF1A80DBBB40}"/>
    <dgm:cxn modelId="{75633684-98C3-43EE-9034-BBEBA7D0CB79}" srcId="{0EBCFDA7-93D9-4AF7-8F6B-E93AF28C0D66}" destId="{94A29998-DCC8-40A5-9A0C-7B11E52215A4}" srcOrd="5" destOrd="0" parTransId="{F5107B93-287D-43CA-8678-6D62FDF3209A}" sibTransId="{BAB093B3-24AE-4419-8723-A1D601001CD0}"/>
    <dgm:cxn modelId="{A3BFC591-CC01-42BC-8139-B71B41CE4495}" type="presOf" srcId="{6CDECDE1-5617-4BEB-A073-A941DECCCD2F}" destId="{B5B24182-6AEB-4632-A7F1-DA25427AB613}" srcOrd="0" destOrd="0" presId="urn:microsoft.com/office/officeart/2005/8/layout/default"/>
    <dgm:cxn modelId="{E32EB29D-A875-4C32-935B-C960B2DFA382}" srcId="{0EBCFDA7-93D9-4AF7-8F6B-E93AF28C0D66}" destId="{2267CB31-4F66-4683-AA7C-C939A71A7C7E}" srcOrd="0" destOrd="0" parTransId="{E7015A59-9732-414A-BB7D-3D352369424C}" sibTransId="{51CCCB75-E27A-4A8D-8305-62F5DDD25D72}"/>
    <dgm:cxn modelId="{A9F8B9B6-CB6E-4382-BCE8-4BB2C7972612}" type="presOf" srcId="{2267CB31-4F66-4683-AA7C-C939A71A7C7E}" destId="{0353F168-E2F2-4BF2-9127-1F18A7AB26C6}" srcOrd="0" destOrd="0" presId="urn:microsoft.com/office/officeart/2005/8/layout/default"/>
    <dgm:cxn modelId="{F50DCEB6-AF9D-4C56-AD46-9D194E30C7E3}" type="presOf" srcId="{359CA2BC-97FF-43F8-BD70-E6A06017F7CC}" destId="{49955CF1-8B55-48DE-9A30-8F30E28EF567}" srcOrd="0" destOrd="0" presId="urn:microsoft.com/office/officeart/2005/8/layout/default"/>
    <dgm:cxn modelId="{D57C78B8-D6D9-4EDB-91DA-5543C5C70DEC}" srcId="{0EBCFDA7-93D9-4AF7-8F6B-E93AF28C0D66}" destId="{E073BC15-F583-4133-AF5A-1592318D9ED9}" srcOrd="7" destOrd="0" parTransId="{FA350E65-A2B3-4A6A-B326-CC6517FAC35E}" sibTransId="{B6A779AF-F507-40DD-B820-2EACCD123C5C}"/>
    <dgm:cxn modelId="{66A6E6C8-7FA0-4112-8846-534C461B703C}" srcId="{0EBCFDA7-93D9-4AF7-8F6B-E93AF28C0D66}" destId="{359CA2BC-97FF-43F8-BD70-E6A06017F7CC}" srcOrd="3" destOrd="0" parTransId="{E5E7F66C-7B8D-4A30-8A82-190B19311276}" sibTransId="{9DF55E05-55AA-4D32-825A-262D932D90D0}"/>
    <dgm:cxn modelId="{510875C9-D590-4DC4-BDA0-8A607B02C350}" type="presOf" srcId="{3B409CBA-7C40-4AF0-AEFC-F541363B480A}" destId="{00427C60-DC1A-4438-ACE7-B59EDE6DA284}" srcOrd="0" destOrd="0" presId="urn:microsoft.com/office/officeart/2005/8/layout/default"/>
    <dgm:cxn modelId="{E4FB9ECF-DCB1-427C-AA73-99E32C69CA30}" type="presOf" srcId="{94A29998-DCC8-40A5-9A0C-7B11E52215A4}" destId="{CA347ABC-0AF2-4660-A4A8-22294E20AC94}" srcOrd="0" destOrd="0" presId="urn:microsoft.com/office/officeart/2005/8/layout/default"/>
    <dgm:cxn modelId="{1050A3E5-B3F2-4F2A-B132-BE58D1D6A661}" srcId="{0EBCFDA7-93D9-4AF7-8F6B-E93AF28C0D66}" destId="{3FBA7381-58B9-4C00-8677-045B70F0550C}" srcOrd="8" destOrd="0" parTransId="{336B2C62-7810-4552-B8A9-36BC0E579DF8}" sibTransId="{5519F990-4D3E-464D-857C-A046E810450C}"/>
    <dgm:cxn modelId="{4061BCEA-E12F-40E1-96A1-FA7E6E878444}" type="presOf" srcId="{3FBA7381-58B9-4C00-8677-045B70F0550C}" destId="{24D07BB6-9F50-424C-A059-3C01B027A5F5}" srcOrd="0" destOrd="0" presId="urn:microsoft.com/office/officeart/2005/8/layout/default"/>
    <dgm:cxn modelId="{04D7E6EC-2C98-4DF2-AC39-A6BD85C8D630}" srcId="{0EBCFDA7-93D9-4AF7-8F6B-E93AF28C0D66}" destId="{6CDECDE1-5617-4BEB-A073-A941DECCCD2F}" srcOrd="1" destOrd="0" parTransId="{F5209085-C538-4AE1-ACB4-6908C7A34013}" sibTransId="{92255C6A-CEE0-4933-A7E7-CC975E22B204}"/>
    <dgm:cxn modelId="{730F6AEE-EEA6-4AA2-8025-32C4D38422E4}" type="presOf" srcId="{E073BC15-F583-4133-AF5A-1592318D9ED9}" destId="{D62B9485-1D72-41D4-888B-011B08942627}" srcOrd="0" destOrd="0" presId="urn:microsoft.com/office/officeart/2005/8/layout/default"/>
    <dgm:cxn modelId="{69590EF6-8DB2-4A64-B259-F2BFE25A71E4}" type="presOf" srcId="{52B71945-1544-4D1E-9913-A013816336B9}" destId="{9422227E-9921-481C-93BB-8F3BDCDD9A3A}" srcOrd="0" destOrd="0" presId="urn:microsoft.com/office/officeart/2005/8/layout/default"/>
    <dgm:cxn modelId="{56E124FD-7FEF-4EEF-AE97-779F436C3615}" type="presOf" srcId="{0EBCFDA7-93D9-4AF7-8F6B-E93AF28C0D66}" destId="{7ADA8973-FC52-4BE0-BA5F-3C26538A7173}" srcOrd="0" destOrd="0" presId="urn:microsoft.com/office/officeart/2005/8/layout/default"/>
    <dgm:cxn modelId="{185C1544-D20F-4BAB-BA88-F30C0710870F}" type="presParOf" srcId="{7ADA8973-FC52-4BE0-BA5F-3C26538A7173}" destId="{0353F168-E2F2-4BF2-9127-1F18A7AB26C6}" srcOrd="0" destOrd="0" presId="urn:microsoft.com/office/officeart/2005/8/layout/default"/>
    <dgm:cxn modelId="{B43CE1ED-B71B-4EB9-8C59-2504A41859BB}" type="presParOf" srcId="{7ADA8973-FC52-4BE0-BA5F-3C26538A7173}" destId="{418C3677-CDA3-465C-AEE5-3265370D6469}" srcOrd="1" destOrd="0" presId="urn:microsoft.com/office/officeart/2005/8/layout/default"/>
    <dgm:cxn modelId="{45FC259E-978F-4F39-87CD-8ACC60740040}" type="presParOf" srcId="{7ADA8973-FC52-4BE0-BA5F-3C26538A7173}" destId="{B5B24182-6AEB-4632-A7F1-DA25427AB613}" srcOrd="2" destOrd="0" presId="urn:microsoft.com/office/officeart/2005/8/layout/default"/>
    <dgm:cxn modelId="{88CE74E0-98D4-43D3-AA0D-A4F73941BC2E}" type="presParOf" srcId="{7ADA8973-FC52-4BE0-BA5F-3C26538A7173}" destId="{2E2DDA53-8BD2-4A4A-A7EF-CD11ABD9BC77}" srcOrd="3" destOrd="0" presId="urn:microsoft.com/office/officeart/2005/8/layout/default"/>
    <dgm:cxn modelId="{AB56C592-30C8-4314-AEB0-8BBB004F722A}" type="presParOf" srcId="{7ADA8973-FC52-4BE0-BA5F-3C26538A7173}" destId="{60F1E27E-515E-4AD7-8611-4A46E32F9647}" srcOrd="4" destOrd="0" presId="urn:microsoft.com/office/officeart/2005/8/layout/default"/>
    <dgm:cxn modelId="{2C44399E-E68C-467E-91FC-760B70604E88}" type="presParOf" srcId="{7ADA8973-FC52-4BE0-BA5F-3C26538A7173}" destId="{F4B440EE-F842-4890-B233-1DD74A1F481A}" srcOrd="5" destOrd="0" presId="urn:microsoft.com/office/officeart/2005/8/layout/default"/>
    <dgm:cxn modelId="{CC1379EA-7564-4CEC-B31F-18EEC2DAAE76}" type="presParOf" srcId="{7ADA8973-FC52-4BE0-BA5F-3C26538A7173}" destId="{49955CF1-8B55-48DE-9A30-8F30E28EF567}" srcOrd="6" destOrd="0" presId="urn:microsoft.com/office/officeart/2005/8/layout/default"/>
    <dgm:cxn modelId="{F7C6C0E5-4EB8-44ED-88E8-00A4C02D4926}" type="presParOf" srcId="{7ADA8973-FC52-4BE0-BA5F-3C26538A7173}" destId="{40B26D0C-C89D-4262-A561-14816EF5FFEF}" srcOrd="7" destOrd="0" presId="urn:microsoft.com/office/officeart/2005/8/layout/default"/>
    <dgm:cxn modelId="{BE36730F-F154-43B8-9EF9-79189BF11050}" type="presParOf" srcId="{7ADA8973-FC52-4BE0-BA5F-3C26538A7173}" destId="{9422227E-9921-481C-93BB-8F3BDCDD9A3A}" srcOrd="8" destOrd="0" presId="urn:microsoft.com/office/officeart/2005/8/layout/default"/>
    <dgm:cxn modelId="{1E8DEC37-DEF8-4FB5-8B1A-73CB05273D46}" type="presParOf" srcId="{7ADA8973-FC52-4BE0-BA5F-3C26538A7173}" destId="{3AB2EA3C-DBF8-4688-BB91-B2FAB1B0337F}" srcOrd="9" destOrd="0" presId="urn:microsoft.com/office/officeart/2005/8/layout/default"/>
    <dgm:cxn modelId="{C5EDA0AB-20A1-4B43-9395-94C5AF1D31CB}" type="presParOf" srcId="{7ADA8973-FC52-4BE0-BA5F-3C26538A7173}" destId="{CA347ABC-0AF2-4660-A4A8-22294E20AC94}" srcOrd="10" destOrd="0" presId="urn:microsoft.com/office/officeart/2005/8/layout/default"/>
    <dgm:cxn modelId="{957DA466-0ED0-453C-B745-F17F5F0B9058}" type="presParOf" srcId="{7ADA8973-FC52-4BE0-BA5F-3C26538A7173}" destId="{E51021DC-0EE7-43ED-AC06-7F41117F77F1}" srcOrd="11" destOrd="0" presId="urn:microsoft.com/office/officeart/2005/8/layout/default"/>
    <dgm:cxn modelId="{181313DB-4AE0-40E8-8861-5F59018C12DF}" type="presParOf" srcId="{7ADA8973-FC52-4BE0-BA5F-3C26538A7173}" destId="{00427C60-DC1A-4438-ACE7-B59EDE6DA284}" srcOrd="12" destOrd="0" presId="urn:microsoft.com/office/officeart/2005/8/layout/default"/>
    <dgm:cxn modelId="{A143FF8C-844E-43E2-8114-91EE8348DBC5}" type="presParOf" srcId="{7ADA8973-FC52-4BE0-BA5F-3C26538A7173}" destId="{CDB4B802-4A79-43CC-A46B-B13F2B3165D3}" srcOrd="13" destOrd="0" presId="urn:microsoft.com/office/officeart/2005/8/layout/default"/>
    <dgm:cxn modelId="{F23D7BD0-02D8-4AD7-A104-DF0046594D73}" type="presParOf" srcId="{7ADA8973-FC52-4BE0-BA5F-3C26538A7173}" destId="{D62B9485-1D72-41D4-888B-011B08942627}" srcOrd="14" destOrd="0" presId="urn:microsoft.com/office/officeart/2005/8/layout/default"/>
    <dgm:cxn modelId="{90466E85-CF4F-4C0A-BF2F-D3C06D57F56D}" type="presParOf" srcId="{7ADA8973-FC52-4BE0-BA5F-3C26538A7173}" destId="{2D329416-3F49-4295-9EFF-C72A3CECA2EA}" srcOrd="15" destOrd="0" presId="urn:microsoft.com/office/officeart/2005/8/layout/default"/>
    <dgm:cxn modelId="{012E3D62-6035-42B5-8D3E-BDCA385A5977}" type="presParOf" srcId="{7ADA8973-FC52-4BE0-BA5F-3C26538A7173}" destId="{24D07BB6-9F50-424C-A059-3C01B027A5F5}" srcOrd="1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701675-2628-48BB-B19A-78E43352844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66160B89-8E34-470E-901A-66C08B8DD8C4}">
      <dgm:prSet phldrT="[Text]" custT="1"/>
      <dgm:spPr>
        <a:solidFill>
          <a:srgbClr val="0C1752"/>
        </a:solidFill>
      </dgm:spPr>
      <dgm:t>
        <a:bodyPr/>
        <a:lstStyle/>
        <a:p>
          <a:pPr algn="ctr">
            <a:buNone/>
          </a:pPr>
          <a:r>
            <a:rPr lang="en-US" sz="1800" b="1" dirty="0">
              <a:latin typeface="Montserrat" panose="00000500000000000000" pitchFamily="2" charset="0"/>
            </a:rPr>
            <a:t>Open-source or Closed</a:t>
          </a:r>
          <a:endParaRPr lang="en-CA" sz="1800" dirty="0">
            <a:latin typeface="Montserrat" panose="00000500000000000000" pitchFamily="2" charset="0"/>
          </a:endParaRPr>
        </a:p>
      </dgm:t>
    </dgm:pt>
    <dgm:pt modelId="{3B0221C5-0537-4FA5-BFF8-7C4BABA57746}" type="parTrans" cxnId="{55542BFE-A53F-45C7-AAEB-EB3E72D3B2DE}">
      <dgm:prSet/>
      <dgm:spPr/>
      <dgm:t>
        <a:bodyPr/>
        <a:lstStyle/>
        <a:p>
          <a:endParaRPr lang="en-CA" sz="1600"/>
        </a:p>
      </dgm:t>
    </dgm:pt>
    <dgm:pt modelId="{4222F12A-65CA-4DA9-85F6-320B9889E6AF}" type="sibTrans" cxnId="{55542BFE-A53F-45C7-AAEB-EB3E72D3B2DE}">
      <dgm:prSet/>
      <dgm:spPr/>
      <dgm:t>
        <a:bodyPr/>
        <a:lstStyle/>
        <a:p>
          <a:endParaRPr lang="en-CA" sz="1600"/>
        </a:p>
      </dgm:t>
    </dgm:pt>
    <dgm:pt modelId="{6CBBDD14-A5DD-4DCC-912B-F49C322B1E93}">
      <dgm:prSet custT="1"/>
      <dgm:spPr>
        <a:solidFill>
          <a:srgbClr val="0C1752"/>
        </a:solidFill>
      </dgm:spPr>
      <dgm:t>
        <a:bodyPr/>
        <a:lstStyle/>
        <a:p>
          <a:pPr algn="ctr"/>
          <a:r>
            <a:rPr lang="en-US" sz="1600" dirty="0">
              <a:latin typeface="Montserrat" panose="00000500000000000000" pitchFamily="2" charset="0"/>
            </a:rPr>
            <a:t>Closed (e.g. GPT-5) usually offers better performance and ease of use via APIs.</a:t>
          </a:r>
        </a:p>
      </dgm:t>
    </dgm:pt>
    <dgm:pt modelId="{B5903B53-9551-42D6-87E2-7DFCDB1279A6}" type="parTrans" cxnId="{225C13DB-7E23-4961-B87E-F33CC0548E5F}">
      <dgm:prSet/>
      <dgm:spPr/>
      <dgm:t>
        <a:bodyPr/>
        <a:lstStyle/>
        <a:p>
          <a:endParaRPr lang="en-CA" sz="1600"/>
        </a:p>
      </dgm:t>
    </dgm:pt>
    <dgm:pt modelId="{3329973E-9CF8-452E-95FD-26AA9AD5E682}" type="sibTrans" cxnId="{225C13DB-7E23-4961-B87E-F33CC0548E5F}">
      <dgm:prSet/>
      <dgm:spPr/>
      <dgm:t>
        <a:bodyPr/>
        <a:lstStyle/>
        <a:p>
          <a:endParaRPr lang="en-CA" sz="1600"/>
        </a:p>
      </dgm:t>
    </dgm:pt>
    <dgm:pt modelId="{3F1DF7AA-B365-474B-A921-56F0DC411E2E}">
      <dgm:prSet custT="1"/>
      <dgm:spPr>
        <a:solidFill>
          <a:srgbClr val="D56E48"/>
        </a:solidFill>
      </dgm:spPr>
      <dgm:t>
        <a:bodyPr/>
        <a:lstStyle/>
        <a:p>
          <a:pPr algn="ctr"/>
          <a:r>
            <a:rPr lang="en-US" sz="1800" b="1" dirty="0">
              <a:latin typeface="Montserrat" panose="00000500000000000000" pitchFamily="2" charset="0"/>
            </a:rPr>
            <a:t>Context Length</a:t>
          </a:r>
        </a:p>
      </dgm:t>
    </dgm:pt>
    <dgm:pt modelId="{0F2DC970-B29E-4EB6-9A31-1E986D4BFDA1}" type="parTrans" cxnId="{A07FD7C4-7131-4F7C-AB28-E836AF334E05}">
      <dgm:prSet/>
      <dgm:spPr/>
      <dgm:t>
        <a:bodyPr/>
        <a:lstStyle/>
        <a:p>
          <a:endParaRPr lang="en-CA" sz="1600"/>
        </a:p>
      </dgm:t>
    </dgm:pt>
    <dgm:pt modelId="{D4BA8702-2CBF-405B-A113-53B88854FEDA}" type="sibTrans" cxnId="{A07FD7C4-7131-4F7C-AB28-E836AF334E05}">
      <dgm:prSet/>
      <dgm:spPr/>
      <dgm:t>
        <a:bodyPr/>
        <a:lstStyle/>
        <a:p>
          <a:endParaRPr lang="en-CA" sz="1600"/>
        </a:p>
      </dgm:t>
    </dgm:pt>
    <dgm:pt modelId="{C69DB71A-33B3-44D4-94B3-25D0308E61ED}">
      <dgm:prSet custT="1"/>
      <dgm:spPr>
        <a:solidFill>
          <a:srgbClr val="D56E48"/>
        </a:solidFill>
      </dgm:spPr>
      <dgm:t>
        <a:bodyPr/>
        <a:lstStyle/>
        <a:p>
          <a:pPr algn="ctr"/>
          <a:r>
            <a:rPr lang="en-US" sz="1600" dirty="0">
              <a:latin typeface="Montserrat" panose="00000500000000000000" pitchFamily="2" charset="0"/>
            </a:rPr>
            <a:t>How much input/output the model can handle in one go.</a:t>
          </a:r>
        </a:p>
      </dgm:t>
    </dgm:pt>
    <dgm:pt modelId="{8F0A8BA7-5D15-4F74-8234-E750F03B8F10}" type="parTrans" cxnId="{4BA8D5E5-6EB4-4027-99F0-0BD1282D3605}">
      <dgm:prSet/>
      <dgm:spPr/>
      <dgm:t>
        <a:bodyPr/>
        <a:lstStyle/>
        <a:p>
          <a:endParaRPr lang="en-CA" sz="1600"/>
        </a:p>
      </dgm:t>
    </dgm:pt>
    <dgm:pt modelId="{3208615C-DDE4-4BD1-AAC4-6B455B3B488A}" type="sibTrans" cxnId="{4BA8D5E5-6EB4-4027-99F0-0BD1282D3605}">
      <dgm:prSet/>
      <dgm:spPr/>
      <dgm:t>
        <a:bodyPr/>
        <a:lstStyle/>
        <a:p>
          <a:endParaRPr lang="en-CA" sz="1600"/>
        </a:p>
      </dgm:t>
    </dgm:pt>
    <dgm:pt modelId="{C33014E5-171E-4C78-9873-EDE65E42B3A8}">
      <dgm:prSet custT="1"/>
      <dgm:spPr>
        <a:solidFill>
          <a:srgbClr val="D56E48"/>
        </a:solidFill>
      </dgm:spPr>
      <dgm:t>
        <a:bodyPr/>
        <a:lstStyle/>
        <a:p>
          <a:pPr algn="ctr"/>
          <a:r>
            <a:rPr lang="en-US" sz="1600" dirty="0">
              <a:latin typeface="Montserrat" panose="00000500000000000000" pitchFamily="2" charset="0"/>
            </a:rPr>
            <a:t>For long documents or multi-turn conversations, longer context is better (e.g., Gemini 2.5 Flash has 1M Window).</a:t>
          </a:r>
        </a:p>
      </dgm:t>
    </dgm:pt>
    <dgm:pt modelId="{3F2F2229-6864-44CD-8357-DCABBF269A01}" type="parTrans" cxnId="{A65CCF91-774D-496E-BF72-424E4D9BBBA4}">
      <dgm:prSet/>
      <dgm:spPr/>
      <dgm:t>
        <a:bodyPr/>
        <a:lstStyle/>
        <a:p>
          <a:endParaRPr lang="en-CA" sz="1600"/>
        </a:p>
      </dgm:t>
    </dgm:pt>
    <dgm:pt modelId="{622E3180-EAC6-42FE-9433-3517AD62358F}" type="sibTrans" cxnId="{A65CCF91-774D-496E-BF72-424E4D9BBBA4}">
      <dgm:prSet/>
      <dgm:spPr/>
      <dgm:t>
        <a:bodyPr/>
        <a:lstStyle/>
        <a:p>
          <a:endParaRPr lang="en-CA" sz="1600"/>
        </a:p>
      </dgm:t>
    </dgm:pt>
    <dgm:pt modelId="{5664CF71-3B36-4AD1-88C1-E2D53CAFF96A}">
      <dgm:prSet custT="1"/>
      <dgm:spPr>
        <a:solidFill>
          <a:schemeClr val="bg1">
            <a:lumMod val="65000"/>
          </a:schemeClr>
        </a:solidFill>
      </dgm:spPr>
      <dgm:t>
        <a:bodyPr/>
        <a:lstStyle/>
        <a:p>
          <a:pPr algn="ctr"/>
          <a:r>
            <a:rPr lang="en-US" sz="1800" b="1" dirty="0">
              <a:latin typeface="Montserrat" panose="00000500000000000000" pitchFamily="2" charset="0"/>
            </a:rPr>
            <a:t>Release Date &amp; Knowledge Cut-off</a:t>
          </a:r>
        </a:p>
      </dgm:t>
    </dgm:pt>
    <dgm:pt modelId="{359A220F-4C20-4F84-B21F-5EFE9DCD1484}" type="parTrans" cxnId="{BCF4898E-0D46-4C42-BE5F-39CF092A08D3}">
      <dgm:prSet/>
      <dgm:spPr/>
      <dgm:t>
        <a:bodyPr/>
        <a:lstStyle/>
        <a:p>
          <a:endParaRPr lang="en-CA" sz="1600"/>
        </a:p>
      </dgm:t>
    </dgm:pt>
    <dgm:pt modelId="{31B92580-933C-4C92-92B4-F1644426BFF1}" type="sibTrans" cxnId="{BCF4898E-0D46-4C42-BE5F-39CF092A08D3}">
      <dgm:prSet/>
      <dgm:spPr/>
      <dgm:t>
        <a:bodyPr/>
        <a:lstStyle/>
        <a:p>
          <a:endParaRPr lang="en-CA" sz="1600"/>
        </a:p>
      </dgm:t>
    </dgm:pt>
    <dgm:pt modelId="{4A608EF5-2B63-49A6-9BB6-6C34169A1128}">
      <dgm:prSet custT="1"/>
      <dgm:spPr>
        <a:solidFill>
          <a:schemeClr val="bg1">
            <a:lumMod val="65000"/>
          </a:schemeClr>
        </a:solidFill>
      </dgm:spPr>
      <dgm:t>
        <a:bodyPr/>
        <a:lstStyle/>
        <a:p>
          <a:pPr algn="ctr"/>
          <a:r>
            <a:rPr lang="en-US" sz="1600" dirty="0">
              <a:latin typeface="Montserrat" panose="00000500000000000000" pitchFamily="2" charset="0"/>
            </a:rPr>
            <a:t>Newer models are trained on more recent data (useful for current events) (e.g.: GPT-3.5’s cut-off is early 2023.</a:t>
          </a:r>
        </a:p>
      </dgm:t>
    </dgm:pt>
    <dgm:pt modelId="{71D48485-CFAD-48CB-9863-9CFFFC446F88}" type="parTrans" cxnId="{CA609692-8BCA-405F-9D08-9D492B59AA71}">
      <dgm:prSet/>
      <dgm:spPr/>
      <dgm:t>
        <a:bodyPr/>
        <a:lstStyle/>
        <a:p>
          <a:endParaRPr lang="en-CA" sz="1600"/>
        </a:p>
      </dgm:t>
    </dgm:pt>
    <dgm:pt modelId="{85A0B412-75BE-4A6A-99F4-AAA81E4A74DB}" type="sibTrans" cxnId="{CA609692-8BCA-405F-9D08-9D492B59AA71}">
      <dgm:prSet/>
      <dgm:spPr/>
      <dgm:t>
        <a:bodyPr/>
        <a:lstStyle/>
        <a:p>
          <a:endParaRPr lang="en-CA" sz="1600"/>
        </a:p>
      </dgm:t>
    </dgm:pt>
    <dgm:pt modelId="{3600A665-44A5-499A-8C1D-03DF7E434A83}">
      <dgm:prSet custT="1"/>
      <dgm:spPr>
        <a:solidFill>
          <a:srgbClr val="1BBFD1"/>
        </a:solidFill>
      </dgm:spPr>
      <dgm:t>
        <a:bodyPr/>
        <a:lstStyle/>
        <a:p>
          <a:pPr algn="ctr"/>
          <a:r>
            <a:rPr lang="en-US" sz="1800" b="1" dirty="0">
              <a:latin typeface="Montserrat" panose="00000500000000000000" pitchFamily="2" charset="0"/>
            </a:rPr>
            <a:t>Parameters</a:t>
          </a:r>
        </a:p>
      </dgm:t>
    </dgm:pt>
    <dgm:pt modelId="{A6837176-D912-4F04-AEFA-AA15ED73EEB4}" type="parTrans" cxnId="{D08EE8CF-A2D7-4272-8E41-E2F917C43DA2}">
      <dgm:prSet/>
      <dgm:spPr/>
      <dgm:t>
        <a:bodyPr/>
        <a:lstStyle/>
        <a:p>
          <a:endParaRPr lang="en-CA" sz="1600"/>
        </a:p>
      </dgm:t>
    </dgm:pt>
    <dgm:pt modelId="{44C96717-91FA-4034-BED5-073DB8C1918F}" type="sibTrans" cxnId="{D08EE8CF-A2D7-4272-8E41-E2F917C43DA2}">
      <dgm:prSet/>
      <dgm:spPr/>
      <dgm:t>
        <a:bodyPr/>
        <a:lstStyle/>
        <a:p>
          <a:endParaRPr lang="en-CA" sz="1600"/>
        </a:p>
      </dgm:t>
    </dgm:pt>
    <dgm:pt modelId="{D48B3841-90DB-4CF7-BD32-291BD48EF0B1}">
      <dgm:prSet custT="1"/>
      <dgm:spPr>
        <a:solidFill>
          <a:srgbClr val="1BBFD1"/>
        </a:solidFill>
      </dgm:spPr>
      <dgm:t>
        <a:bodyPr/>
        <a:lstStyle/>
        <a:p>
          <a:pPr algn="ctr"/>
          <a:r>
            <a:rPr lang="en-US" sz="1600" dirty="0">
              <a:latin typeface="Montserrat" panose="00000500000000000000" pitchFamily="2" charset="0"/>
            </a:rPr>
            <a:t>More parameters usually = more capacity (e.g., GPT-3 has 175B).</a:t>
          </a:r>
        </a:p>
      </dgm:t>
    </dgm:pt>
    <dgm:pt modelId="{28790B75-7FCF-49D7-AA5F-0416F5786346}" type="parTrans" cxnId="{2F4DE75D-381B-4E58-B03F-4022C5B702E5}">
      <dgm:prSet/>
      <dgm:spPr/>
      <dgm:t>
        <a:bodyPr/>
        <a:lstStyle/>
        <a:p>
          <a:endParaRPr lang="en-CA" sz="1600"/>
        </a:p>
      </dgm:t>
    </dgm:pt>
    <dgm:pt modelId="{20B558F8-4443-46E8-8A39-C0F0CC6B6D52}" type="sibTrans" cxnId="{2F4DE75D-381B-4E58-B03F-4022C5B702E5}">
      <dgm:prSet/>
      <dgm:spPr/>
      <dgm:t>
        <a:bodyPr/>
        <a:lstStyle/>
        <a:p>
          <a:endParaRPr lang="en-CA" sz="1600"/>
        </a:p>
      </dgm:t>
    </dgm:pt>
    <dgm:pt modelId="{585F79A2-9B65-426E-96A3-F444B043F20B}">
      <dgm:prSet custT="1"/>
      <dgm:spPr>
        <a:solidFill>
          <a:srgbClr val="1BBFD1"/>
        </a:solidFill>
      </dgm:spPr>
      <dgm:t>
        <a:bodyPr/>
        <a:lstStyle/>
        <a:p>
          <a:pPr algn="ctr"/>
          <a:r>
            <a:rPr lang="en-US" sz="1600" dirty="0">
              <a:latin typeface="Montserrat" panose="00000500000000000000" pitchFamily="2" charset="0"/>
            </a:rPr>
            <a:t>But bigger isn’t always better for performance or cost, efficiency matters too.</a:t>
          </a:r>
        </a:p>
      </dgm:t>
    </dgm:pt>
    <dgm:pt modelId="{0AA58683-D5B8-4ECF-9AE2-0186EB8A0E35}" type="parTrans" cxnId="{EF5A9F16-9EE5-477B-84E8-BAD1692FF2AC}">
      <dgm:prSet/>
      <dgm:spPr/>
      <dgm:t>
        <a:bodyPr/>
        <a:lstStyle/>
        <a:p>
          <a:endParaRPr lang="en-CA" sz="1600"/>
        </a:p>
      </dgm:t>
    </dgm:pt>
    <dgm:pt modelId="{32889396-63CE-4F6F-8F2E-22DA5DA7740F}" type="sibTrans" cxnId="{EF5A9F16-9EE5-477B-84E8-BAD1692FF2AC}">
      <dgm:prSet/>
      <dgm:spPr/>
      <dgm:t>
        <a:bodyPr/>
        <a:lstStyle/>
        <a:p>
          <a:endParaRPr lang="en-CA" sz="1600"/>
        </a:p>
      </dgm:t>
    </dgm:pt>
    <dgm:pt modelId="{6FC848A7-210D-4121-9E51-5CBDC5DE7E55}">
      <dgm:prSet custT="1"/>
      <dgm:spPr>
        <a:solidFill>
          <a:srgbClr val="0C1752"/>
        </a:solidFill>
      </dgm:spPr>
      <dgm:t>
        <a:bodyPr/>
        <a:lstStyle/>
        <a:p>
          <a:pPr algn="ctr"/>
          <a:r>
            <a:rPr lang="en-US" sz="1800" b="1" dirty="0">
              <a:latin typeface="Montserrat" panose="00000500000000000000" pitchFamily="2" charset="0"/>
            </a:rPr>
            <a:t>Training Tokens</a:t>
          </a:r>
        </a:p>
      </dgm:t>
    </dgm:pt>
    <dgm:pt modelId="{10847966-3B6A-4B4D-A099-71C227CE44CD}" type="parTrans" cxnId="{1C82B913-1642-4F56-8279-36471D6166E2}">
      <dgm:prSet/>
      <dgm:spPr/>
      <dgm:t>
        <a:bodyPr/>
        <a:lstStyle/>
        <a:p>
          <a:endParaRPr lang="en-CA" sz="1600"/>
        </a:p>
      </dgm:t>
    </dgm:pt>
    <dgm:pt modelId="{CF5724C1-CBE0-4468-8837-EA23DB0EA824}" type="sibTrans" cxnId="{1C82B913-1642-4F56-8279-36471D6166E2}">
      <dgm:prSet/>
      <dgm:spPr/>
      <dgm:t>
        <a:bodyPr/>
        <a:lstStyle/>
        <a:p>
          <a:endParaRPr lang="en-CA" sz="1600"/>
        </a:p>
      </dgm:t>
    </dgm:pt>
    <dgm:pt modelId="{A2A45F61-7099-40C2-AAE8-F9D375B9316E}">
      <dgm:prSet custT="1"/>
      <dgm:spPr>
        <a:solidFill>
          <a:srgbClr val="0C1752"/>
        </a:solidFill>
      </dgm:spPr>
      <dgm:t>
        <a:bodyPr/>
        <a:lstStyle/>
        <a:p>
          <a:pPr algn="ctr"/>
          <a:r>
            <a:rPr lang="en-US" sz="1600" dirty="0">
              <a:latin typeface="Montserrat" panose="00000500000000000000" pitchFamily="2" charset="0"/>
            </a:rPr>
            <a:t>Refers to how much text the model was trained on.</a:t>
          </a:r>
        </a:p>
      </dgm:t>
    </dgm:pt>
    <dgm:pt modelId="{737C5C26-DB70-4EFB-AB49-05ED3CA6EE05}" type="parTrans" cxnId="{EA623D7B-9922-470C-B7F6-E9BA86B6B7A3}">
      <dgm:prSet/>
      <dgm:spPr/>
      <dgm:t>
        <a:bodyPr/>
        <a:lstStyle/>
        <a:p>
          <a:endParaRPr lang="en-CA" sz="1600"/>
        </a:p>
      </dgm:t>
    </dgm:pt>
    <dgm:pt modelId="{B6D20A5B-7245-4AEB-AF50-C92BA9EDB950}" type="sibTrans" cxnId="{EA623D7B-9922-470C-B7F6-E9BA86B6B7A3}">
      <dgm:prSet/>
      <dgm:spPr/>
      <dgm:t>
        <a:bodyPr/>
        <a:lstStyle/>
        <a:p>
          <a:endParaRPr lang="en-CA" sz="1600"/>
        </a:p>
      </dgm:t>
    </dgm:pt>
    <dgm:pt modelId="{631F5968-3CFB-4218-A716-E17E3A3CC04F}">
      <dgm:prSet custT="1"/>
      <dgm:spPr>
        <a:solidFill>
          <a:srgbClr val="0C1752"/>
        </a:solidFill>
      </dgm:spPr>
      <dgm:t>
        <a:bodyPr/>
        <a:lstStyle/>
        <a:p>
          <a:pPr algn="ctr"/>
          <a:r>
            <a:rPr lang="en-US" sz="1600" dirty="0">
              <a:latin typeface="Montserrat" panose="00000500000000000000" pitchFamily="2" charset="0"/>
            </a:rPr>
            <a:t>More tokens = broader language understanding and generalization</a:t>
          </a:r>
        </a:p>
      </dgm:t>
    </dgm:pt>
    <dgm:pt modelId="{DE1E82C7-0CA7-4FD3-8FD0-B82C3CF5094C}" type="parTrans" cxnId="{ECBC9BBB-1F98-488F-A2D2-791F551D1D7A}">
      <dgm:prSet/>
      <dgm:spPr/>
      <dgm:t>
        <a:bodyPr/>
        <a:lstStyle/>
        <a:p>
          <a:endParaRPr lang="en-CA" sz="1600"/>
        </a:p>
      </dgm:t>
    </dgm:pt>
    <dgm:pt modelId="{7AD29FC6-3C24-48EC-B9DF-103056F046BD}" type="sibTrans" cxnId="{ECBC9BBB-1F98-488F-A2D2-791F551D1D7A}">
      <dgm:prSet/>
      <dgm:spPr/>
      <dgm:t>
        <a:bodyPr/>
        <a:lstStyle/>
        <a:p>
          <a:endParaRPr lang="en-CA" sz="1600"/>
        </a:p>
      </dgm:t>
    </dgm:pt>
    <dgm:pt modelId="{25CA3BB3-E455-4C91-A7A2-4CA1423D5DE5}">
      <dgm:prSet phldrT="[Text]" custT="1"/>
      <dgm:spPr>
        <a:solidFill>
          <a:srgbClr val="0C1752"/>
        </a:solidFill>
      </dgm:spPr>
      <dgm:t>
        <a:bodyPr/>
        <a:lstStyle/>
        <a:p>
          <a:pPr algn="ctr">
            <a:buNone/>
          </a:pPr>
          <a:r>
            <a:rPr lang="en-US" sz="1600" dirty="0">
              <a:latin typeface="Montserrat" panose="00000500000000000000" pitchFamily="2" charset="0"/>
            </a:rPr>
            <a:t>Open-source (e.g. LLaMA) gives you flexibility, full control, and lower cost if self-hosted.</a:t>
          </a:r>
          <a:endParaRPr lang="en-CA" sz="1600" dirty="0">
            <a:latin typeface="Montserrat" panose="00000500000000000000" pitchFamily="2" charset="0"/>
          </a:endParaRPr>
        </a:p>
      </dgm:t>
    </dgm:pt>
    <dgm:pt modelId="{A78C69AA-3C9C-41C4-BADA-07C99D9B4DD2}" type="parTrans" cxnId="{56EC4FD8-3DD6-46AB-BDC8-967EC4FB19F1}">
      <dgm:prSet/>
      <dgm:spPr/>
      <dgm:t>
        <a:bodyPr/>
        <a:lstStyle/>
        <a:p>
          <a:endParaRPr lang="en-CA" sz="1600"/>
        </a:p>
      </dgm:t>
    </dgm:pt>
    <dgm:pt modelId="{04BC0E57-F42D-4BCB-BE2E-EA08A840BB2D}" type="sibTrans" cxnId="{56EC4FD8-3DD6-46AB-BDC8-967EC4FB19F1}">
      <dgm:prSet/>
      <dgm:spPr/>
      <dgm:t>
        <a:bodyPr/>
        <a:lstStyle/>
        <a:p>
          <a:endParaRPr lang="en-CA" sz="1600"/>
        </a:p>
      </dgm:t>
    </dgm:pt>
    <dgm:pt modelId="{A967BCF3-3819-4442-BB23-31C0CECF9B54}">
      <dgm:prSet custT="1"/>
      <dgm:spPr>
        <a:solidFill>
          <a:srgbClr val="D56E48"/>
        </a:solidFill>
      </dgm:spPr>
      <dgm:t>
        <a:bodyPr/>
        <a:lstStyle/>
        <a:p>
          <a:pPr algn="ctr"/>
          <a:r>
            <a:rPr lang="en-US" sz="1800" b="1" kern="1200" dirty="0">
              <a:latin typeface="Montserrat" panose="00000500000000000000" pitchFamily="2" charset="0"/>
            </a:rPr>
            <a:t>Cost</a:t>
          </a:r>
        </a:p>
      </dgm:t>
    </dgm:pt>
    <dgm:pt modelId="{926A645D-8CD3-474E-9DF0-6D0C585601AB}" type="parTrans" cxnId="{29808AA7-E723-4916-BC05-AC5C20E620EF}">
      <dgm:prSet/>
      <dgm:spPr/>
      <dgm:t>
        <a:bodyPr/>
        <a:lstStyle/>
        <a:p>
          <a:endParaRPr lang="en-CA"/>
        </a:p>
      </dgm:t>
    </dgm:pt>
    <dgm:pt modelId="{60BC0AEA-D02E-47BD-9E9B-973EF86C5C2F}" type="sibTrans" cxnId="{29808AA7-E723-4916-BC05-AC5C20E620EF}">
      <dgm:prSet/>
      <dgm:spPr/>
      <dgm:t>
        <a:bodyPr/>
        <a:lstStyle/>
        <a:p>
          <a:endParaRPr lang="en-CA"/>
        </a:p>
      </dgm:t>
    </dgm:pt>
    <dgm:pt modelId="{32F80FE9-F039-4324-97B2-C625065A389D}">
      <dgm:prSet custT="1"/>
      <dgm:spPr>
        <a:solidFill>
          <a:srgbClr val="D56E48"/>
        </a:solidFill>
      </dgm:spPr>
      <dgm:t>
        <a:bodyPr/>
        <a:lstStyle/>
        <a:p>
          <a:pPr algn="ctr"/>
          <a:r>
            <a:rPr lang="en-US" sz="1600" kern="1200" dirty="0">
              <a:solidFill>
                <a:prstClr val="white"/>
              </a:solidFill>
              <a:latin typeface="Montserrat" panose="00000500000000000000" pitchFamily="2" charset="0"/>
              <a:ea typeface="+mn-ea"/>
              <a:cs typeface="+mn-cs"/>
            </a:rPr>
            <a:t>Cost is a critical parameter in deciding whether to deploy open- or closed-source models. It is typically priced per 1K/1M input and output tokens </a:t>
          </a:r>
        </a:p>
      </dgm:t>
    </dgm:pt>
    <dgm:pt modelId="{E0D97EE3-42B6-4A83-A5BC-3149D0D7CD9B}" type="parTrans" cxnId="{1EB98F2D-A988-49A6-9D55-385344B4924D}">
      <dgm:prSet/>
      <dgm:spPr/>
      <dgm:t>
        <a:bodyPr/>
        <a:lstStyle/>
        <a:p>
          <a:endParaRPr lang="en-CA"/>
        </a:p>
      </dgm:t>
    </dgm:pt>
    <dgm:pt modelId="{19A5B80B-1C88-49F6-91B4-120B5B629F30}" type="sibTrans" cxnId="{1EB98F2D-A988-49A6-9D55-385344B4924D}">
      <dgm:prSet/>
      <dgm:spPr/>
      <dgm:t>
        <a:bodyPr/>
        <a:lstStyle/>
        <a:p>
          <a:endParaRPr lang="en-CA"/>
        </a:p>
      </dgm:t>
    </dgm:pt>
    <dgm:pt modelId="{D9089176-832D-4072-AA14-F5882F96BE52}" type="pres">
      <dgm:prSet presAssocID="{AE701675-2628-48BB-B19A-78E43352844D}" presName="diagram" presStyleCnt="0">
        <dgm:presLayoutVars>
          <dgm:dir/>
          <dgm:resizeHandles val="exact"/>
        </dgm:presLayoutVars>
      </dgm:prSet>
      <dgm:spPr/>
    </dgm:pt>
    <dgm:pt modelId="{22A683DA-2E6C-4A1D-B5EB-00B316BB5618}" type="pres">
      <dgm:prSet presAssocID="{66160B89-8E34-470E-901A-66C08B8DD8C4}" presName="node" presStyleLbl="node1" presStyleIdx="0" presStyleCnt="6">
        <dgm:presLayoutVars>
          <dgm:bulletEnabled val="1"/>
        </dgm:presLayoutVars>
      </dgm:prSet>
      <dgm:spPr/>
    </dgm:pt>
    <dgm:pt modelId="{27DA22F2-1C6F-4E84-9D38-7C3E74C00577}" type="pres">
      <dgm:prSet presAssocID="{4222F12A-65CA-4DA9-85F6-320B9889E6AF}" presName="sibTrans" presStyleCnt="0"/>
      <dgm:spPr/>
    </dgm:pt>
    <dgm:pt modelId="{91CC4636-DDCB-4FB1-83BD-729F95322A26}" type="pres">
      <dgm:prSet presAssocID="{3F1DF7AA-B365-474B-A921-56F0DC411E2E}" presName="node" presStyleLbl="node1" presStyleIdx="1" presStyleCnt="6">
        <dgm:presLayoutVars>
          <dgm:bulletEnabled val="1"/>
        </dgm:presLayoutVars>
      </dgm:prSet>
      <dgm:spPr/>
    </dgm:pt>
    <dgm:pt modelId="{D5C972CF-A21D-4D31-BDF9-41C6B6C7E07E}" type="pres">
      <dgm:prSet presAssocID="{D4BA8702-2CBF-405B-A113-53B88854FEDA}" presName="sibTrans" presStyleCnt="0"/>
      <dgm:spPr/>
    </dgm:pt>
    <dgm:pt modelId="{5F91D587-461E-40AC-AD18-81F1604A5BB0}" type="pres">
      <dgm:prSet presAssocID="{5664CF71-3B36-4AD1-88C1-E2D53CAFF96A}" presName="node" presStyleLbl="node1" presStyleIdx="2" presStyleCnt="6">
        <dgm:presLayoutVars>
          <dgm:bulletEnabled val="1"/>
        </dgm:presLayoutVars>
      </dgm:prSet>
      <dgm:spPr/>
    </dgm:pt>
    <dgm:pt modelId="{2F6B6815-6FF4-42C2-9351-A17E8FF59AC4}" type="pres">
      <dgm:prSet presAssocID="{31B92580-933C-4C92-92B4-F1644426BFF1}" presName="sibTrans" presStyleCnt="0"/>
      <dgm:spPr/>
    </dgm:pt>
    <dgm:pt modelId="{8356DDC2-D974-41EE-9499-E52BC9F2CC40}" type="pres">
      <dgm:prSet presAssocID="{3600A665-44A5-499A-8C1D-03DF7E434A83}" presName="node" presStyleLbl="node1" presStyleIdx="3" presStyleCnt="6">
        <dgm:presLayoutVars>
          <dgm:bulletEnabled val="1"/>
        </dgm:presLayoutVars>
      </dgm:prSet>
      <dgm:spPr/>
    </dgm:pt>
    <dgm:pt modelId="{8E49A63F-868D-4DE0-9CF4-ACF5CF9A38A3}" type="pres">
      <dgm:prSet presAssocID="{44C96717-91FA-4034-BED5-073DB8C1918F}" presName="sibTrans" presStyleCnt="0"/>
      <dgm:spPr/>
    </dgm:pt>
    <dgm:pt modelId="{50F23731-CF3F-4209-BB59-D0165D9332CB}" type="pres">
      <dgm:prSet presAssocID="{6FC848A7-210D-4121-9E51-5CBDC5DE7E55}" presName="node" presStyleLbl="node1" presStyleIdx="4" presStyleCnt="6">
        <dgm:presLayoutVars>
          <dgm:bulletEnabled val="1"/>
        </dgm:presLayoutVars>
      </dgm:prSet>
      <dgm:spPr/>
    </dgm:pt>
    <dgm:pt modelId="{2B350AB0-4F94-415A-99C9-8BE810BAD020}" type="pres">
      <dgm:prSet presAssocID="{CF5724C1-CBE0-4468-8837-EA23DB0EA824}" presName="sibTrans" presStyleCnt="0"/>
      <dgm:spPr/>
    </dgm:pt>
    <dgm:pt modelId="{DC6C59F9-2E11-4C92-9346-2C559100749B}" type="pres">
      <dgm:prSet presAssocID="{A967BCF3-3819-4442-BB23-31C0CECF9B54}" presName="node" presStyleLbl="node1" presStyleIdx="5" presStyleCnt="6">
        <dgm:presLayoutVars>
          <dgm:bulletEnabled val="1"/>
        </dgm:presLayoutVars>
      </dgm:prSet>
      <dgm:spPr/>
    </dgm:pt>
  </dgm:ptLst>
  <dgm:cxnLst>
    <dgm:cxn modelId="{A3EA7711-AD9D-4EE4-A5A5-166A9C1EEC7E}" type="presOf" srcId="{5664CF71-3B36-4AD1-88C1-E2D53CAFF96A}" destId="{5F91D587-461E-40AC-AD18-81F1604A5BB0}" srcOrd="0" destOrd="0" presId="urn:microsoft.com/office/officeart/2005/8/layout/default"/>
    <dgm:cxn modelId="{4427C411-850C-4053-92BA-9CCFD13F2D89}" type="presOf" srcId="{3600A665-44A5-499A-8C1D-03DF7E434A83}" destId="{8356DDC2-D974-41EE-9499-E52BC9F2CC40}" srcOrd="0" destOrd="0" presId="urn:microsoft.com/office/officeart/2005/8/layout/default"/>
    <dgm:cxn modelId="{1C82B913-1642-4F56-8279-36471D6166E2}" srcId="{AE701675-2628-48BB-B19A-78E43352844D}" destId="{6FC848A7-210D-4121-9E51-5CBDC5DE7E55}" srcOrd="4" destOrd="0" parTransId="{10847966-3B6A-4B4D-A099-71C227CE44CD}" sibTransId="{CF5724C1-CBE0-4468-8837-EA23DB0EA824}"/>
    <dgm:cxn modelId="{96595E14-6669-4291-B874-E60D2F8B43E4}" type="presOf" srcId="{C33014E5-171E-4C78-9873-EDE65E42B3A8}" destId="{91CC4636-DDCB-4FB1-83BD-729F95322A26}" srcOrd="0" destOrd="2" presId="urn:microsoft.com/office/officeart/2005/8/layout/default"/>
    <dgm:cxn modelId="{EF5A9F16-9EE5-477B-84E8-BAD1692FF2AC}" srcId="{3600A665-44A5-499A-8C1D-03DF7E434A83}" destId="{585F79A2-9B65-426E-96A3-F444B043F20B}" srcOrd="1" destOrd="0" parTransId="{0AA58683-D5B8-4ECF-9AE2-0186EB8A0E35}" sibTransId="{32889396-63CE-4F6F-8F2E-22DA5DA7740F}"/>
    <dgm:cxn modelId="{6C080419-FE01-420D-8B78-9909AAE78982}" type="presOf" srcId="{3F1DF7AA-B365-474B-A921-56F0DC411E2E}" destId="{91CC4636-DDCB-4FB1-83BD-729F95322A26}" srcOrd="0" destOrd="0" presId="urn:microsoft.com/office/officeart/2005/8/layout/default"/>
    <dgm:cxn modelId="{1EB98F2D-A988-49A6-9D55-385344B4924D}" srcId="{A967BCF3-3819-4442-BB23-31C0CECF9B54}" destId="{32F80FE9-F039-4324-97B2-C625065A389D}" srcOrd="0" destOrd="0" parTransId="{E0D97EE3-42B6-4A83-A5BC-3149D0D7CD9B}" sibTransId="{19A5B80B-1C88-49F6-91B4-120B5B629F30}"/>
    <dgm:cxn modelId="{4C9CA03E-8B9E-499B-A8E3-081CA0D0A086}" type="presOf" srcId="{25CA3BB3-E455-4C91-A7A2-4CA1423D5DE5}" destId="{22A683DA-2E6C-4A1D-B5EB-00B316BB5618}" srcOrd="0" destOrd="1" presId="urn:microsoft.com/office/officeart/2005/8/layout/default"/>
    <dgm:cxn modelId="{2F4DE75D-381B-4E58-B03F-4022C5B702E5}" srcId="{3600A665-44A5-499A-8C1D-03DF7E434A83}" destId="{D48B3841-90DB-4CF7-BD32-291BD48EF0B1}" srcOrd="0" destOrd="0" parTransId="{28790B75-7FCF-49D7-AA5F-0416F5786346}" sibTransId="{20B558F8-4443-46E8-8A39-C0F0CC6B6D52}"/>
    <dgm:cxn modelId="{321B2D61-A8DB-49FA-801A-BD5808443914}" type="presOf" srcId="{32F80FE9-F039-4324-97B2-C625065A389D}" destId="{DC6C59F9-2E11-4C92-9346-2C559100749B}" srcOrd="0" destOrd="1" presId="urn:microsoft.com/office/officeart/2005/8/layout/default"/>
    <dgm:cxn modelId="{17A6AC61-FF99-4051-84DD-5AAB5BD3CCD2}" type="presOf" srcId="{C69DB71A-33B3-44D4-94B3-25D0308E61ED}" destId="{91CC4636-DDCB-4FB1-83BD-729F95322A26}" srcOrd="0" destOrd="1" presId="urn:microsoft.com/office/officeart/2005/8/layout/default"/>
    <dgm:cxn modelId="{6616EF58-D064-4D15-AD5D-F0ED18DEAEA1}" type="presOf" srcId="{A967BCF3-3819-4442-BB23-31C0CECF9B54}" destId="{DC6C59F9-2E11-4C92-9346-2C559100749B}" srcOrd="0" destOrd="0" presId="urn:microsoft.com/office/officeart/2005/8/layout/default"/>
    <dgm:cxn modelId="{EA623D7B-9922-470C-B7F6-E9BA86B6B7A3}" srcId="{6FC848A7-210D-4121-9E51-5CBDC5DE7E55}" destId="{A2A45F61-7099-40C2-AAE8-F9D375B9316E}" srcOrd="0" destOrd="0" parTransId="{737C5C26-DB70-4EFB-AB49-05ED3CA6EE05}" sibTransId="{B6D20A5B-7245-4AEB-AF50-C92BA9EDB950}"/>
    <dgm:cxn modelId="{E8067388-F89B-4818-9EF3-C7C504716D13}" type="presOf" srcId="{6FC848A7-210D-4121-9E51-5CBDC5DE7E55}" destId="{50F23731-CF3F-4209-BB59-D0165D9332CB}" srcOrd="0" destOrd="0" presId="urn:microsoft.com/office/officeart/2005/8/layout/default"/>
    <dgm:cxn modelId="{BCF4898E-0D46-4C42-BE5F-39CF092A08D3}" srcId="{AE701675-2628-48BB-B19A-78E43352844D}" destId="{5664CF71-3B36-4AD1-88C1-E2D53CAFF96A}" srcOrd="2" destOrd="0" parTransId="{359A220F-4C20-4F84-B21F-5EFE9DCD1484}" sibTransId="{31B92580-933C-4C92-92B4-F1644426BFF1}"/>
    <dgm:cxn modelId="{ECC73091-A632-4227-B09C-8608BCBA6A7A}" type="presOf" srcId="{6CBBDD14-A5DD-4DCC-912B-F49C322B1E93}" destId="{22A683DA-2E6C-4A1D-B5EB-00B316BB5618}" srcOrd="0" destOrd="2" presId="urn:microsoft.com/office/officeart/2005/8/layout/default"/>
    <dgm:cxn modelId="{A65CCF91-774D-496E-BF72-424E4D9BBBA4}" srcId="{3F1DF7AA-B365-474B-A921-56F0DC411E2E}" destId="{C33014E5-171E-4C78-9873-EDE65E42B3A8}" srcOrd="1" destOrd="0" parTransId="{3F2F2229-6864-44CD-8357-DCABBF269A01}" sibTransId="{622E3180-EAC6-42FE-9433-3517AD62358F}"/>
    <dgm:cxn modelId="{CA609692-8BCA-405F-9D08-9D492B59AA71}" srcId="{5664CF71-3B36-4AD1-88C1-E2D53CAFF96A}" destId="{4A608EF5-2B63-49A6-9BB6-6C34169A1128}" srcOrd="0" destOrd="0" parTransId="{71D48485-CFAD-48CB-9863-9CFFFC446F88}" sibTransId="{85A0B412-75BE-4A6A-99F4-AAA81E4A74DB}"/>
    <dgm:cxn modelId="{2E77979D-101F-4C21-B9BE-423219429F86}" type="presOf" srcId="{66160B89-8E34-470E-901A-66C08B8DD8C4}" destId="{22A683DA-2E6C-4A1D-B5EB-00B316BB5618}" srcOrd="0" destOrd="0" presId="urn:microsoft.com/office/officeart/2005/8/layout/default"/>
    <dgm:cxn modelId="{8828EBA5-ED35-4586-A031-F1452B000C64}" type="presOf" srcId="{631F5968-3CFB-4218-A716-E17E3A3CC04F}" destId="{50F23731-CF3F-4209-BB59-D0165D9332CB}" srcOrd="0" destOrd="2" presId="urn:microsoft.com/office/officeart/2005/8/layout/default"/>
    <dgm:cxn modelId="{29808AA7-E723-4916-BC05-AC5C20E620EF}" srcId="{AE701675-2628-48BB-B19A-78E43352844D}" destId="{A967BCF3-3819-4442-BB23-31C0CECF9B54}" srcOrd="5" destOrd="0" parTransId="{926A645D-8CD3-474E-9DF0-6D0C585601AB}" sibTransId="{60BC0AEA-D02E-47BD-9E9B-973EF86C5C2F}"/>
    <dgm:cxn modelId="{20F1E2B1-B14C-4E71-B479-4BC232467259}" type="presOf" srcId="{D48B3841-90DB-4CF7-BD32-291BD48EF0B1}" destId="{8356DDC2-D974-41EE-9499-E52BC9F2CC40}" srcOrd="0" destOrd="1" presId="urn:microsoft.com/office/officeart/2005/8/layout/default"/>
    <dgm:cxn modelId="{ECBC9BBB-1F98-488F-A2D2-791F551D1D7A}" srcId="{6FC848A7-210D-4121-9E51-5CBDC5DE7E55}" destId="{631F5968-3CFB-4218-A716-E17E3A3CC04F}" srcOrd="1" destOrd="0" parTransId="{DE1E82C7-0CA7-4FD3-8FD0-B82C3CF5094C}" sibTransId="{7AD29FC6-3C24-48EC-B9DF-103056F046BD}"/>
    <dgm:cxn modelId="{72A3F6BC-40A1-42E1-99CD-50AA4B3AD539}" type="presOf" srcId="{585F79A2-9B65-426E-96A3-F444B043F20B}" destId="{8356DDC2-D974-41EE-9499-E52BC9F2CC40}" srcOrd="0" destOrd="2" presId="urn:microsoft.com/office/officeart/2005/8/layout/default"/>
    <dgm:cxn modelId="{A07FD7C4-7131-4F7C-AB28-E836AF334E05}" srcId="{AE701675-2628-48BB-B19A-78E43352844D}" destId="{3F1DF7AA-B365-474B-A921-56F0DC411E2E}" srcOrd="1" destOrd="0" parTransId="{0F2DC970-B29E-4EB6-9A31-1E986D4BFDA1}" sibTransId="{D4BA8702-2CBF-405B-A113-53B88854FEDA}"/>
    <dgm:cxn modelId="{D08EE8CF-A2D7-4272-8E41-E2F917C43DA2}" srcId="{AE701675-2628-48BB-B19A-78E43352844D}" destId="{3600A665-44A5-499A-8C1D-03DF7E434A83}" srcOrd="3" destOrd="0" parTransId="{A6837176-D912-4F04-AEFA-AA15ED73EEB4}" sibTransId="{44C96717-91FA-4034-BED5-073DB8C1918F}"/>
    <dgm:cxn modelId="{56EC4FD8-3DD6-46AB-BDC8-967EC4FB19F1}" srcId="{66160B89-8E34-470E-901A-66C08B8DD8C4}" destId="{25CA3BB3-E455-4C91-A7A2-4CA1423D5DE5}" srcOrd="0" destOrd="0" parTransId="{A78C69AA-3C9C-41C4-BADA-07C99D9B4DD2}" sibTransId="{04BC0E57-F42D-4BCB-BE2E-EA08A840BB2D}"/>
    <dgm:cxn modelId="{9B94C1D8-D175-404D-AB59-074DE5CE4F37}" type="presOf" srcId="{4A608EF5-2B63-49A6-9BB6-6C34169A1128}" destId="{5F91D587-461E-40AC-AD18-81F1604A5BB0}" srcOrd="0" destOrd="1" presId="urn:microsoft.com/office/officeart/2005/8/layout/default"/>
    <dgm:cxn modelId="{225C13DB-7E23-4961-B87E-F33CC0548E5F}" srcId="{66160B89-8E34-470E-901A-66C08B8DD8C4}" destId="{6CBBDD14-A5DD-4DCC-912B-F49C322B1E93}" srcOrd="1" destOrd="0" parTransId="{B5903B53-9551-42D6-87E2-7DFCDB1279A6}" sibTransId="{3329973E-9CF8-452E-95FD-26AA9AD5E682}"/>
    <dgm:cxn modelId="{4BA8D5E5-6EB4-4027-99F0-0BD1282D3605}" srcId="{3F1DF7AA-B365-474B-A921-56F0DC411E2E}" destId="{C69DB71A-33B3-44D4-94B3-25D0308E61ED}" srcOrd="0" destOrd="0" parTransId="{8F0A8BA7-5D15-4F74-8234-E750F03B8F10}" sibTransId="{3208615C-DDE4-4BD1-AAC4-6B455B3B488A}"/>
    <dgm:cxn modelId="{3F8E72EC-DDA9-455E-8849-1C649711D3BE}" type="presOf" srcId="{AE701675-2628-48BB-B19A-78E43352844D}" destId="{D9089176-832D-4072-AA14-F5882F96BE52}" srcOrd="0" destOrd="0" presId="urn:microsoft.com/office/officeart/2005/8/layout/default"/>
    <dgm:cxn modelId="{55542BFE-A53F-45C7-AAEB-EB3E72D3B2DE}" srcId="{AE701675-2628-48BB-B19A-78E43352844D}" destId="{66160B89-8E34-470E-901A-66C08B8DD8C4}" srcOrd="0" destOrd="0" parTransId="{3B0221C5-0537-4FA5-BFF8-7C4BABA57746}" sibTransId="{4222F12A-65CA-4DA9-85F6-320B9889E6AF}"/>
    <dgm:cxn modelId="{870C0BFF-106C-4488-8AAF-6CF9E40C1B1F}" type="presOf" srcId="{A2A45F61-7099-40C2-AAE8-F9D375B9316E}" destId="{50F23731-CF3F-4209-BB59-D0165D9332CB}" srcOrd="0" destOrd="1" presId="urn:microsoft.com/office/officeart/2005/8/layout/default"/>
    <dgm:cxn modelId="{0A64C8A0-3564-48D6-AD35-0B37F3243250}" type="presParOf" srcId="{D9089176-832D-4072-AA14-F5882F96BE52}" destId="{22A683DA-2E6C-4A1D-B5EB-00B316BB5618}" srcOrd="0" destOrd="0" presId="urn:microsoft.com/office/officeart/2005/8/layout/default"/>
    <dgm:cxn modelId="{5852ED1D-F776-48AA-8DCF-CBBFFECF0907}" type="presParOf" srcId="{D9089176-832D-4072-AA14-F5882F96BE52}" destId="{27DA22F2-1C6F-4E84-9D38-7C3E74C00577}" srcOrd="1" destOrd="0" presId="urn:microsoft.com/office/officeart/2005/8/layout/default"/>
    <dgm:cxn modelId="{AD9622BC-8A00-4B38-BA91-51248FE7A386}" type="presParOf" srcId="{D9089176-832D-4072-AA14-F5882F96BE52}" destId="{91CC4636-DDCB-4FB1-83BD-729F95322A26}" srcOrd="2" destOrd="0" presId="urn:microsoft.com/office/officeart/2005/8/layout/default"/>
    <dgm:cxn modelId="{2A16603A-6AE0-41E1-8736-9CC5DFF61F80}" type="presParOf" srcId="{D9089176-832D-4072-AA14-F5882F96BE52}" destId="{D5C972CF-A21D-4D31-BDF9-41C6B6C7E07E}" srcOrd="3" destOrd="0" presId="urn:microsoft.com/office/officeart/2005/8/layout/default"/>
    <dgm:cxn modelId="{38B44424-F0D7-4451-BE58-1BDD0D93B197}" type="presParOf" srcId="{D9089176-832D-4072-AA14-F5882F96BE52}" destId="{5F91D587-461E-40AC-AD18-81F1604A5BB0}" srcOrd="4" destOrd="0" presId="urn:microsoft.com/office/officeart/2005/8/layout/default"/>
    <dgm:cxn modelId="{A6FFB473-1803-4C02-AEC1-990617290752}" type="presParOf" srcId="{D9089176-832D-4072-AA14-F5882F96BE52}" destId="{2F6B6815-6FF4-42C2-9351-A17E8FF59AC4}" srcOrd="5" destOrd="0" presId="urn:microsoft.com/office/officeart/2005/8/layout/default"/>
    <dgm:cxn modelId="{3C74B335-3509-4C0D-A55C-38F0973DC4AB}" type="presParOf" srcId="{D9089176-832D-4072-AA14-F5882F96BE52}" destId="{8356DDC2-D974-41EE-9499-E52BC9F2CC40}" srcOrd="6" destOrd="0" presId="urn:microsoft.com/office/officeart/2005/8/layout/default"/>
    <dgm:cxn modelId="{7C04348A-F21F-40D2-A738-5FBFF0202B2C}" type="presParOf" srcId="{D9089176-832D-4072-AA14-F5882F96BE52}" destId="{8E49A63F-868D-4DE0-9CF4-ACF5CF9A38A3}" srcOrd="7" destOrd="0" presId="urn:microsoft.com/office/officeart/2005/8/layout/default"/>
    <dgm:cxn modelId="{273A4EC3-00B2-4C76-92A9-B7A65FC3DC65}" type="presParOf" srcId="{D9089176-832D-4072-AA14-F5882F96BE52}" destId="{50F23731-CF3F-4209-BB59-D0165D9332CB}" srcOrd="8" destOrd="0" presId="urn:microsoft.com/office/officeart/2005/8/layout/default"/>
    <dgm:cxn modelId="{D75F3D0F-3EE8-4168-89C0-1106DAB10200}" type="presParOf" srcId="{D9089176-832D-4072-AA14-F5882F96BE52}" destId="{2B350AB0-4F94-415A-99C9-8BE810BAD020}" srcOrd="9" destOrd="0" presId="urn:microsoft.com/office/officeart/2005/8/layout/default"/>
    <dgm:cxn modelId="{3BAFCE68-E8C3-4731-95DE-01FFCE9C35CF}" type="presParOf" srcId="{D9089176-832D-4072-AA14-F5882F96BE52}" destId="{DC6C59F9-2E11-4C92-9346-2C559100749B}"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9E133A9-7D45-45CD-A3DC-2774D97681C7}"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CA"/>
        </a:p>
      </dgm:t>
    </dgm:pt>
    <dgm:pt modelId="{C377708F-9617-449E-9C75-F2E30BB25EF1}">
      <dgm:prSet phldrT="[Text]" custT="1"/>
      <dgm:spPr>
        <a:solidFill>
          <a:srgbClr val="0C1752"/>
        </a:solidFill>
      </dgm:spPr>
      <dgm:t>
        <a:bodyPr/>
        <a:lstStyle/>
        <a:p>
          <a:pPr>
            <a:buNone/>
          </a:pPr>
          <a:r>
            <a:rPr lang="en-CA" sz="1200" b="1" dirty="0">
              <a:latin typeface="Montserrat" panose="00000500000000000000" pitchFamily="2" charset="0"/>
            </a:rPr>
            <a:t>Guide behaviour with System Prompt </a:t>
          </a:r>
        </a:p>
        <a:p>
          <a:pPr>
            <a:buNone/>
          </a:pPr>
          <a:r>
            <a:rPr lang="en-CA" sz="1200" i="1" dirty="0">
              <a:latin typeface="Montserrat" panose="00000500000000000000" pitchFamily="2" charset="0"/>
            </a:rPr>
            <a:t>Set the persona, rules, constraints and output format</a:t>
          </a:r>
        </a:p>
      </dgm:t>
    </dgm:pt>
    <dgm:pt modelId="{38C8BA5D-BC51-4631-B9B9-45C1F475B179}" type="parTrans" cxnId="{DC6224D7-428A-4605-BDF5-F3D49FE16A9B}">
      <dgm:prSet/>
      <dgm:spPr/>
      <dgm:t>
        <a:bodyPr/>
        <a:lstStyle/>
        <a:p>
          <a:endParaRPr lang="en-CA" sz="1800"/>
        </a:p>
      </dgm:t>
    </dgm:pt>
    <dgm:pt modelId="{78D7DD6B-9583-455E-B820-160EF9925347}" type="sibTrans" cxnId="{DC6224D7-428A-4605-BDF5-F3D49FE16A9B}">
      <dgm:prSet/>
      <dgm:spPr/>
      <dgm:t>
        <a:bodyPr/>
        <a:lstStyle/>
        <a:p>
          <a:endParaRPr lang="en-CA" sz="1800"/>
        </a:p>
      </dgm:t>
    </dgm:pt>
    <dgm:pt modelId="{DFADFC1F-4DCE-48E0-8B20-B38798AEB70E}">
      <dgm:prSet phldrT="[Text]" custT="1"/>
      <dgm:spPr>
        <a:solidFill>
          <a:schemeClr val="bg1">
            <a:lumMod val="65000"/>
          </a:schemeClr>
        </a:solidFill>
      </dgm:spPr>
      <dgm:t>
        <a:bodyPr/>
        <a:lstStyle/>
        <a:p>
          <a:pPr>
            <a:buNone/>
          </a:pPr>
          <a:r>
            <a:rPr lang="en-CA" sz="1200" b="1" dirty="0">
              <a:latin typeface="Montserrat" panose="00000500000000000000" pitchFamily="2" charset="0"/>
            </a:rPr>
            <a:t>Ask for reasoning (Chain of thought):</a:t>
          </a:r>
        </a:p>
        <a:p>
          <a:pPr>
            <a:buNone/>
          </a:pPr>
          <a:r>
            <a:rPr lang="en-CA" sz="1200" i="1" dirty="0">
              <a:latin typeface="Montserrat" panose="00000500000000000000" pitchFamily="2" charset="0"/>
            </a:rPr>
            <a:t>“explain your steps” or “show the calculation before the result” to build trust and transparency.</a:t>
          </a:r>
          <a:endParaRPr lang="en-CA" sz="1200" b="1" i="1" dirty="0">
            <a:latin typeface="Montserrat" panose="00000500000000000000" pitchFamily="2" charset="0"/>
          </a:endParaRPr>
        </a:p>
      </dgm:t>
    </dgm:pt>
    <dgm:pt modelId="{0E4A02D9-5C07-4C4B-81DB-BAD6CF75123C}" type="parTrans" cxnId="{8DFE8A23-4949-4D8E-8C9F-14DD6F33C9EB}">
      <dgm:prSet/>
      <dgm:spPr/>
      <dgm:t>
        <a:bodyPr/>
        <a:lstStyle/>
        <a:p>
          <a:endParaRPr lang="en-CA" sz="1800"/>
        </a:p>
      </dgm:t>
    </dgm:pt>
    <dgm:pt modelId="{106C6D3A-33A1-4913-976A-58B57DCC7952}" type="sibTrans" cxnId="{8DFE8A23-4949-4D8E-8C9F-14DD6F33C9EB}">
      <dgm:prSet/>
      <dgm:spPr/>
      <dgm:t>
        <a:bodyPr/>
        <a:lstStyle/>
        <a:p>
          <a:endParaRPr lang="en-CA" sz="1800"/>
        </a:p>
      </dgm:t>
    </dgm:pt>
    <dgm:pt modelId="{B91A964C-6172-485A-86B7-4B25EADEC528}">
      <dgm:prSet phldrT="[Text]" custT="1"/>
      <dgm:spPr>
        <a:solidFill>
          <a:srgbClr val="1BBFD1"/>
        </a:solidFill>
      </dgm:spPr>
      <dgm:t>
        <a:bodyPr/>
        <a:lstStyle/>
        <a:p>
          <a:pPr>
            <a:buNone/>
          </a:pPr>
          <a:r>
            <a:rPr lang="en-CA" sz="1200" b="1" dirty="0">
              <a:latin typeface="Montserrat" panose="00000500000000000000" pitchFamily="2" charset="0"/>
            </a:rPr>
            <a:t>Add constraints &amp; boundaries:</a:t>
          </a:r>
        </a:p>
        <a:p>
          <a:pPr>
            <a:buNone/>
          </a:pPr>
          <a:r>
            <a:rPr lang="en-CA" sz="1200" i="1" dirty="0">
              <a:latin typeface="Montserrat" panose="00000500000000000000" pitchFamily="2" charset="0"/>
            </a:rPr>
            <a:t>Word limits, style guides, or examples help the model aim correctly. “Explain in 3 bullet points, max 15 words each.”</a:t>
          </a:r>
        </a:p>
      </dgm:t>
    </dgm:pt>
    <dgm:pt modelId="{B1295144-BA29-4E62-828C-01C9F0C06B3A}" type="parTrans" cxnId="{BA57CB58-F18D-4AE8-AD4B-9E4278371107}">
      <dgm:prSet/>
      <dgm:spPr/>
      <dgm:t>
        <a:bodyPr/>
        <a:lstStyle/>
        <a:p>
          <a:endParaRPr lang="en-CA" sz="1800"/>
        </a:p>
      </dgm:t>
    </dgm:pt>
    <dgm:pt modelId="{930AD882-C193-468F-9041-E70A1E3D350F}" type="sibTrans" cxnId="{BA57CB58-F18D-4AE8-AD4B-9E4278371107}">
      <dgm:prSet/>
      <dgm:spPr/>
      <dgm:t>
        <a:bodyPr/>
        <a:lstStyle/>
        <a:p>
          <a:endParaRPr lang="en-CA" sz="1800"/>
        </a:p>
      </dgm:t>
    </dgm:pt>
    <dgm:pt modelId="{E255C582-217A-4F0E-BC96-74D1C2C63503}">
      <dgm:prSet phldrT="[Text]" custT="1"/>
      <dgm:spPr>
        <a:solidFill>
          <a:schemeClr val="bg1">
            <a:lumMod val="65000"/>
          </a:schemeClr>
        </a:solidFill>
      </dgm:spPr>
      <dgm:t>
        <a:bodyPr/>
        <a:lstStyle/>
        <a:p>
          <a:pPr>
            <a:buNone/>
          </a:pPr>
          <a:r>
            <a:rPr lang="en-CA" sz="1200" b="1" dirty="0">
              <a:latin typeface="Montserrat" panose="00000500000000000000" pitchFamily="2" charset="0"/>
            </a:rPr>
            <a:t>Iterate and refine</a:t>
          </a:r>
        </a:p>
        <a:p>
          <a:pPr>
            <a:buNone/>
          </a:pPr>
          <a:r>
            <a:rPr lang="en-CA" sz="1200" i="1" dirty="0">
              <a:latin typeface="Montserrat" panose="00000500000000000000" pitchFamily="2" charset="0"/>
            </a:rPr>
            <a:t>The first draft is rarely the final. Treat prompts like a conversation; tweak wording, add detail, narrow scope until the output clicks.</a:t>
          </a:r>
        </a:p>
      </dgm:t>
    </dgm:pt>
    <dgm:pt modelId="{9731069B-26F2-45D9-A531-87749F2925E9}" type="parTrans" cxnId="{BD866F3E-CD9D-4B46-9597-7DDA595D9029}">
      <dgm:prSet/>
      <dgm:spPr/>
      <dgm:t>
        <a:bodyPr/>
        <a:lstStyle/>
        <a:p>
          <a:endParaRPr lang="en-CA" sz="1800"/>
        </a:p>
      </dgm:t>
    </dgm:pt>
    <dgm:pt modelId="{EE7A146E-B8A7-4923-A9C6-812026F41285}" type="sibTrans" cxnId="{BD866F3E-CD9D-4B46-9597-7DDA595D9029}">
      <dgm:prSet/>
      <dgm:spPr/>
      <dgm:t>
        <a:bodyPr/>
        <a:lstStyle/>
        <a:p>
          <a:endParaRPr lang="en-CA" sz="1800"/>
        </a:p>
      </dgm:t>
    </dgm:pt>
    <dgm:pt modelId="{F70BCC85-1453-41C7-A706-BE87F4D7E851}">
      <dgm:prSet phldrT="[Text]" custT="1"/>
      <dgm:spPr>
        <a:solidFill>
          <a:srgbClr val="0C1752"/>
        </a:solidFill>
      </dgm:spPr>
      <dgm:t>
        <a:bodyPr/>
        <a:lstStyle/>
        <a:p>
          <a:pPr>
            <a:buNone/>
          </a:pPr>
          <a:r>
            <a:rPr lang="en-CA" sz="1200" b="1" dirty="0">
              <a:latin typeface="Montserrat" panose="00000500000000000000" pitchFamily="2" charset="0"/>
            </a:rPr>
            <a:t>Anchor with examples (Few Shot Prompting): </a:t>
          </a:r>
        </a:p>
        <a:p>
          <a:pPr>
            <a:buNone/>
          </a:pPr>
          <a:r>
            <a:rPr lang="en-CA" sz="1200" i="1" dirty="0">
              <a:latin typeface="Montserrat" panose="00000500000000000000" pitchFamily="2" charset="0"/>
            </a:rPr>
            <a:t>Show the AI what “good” looks like. A sample answer, tone, or structure is worth paragraphs of instructions.</a:t>
          </a:r>
        </a:p>
      </dgm:t>
    </dgm:pt>
    <dgm:pt modelId="{880C7D08-56C8-4EA7-BFCA-B5F6EC6E161E}" type="parTrans" cxnId="{329A5C90-7F6C-4A11-949A-E0320759C099}">
      <dgm:prSet/>
      <dgm:spPr/>
      <dgm:t>
        <a:bodyPr/>
        <a:lstStyle/>
        <a:p>
          <a:endParaRPr lang="en-CA" sz="1400"/>
        </a:p>
      </dgm:t>
    </dgm:pt>
    <dgm:pt modelId="{C6A798C3-4EE7-4A7E-93DA-8B281CE55C74}" type="sibTrans" cxnId="{329A5C90-7F6C-4A11-949A-E0320759C099}">
      <dgm:prSet/>
      <dgm:spPr/>
      <dgm:t>
        <a:bodyPr/>
        <a:lstStyle/>
        <a:p>
          <a:endParaRPr lang="en-CA" sz="1400"/>
        </a:p>
      </dgm:t>
    </dgm:pt>
    <dgm:pt modelId="{1906BCDF-CF9F-4BDC-A432-9E31F12DC198}">
      <dgm:prSet phldrT="[Text]" custT="1"/>
      <dgm:spPr>
        <a:solidFill>
          <a:srgbClr val="D56E48"/>
        </a:solidFill>
      </dgm:spPr>
      <dgm:t>
        <a:bodyPr/>
        <a:lstStyle/>
        <a:p>
          <a:pPr>
            <a:buNone/>
          </a:pPr>
          <a:r>
            <a:rPr lang="en-CA" sz="1200" b="1" kern="1200" dirty="0">
              <a:solidFill>
                <a:prstClr val="white"/>
              </a:solidFill>
              <a:latin typeface="Montserrat" panose="00000500000000000000" pitchFamily="2" charset="0"/>
              <a:ea typeface="+mn-ea"/>
              <a:cs typeface="+mn-cs"/>
            </a:rPr>
            <a:t>Structured Output </a:t>
          </a:r>
        </a:p>
        <a:p>
          <a:pPr>
            <a:buNone/>
          </a:pPr>
          <a:r>
            <a:rPr lang="en-US" sz="1200" i="1" kern="1200" dirty="0">
              <a:solidFill>
                <a:prstClr val="white"/>
              </a:solidFill>
              <a:latin typeface="Montserrat" panose="00000500000000000000" pitchFamily="2" charset="0"/>
              <a:ea typeface="+mn-ea"/>
              <a:cs typeface="+mn-cs"/>
            </a:rPr>
            <a:t>Request JSON, XML, or specific formats</a:t>
          </a:r>
          <a:endParaRPr lang="en-CA" sz="1200" i="1" kern="1200" dirty="0">
            <a:solidFill>
              <a:prstClr val="white"/>
            </a:solidFill>
            <a:latin typeface="Montserrat" panose="00000500000000000000" pitchFamily="2" charset="0"/>
            <a:ea typeface="+mn-ea"/>
            <a:cs typeface="+mn-cs"/>
          </a:endParaRPr>
        </a:p>
      </dgm:t>
    </dgm:pt>
    <dgm:pt modelId="{AFAE71FE-4603-4EE5-80AA-E8B20FE275EE}" type="parTrans" cxnId="{D8C6FBF2-E556-4885-A210-1C7F67D2D872}">
      <dgm:prSet/>
      <dgm:spPr/>
      <dgm:t>
        <a:bodyPr/>
        <a:lstStyle/>
        <a:p>
          <a:endParaRPr lang="en-CA" sz="1400"/>
        </a:p>
      </dgm:t>
    </dgm:pt>
    <dgm:pt modelId="{BA686162-0039-4DE0-967F-E3B87E90010A}" type="sibTrans" cxnId="{D8C6FBF2-E556-4885-A210-1C7F67D2D872}">
      <dgm:prSet/>
      <dgm:spPr/>
      <dgm:t>
        <a:bodyPr/>
        <a:lstStyle/>
        <a:p>
          <a:endParaRPr lang="en-CA" sz="1400"/>
        </a:p>
      </dgm:t>
    </dgm:pt>
    <dgm:pt modelId="{D49B722A-D75F-44E7-B776-BAD41CD30F3D}">
      <dgm:prSet phldrT="[Text]" custT="1"/>
      <dgm:spPr>
        <a:solidFill>
          <a:srgbClr val="D56E48"/>
        </a:solidFill>
      </dgm:spPr>
      <dgm:t>
        <a:bodyPr/>
        <a:lstStyle/>
        <a:p>
          <a:pPr>
            <a:buNone/>
          </a:pPr>
          <a:r>
            <a:rPr lang="en-CA" sz="1200" b="1" dirty="0">
              <a:latin typeface="Montserrat" panose="00000500000000000000" pitchFamily="2" charset="0"/>
            </a:rPr>
            <a:t>Force Model to Avoid Hallucination </a:t>
          </a:r>
        </a:p>
        <a:p>
          <a:pPr>
            <a:buNone/>
          </a:pPr>
          <a:r>
            <a:rPr lang="en-CA" sz="1200" dirty="0">
              <a:latin typeface="Montserrat" panose="00000500000000000000" pitchFamily="2" charset="0"/>
            </a:rPr>
            <a:t>“</a:t>
          </a:r>
          <a:r>
            <a:rPr lang="en-CA" sz="1200" i="1" dirty="0">
              <a:latin typeface="Montserrat" panose="00000500000000000000" pitchFamily="2" charset="0"/>
            </a:rPr>
            <a:t>Don’t hallucinate, ground your results in the provided data. If data is missing, say ‘not enough info’ instead of guessing</a:t>
          </a:r>
          <a:r>
            <a:rPr lang="en-CA" sz="1200" dirty="0">
              <a:latin typeface="Montserrat" panose="00000500000000000000" pitchFamily="2" charset="0"/>
            </a:rPr>
            <a:t>.”</a:t>
          </a:r>
        </a:p>
      </dgm:t>
    </dgm:pt>
    <dgm:pt modelId="{AD6B76DE-FEB8-4D99-8F2C-23A996809738}" type="parTrans" cxnId="{A68EFC81-83CC-4B78-A246-BD94857F31DD}">
      <dgm:prSet/>
      <dgm:spPr/>
      <dgm:t>
        <a:bodyPr/>
        <a:lstStyle/>
        <a:p>
          <a:endParaRPr lang="en-CA" sz="1400"/>
        </a:p>
      </dgm:t>
    </dgm:pt>
    <dgm:pt modelId="{051250BB-D059-4623-8530-0FF7916EDA37}" type="sibTrans" cxnId="{A68EFC81-83CC-4B78-A246-BD94857F31DD}">
      <dgm:prSet/>
      <dgm:spPr/>
      <dgm:t>
        <a:bodyPr/>
        <a:lstStyle/>
        <a:p>
          <a:endParaRPr lang="en-CA" sz="1400"/>
        </a:p>
      </dgm:t>
    </dgm:pt>
    <dgm:pt modelId="{359F2AF5-E699-404E-AC6A-F6650BFB7A36}" type="pres">
      <dgm:prSet presAssocID="{E9E133A9-7D45-45CD-A3DC-2774D97681C7}" presName="diagram" presStyleCnt="0">
        <dgm:presLayoutVars>
          <dgm:dir/>
          <dgm:resizeHandles val="exact"/>
        </dgm:presLayoutVars>
      </dgm:prSet>
      <dgm:spPr/>
    </dgm:pt>
    <dgm:pt modelId="{C990541E-9525-4B2C-8234-06662E7CEDC6}" type="pres">
      <dgm:prSet presAssocID="{C377708F-9617-449E-9C75-F2E30BB25EF1}" presName="node" presStyleLbl="node1" presStyleIdx="0" presStyleCnt="7">
        <dgm:presLayoutVars>
          <dgm:bulletEnabled val="1"/>
        </dgm:presLayoutVars>
      </dgm:prSet>
      <dgm:spPr/>
    </dgm:pt>
    <dgm:pt modelId="{DD84BE75-F9A2-4BF3-81E5-71C1E95A6B76}" type="pres">
      <dgm:prSet presAssocID="{78D7DD6B-9583-455E-B820-160EF9925347}" presName="sibTrans" presStyleCnt="0"/>
      <dgm:spPr/>
    </dgm:pt>
    <dgm:pt modelId="{657AFCB1-7251-4BA4-9D06-5F2257B5DE2A}" type="pres">
      <dgm:prSet presAssocID="{D49B722A-D75F-44E7-B776-BAD41CD30F3D}" presName="node" presStyleLbl="node1" presStyleIdx="1" presStyleCnt="7">
        <dgm:presLayoutVars>
          <dgm:bulletEnabled val="1"/>
        </dgm:presLayoutVars>
      </dgm:prSet>
      <dgm:spPr/>
    </dgm:pt>
    <dgm:pt modelId="{2F29E5DF-F65E-4A62-9FDF-CA43FF4931E8}" type="pres">
      <dgm:prSet presAssocID="{051250BB-D059-4623-8530-0FF7916EDA37}" presName="sibTrans" presStyleCnt="0"/>
      <dgm:spPr/>
    </dgm:pt>
    <dgm:pt modelId="{4992DE3B-5367-48F3-A222-767B0D598C85}" type="pres">
      <dgm:prSet presAssocID="{DFADFC1F-4DCE-48E0-8B20-B38798AEB70E}" presName="node" presStyleLbl="node1" presStyleIdx="2" presStyleCnt="7">
        <dgm:presLayoutVars>
          <dgm:bulletEnabled val="1"/>
        </dgm:presLayoutVars>
      </dgm:prSet>
      <dgm:spPr/>
    </dgm:pt>
    <dgm:pt modelId="{ACFE14F9-802B-44C6-BFAF-A395FE6A8896}" type="pres">
      <dgm:prSet presAssocID="{106C6D3A-33A1-4913-976A-58B57DCC7952}" presName="sibTrans" presStyleCnt="0"/>
      <dgm:spPr/>
    </dgm:pt>
    <dgm:pt modelId="{319D02D5-205D-48D9-91D0-F518019683EA}" type="pres">
      <dgm:prSet presAssocID="{B91A964C-6172-485A-86B7-4B25EADEC528}" presName="node" presStyleLbl="node1" presStyleIdx="3" presStyleCnt="7">
        <dgm:presLayoutVars>
          <dgm:bulletEnabled val="1"/>
        </dgm:presLayoutVars>
      </dgm:prSet>
      <dgm:spPr/>
    </dgm:pt>
    <dgm:pt modelId="{0885A1B5-08EE-4C66-807F-2D74C4B2870A}" type="pres">
      <dgm:prSet presAssocID="{930AD882-C193-468F-9041-E70A1E3D350F}" presName="sibTrans" presStyleCnt="0"/>
      <dgm:spPr/>
    </dgm:pt>
    <dgm:pt modelId="{70B3777D-9AB4-4C20-A928-FB7A9E2B8412}" type="pres">
      <dgm:prSet presAssocID="{E255C582-217A-4F0E-BC96-74D1C2C63503}" presName="node" presStyleLbl="node1" presStyleIdx="4" presStyleCnt="7">
        <dgm:presLayoutVars>
          <dgm:bulletEnabled val="1"/>
        </dgm:presLayoutVars>
      </dgm:prSet>
      <dgm:spPr/>
    </dgm:pt>
    <dgm:pt modelId="{61685C48-D859-48BE-9281-B243243DD422}" type="pres">
      <dgm:prSet presAssocID="{EE7A146E-B8A7-4923-A9C6-812026F41285}" presName="sibTrans" presStyleCnt="0"/>
      <dgm:spPr/>
    </dgm:pt>
    <dgm:pt modelId="{F9129A72-9A16-4BF9-8A53-1E4B13A9BCA3}" type="pres">
      <dgm:prSet presAssocID="{F70BCC85-1453-41C7-A706-BE87F4D7E851}" presName="node" presStyleLbl="node1" presStyleIdx="5" presStyleCnt="7">
        <dgm:presLayoutVars>
          <dgm:bulletEnabled val="1"/>
        </dgm:presLayoutVars>
      </dgm:prSet>
      <dgm:spPr/>
    </dgm:pt>
    <dgm:pt modelId="{4F8EE3A9-55D0-42DE-9CC2-D8C3FD878D1B}" type="pres">
      <dgm:prSet presAssocID="{C6A798C3-4EE7-4A7E-93DA-8B281CE55C74}" presName="sibTrans" presStyleCnt="0"/>
      <dgm:spPr/>
    </dgm:pt>
    <dgm:pt modelId="{6052F529-2232-4925-A816-29D992A53351}" type="pres">
      <dgm:prSet presAssocID="{1906BCDF-CF9F-4BDC-A432-9E31F12DC198}" presName="node" presStyleLbl="node1" presStyleIdx="6" presStyleCnt="7">
        <dgm:presLayoutVars>
          <dgm:bulletEnabled val="1"/>
        </dgm:presLayoutVars>
      </dgm:prSet>
      <dgm:spPr/>
    </dgm:pt>
  </dgm:ptLst>
  <dgm:cxnLst>
    <dgm:cxn modelId="{2C743A1B-2E1D-4539-89FC-002D7B269977}" type="presOf" srcId="{F70BCC85-1453-41C7-A706-BE87F4D7E851}" destId="{F9129A72-9A16-4BF9-8A53-1E4B13A9BCA3}" srcOrd="0" destOrd="0" presId="urn:microsoft.com/office/officeart/2005/8/layout/default"/>
    <dgm:cxn modelId="{8DFE8A23-4949-4D8E-8C9F-14DD6F33C9EB}" srcId="{E9E133A9-7D45-45CD-A3DC-2774D97681C7}" destId="{DFADFC1F-4DCE-48E0-8B20-B38798AEB70E}" srcOrd="2" destOrd="0" parTransId="{0E4A02D9-5C07-4C4B-81DB-BAD6CF75123C}" sibTransId="{106C6D3A-33A1-4913-976A-58B57DCC7952}"/>
    <dgm:cxn modelId="{BC23BA25-4B3F-443B-85CB-0215CCC86294}" type="presOf" srcId="{E255C582-217A-4F0E-BC96-74D1C2C63503}" destId="{70B3777D-9AB4-4C20-A928-FB7A9E2B8412}" srcOrd="0" destOrd="0" presId="urn:microsoft.com/office/officeart/2005/8/layout/default"/>
    <dgm:cxn modelId="{BD866F3E-CD9D-4B46-9597-7DDA595D9029}" srcId="{E9E133A9-7D45-45CD-A3DC-2774D97681C7}" destId="{E255C582-217A-4F0E-BC96-74D1C2C63503}" srcOrd="4" destOrd="0" parTransId="{9731069B-26F2-45D9-A531-87749F2925E9}" sibTransId="{EE7A146E-B8A7-4923-A9C6-812026F41285}"/>
    <dgm:cxn modelId="{42C02048-5B19-4FD4-8790-2E15CDAE90BA}" type="presOf" srcId="{DFADFC1F-4DCE-48E0-8B20-B38798AEB70E}" destId="{4992DE3B-5367-48F3-A222-767B0D598C85}" srcOrd="0" destOrd="0" presId="urn:microsoft.com/office/officeart/2005/8/layout/default"/>
    <dgm:cxn modelId="{19A7A578-50C6-4B6C-9D90-C6269743C64A}" type="presOf" srcId="{1906BCDF-CF9F-4BDC-A432-9E31F12DC198}" destId="{6052F529-2232-4925-A816-29D992A53351}" srcOrd="0" destOrd="0" presId="urn:microsoft.com/office/officeart/2005/8/layout/default"/>
    <dgm:cxn modelId="{BA57CB58-F18D-4AE8-AD4B-9E4278371107}" srcId="{E9E133A9-7D45-45CD-A3DC-2774D97681C7}" destId="{B91A964C-6172-485A-86B7-4B25EADEC528}" srcOrd="3" destOrd="0" parTransId="{B1295144-BA29-4E62-828C-01C9F0C06B3A}" sibTransId="{930AD882-C193-468F-9041-E70A1E3D350F}"/>
    <dgm:cxn modelId="{A68EFC81-83CC-4B78-A246-BD94857F31DD}" srcId="{E9E133A9-7D45-45CD-A3DC-2774D97681C7}" destId="{D49B722A-D75F-44E7-B776-BAD41CD30F3D}" srcOrd="1" destOrd="0" parTransId="{AD6B76DE-FEB8-4D99-8F2C-23A996809738}" sibTransId="{051250BB-D059-4623-8530-0FF7916EDA37}"/>
    <dgm:cxn modelId="{329A5C90-7F6C-4A11-949A-E0320759C099}" srcId="{E9E133A9-7D45-45CD-A3DC-2774D97681C7}" destId="{F70BCC85-1453-41C7-A706-BE87F4D7E851}" srcOrd="5" destOrd="0" parTransId="{880C7D08-56C8-4EA7-BFCA-B5F6EC6E161E}" sibTransId="{C6A798C3-4EE7-4A7E-93DA-8B281CE55C74}"/>
    <dgm:cxn modelId="{2C65C991-3D98-4821-81A0-90AA73D23A27}" type="presOf" srcId="{D49B722A-D75F-44E7-B776-BAD41CD30F3D}" destId="{657AFCB1-7251-4BA4-9D06-5F2257B5DE2A}" srcOrd="0" destOrd="0" presId="urn:microsoft.com/office/officeart/2005/8/layout/default"/>
    <dgm:cxn modelId="{EB387CBE-CA18-4740-8E93-F7BBB612CB41}" type="presOf" srcId="{C377708F-9617-449E-9C75-F2E30BB25EF1}" destId="{C990541E-9525-4B2C-8234-06662E7CEDC6}" srcOrd="0" destOrd="0" presId="urn:microsoft.com/office/officeart/2005/8/layout/default"/>
    <dgm:cxn modelId="{DC6224D7-428A-4605-BDF5-F3D49FE16A9B}" srcId="{E9E133A9-7D45-45CD-A3DC-2774D97681C7}" destId="{C377708F-9617-449E-9C75-F2E30BB25EF1}" srcOrd="0" destOrd="0" parTransId="{38C8BA5D-BC51-4631-B9B9-45C1F475B179}" sibTransId="{78D7DD6B-9583-455E-B820-160EF9925347}"/>
    <dgm:cxn modelId="{C761A5DC-6883-4BD8-AB52-86E1DB5CF425}" type="presOf" srcId="{B91A964C-6172-485A-86B7-4B25EADEC528}" destId="{319D02D5-205D-48D9-91D0-F518019683EA}" srcOrd="0" destOrd="0" presId="urn:microsoft.com/office/officeart/2005/8/layout/default"/>
    <dgm:cxn modelId="{D8C6FBF2-E556-4885-A210-1C7F67D2D872}" srcId="{E9E133A9-7D45-45CD-A3DC-2774D97681C7}" destId="{1906BCDF-CF9F-4BDC-A432-9E31F12DC198}" srcOrd="6" destOrd="0" parTransId="{AFAE71FE-4603-4EE5-80AA-E8B20FE275EE}" sibTransId="{BA686162-0039-4DE0-967F-E3B87E90010A}"/>
    <dgm:cxn modelId="{ED0109F3-CDB8-41C4-9FA7-34427C3B2956}" type="presOf" srcId="{E9E133A9-7D45-45CD-A3DC-2774D97681C7}" destId="{359F2AF5-E699-404E-AC6A-F6650BFB7A36}" srcOrd="0" destOrd="0" presId="urn:microsoft.com/office/officeart/2005/8/layout/default"/>
    <dgm:cxn modelId="{0D368FC0-26A3-43CC-8EFF-4DF1DFB80A71}" type="presParOf" srcId="{359F2AF5-E699-404E-AC6A-F6650BFB7A36}" destId="{C990541E-9525-4B2C-8234-06662E7CEDC6}" srcOrd="0" destOrd="0" presId="urn:microsoft.com/office/officeart/2005/8/layout/default"/>
    <dgm:cxn modelId="{BDD76070-5507-4FE8-A082-C46E2DED0A7D}" type="presParOf" srcId="{359F2AF5-E699-404E-AC6A-F6650BFB7A36}" destId="{DD84BE75-F9A2-4BF3-81E5-71C1E95A6B76}" srcOrd="1" destOrd="0" presId="urn:microsoft.com/office/officeart/2005/8/layout/default"/>
    <dgm:cxn modelId="{0CACE3D8-4554-49A3-A36D-697A5D955514}" type="presParOf" srcId="{359F2AF5-E699-404E-AC6A-F6650BFB7A36}" destId="{657AFCB1-7251-4BA4-9D06-5F2257B5DE2A}" srcOrd="2" destOrd="0" presId="urn:microsoft.com/office/officeart/2005/8/layout/default"/>
    <dgm:cxn modelId="{319646DF-C065-48D0-9789-C276FB797832}" type="presParOf" srcId="{359F2AF5-E699-404E-AC6A-F6650BFB7A36}" destId="{2F29E5DF-F65E-4A62-9FDF-CA43FF4931E8}" srcOrd="3" destOrd="0" presId="urn:microsoft.com/office/officeart/2005/8/layout/default"/>
    <dgm:cxn modelId="{D15B3FC6-5745-4567-B306-3F9510007D84}" type="presParOf" srcId="{359F2AF5-E699-404E-AC6A-F6650BFB7A36}" destId="{4992DE3B-5367-48F3-A222-767B0D598C85}" srcOrd="4" destOrd="0" presId="urn:microsoft.com/office/officeart/2005/8/layout/default"/>
    <dgm:cxn modelId="{F1103A5E-79D2-4B31-B698-237247AC294C}" type="presParOf" srcId="{359F2AF5-E699-404E-AC6A-F6650BFB7A36}" destId="{ACFE14F9-802B-44C6-BFAF-A395FE6A8896}" srcOrd="5" destOrd="0" presId="urn:microsoft.com/office/officeart/2005/8/layout/default"/>
    <dgm:cxn modelId="{4B1BB82F-2CD7-4F9E-9F60-55C2FA1D2986}" type="presParOf" srcId="{359F2AF5-E699-404E-AC6A-F6650BFB7A36}" destId="{319D02D5-205D-48D9-91D0-F518019683EA}" srcOrd="6" destOrd="0" presId="urn:microsoft.com/office/officeart/2005/8/layout/default"/>
    <dgm:cxn modelId="{39FA3CCD-06AD-4F03-8E1A-26C24CEFAA94}" type="presParOf" srcId="{359F2AF5-E699-404E-AC6A-F6650BFB7A36}" destId="{0885A1B5-08EE-4C66-807F-2D74C4B2870A}" srcOrd="7" destOrd="0" presId="urn:microsoft.com/office/officeart/2005/8/layout/default"/>
    <dgm:cxn modelId="{74E0E002-7C45-45F3-AF48-EFBD66451D7D}" type="presParOf" srcId="{359F2AF5-E699-404E-AC6A-F6650BFB7A36}" destId="{70B3777D-9AB4-4C20-A928-FB7A9E2B8412}" srcOrd="8" destOrd="0" presId="urn:microsoft.com/office/officeart/2005/8/layout/default"/>
    <dgm:cxn modelId="{A477B477-6F8D-499E-852A-07D24F7445CB}" type="presParOf" srcId="{359F2AF5-E699-404E-AC6A-F6650BFB7A36}" destId="{61685C48-D859-48BE-9281-B243243DD422}" srcOrd="9" destOrd="0" presId="urn:microsoft.com/office/officeart/2005/8/layout/default"/>
    <dgm:cxn modelId="{2CE5CB43-74E4-40E0-B134-34C7FE4B2FE6}" type="presParOf" srcId="{359F2AF5-E699-404E-AC6A-F6650BFB7A36}" destId="{F9129A72-9A16-4BF9-8A53-1E4B13A9BCA3}" srcOrd="10" destOrd="0" presId="urn:microsoft.com/office/officeart/2005/8/layout/default"/>
    <dgm:cxn modelId="{367FA12B-82AB-4850-B544-0552964F7D0A}" type="presParOf" srcId="{359F2AF5-E699-404E-AC6A-F6650BFB7A36}" destId="{4F8EE3A9-55D0-42DE-9CC2-D8C3FD878D1B}" srcOrd="11" destOrd="0" presId="urn:microsoft.com/office/officeart/2005/8/layout/default"/>
    <dgm:cxn modelId="{E9276B71-ED6E-41DF-914D-A7A60A77A852}" type="presParOf" srcId="{359F2AF5-E699-404E-AC6A-F6650BFB7A36}" destId="{6052F529-2232-4925-A816-29D992A53351}" srcOrd="1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53F168-E2F2-4BF2-9127-1F18A7AB26C6}">
      <dsp:nvSpPr>
        <dsp:cNvPr id="0" name=""/>
        <dsp:cNvSpPr/>
      </dsp:nvSpPr>
      <dsp:spPr>
        <a:xfrm>
          <a:off x="1271815" y="1073"/>
          <a:ext cx="2551997" cy="153119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Montserrat" panose="00000500000000000000" pitchFamily="2" charset="0"/>
            </a:rPr>
            <a:t>Understand agentic AI architectures</a:t>
          </a:r>
          <a:r>
            <a:rPr lang="en-US" sz="1300" kern="1200" dirty="0">
              <a:latin typeface="Montserrat" panose="00000500000000000000" pitchFamily="2" charset="0"/>
            </a:rPr>
            <a:t> and how agents use perception–reasoning–action loops to solve problems.</a:t>
          </a:r>
        </a:p>
      </dsp:txBody>
      <dsp:txXfrm>
        <a:off x="1271815" y="1073"/>
        <a:ext cx="2551997" cy="1531198"/>
      </dsp:txXfrm>
    </dsp:sp>
    <dsp:sp modelId="{B5B24182-6AEB-4632-A7F1-DA25427AB613}">
      <dsp:nvSpPr>
        <dsp:cNvPr id="0" name=""/>
        <dsp:cNvSpPr/>
      </dsp:nvSpPr>
      <dsp:spPr>
        <a:xfrm>
          <a:off x="4079012" y="1073"/>
          <a:ext cx="2551997" cy="153119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latin typeface="Montserrat" panose="00000500000000000000" pitchFamily="2" charset="0"/>
            </a:rPr>
            <a:t>Design problem-first AI systems</a:t>
          </a:r>
          <a:r>
            <a:rPr lang="en-US" sz="1300" kern="1200">
              <a:latin typeface="Montserrat" panose="00000500000000000000" pitchFamily="2" charset="0"/>
            </a:rPr>
            <a:t> by decomposing workflows into agent tasks and defining clear success metrics.</a:t>
          </a:r>
        </a:p>
      </dsp:txBody>
      <dsp:txXfrm>
        <a:off x="4079012" y="1073"/>
        <a:ext cx="2551997" cy="1531198"/>
      </dsp:txXfrm>
    </dsp:sp>
    <dsp:sp modelId="{60F1E27E-515E-4AD7-8611-4A46E32F9647}">
      <dsp:nvSpPr>
        <dsp:cNvPr id="0" name=""/>
        <dsp:cNvSpPr/>
      </dsp:nvSpPr>
      <dsp:spPr>
        <a:xfrm>
          <a:off x="6886209" y="1073"/>
          <a:ext cx="2551997" cy="153119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latin typeface="Montserrat" panose="00000500000000000000" pitchFamily="2" charset="0"/>
            </a:rPr>
            <a:t>Build agents with memory and context</a:t>
          </a:r>
          <a:r>
            <a:rPr lang="en-US" sz="1300" kern="1200">
              <a:latin typeface="Montserrat" panose="00000500000000000000" pitchFamily="2" charset="0"/>
            </a:rPr>
            <a:t> using short-term, long-term, and episodic memory along with effective context engineering.</a:t>
          </a:r>
        </a:p>
      </dsp:txBody>
      <dsp:txXfrm>
        <a:off x="6886209" y="1073"/>
        <a:ext cx="2551997" cy="1531198"/>
      </dsp:txXfrm>
    </dsp:sp>
    <dsp:sp modelId="{49955CF1-8B55-48DE-9A30-8F30E28EF567}">
      <dsp:nvSpPr>
        <dsp:cNvPr id="0" name=""/>
        <dsp:cNvSpPr/>
      </dsp:nvSpPr>
      <dsp:spPr>
        <a:xfrm>
          <a:off x="1271815" y="1787471"/>
          <a:ext cx="2551997" cy="1531198"/>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latin typeface="Montserrat" panose="00000500000000000000" pitchFamily="2" charset="0"/>
            </a:rPr>
            <a:t>Integrate tools and structured outputs</a:t>
          </a:r>
          <a:r>
            <a:rPr lang="en-US" sz="1300" kern="1200">
              <a:latin typeface="Montserrat" panose="00000500000000000000" pitchFamily="2" charset="0"/>
            </a:rPr>
            <a:t> through function calling, schema design, validation, and reliable error handling.</a:t>
          </a:r>
        </a:p>
      </dsp:txBody>
      <dsp:txXfrm>
        <a:off x="1271815" y="1787471"/>
        <a:ext cx="2551997" cy="1531198"/>
      </dsp:txXfrm>
    </dsp:sp>
    <dsp:sp modelId="{9422227E-9921-481C-93BB-8F3BDCDD9A3A}">
      <dsp:nvSpPr>
        <dsp:cNvPr id="0" name=""/>
        <dsp:cNvSpPr/>
      </dsp:nvSpPr>
      <dsp:spPr>
        <a:xfrm>
          <a:off x="4079012" y="1787471"/>
          <a:ext cx="2551997" cy="1531198"/>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a:latin typeface="Montserrat" panose="00000500000000000000" pitchFamily="2" charset="0"/>
            </a:rPr>
            <a:t>Architect multi-agent systems</a:t>
          </a:r>
          <a:r>
            <a:rPr lang="en-US" sz="1300" kern="1200">
              <a:latin typeface="Montserrat" panose="00000500000000000000" pitchFamily="2" charset="0"/>
            </a:rPr>
            <a:t> using sequential, parallel, and hierarchical orchestration patterns with safe coordination.</a:t>
          </a:r>
        </a:p>
      </dsp:txBody>
      <dsp:txXfrm>
        <a:off x="4079012" y="1787471"/>
        <a:ext cx="2551997" cy="1531198"/>
      </dsp:txXfrm>
    </dsp:sp>
    <dsp:sp modelId="{CA347ABC-0AF2-4660-A4A8-22294E20AC94}">
      <dsp:nvSpPr>
        <dsp:cNvPr id="0" name=""/>
        <dsp:cNvSpPr/>
      </dsp:nvSpPr>
      <dsp:spPr>
        <a:xfrm>
          <a:off x="6886209" y="1787471"/>
          <a:ext cx="2551997" cy="1531198"/>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CA" sz="1300" b="1" kern="1200" dirty="0">
              <a:latin typeface="Montserrat" panose="00000500000000000000" pitchFamily="2" charset="0"/>
            </a:rPr>
            <a:t>Implement retrieval-augmented generation (RAG)</a:t>
          </a:r>
          <a:r>
            <a:rPr lang="en-CA" sz="1300" kern="1200" dirty="0">
              <a:latin typeface="Montserrat" panose="00000500000000000000" pitchFamily="2" charset="0"/>
            </a:rPr>
            <a:t> pipelines with embeddings and vector databases.</a:t>
          </a:r>
        </a:p>
      </dsp:txBody>
      <dsp:txXfrm>
        <a:off x="6886209" y="1787471"/>
        <a:ext cx="2551997" cy="1531198"/>
      </dsp:txXfrm>
    </dsp:sp>
    <dsp:sp modelId="{00427C60-DC1A-4438-ACE7-B59EDE6DA284}">
      <dsp:nvSpPr>
        <dsp:cNvPr id="0" name=""/>
        <dsp:cNvSpPr/>
      </dsp:nvSpPr>
      <dsp:spPr>
        <a:xfrm>
          <a:off x="1271815" y="3573869"/>
          <a:ext cx="2551997" cy="1531198"/>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Montserrat" panose="00000500000000000000" pitchFamily="2" charset="0"/>
            </a:rPr>
            <a:t>Develop agentic coding workflows</a:t>
          </a:r>
          <a:r>
            <a:rPr lang="en-US" sz="1300" kern="1200" dirty="0">
              <a:latin typeface="Montserrat" panose="00000500000000000000" pitchFamily="2" charset="0"/>
            </a:rPr>
            <a:t> to build real applications and ship an AI agent MVP using modern AI development tools (Claude Code &amp; Codex).</a:t>
          </a:r>
        </a:p>
      </dsp:txBody>
      <dsp:txXfrm>
        <a:off x="1271815" y="3573869"/>
        <a:ext cx="2551997" cy="1531198"/>
      </dsp:txXfrm>
    </dsp:sp>
    <dsp:sp modelId="{D62B9485-1D72-41D4-888B-011B08942627}">
      <dsp:nvSpPr>
        <dsp:cNvPr id="0" name=""/>
        <dsp:cNvSpPr/>
      </dsp:nvSpPr>
      <dsp:spPr>
        <a:xfrm>
          <a:off x="4079012" y="3573869"/>
          <a:ext cx="2551997" cy="1531198"/>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Montserrat" panose="00000500000000000000" pitchFamily="2" charset="0"/>
            </a:rPr>
            <a:t>Evaluate, test, and secure AI agents</a:t>
          </a:r>
          <a:r>
            <a:rPr lang="en-US" sz="1300" kern="1200" dirty="0">
              <a:latin typeface="Montserrat" panose="00000500000000000000" pitchFamily="2" charset="0"/>
            </a:rPr>
            <a:t> with automated evals, adversarial testing, debugging techniques, and guardrails.</a:t>
          </a:r>
        </a:p>
      </dsp:txBody>
      <dsp:txXfrm>
        <a:off x="4079012" y="3573869"/>
        <a:ext cx="2551997" cy="1531198"/>
      </dsp:txXfrm>
    </dsp:sp>
    <dsp:sp modelId="{24D07BB6-9F50-424C-A059-3C01B027A5F5}">
      <dsp:nvSpPr>
        <dsp:cNvPr id="0" name=""/>
        <dsp:cNvSpPr/>
      </dsp:nvSpPr>
      <dsp:spPr>
        <a:xfrm>
          <a:off x="6886209" y="3573869"/>
          <a:ext cx="2551997" cy="1531198"/>
        </a:xfrm>
        <a:prstGeom prst="rect">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latin typeface="Montserrat" panose="00000500000000000000" pitchFamily="2" charset="0"/>
            </a:rPr>
            <a:t>Deploy and operate production-grade agent systems</a:t>
          </a:r>
          <a:r>
            <a:rPr lang="en-US" sz="1300" kern="1200" dirty="0">
              <a:latin typeface="Montserrat" panose="00000500000000000000" pitchFamily="2" charset="0"/>
            </a:rPr>
            <a:t> with monitoring, cost optimization, governance, and scalable cloud deployment.</a:t>
          </a:r>
        </a:p>
      </dsp:txBody>
      <dsp:txXfrm>
        <a:off x="6886209" y="3573869"/>
        <a:ext cx="2551997" cy="15311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A683DA-2E6C-4A1D-B5EB-00B316BB5618}">
      <dsp:nvSpPr>
        <dsp:cNvPr id="0" name=""/>
        <dsp:cNvSpPr/>
      </dsp:nvSpPr>
      <dsp:spPr>
        <a:xfrm>
          <a:off x="0" y="161627"/>
          <a:ext cx="3574125" cy="2144475"/>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ontserrat" panose="00000500000000000000" pitchFamily="2" charset="0"/>
            </a:rPr>
            <a:t>Open-source or Closed</a:t>
          </a:r>
          <a:endParaRPr lang="en-CA" sz="1800" kern="1200" dirty="0">
            <a:latin typeface="Montserrat" panose="00000500000000000000" pitchFamily="2" charset="0"/>
          </a:endParaRPr>
        </a:p>
        <a:p>
          <a:pPr marL="171450" lvl="1" indent="-171450" algn="ctr" defTabSz="711200">
            <a:lnSpc>
              <a:spcPct val="90000"/>
            </a:lnSpc>
            <a:spcBef>
              <a:spcPct val="0"/>
            </a:spcBef>
            <a:spcAft>
              <a:spcPct val="15000"/>
            </a:spcAft>
            <a:buNone/>
          </a:pPr>
          <a:r>
            <a:rPr lang="en-US" sz="1600" kern="1200" dirty="0">
              <a:latin typeface="Montserrat" panose="00000500000000000000" pitchFamily="2" charset="0"/>
            </a:rPr>
            <a:t>Open-source (e.g. LLaMA) gives you flexibility, full control, and lower cost if self-hosted.</a:t>
          </a:r>
          <a:endParaRPr lang="en-CA" sz="1600" kern="1200" dirty="0">
            <a:latin typeface="Montserrat" panose="00000500000000000000" pitchFamily="2" charset="0"/>
          </a:endParaRPr>
        </a:p>
        <a:p>
          <a:pPr marL="171450" lvl="1" indent="-171450" algn="ctr" defTabSz="711200">
            <a:lnSpc>
              <a:spcPct val="90000"/>
            </a:lnSpc>
            <a:spcBef>
              <a:spcPct val="0"/>
            </a:spcBef>
            <a:spcAft>
              <a:spcPct val="15000"/>
            </a:spcAft>
            <a:buChar char="•"/>
          </a:pPr>
          <a:r>
            <a:rPr lang="en-US" sz="1600" kern="1200" dirty="0">
              <a:latin typeface="Montserrat" panose="00000500000000000000" pitchFamily="2" charset="0"/>
            </a:rPr>
            <a:t>Closed (e.g. GPT-5) usually offers better performance and ease of use via APIs.</a:t>
          </a:r>
        </a:p>
      </dsp:txBody>
      <dsp:txXfrm>
        <a:off x="0" y="161627"/>
        <a:ext cx="3574125" cy="2144475"/>
      </dsp:txXfrm>
    </dsp:sp>
    <dsp:sp modelId="{91CC4636-DDCB-4FB1-83BD-729F95322A26}">
      <dsp:nvSpPr>
        <dsp:cNvPr id="0" name=""/>
        <dsp:cNvSpPr/>
      </dsp:nvSpPr>
      <dsp:spPr>
        <a:xfrm>
          <a:off x="3931538" y="161627"/>
          <a:ext cx="3574125" cy="2144475"/>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ontserrat" panose="00000500000000000000" pitchFamily="2" charset="0"/>
            </a:rPr>
            <a:t>Context Length</a:t>
          </a:r>
        </a:p>
        <a:p>
          <a:pPr marL="171450" lvl="1" indent="-171450" algn="ctr" defTabSz="711200">
            <a:lnSpc>
              <a:spcPct val="90000"/>
            </a:lnSpc>
            <a:spcBef>
              <a:spcPct val="0"/>
            </a:spcBef>
            <a:spcAft>
              <a:spcPct val="15000"/>
            </a:spcAft>
            <a:buChar char="•"/>
          </a:pPr>
          <a:r>
            <a:rPr lang="en-US" sz="1600" kern="1200" dirty="0">
              <a:latin typeface="Montserrat" panose="00000500000000000000" pitchFamily="2" charset="0"/>
            </a:rPr>
            <a:t>How much input/output the model can handle in one go.</a:t>
          </a:r>
        </a:p>
        <a:p>
          <a:pPr marL="171450" lvl="1" indent="-171450" algn="ctr" defTabSz="711200">
            <a:lnSpc>
              <a:spcPct val="90000"/>
            </a:lnSpc>
            <a:spcBef>
              <a:spcPct val="0"/>
            </a:spcBef>
            <a:spcAft>
              <a:spcPct val="15000"/>
            </a:spcAft>
            <a:buChar char="•"/>
          </a:pPr>
          <a:r>
            <a:rPr lang="en-US" sz="1600" kern="1200" dirty="0">
              <a:latin typeface="Montserrat" panose="00000500000000000000" pitchFamily="2" charset="0"/>
            </a:rPr>
            <a:t>For long documents or multi-turn conversations, longer context is better (e.g., Gemini 2.5 Flash has 1M Window).</a:t>
          </a:r>
        </a:p>
      </dsp:txBody>
      <dsp:txXfrm>
        <a:off x="3931538" y="161627"/>
        <a:ext cx="3574125" cy="2144475"/>
      </dsp:txXfrm>
    </dsp:sp>
    <dsp:sp modelId="{5F91D587-461E-40AC-AD18-81F1604A5BB0}">
      <dsp:nvSpPr>
        <dsp:cNvPr id="0" name=""/>
        <dsp:cNvSpPr/>
      </dsp:nvSpPr>
      <dsp:spPr>
        <a:xfrm>
          <a:off x="7863077" y="161627"/>
          <a:ext cx="3574125" cy="2144475"/>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ontserrat" panose="00000500000000000000" pitchFamily="2" charset="0"/>
            </a:rPr>
            <a:t>Release Date &amp; Knowledge Cut-off</a:t>
          </a:r>
        </a:p>
        <a:p>
          <a:pPr marL="171450" lvl="1" indent="-171450" algn="ctr" defTabSz="711200">
            <a:lnSpc>
              <a:spcPct val="90000"/>
            </a:lnSpc>
            <a:spcBef>
              <a:spcPct val="0"/>
            </a:spcBef>
            <a:spcAft>
              <a:spcPct val="15000"/>
            </a:spcAft>
            <a:buChar char="•"/>
          </a:pPr>
          <a:r>
            <a:rPr lang="en-US" sz="1600" kern="1200" dirty="0">
              <a:latin typeface="Montserrat" panose="00000500000000000000" pitchFamily="2" charset="0"/>
            </a:rPr>
            <a:t>Newer models are trained on more recent data (useful for current events) (e.g.: GPT-3.5’s cut-off is early 2023.</a:t>
          </a:r>
        </a:p>
      </dsp:txBody>
      <dsp:txXfrm>
        <a:off x="7863077" y="161627"/>
        <a:ext cx="3574125" cy="2144475"/>
      </dsp:txXfrm>
    </dsp:sp>
    <dsp:sp modelId="{8356DDC2-D974-41EE-9499-E52BC9F2CC40}">
      <dsp:nvSpPr>
        <dsp:cNvPr id="0" name=""/>
        <dsp:cNvSpPr/>
      </dsp:nvSpPr>
      <dsp:spPr>
        <a:xfrm>
          <a:off x="0" y="2663515"/>
          <a:ext cx="3574125" cy="2144475"/>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ontserrat" panose="00000500000000000000" pitchFamily="2" charset="0"/>
            </a:rPr>
            <a:t>Parameters</a:t>
          </a:r>
        </a:p>
        <a:p>
          <a:pPr marL="171450" lvl="1" indent="-171450" algn="ctr" defTabSz="711200">
            <a:lnSpc>
              <a:spcPct val="90000"/>
            </a:lnSpc>
            <a:spcBef>
              <a:spcPct val="0"/>
            </a:spcBef>
            <a:spcAft>
              <a:spcPct val="15000"/>
            </a:spcAft>
            <a:buChar char="•"/>
          </a:pPr>
          <a:r>
            <a:rPr lang="en-US" sz="1600" kern="1200" dirty="0">
              <a:latin typeface="Montserrat" panose="00000500000000000000" pitchFamily="2" charset="0"/>
            </a:rPr>
            <a:t>More parameters usually = more capacity (e.g., GPT-3 has 175B).</a:t>
          </a:r>
        </a:p>
        <a:p>
          <a:pPr marL="171450" lvl="1" indent="-171450" algn="ctr" defTabSz="711200">
            <a:lnSpc>
              <a:spcPct val="90000"/>
            </a:lnSpc>
            <a:spcBef>
              <a:spcPct val="0"/>
            </a:spcBef>
            <a:spcAft>
              <a:spcPct val="15000"/>
            </a:spcAft>
            <a:buChar char="•"/>
          </a:pPr>
          <a:r>
            <a:rPr lang="en-US" sz="1600" kern="1200" dirty="0">
              <a:latin typeface="Montserrat" panose="00000500000000000000" pitchFamily="2" charset="0"/>
            </a:rPr>
            <a:t>But bigger isn’t always better for performance or cost, efficiency matters too.</a:t>
          </a:r>
        </a:p>
      </dsp:txBody>
      <dsp:txXfrm>
        <a:off x="0" y="2663515"/>
        <a:ext cx="3574125" cy="2144475"/>
      </dsp:txXfrm>
    </dsp:sp>
    <dsp:sp modelId="{50F23731-CF3F-4209-BB59-D0165D9332CB}">
      <dsp:nvSpPr>
        <dsp:cNvPr id="0" name=""/>
        <dsp:cNvSpPr/>
      </dsp:nvSpPr>
      <dsp:spPr>
        <a:xfrm>
          <a:off x="3931538" y="2663515"/>
          <a:ext cx="3574125" cy="2144475"/>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ontserrat" panose="00000500000000000000" pitchFamily="2" charset="0"/>
            </a:rPr>
            <a:t>Training Tokens</a:t>
          </a:r>
        </a:p>
        <a:p>
          <a:pPr marL="171450" lvl="1" indent="-171450" algn="ctr" defTabSz="711200">
            <a:lnSpc>
              <a:spcPct val="90000"/>
            </a:lnSpc>
            <a:spcBef>
              <a:spcPct val="0"/>
            </a:spcBef>
            <a:spcAft>
              <a:spcPct val="15000"/>
            </a:spcAft>
            <a:buChar char="•"/>
          </a:pPr>
          <a:r>
            <a:rPr lang="en-US" sz="1600" kern="1200" dirty="0">
              <a:latin typeface="Montserrat" panose="00000500000000000000" pitchFamily="2" charset="0"/>
            </a:rPr>
            <a:t>Refers to how much text the model was trained on.</a:t>
          </a:r>
        </a:p>
        <a:p>
          <a:pPr marL="171450" lvl="1" indent="-171450" algn="ctr" defTabSz="711200">
            <a:lnSpc>
              <a:spcPct val="90000"/>
            </a:lnSpc>
            <a:spcBef>
              <a:spcPct val="0"/>
            </a:spcBef>
            <a:spcAft>
              <a:spcPct val="15000"/>
            </a:spcAft>
            <a:buChar char="•"/>
          </a:pPr>
          <a:r>
            <a:rPr lang="en-US" sz="1600" kern="1200" dirty="0">
              <a:latin typeface="Montserrat" panose="00000500000000000000" pitchFamily="2" charset="0"/>
            </a:rPr>
            <a:t>More tokens = broader language understanding and generalization</a:t>
          </a:r>
        </a:p>
      </dsp:txBody>
      <dsp:txXfrm>
        <a:off x="3931538" y="2663515"/>
        <a:ext cx="3574125" cy="2144475"/>
      </dsp:txXfrm>
    </dsp:sp>
    <dsp:sp modelId="{DC6C59F9-2E11-4C92-9346-2C559100749B}">
      <dsp:nvSpPr>
        <dsp:cNvPr id="0" name=""/>
        <dsp:cNvSpPr/>
      </dsp:nvSpPr>
      <dsp:spPr>
        <a:xfrm>
          <a:off x="7863077" y="2663515"/>
          <a:ext cx="3574125" cy="2144475"/>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ontserrat" panose="00000500000000000000" pitchFamily="2" charset="0"/>
            </a:rPr>
            <a:t>Cost</a:t>
          </a:r>
        </a:p>
        <a:p>
          <a:pPr marL="171450" lvl="1" indent="-171450" algn="ctr" defTabSz="711200">
            <a:lnSpc>
              <a:spcPct val="90000"/>
            </a:lnSpc>
            <a:spcBef>
              <a:spcPct val="0"/>
            </a:spcBef>
            <a:spcAft>
              <a:spcPct val="15000"/>
            </a:spcAft>
            <a:buChar char="•"/>
          </a:pPr>
          <a:r>
            <a:rPr lang="en-US" sz="1600" kern="1200" dirty="0">
              <a:solidFill>
                <a:prstClr val="white"/>
              </a:solidFill>
              <a:latin typeface="Montserrat" panose="00000500000000000000" pitchFamily="2" charset="0"/>
              <a:ea typeface="+mn-ea"/>
              <a:cs typeface="+mn-cs"/>
            </a:rPr>
            <a:t>Cost is a critical parameter in deciding whether to deploy open- or closed-source models. It is typically priced per 1K/1M input and output tokens </a:t>
          </a:r>
        </a:p>
      </dsp:txBody>
      <dsp:txXfrm>
        <a:off x="7863077" y="2663515"/>
        <a:ext cx="3574125" cy="21444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90541E-9525-4B2C-8234-06662E7CEDC6}">
      <dsp:nvSpPr>
        <dsp:cNvPr id="0" name=""/>
        <dsp:cNvSpPr/>
      </dsp:nvSpPr>
      <dsp:spPr>
        <a:xfrm>
          <a:off x="3539" y="977395"/>
          <a:ext cx="2807865" cy="1684719"/>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Guide behaviour with System Prompt </a:t>
          </a:r>
        </a:p>
        <a:p>
          <a:pPr marL="0" lvl="0" indent="0" algn="ctr" defTabSz="533400">
            <a:lnSpc>
              <a:spcPct val="90000"/>
            </a:lnSpc>
            <a:spcBef>
              <a:spcPct val="0"/>
            </a:spcBef>
            <a:spcAft>
              <a:spcPct val="35000"/>
            </a:spcAft>
            <a:buNone/>
          </a:pPr>
          <a:r>
            <a:rPr lang="en-CA" sz="1200" i="1" kern="1200" dirty="0">
              <a:latin typeface="Montserrat" panose="00000500000000000000" pitchFamily="2" charset="0"/>
            </a:rPr>
            <a:t>Set the persona, rules, constraints and output format</a:t>
          </a:r>
        </a:p>
      </dsp:txBody>
      <dsp:txXfrm>
        <a:off x="3539" y="977395"/>
        <a:ext cx="2807865" cy="1684719"/>
      </dsp:txXfrm>
    </dsp:sp>
    <dsp:sp modelId="{657AFCB1-7251-4BA4-9D06-5F2257B5DE2A}">
      <dsp:nvSpPr>
        <dsp:cNvPr id="0" name=""/>
        <dsp:cNvSpPr/>
      </dsp:nvSpPr>
      <dsp:spPr>
        <a:xfrm>
          <a:off x="3092191" y="977395"/>
          <a:ext cx="2807865" cy="1684719"/>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Force Model to Avoid Hallucination </a:t>
          </a:r>
        </a:p>
        <a:p>
          <a:pPr marL="0" lvl="0" indent="0" algn="ctr" defTabSz="533400">
            <a:lnSpc>
              <a:spcPct val="90000"/>
            </a:lnSpc>
            <a:spcBef>
              <a:spcPct val="0"/>
            </a:spcBef>
            <a:spcAft>
              <a:spcPct val="35000"/>
            </a:spcAft>
            <a:buNone/>
          </a:pPr>
          <a:r>
            <a:rPr lang="en-CA" sz="1200" kern="1200" dirty="0">
              <a:latin typeface="Montserrat" panose="00000500000000000000" pitchFamily="2" charset="0"/>
            </a:rPr>
            <a:t>“</a:t>
          </a:r>
          <a:r>
            <a:rPr lang="en-CA" sz="1200" i="1" kern="1200" dirty="0">
              <a:latin typeface="Montserrat" panose="00000500000000000000" pitchFamily="2" charset="0"/>
            </a:rPr>
            <a:t>Don’t hallucinate, ground your results in the provided data. If data is missing, say ‘not enough info’ instead of guessing</a:t>
          </a:r>
          <a:r>
            <a:rPr lang="en-CA" sz="1200" kern="1200" dirty="0">
              <a:latin typeface="Montserrat" panose="00000500000000000000" pitchFamily="2" charset="0"/>
            </a:rPr>
            <a:t>.”</a:t>
          </a:r>
        </a:p>
      </dsp:txBody>
      <dsp:txXfrm>
        <a:off x="3092191" y="977395"/>
        <a:ext cx="2807865" cy="1684719"/>
      </dsp:txXfrm>
    </dsp:sp>
    <dsp:sp modelId="{4992DE3B-5367-48F3-A222-767B0D598C85}">
      <dsp:nvSpPr>
        <dsp:cNvPr id="0" name=""/>
        <dsp:cNvSpPr/>
      </dsp:nvSpPr>
      <dsp:spPr>
        <a:xfrm>
          <a:off x="6180844" y="977395"/>
          <a:ext cx="2807865" cy="1684719"/>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Ask for reasoning (Chain of thought):</a:t>
          </a:r>
        </a:p>
        <a:p>
          <a:pPr marL="0" lvl="0" indent="0" algn="ctr" defTabSz="533400">
            <a:lnSpc>
              <a:spcPct val="90000"/>
            </a:lnSpc>
            <a:spcBef>
              <a:spcPct val="0"/>
            </a:spcBef>
            <a:spcAft>
              <a:spcPct val="35000"/>
            </a:spcAft>
            <a:buNone/>
          </a:pPr>
          <a:r>
            <a:rPr lang="en-CA" sz="1200" i="1" kern="1200" dirty="0">
              <a:latin typeface="Montserrat" panose="00000500000000000000" pitchFamily="2" charset="0"/>
            </a:rPr>
            <a:t>“explain your steps” or “show the calculation before the result” to build trust and transparency.</a:t>
          </a:r>
          <a:endParaRPr lang="en-CA" sz="1200" b="1" i="1" kern="1200" dirty="0">
            <a:latin typeface="Montserrat" panose="00000500000000000000" pitchFamily="2" charset="0"/>
          </a:endParaRPr>
        </a:p>
      </dsp:txBody>
      <dsp:txXfrm>
        <a:off x="6180844" y="977395"/>
        <a:ext cx="2807865" cy="1684719"/>
      </dsp:txXfrm>
    </dsp:sp>
    <dsp:sp modelId="{319D02D5-205D-48D9-91D0-F518019683EA}">
      <dsp:nvSpPr>
        <dsp:cNvPr id="0" name=""/>
        <dsp:cNvSpPr/>
      </dsp:nvSpPr>
      <dsp:spPr>
        <a:xfrm>
          <a:off x="9269496" y="977395"/>
          <a:ext cx="2807865" cy="1684719"/>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Add constraints &amp; boundaries:</a:t>
          </a:r>
        </a:p>
        <a:p>
          <a:pPr marL="0" lvl="0" indent="0" algn="ctr" defTabSz="533400">
            <a:lnSpc>
              <a:spcPct val="90000"/>
            </a:lnSpc>
            <a:spcBef>
              <a:spcPct val="0"/>
            </a:spcBef>
            <a:spcAft>
              <a:spcPct val="35000"/>
            </a:spcAft>
            <a:buNone/>
          </a:pPr>
          <a:r>
            <a:rPr lang="en-CA" sz="1200" i="1" kern="1200" dirty="0">
              <a:latin typeface="Montserrat" panose="00000500000000000000" pitchFamily="2" charset="0"/>
            </a:rPr>
            <a:t>Word limits, style guides, or examples help the model aim correctly. “Explain in 3 bullet points, max 15 words each.”</a:t>
          </a:r>
        </a:p>
      </dsp:txBody>
      <dsp:txXfrm>
        <a:off x="9269496" y="977395"/>
        <a:ext cx="2807865" cy="1684719"/>
      </dsp:txXfrm>
    </dsp:sp>
    <dsp:sp modelId="{70B3777D-9AB4-4C20-A928-FB7A9E2B8412}">
      <dsp:nvSpPr>
        <dsp:cNvPr id="0" name=""/>
        <dsp:cNvSpPr/>
      </dsp:nvSpPr>
      <dsp:spPr>
        <a:xfrm>
          <a:off x="1547865" y="2942901"/>
          <a:ext cx="2807865" cy="1684719"/>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Iterate and refine</a:t>
          </a:r>
        </a:p>
        <a:p>
          <a:pPr marL="0" lvl="0" indent="0" algn="ctr" defTabSz="533400">
            <a:lnSpc>
              <a:spcPct val="90000"/>
            </a:lnSpc>
            <a:spcBef>
              <a:spcPct val="0"/>
            </a:spcBef>
            <a:spcAft>
              <a:spcPct val="35000"/>
            </a:spcAft>
            <a:buNone/>
          </a:pPr>
          <a:r>
            <a:rPr lang="en-CA" sz="1200" i="1" kern="1200" dirty="0">
              <a:latin typeface="Montserrat" panose="00000500000000000000" pitchFamily="2" charset="0"/>
            </a:rPr>
            <a:t>The first draft is rarely the final. Treat prompts like a conversation; tweak wording, add detail, narrow scope until the output clicks.</a:t>
          </a:r>
        </a:p>
      </dsp:txBody>
      <dsp:txXfrm>
        <a:off x="1547865" y="2942901"/>
        <a:ext cx="2807865" cy="1684719"/>
      </dsp:txXfrm>
    </dsp:sp>
    <dsp:sp modelId="{F9129A72-9A16-4BF9-8A53-1E4B13A9BCA3}">
      <dsp:nvSpPr>
        <dsp:cNvPr id="0" name=""/>
        <dsp:cNvSpPr/>
      </dsp:nvSpPr>
      <dsp:spPr>
        <a:xfrm>
          <a:off x="4636518" y="2942901"/>
          <a:ext cx="2807865" cy="1684719"/>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latin typeface="Montserrat" panose="00000500000000000000" pitchFamily="2" charset="0"/>
            </a:rPr>
            <a:t>Anchor with examples (Few Shot Prompting): </a:t>
          </a:r>
        </a:p>
        <a:p>
          <a:pPr marL="0" lvl="0" indent="0" algn="ctr" defTabSz="533400">
            <a:lnSpc>
              <a:spcPct val="90000"/>
            </a:lnSpc>
            <a:spcBef>
              <a:spcPct val="0"/>
            </a:spcBef>
            <a:spcAft>
              <a:spcPct val="35000"/>
            </a:spcAft>
            <a:buNone/>
          </a:pPr>
          <a:r>
            <a:rPr lang="en-CA" sz="1200" i="1" kern="1200" dirty="0">
              <a:latin typeface="Montserrat" panose="00000500000000000000" pitchFamily="2" charset="0"/>
            </a:rPr>
            <a:t>Show the AI what “good” looks like. A sample answer, tone, or structure is worth paragraphs of instructions.</a:t>
          </a:r>
        </a:p>
      </dsp:txBody>
      <dsp:txXfrm>
        <a:off x="4636518" y="2942901"/>
        <a:ext cx="2807865" cy="1684719"/>
      </dsp:txXfrm>
    </dsp:sp>
    <dsp:sp modelId="{6052F529-2232-4925-A816-29D992A53351}">
      <dsp:nvSpPr>
        <dsp:cNvPr id="0" name=""/>
        <dsp:cNvSpPr/>
      </dsp:nvSpPr>
      <dsp:spPr>
        <a:xfrm>
          <a:off x="7725170" y="2942901"/>
          <a:ext cx="2807865" cy="1684719"/>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CA" sz="1200" b="1" kern="1200" dirty="0">
              <a:solidFill>
                <a:prstClr val="white"/>
              </a:solidFill>
              <a:latin typeface="Montserrat" panose="00000500000000000000" pitchFamily="2" charset="0"/>
              <a:ea typeface="+mn-ea"/>
              <a:cs typeface="+mn-cs"/>
            </a:rPr>
            <a:t>Structured Output </a:t>
          </a:r>
        </a:p>
        <a:p>
          <a:pPr marL="0" lvl="0" indent="0" algn="ctr" defTabSz="533400">
            <a:lnSpc>
              <a:spcPct val="90000"/>
            </a:lnSpc>
            <a:spcBef>
              <a:spcPct val="0"/>
            </a:spcBef>
            <a:spcAft>
              <a:spcPct val="35000"/>
            </a:spcAft>
            <a:buNone/>
          </a:pPr>
          <a:r>
            <a:rPr lang="en-US" sz="1200" i="1" kern="1200" dirty="0">
              <a:solidFill>
                <a:prstClr val="white"/>
              </a:solidFill>
              <a:latin typeface="Montserrat" panose="00000500000000000000" pitchFamily="2" charset="0"/>
              <a:ea typeface="+mn-ea"/>
              <a:cs typeface="+mn-cs"/>
            </a:rPr>
            <a:t>Request JSON, XML, or specific formats</a:t>
          </a:r>
          <a:endParaRPr lang="en-CA" sz="1200" i="1" kern="1200" dirty="0">
            <a:solidFill>
              <a:prstClr val="white"/>
            </a:solidFill>
            <a:latin typeface="Montserrat" panose="00000500000000000000" pitchFamily="2" charset="0"/>
            <a:ea typeface="+mn-ea"/>
            <a:cs typeface="+mn-cs"/>
          </a:endParaRPr>
        </a:p>
      </dsp:txBody>
      <dsp:txXfrm>
        <a:off x="7725170" y="2942901"/>
        <a:ext cx="2807865" cy="168471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911D1-6589-4D4A-810A-D1CB24D30600}" type="datetimeFigureOut">
              <a:rPr lang="en-US" smtClean="0"/>
              <a:t>3/2/2026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34E27-21C0-AB42-9720-9468F68AD70E}" type="slidenum">
              <a:rPr lang="en-US" smtClean="0"/>
              <a:t>‹#›</a:t>
            </a:fld>
            <a:endParaRPr lang="en-US"/>
          </a:p>
        </p:txBody>
      </p:sp>
    </p:spTree>
    <p:extLst>
      <p:ext uri="{BB962C8B-B14F-4D97-AF65-F5344CB8AC3E}">
        <p14:creationId xmlns:p14="http://schemas.microsoft.com/office/powerpoint/2010/main" val="331515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86c7c13429_7_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g386c7c13429_7_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A44D880-5EF8-224C-9065-4DEE0FB28DCA}"/>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3AACF1FE-F712-682C-C05D-36B87896513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a:extLst>
              <a:ext uri="{FF2B5EF4-FFF2-40B4-BE49-F238E27FC236}">
                <a16:creationId xmlns:a16="http://schemas.microsoft.com/office/drawing/2014/main" id="{2AB7B2FB-2806-6B41-CF82-25FC1FA7BB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3469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7E572ADF-825C-C301-A2D6-EDAF4B1D880F}"/>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E87380D8-FED6-6DE7-D390-B0362329E40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a:extLst>
              <a:ext uri="{FF2B5EF4-FFF2-40B4-BE49-F238E27FC236}">
                <a16:creationId xmlns:a16="http://schemas.microsoft.com/office/drawing/2014/main" id="{1FC64313-15BA-48F5-1801-A5C53B47D3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4449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6AEE1EF-10EF-1031-2962-1D5997B5B865}"/>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36820379-55A3-1AC6-7060-B86CEDABB87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a:extLst>
              <a:ext uri="{FF2B5EF4-FFF2-40B4-BE49-F238E27FC236}">
                <a16:creationId xmlns:a16="http://schemas.microsoft.com/office/drawing/2014/main" id="{64D450F6-4A69-B2CF-A62F-DAB69098B3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1411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F4222A6E-B62C-BCAA-E993-2570E6FB1934}"/>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D8897351-F86D-B8A9-5861-0FDBEF7B36B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2:notes">
            <a:extLst>
              <a:ext uri="{FF2B5EF4-FFF2-40B4-BE49-F238E27FC236}">
                <a16:creationId xmlns:a16="http://schemas.microsoft.com/office/drawing/2014/main" id="{033A4802-5D84-D847-C5F3-9F943BCDB2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5027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5C3D65D5-A909-0C73-60A2-6F1024D06473}"/>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BD9DD501-E1E7-CBDB-6D83-7806B38A3A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2:notes">
            <a:extLst>
              <a:ext uri="{FF2B5EF4-FFF2-40B4-BE49-F238E27FC236}">
                <a16:creationId xmlns:a16="http://schemas.microsoft.com/office/drawing/2014/main" id="{CE1019B4-6343-DA5B-7475-207A04943F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0463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ED6F-859A-B746-837E-C5D978EC30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CAE93-A6A2-054F-8C31-54E8ABF6A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ADB13-4A11-2643-B65C-065BE17739F2}"/>
              </a:ext>
            </a:extLst>
          </p:cNvPr>
          <p:cNvSpPr>
            <a:spLocks noGrp="1"/>
          </p:cNvSpPr>
          <p:nvPr>
            <p:ph type="dt" sz="half" idx="10"/>
          </p:nvPr>
        </p:nvSpPr>
        <p:spPr/>
        <p:txBody>
          <a:bodyPr/>
          <a:lstStyle/>
          <a:p>
            <a:fld id="{FD8C779B-2DF9-41ED-BDF6-094A96BB5831}" type="datetime1">
              <a:rPr lang="en-US" smtClean="0"/>
              <a:t>3/2/2026</a:t>
            </a:fld>
            <a:endParaRPr lang="en-US"/>
          </a:p>
        </p:txBody>
      </p:sp>
      <p:sp>
        <p:nvSpPr>
          <p:cNvPr id="5" name="Footer Placeholder 4">
            <a:extLst>
              <a:ext uri="{FF2B5EF4-FFF2-40B4-BE49-F238E27FC236}">
                <a16:creationId xmlns:a16="http://schemas.microsoft.com/office/drawing/2014/main" id="{3F68DD79-905B-054B-B597-6AB72529A68D}"/>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3FDD4DF4-5AD9-8C41-9C38-63470B32845E}"/>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0513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3AB-04A1-834E-A498-C252C111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34D4-4817-FF44-8044-9A872518BEF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B8C4A-8264-ED4C-B758-FA62E7CC38F6}"/>
              </a:ext>
            </a:extLst>
          </p:cNvPr>
          <p:cNvSpPr>
            <a:spLocks noGrp="1"/>
          </p:cNvSpPr>
          <p:nvPr>
            <p:ph type="dt" sz="half" idx="10"/>
          </p:nvPr>
        </p:nvSpPr>
        <p:spPr/>
        <p:txBody>
          <a:bodyPr/>
          <a:lstStyle/>
          <a:p>
            <a:fld id="{CEC83053-3D74-4D22-89B3-9024BA4F287F}" type="datetime1">
              <a:rPr lang="en-US" smtClean="0"/>
              <a:t>3/2/2026</a:t>
            </a:fld>
            <a:endParaRPr lang="en-US"/>
          </a:p>
        </p:txBody>
      </p:sp>
      <p:sp>
        <p:nvSpPr>
          <p:cNvPr id="5" name="Footer Placeholder 4">
            <a:extLst>
              <a:ext uri="{FF2B5EF4-FFF2-40B4-BE49-F238E27FC236}">
                <a16:creationId xmlns:a16="http://schemas.microsoft.com/office/drawing/2014/main" id="{878AE0D2-BE66-FF45-B7B1-F69E22F06CE9}"/>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49FB4184-A60F-6246-8A9A-79DD6FECEA1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7151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2D0B-A98C-6E4C-9A34-47981F0C2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5EE8E-C392-5E47-ADCB-A446128C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6B14B18-53C2-D548-8CFF-5D7097F07978}"/>
              </a:ext>
            </a:extLst>
          </p:cNvPr>
          <p:cNvSpPr>
            <a:spLocks noGrp="1"/>
          </p:cNvSpPr>
          <p:nvPr>
            <p:ph type="dt" sz="half" idx="10"/>
          </p:nvPr>
        </p:nvSpPr>
        <p:spPr/>
        <p:txBody>
          <a:bodyPr/>
          <a:lstStyle/>
          <a:p>
            <a:fld id="{37A6BCF6-84B7-49AA-A69F-35D95B9487C2}" type="datetime1">
              <a:rPr lang="en-US" smtClean="0"/>
              <a:t>3/2/2026</a:t>
            </a:fld>
            <a:endParaRPr lang="en-US"/>
          </a:p>
        </p:txBody>
      </p:sp>
      <p:sp>
        <p:nvSpPr>
          <p:cNvPr id="5" name="Footer Placeholder 4">
            <a:extLst>
              <a:ext uri="{FF2B5EF4-FFF2-40B4-BE49-F238E27FC236}">
                <a16:creationId xmlns:a16="http://schemas.microsoft.com/office/drawing/2014/main" id="{1710654B-C8C3-F647-BDFC-BE54D2B2895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CD63980-622B-334C-9137-9A86615196EB}"/>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06580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2288-ED8B-E34E-BAB6-1D26157B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AE68A-CA3F-9948-9F78-46C13FEE82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E62E7-8BD2-264E-A470-F8E73C9D6FE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423621-D1A0-D241-B666-A457ACCAB3EB}"/>
              </a:ext>
            </a:extLst>
          </p:cNvPr>
          <p:cNvSpPr>
            <a:spLocks noGrp="1"/>
          </p:cNvSpPr>
          <p:nvPr>
            <p:ph type="dt" sz="half" idx="10"/>
          </p:nvPr>
        </p:nvSpPr>
        <p:spPr/>
        <p:txBody>
          <a:bodyPr/>
          <a:lstStyle/>
          <a:p>
            <a:fld id="{DFF119D7-9FF6-460F-A484-0C02884C819E}" type="datetime1">
              <a:rPr lang="en-US" smtClean="0"/>
              <a:t>3/2/2026</a:t>
            </a:fld>
            <a:endParaRPr lang="en-US"/>
          </a:p>
        </p:txBody>
      </p:sp>
      <p:sp>
        <p:nvSpPr>
          <p:cNvPr id="6" name="Footer Placeholder 5">
            <a:extLst>
              <a:ext uri="{FF2B5EF4-FFF2-40B4-BE49-F238E27FC236}">
                <a16:creationId xmlns:a16="http://schemas.microsoft.com/office/drawing/2014/main" id="{D5769F7B-BD42-C44E-AA35-681E6A1C40A4}"/>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BA17368C-62E4-C243-98AE-B5BC9B4F3F0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28810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A85E-7345-A641-A78E-CFCE6B479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EA13C7-3C24-DC40-8DAD-E16482E6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F90715-8982-4245-AC34-4AFC280BD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4CC337-7A68-B44F-A75F-2EAED4C8C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4BF17B-E9E2-5A4F-9564-4E8671A7A2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DA4340-16C5-D64A-954E-D207165B5D6E}"/>
              </a:ext>
            </a:extLst>
          </p:cNvPr>
          <p:cNvSpPr>
            <a:spLocks noGrp="1"/>
          </p:cNvSpPr>
          <p:nvPr>
            <p:ph type="dt" sz="half" idx="10"/>
          </p:nvPr>
        </p:nvSpPr>
        <p:spPr/>
        <p:txBody>
          <a:bodyPr/>
          <a:lstStyle/>
          <a:p>
            <a:fld id="{00D3F2F9-9F59-4926-81E1-5AE7B5F13616}" type="datetime1">
              <a:rPr lang="en-US" smtClean="0"/>
              <a:t>3/2/2026</a:t>
            </a:fld>
            <a:endParaRPr lang="en-US"/>
          </a:p>
        </p:txBody>
      </p:sp>
      <p:sp>
        <p:nvSpPr>
          <p:cNvPr id="8" name="Footer Placeholder 7">
            <a:extLst>
              <a:ext uri="{FF2B5EF4-FFF2-40B4-BE49-F238E27FC236}">
                <a16:creationId xmlns:a16="http://schemas.microsoft.com/office/drawing/2014/main" id="{5B44C0C9-507A-DC40-9896-CAA4CCBF98F5}"/>
              </a:ext>
            </a:extLst>
          </p:cNvPr>
          <p:cNvSpPr>
            <a:spLocks noGrp="1"/>
          </p:cNvSpPr>
          <p:nvPr>
            <p:ph type="ftr" sz="quarter" idx="11"/>
          </p:nvPr>
        </p:nvSpPr>
        <p:spPr/>
        <p:txBody>
          <a:bodyPr/>
          <a:lstStyle/>
          <a:p>
            <a:r>
              <a:rPr lang="en-US"/>
              <a:t>Dr. Ryan Ahmed @Stemplicity</a:t>
            </a:r>
          </a:p>
        </p:txBody>
      </p:sp>
      <p:sp>
        <p:nvSpPr>
          <p:cNvPr id="9" name="Slide Number Placeholder 8">
            <a:extLst>
              <a:ext uri="{FF2B5EF4-FFF2-40B4-BE49-F238E27FC236}">
                <a16:creationId xmlns:a16="http://schemas.microsoft.com/office/drawing/2014/main" id="{B4C3C304-57C8-6848-8E40-051A6BFA3F85}"/>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770995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005-2F0C-3F41-8F0D-B94FF1E86A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EC46B-9591-7147-B23E-808DFCDBEEE0}"/>
              </a:ext>
            </a:extLst>
          </p:cNvPr>
          <p:cNvSpPr>
            <a:spLocks noGrp="1"/>
          </p:cNvSpPr>
          <p:nvPr>
            <p:ph type="dt" sz="half" idx="10"/>
          </p:nvPr>
        </p:nvSpPr>
        <p:spPr/>
        <p:txBody>
          <a:bodyPr/>
          <a:lstStyle/>
          <a:p>
            <a:fld id="{2425E9FE-B00F-4787-941B-81F5C60BF956}" type="datetime1">
              <a:rPr lang="en-US" smtClean="0"/>
              <a:t>3/2/2026</a:t>
            </a:fld>
            <a:endParaRPr lang="en-US"/>
          </a:p>
        </p:txBody>
      </p:sp>
      <p:sp>
        <p:nvSpPr>
          <p:cNvPr id="4" name="Footer Placeholder 3">
            <a:extLst>
              <a:ext uri="{FF2B5EF4-FFF2-40B4-BE49-F238E27FC236}">
                <a16:creationId xmlns:a16="http://schemas.microsoft.com/office/drawing/2014/main" id="{41A8438C-4B28-CC47-9F0D-D243C05972C5}"/>
              </a:ext>
            </a:extLst>
          </p:cNvPr>
          <p:cNvSpPr>
            <a:spLocks noGrp="1"/>
          </p:cNvSpPr>
          <p:nvPr>
            <p:ph type="ftr" sz="quarter" idx="11"/>
          </p:nvPr>
        </p:nvSpPr>
        <p:spPr/>
        <p:txBody>
          <a:bodyPr/>
          <a:lstStyle/>
          <a:p>
            <a:r>
              <a:rPr lang="en-US"/>
              <a:t>Dr. Ryan Ahmed @Stemplicity</a:t>
            </a:r>
          </a:p>
        </p:txBody>
      </p:sp>
      <p:sp>
        <p:nvSpPr>
          <p:cNvPr id="5" name="Slide Number Placeholder 4">
            <a:extLst>
              <a:ext uri="{FF2B5EF4-FFF2-40B4-BE49-F238E27FC236}">
                <a16:creationId xmlns:a16="http://schemas.microsoft.com/office/drawing/2014/main" id="{55C64186-1092-3244-AA0C-4F8C98ECF0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35757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81ABCA-C9B4-2C4E-A11A-21473A2C36B2}"/>
              </a:ext>
            </a:extLst>
          </p:cNvPr>
          <p:cNvSpPr>
            <a:spLocks noGrp="1"/>
          </p:cNvSpPr>
          <p:nvPr>
            <p:ph type="dt" sz="half" idx="10"/>
          </p:nvPr>
        </p:nvSpPr>
        <p:spPr/>
        <p:txBody>
          <a:bodyPr/>
          <a:lstStyle/>
          <a:p>
            <a:fld id="{A83063A8-27AB-4485-9BAB-385A926DB554}" type="datetime1">
              <a:rPr lang="en-US" smtClean="0"/>
              <a:t>3/2/2026</a:t>
            </a:fld>
            <a:endParaRPr lang="en-US"/>
          </a:p>
        </p:txBody>
      </p:sp>
      <p:sp>
        <p:nvSpPr>
          <p:cNvPr id="3" name="Footer Placeholder 2">
            <a:extLst>
              <a:ext uri="{FF2B5EF4-FFF2-40B4-BE49-F238E27FC236}">
                <a16:creationId xmlns:a16="http://schemas.microsoft.com/office/drawing/2014/main" id="{C628B611-5E83-0843-977C-16E1A2E894CA}"/>
              </a:ext>
            </a:extLst>
          </p:cNvPr>
          <p:cNvSpPr>
            <a:spLocks noGrp="1"/>
          </p:cNvSpPr>
          <p:nvPr>
            <p:ph type="ftr" sz="quarter" idx="11"/>
          </p:nvPr>
        </p:nvSpPr>
        <p:spPr/>
        <p:txBody>
          <a:bodyPr/>
          <a:lstStyle/>
          <a:p>
            <a:r>
              <a:rPr lang="en-US"/>
              <a:t>Dr. Ryan Ahmed @Stemplicity</a:t>
            </a:r>
          </a:p>
        </p:txBody>
      </p:sp>
      <p:sp>
        <p:nvSpPr>
          <p:cNvPr id="4" name="Slide Number Placeholder 3">
            <a:extLst>
              <a:ext uri="{FF2B5EF4-FFF2-40B4-BE49-F238E27FC236}">
                <a16:creationId xmlns:a16="http://schemas.microsoft.com/office/drawing/2014/main" id="{1A6D3613-5124-BA4D-9CAB-52053A73DB72}"/>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3273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775-3C65-984A-BA3D-74F6AA540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76B8A-7DF2-254A-A58A-3F781F1A7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7C9F2F-598A-9444-B48C-6BA9400E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FA619B-B04E-A94F-B294-EE523AB822EB}"/>
              </a:ext>
            </a:extLst>
          </p:cNvPr>
          <p:cNvSpPr>
            <a:spLocks noGrp="1"/>
          </p:cNvSpPr>
          <p:nvPr>
            <p:ph type="dt" sz="half" idx="10"/>
          </p:nvPr>
        </p:nvSpPr>
        <p:spPr/>
        <p:txBody>
          <a:bodyPr/>
          <a:lstStyle/>
          <a:p>
            <a:fld id="{B91EE9DF-0ED6-4B61-A1FD-8DD75280FE01}" type="datetime1">
              <a:rPr lang="en-US" smtClean="0"/>
              <a:t>3/2/2026</a:t>
            </a:fld>
            <a:endParaRPr lang="en-US"/>
          </a:p>
        </p:txBody>
      </p:sp>
      <p:sp>
        <p:nvSpPr>
          <p:cNvPr id="6" name="Footer Placeholder 5">
            <a:extLst>
              <a:ext uri="{FF2B5EF4-FFF2-40B4-BE49-F238E27FC236}">
                <a16:creationId xmlns:a16="http://schemas.microsoft.com/office/drawing/2014/main" id="{F218418F-6D05-564F-ACAC-0CE18B415C47}"/>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2652FA7B-E334-F841-9F55-8FE3994F67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54719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0FD-C21B-F942-933E-C7F1539AE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0509F0-CB84-8346-88EC-B60FAB239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B07D7-B626-4245-8DB7-641F9BE45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192CF3-BF8E-CC45-AFD1-29BF788849AD}"/>
              </a:ext>
            </a:extLst>
          </p:cNvPr>
          <p:cNvSpPr>
            <a:spLocks noGrp="1"/>
          </p:cNvSpPr>
          <p:nvPr>
            <p:ph type="dt" sz="half" idx="10"/>
          </p:nvPr>
        </p:nvSpPr>
        <p:spPr/>
        <p:txBody>
          <a:bodyPr/>
          <a:lstStyle/>
          <a:p>
            <a:fld id="{0C6B4C01-5047-4D04-A79D-6D96B1DB76E2}" type="datetime1">
              <a:rPr lang="en-US" smtClean="0"/>
              <a:t>3/2/2026</a:t>
            </a:fld>
            <a:endParaRPr lang="en-US"/>
          </a:p>
        </p:txBody>
      </p:sp>
      <p:sp>
        <p:nvSpPr>
          <p:cNvPr id="6" name="Footer Placeholder 5">
            <a:extLst>
              <a:ext uri="{FF2B5EF4-FFF2-40B4-BE49-F238E27FC236}">
                <a16:creationId xmlns:a16="http://schemas.microsoft.com/office/drawing/2014/main" id="{91BEEA5E-B447-2945-A61F-23F43D1BAE5F}"/>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4E03110A-1EF4-4E47-BC27-95CCC22DB031}"/>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4156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4858-278B-D14B-9123-9451D8F7BB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8E07C-511F-3A43-84A6-1011012918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27FEB-35FC-E245-9B8A-12B959651942}"/>
              </a:ext>
            </a:extLst>
          </p:cNvPr>
          <p:cNvSpPr>
            <a:spLocks noGrp="1"/>
          </p:cNvSpPr>
          <p:nvPr>
            <p:ph type="dt" sz="half" idx="10"/>
          </p:nvPr>
        </p:nvSpPr>
        <p:spPr/>
        <p:txBody>
          <a:bodyPr/>
          <a:lstStyle/>
          <a:p>
            <a:fld id="{2050BBC8-E478-43C9-A4F1-EDD4F72015DC}" type="datetime1">
              <a:rPr lang="en-US" smtClean="0"/>
              <a:t>3/2/2026</a:t>
            </a:fld>
            <a:endParaRPr lang="en-US"/>
          </a:p>
        </p:txBody>
      </p:sp>
      <p:sp>
        <p:nvSpPr>
          <p:cNvPr id="5" name="Footer Placeholder 4">
            <a:extLst>
              <a:ext uri="{FF2B5EF4-FFF2-40B4-BE49-F238E27FC236}">
                <a16:creationId xmlns:a16="http://schemas.microsoft.com/office/drawing/2014/main" id="{06777081-9459-C64F-895D-A9A37C0D0BB7}"/>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1FAC1E24-D886-5444-8983-468379B78FD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6637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F08AD-56F2-8141-B3EC-B0792780C2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A58ED-0A7F-F541-B86D-470505704E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2861A-7351-3846-BCB0-C5618DA092CE}"/>
              </a:ext>
            </a:extLst>
          </p:cNvPr>
          <p:cNvSpPr>
            <a:spLocks noGrp="1"/>
          </p:cNvSpPr>
          <p:nvPr>
            <p:ph type="dt" sz="half" idx="10"/>
          </p:nvPr>
        </p:nvSpPr>
        <p:spPr/>
        <p:txBody>
          <a:bodyPr/>
          <a:lstStyle/>
          <a:p>
            <a:fld id="{04321BB6-29D9-437A-B4EB-C48447ACC5C8}" type="datetime1">
              <a:rPr lang="en-US" smtClean="0"/>
              <a:t>3/2/2026</a:t>
            </a:fld>
            <a:endParaRPr lang="en-US"/>
          </a:p>
        </p:txBody>
      </p:sp>
      <p:sp>
        <p:nvSpPr>
          <p:cNvPr id="5" name="Footer Placeholder 4">
            <a:extLst>
              <a:ext uri="{FF2B5EF4-FFF2-40B4-BE49-F238E27FC236}">
                <a16:creationId xmlns:a16="http://schemas.microsoft.com/office/drawing/2014/main" id="{BAA1FD98-D553-4C46-941B-9CF2C56A19F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ABD676D-8472-4F4A-A337-CF5E8C495173}"/>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97730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070BF-9A90-A245-B77A-28DCF3E4E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F1332-889D-FA43-A51D-33C48B35B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7FC81-D9EE-0347-B9BA-8E603587A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729903-C382-4170-95C6-7F2CD4702B84}" type="datetime1">
              <a:rPr lang="en-US" smtClean="0"/>
              <a:t>3/2/2026</a:t>
            </a:fld>
            <a:endParaRPr lang="en-US"/>
          </a:p>
        </p:txBody>
      </p:sp>
      <p:sp>
        <p:nvSpPr>
          <p:cNvPr id="5" name="Footer Placeholder 4">
            <a:extLst>
              <a:ext uri="{FF2B5EF4-FFF2-40B4-BE49-F238E27FC236}">
                <a16:creationId xmlns:a16="http://schemas.microsoft.com/office/drawing/2014/main" id="{F7CC4954-DDAB-064F-B985-8986B1132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Ryan Ahmed @Stemplicity</a:t>
            </a:r>
          </a:p>
        </p:txBody>
      </p:sp>
      <p:sp>
        <p:nvSpPr>
          <p:cNvPr id="6" name="Slide Number Placeholder 5">
            <a:extLst>
              <a:ext uri="{FF2B5EF4-FFF2-40B4-BE49-F238E27FC236}">
                <a16:creationId xmlns:a16="http://schemas.microsoft.com/office/drawing/2014/main" id="{E670476A-2C89-5D4A-A893-BDE076899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A372C-9768-B740-91C6-444FA6615483}" type="slidenum">
              <a:rPr lang="en-US" smtClean="0"/>
              <a:t>‹#›</a:t>
            </a:fld>
            <a:endParaRPr lang="en-US"/>
          </a:p>
        </p:txBody>
      </p:sp>
    </p:spTree>
    <p:extLst>
      <p:ext uri="{BB962C8B-B14F-4D97-AF65-F5344CB8AC3E}">
        <p14:creationId xmlns:p14="http://schemas.microsoft.com/office/powerpoint/2010/main" val="25987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7.jpeg"/><Relationship Id="rId12" Type="http://schemas.openxmlformats.org/officeDocument/2006/relationships/image" Target="../media/image12.jpe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jpeg"/><Relationship Id="rId15" Type="http://schemas.openxmlformats.org/officeDocument/2006/relationships/image" Target="../media/image15.jp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3.png"/><Relationship Id="rId7"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7.jpg"/><Relationship Id="rId5" Type="http://schemas.openxmlformats.org/officeDocument/2006/relationships/image" Target="../media/image16.png"/><Relationship Id="rId4" Type="http://schemas.openxmlformats.org/officeDocument/2006/relationships/image" Target="../media/image2.png"/><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chatgpt.com/features/agent/"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code.claude.com/docs/en/chrome" TargetMode="External"/><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platform.openai.com/tokenizer"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hyperlink" Target="https://futurism.com/altman-please-thanks-chatgpt" TargetMode="External"/><Relationship Id="rId4" Type="http://schemas.openxmlformats.org/officeDocument/2006/relationships/hyperlink" Target="https://platform.openai.com/tokenizer"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44.png"/><Relationship Id="rId13"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jpeg"/><Relationship Id="rId5" Type="http://schemas.openxmlformats.org/officeDocument/2006/relationships/image" Target="../media/image41.jpeg"/><Relationship Id="rId10" Type="http://schemas.openxmlformats.org/officeDocument/2006/relationships/image" Target="../media/image46.jpeg"/><Relationship Id="rId4" Type="http://schemas.openxmlformats.org/officeDocument/2006/relationships/image" Target="../media/image40.png"/><Relationship Id="rId9" Type="http://schemas.openxmlformats.org/officeDocument/2006/relationships/image" Target="../media/image45.jpeg"/><Relationship Id="rId14" Type="http://schemas.openxmlformats.org/officeDocument/2006/relationships/image" Target="../media/image49.png"/></Relationships>
</file>

<file path=ppt/slides/_rels/slide18.xml.rels><?xml version="1.0" encoding="UTF-8" standalone="yes"?>
<Relationships xmlns="http://schemas.openxmlformats.org/package/2006/relationships"><Relationship Id="rId8" Type="http://schemas.openxmlformats.org/officeDocument/2006/relationships/image" Target="../media/image45.jpeg"/><Relationship Id="rId13" Type="http://schemas.openxmlformats.org/officeDocument/2006/relationships/image" Target="../media/image50.png"/><Relationship Id="rId3" Type="http://schemas.openxmlformats.org/officeDocument/2006/relationships/image" Target="../media/image2.png"/><Relationship Id="rId7" Type="http://schemas.openxmlformats.org/officeDocument/2006/relationships/image" Target="../media/image42.png"/><Relationship Id="rId12" Type="http://schemas.openxmlformats.org/officeDocument/2006/relationships/image" Target="../media/image4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1.jpeg"/><Relationship Id="rId11" Type="http://schemas.microsoft.com/office/2007/relationships/hdphoto" Target="../media/hdphoto1.wdp"/><Relationship Id="rId5" Type="http://schemas.openxmlformats.org/officeDocument/2006/relationships/image" Target="../media/image40.png"/><Relationship Id="rId10" Type="http://schemas.openxmlformats.org/officeDocument/2006/relationships/image" Target="../media/image48.png"/><Relationship Id="rId4" Type="http://schemas.openxmlformats.org/officeDocument/2006/relationships/image" Target="../media/image43.png"/><Relationship Id="rId9" Type="http://schemas.openxmlformats.org/officeDocument/2006/relationships/image" Target="../media/image47.jpeg"/></Relationships>
</file>

<file path=ppt/slides/_rels/slide1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hyperlink" Target="https://www.vellum.ai/llm-leaderboard" TargetMode="External"/><Relationship Id="rId4" Type="http://schemas.openxmlformats.org/officeDocument/2006/relationships/hyperlink" Target="https://llm-stats.com/leaderboards/llm-leaderboard"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hyperlink" Target="https://arena.ai/"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hyperlink" Target="https://arena.ai/"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54.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54.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2.png"/><Relationship Id="rId3" Type="http://schemas.openxmlformats.org/officeDocument/2006/relationships/image" Target="../media/image3.png"/><Relationship Id="rId7" Type="http://schemas.openxmlformats.org/officeDocument/2006/relationships/image" Target="../media/image57.png"/><Relationship Id="rId12" Type="http://schemas.openxmlformats.org/officeDocument/2006/relationships/image" Target="../media/image6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6.jpeg"/><Relationship Id="rId11" Type="http://schemas.openxmlformats.org/officeDocument/2006/relationships/image" Target="../media/image60.png"/><Relationship Id="rId5" Type="http://schemas.openxmlformats.org/officeDocument/2006/relationships/image" Target="../media/image55.jpeg"/><Relationship Id="rId10" Type="http://schemas.openxmlformats.org/officeDocument/2006/relationships/image" Target="../media/image43.png"/><Relationship Id="rId4" Type="http://schemas.openxmlformats.org/officeDocument/2006/relationships/image" Target="../media/image2.png"/><Relationship Id="rId9" Type="http://schemas.openxmlformats.org/officeDocument/2006/relationships/image" Target="../media/image59.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anthropic.com/news/model-context-protocol" TargetMode="External"/><Relationship Id="rId5" Type="http://schemas.openxmlformats.org/officeDocument/2006/relationships/image" Target="../media/image6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5.svg"/><Relationship Id="rId5" Type="http://schemas.openxmlformats.org/officeDocument/2006/relationships/image" Target="../media/image64.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F529F-B86A-83C8-478E-307AC30917E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C403872-6FAD-0F11-5844-575593A583D8}"/>
              </a:ext>
            </a:extLst>
          </p:cNvPr>
          <p:cNvSpPr/>
          <p:nvPr/>
        </p:nvSpPr>
        <p:spPr>
          <a:xfrm>
            <a:off x="134842" y="70651"/>
            <a:ext cx="4875732" cy="1938992"/>
          </a:xfrm>
          <a:prstGeom prst="rect">
            <a:avLst/>
          </a:prstGeom>
        </p:spPr>
        <p:txBody>
          <a:bodyPr wrap="square">
            <a:spAutoFit/>
          </a:bodyPr>
          <a:lstStyle/>
          <a:p>
            <a:r>
              <a:rPr lang="en-US" sz="4000" b="1" dirty="0">
                <a:solidFill>
                  <a:schemeClr val="bg1"/>
                </a:solidFill>
                <a:latin typeface="Montserrat" charset="0"/>
              </a:rPr>
              <a:t>THE AGENTIC AI ENGINEERING BOOTCAMP</a:t>
            </a:r>
            <a:endParaRPr lang="en-US" sz="4000" b="1" dirty="0">
              <a:solidFill>
                <a:schemeClr val="bg1"/>
              </a:solidFill>
              <a:latin typeface="Montserrat" charset="0"/>
              <a:ea typeface="Montserrat" charset="0"/>
              <a:cs typeface="Montserrat" charset="0"/>
            </a:endParaRPr>
          </a:p>
        </p:txBody>
      </p:sp>
      <p:pic>
        <p:nvPicPr>
          <p:cNvPr id="6" name="Picture 5">
            <a:extLst>
              <a:ext uri="{FF2B5EF4-FFF2-40B4-BE49-F238E27FC236}">
                <a16:creationId xmlns:a16="http://schemas.microsoft.com/office/drawing/2014/main" id="{8F922CCA-AE82-A418-52D1-CBC82BEC14DD}"/>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7071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210BA7-83D5-BA28-4169-3E936CE312BE}"/>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9A5E0EF4-240B-8B5B-8335-CAC6327B8523}"/>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BEFE33B-7EE9-7BFB-A39F-0F81915A552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Instructor Introduction</a:t>
            </a:r>
          </a:p>
        </p:txBody>
      </p:sp>
      <p:sp>
        <p:nvSpPr>
          <p:cNvPr id="9" name="TextBox 8">
            <a:extLst>
              <a:ext uri="{FF2B5EF4-FFF2-40B4-BE49-F238E27FC236}">
                <a16:creationId xmlns:a16="http://schemas.microsoft.com/office/drawing/2014/main" id="{8FF4BF6C-937D-3A93-9865-C5DE26F44C25}"/>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4" name="Google Shape;118;p3">
            <a:extLst>
              <a:ext uri="{FF2B5EF4-FFF2-40B4-BE49-F238E27FC236}">
                <a16:creationId xmlns:a16="http://schemas.microsoft.com/office/drawing/2014/main" id="{EC8C7A90-40F7-9861-CF42-D62ADF4ADBF9}"/>
              </a:ext>
            </a:extLst>
          </p:cNvPr>
          <p:cNvSpPr txBox="1"/>
          <p:nvPr/>
        </p:nvSpPr>
        <p:spPr>
          <a:xfrm>
            <a:off x="3539816" y="4099437"/>
            <a:ext cx="4309224" cy="964352"/>
          </a:xfrm>
          <a:prstGeom prst="rect">
            <a:avLst/>
          </a:prstGeom>
          <a:noFill/>
          <a:ln>
            <a:noFill/>
          </a:ln>
        </p:spPr>
        <p:txBody>
          <a:bodyPr spcFirstLastPara="1" wrap="square" lIns="0" tIns="81273" rIns="0" bIns="81273" anchor="ctr" anchorCtr="0">
            <a:spAutoFit/>
          </a:bodyPr>
          <a:lstStyle/>
          <a:p>
            <a:pPr marL="0" lvl="4" algn="ctr" defTabSz="812820">
              <a:lnSpc>
                <a:spcPct val="130000"/>
              </a:lnSpc>
              <a:buClr>
                <a:srgbClr val="E7E6E6"/>
              </a:buClr>
              <a:buSzPts val="2700"/>
            </a:pPr>
            <a:r>
              <a:rPr lang="en-US" sz="2400" b="1" kern="0" dirty="0">
                <a:solidFill>
                  <a:srgbClr val="1E3D53"/>
                </a:solidFill>
                <a:latin typeface="Arial"/>
                <a:ea typeface="Arial"/>
                <a:cs typeface="Arial"/>
                <a:sym typeface="Arial"/>
              </a:rPr>
              <a:t>Dr. Ryan Ahmed</a:t>
            </a:r>
            <a:br>
              <a:rPr lang="en-US" sz="1400" b="1" kern="0" dirty="0">
                <a:solidFill>
                  <a:srgbClr val="000000"/>
                </a:solidFill>
                <a:latin typeface="Arial"/>
                <a:ea typeface="Arial"/>
                <a:cs typeface="Arial"/>
                <a:sym typeface="Arial"/>
              </a:rPr>
            </a:br>
            <a:r>
              <a:rPr lang="en-US" sz="1600" kern="0" dirty="0">
                <a:solidFill>
                  <a:srgbClr val="0B8ECC"/>
                </a:solidFill>
                <a:latin typeface="Arial"/>
                <a:ea typeface="Arial"/>
                <a:cs typeface="Arial"/>
                <a:sym typeface="Arial"/>
              </a:rPr>
              <a:t>Professor &amp; Best-selling Instructor</a:t>
            </a:r>
            <a:endParaRPr sz="1400" kern="0" dirty="0">
              <a:solidFill>
                <a:srgbClr val="000000"/>
              </a:solidFill>
              <a:latin typeface="Arial"/>
              <a:cs typeface="Arial"/>
              <a:sym typeface="Arial"/>
            </a:endParaRPr>
          </a:p>
        </p:txBody>
      </p:sp>
      <p:pic>
        <p:nvPicPr>
          <p:cNvPr id="25" name="Picture 24" descr="Online Courses - Learn Anything, On Your Schedule | Udemy">
            <a:extLst>
              <a:ext uri="{FF2B5EF4-FFF2-40B4-BE49-F238E27FC236}">
                <a16:creationId xmlns:a16="http://schemas.microsoft.com/office/drawing/2014/main" id="{88949542-EBD4-5744-1124-77AF60BF82D0}"/>
              </a:ext>
            </a:extLst>
          </p:cNvPr>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20496" b="24378"/>
          <a:stretch/>
        </p:blipFill>
        <p:spPr bwMode="auto">
          <a:xfrm>
            <a:off x="8591802" y="891546"/>
            <a:ext cx="2935699" cy="849641"/>
          </a:xfrm>
          <a:prstGeom prst="rect">
            <a:avLst/>
          </a:prstGeom>
          <a:noFill/>
          <a:extLst>
            <a:ext uri="{909E8E84-426E-40DD-AFC4-6F175D3DCCD1}">
              <a14:hiddenFill xmlns:a14="http://schemas.microsoft.com/office/drawing/2010/main">
                <a:solidFill>
                  <a:srgbClr val="FFFFFF"/>
                </a:solidFill>
              </a14:hiddenFill>
            </a:ext>
          </a:extLst>
        </p:spPr>
      </p:pic>
      <p:sp>
        <p:nvSpPr>
          <p:cNvPr id="26" name="Google Shape;122;p3">
            <a:extLst>
              <a:ext uri="{FF2B5EF4-FFF2-40B4-BE49-F238E27FC236}">
                <a16:creationId xmlns:a16="http://schemas.microsoft.com/office/drawing/2014/main" id="{530A72D7-D91F-CD34-AF4D-BFA810C0003D}"/>
              </a:ext>
            </a:extLst>
          </p:cNvPr>
          <p:cNvSpPr txBox="1"/>
          <p:nvPr/>
        </p:nvSpPr>
        <p:spPr>
          <a:xfrm>
            <a:off x="8802232" y="1505263"/>
            <a:ext cx="3238635" cy="509539"/>
          </a:xfrm>
          <a:prstGeom prst="rect">
            <a:avLst/>
          </a:prstGeom>
          <a:noFill/>
          <a:ln>
            <a:noFill/>
          </a:ln>
        </p:spPr>
        <p:txBody>
          <a:bodyPr spcFirstLastPara="1" wrap="square" lIns="0" tIns="108371" rIns="0" bIns="0" anchor="t" anchorCtr="0">
            <a:spAutoFit/>
          </a:bodyPr>
          <a:lstStyle>
            <a:defPPr>
              <a:defRPr lang="en-US"/>
            </a:defPPr>
            <a:lvl1pPr defTabSz="914400">
              <a:lnSpc>
                <a:spcPct val="130000"/>
              </a:lnSpc>
              <a:buClr>
                <a:srgbClr val="0B8ECC"/>
              </a:buClr>
              <a:buSzPts val="1600"/>
              <a:buFont typeface="Arial"/>
              <a:buNone/>
              <a:defRPr sz="2800" i="1" kern="0">
                <a:solidFill>
                  <a:srgbClr val="000000"/>
                </a:solidFill>
                <a:latin typeface="Arial"/>
                <a:cs typeface="Arial"/>
              </a:defRPr>
            </a:lvl1pPr>
          </a:lstStyle>
          <a:p>
            <a:pPr defTabSz="1219170"/>
            <a:r>
              <a:rPr lang="en-US" sz="2000" i="0" dirty="0">
                <a:latin typeface="Montserrat" panose="00000500000000000000" pitchFamily="2" charset="0"/>
                <a:sym typeface="Arial"/>
              </a:rPr>
              <a:t>520,000 Students</a:t>
            </a:r>
          </a:p>
        </p:txBody>
      </p:sp>
      <p:sp>
        <p:nvSpPr>
          <p:cNvPr id="27" name="Google Shape;122;p3">
            <a:extLst>
              <a:ext uri="{FF2B5EF4-FFF2-40B4-BE49-F238E27FC236}">
                <a16:creationId xmlns:a16="http://schemas.microsoft.com/office/drawing/2014/main" id="{37E98D07-77EB-A822-8851-F159B6FD12D5}"/>
              </a:ext>
            </a:extLst>
          </p:cNvPr>
          <p:cNvSpPr txBox="1"/>
          <p:nvPr/>
        </p:nvSpPr>
        <p:spPr>
          <a:xfrm>
            <a:off x="8248477" y="2967978"/>
            <a:ext cx="3915820" cy="509539"/>
          </a:xfrm>
          <a:prstGeom prst="rect">
            <a:avLst/>
          </a:prstGeom>
          <a:noFill/>
          <a:ln>
            <a:noFill/>
          </a:ln>
        </p:spPr>
        <p:txBody>
          <a:bodyPr spcFirstLastPara="1" wrap="square" lIns="0" tIns="108371" rIns="0" bIns="0" anchor="t" anchorCtr="0">
            <a:spAutoFit/>
          </a:bodyPr>
          <a:lstStyle>
            <a:defPPr>
              <a:defRPr lang="en-US"/>
            </a:defPPr>
            <a:lvl1pPr defTabSz="914400">
              <a:lnSpc>
                <a:spcPct val="130000"/>
              </a:lnSpc>
              <a:buClr>
                <a:srgbClr val="0B8ECC"/>
              </a:buClr>
              <a:buSzPts val="1600"/>
              <a:buFont typeface="Arial"/>
              <a:buNone/>
              <a:defRPr sz="2800" i="1" kern="0">
                <a:solidFill>
                  <a:srgbClr val="000000"/>
                </a:solidFill>
                <a:latin typeface="Arial"/>
                <a:ea typeface="Arial"/>
                <a:cs typeface="Arial"/>
              </a:defRPr>
            </a:lvl1pPr>
          </a:lstStyle>
          <a:p>
            <a:pPr defTabSz="1219170"/>
            <a:r>
              <a:rPr lang="en-US" sz="2000" i="0" dirty="0">
                <a:latin typeface="Montserrat" panose="00000500000000000000" pitchFamily="2" charset="0"/>
                <a:sym typeface="Arial"/>
              </a:rPr>
              <a:t>260,000+ Subs, 3.5M views</a:t>
            </a:r>
          </a:p>
        </p:txBody>
      </p:sp>
      <p:pic>
        <p:nvPicPr>
          <p:cNvPr id="28" name="Picture 12" descr="The YouTube logo: a history | Creative Bloq">
            <a:extLst>
              <a:ext uri="{FF2B5EF4-FFF2-40B4-BE49-F238E27FC236}">
                <a16:creationId xmlns:a16="http://schemas.microsoft.com/office/drawing/2014/main" id="{4C788107-FD8F-F801-24A1-A0E36A8F7854}"/>
              </a:ext>
            </a:extLst>
          </p:cNvPr>
          <p:cNvPicPr>
            <a:picLocks noChangeAspect="1" noChangeArrowheads="1"/>
          </p:cNvPicPr>
          <p:nvPr/>
        </p:nvPicPr>
        <p:blipFill>
          <a:blip r:embed="rId5">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8799545" y="2091323"/>
            <a:ext cx="2636297" cy="1480383"/>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DA65C000-1586-6F58-FB82-CA436DB56B3E}"/>
              </a:ext>
            </a:extLst>
          </p:cNvPr>
          <p:cNvPicPr>
            <a:picLocks noChangeAspect="1"/>
          </p:cNvPicPr>
          <p:nvPr/>
        </p:nvPicPr>
        <p:blipFill>
          <a:blip r:embed="rId6"/>
          <a:stretch>
            <a:fillRect/>
          </a:stretch>
        </p:blipFill>
        <p:spPr>
          <a:xfrm>
            <a:off x="1090182" y="1313757"/>
            <a:ext cx="1732171" cy="957788"/>
          </a:xfrm>
          <a:prstGeom prst="rect">
            <a:avLst/>
          </a:prstGeom>
        </p:spPr>
      </p:pic>
      <p:sp>
        <p:nvSpPr>
          <p:cNvPr id="30" name="Google Shape;122;p3">
            <a:extLst>
              <a:ext uri="{FF2B5EF4-FFF2-40B4-BE49-F238E27FC236}">
                <a16:creationId xmlns:a16="http://schemas.microsoft.com/office/drawing/2014/main" id="{4FCE8BB1-55ED-F852-9065-526FFB9D7C65}"/>
              </a:ext>
            </a:extLst>
          </p:cNvPr>
          <p:cNvSpPr txBox="1"/>
          <p:nvPr/>
        </p:nvSpPr>
        <p:spPr>
          <a:xfrm>
            <a:off x="756158" y="2218298"/>
            <a:ext cx="3299179" cy="509539"/>
          </a:xfrm>
          <a:prstGeom prst="rect">
            <a:avLst/>
          </a:prstGeom>
          <a:noFill/>
          <a:ln>
            <a:noFill/>
          </a:ln>
        </p:spPr>
        <p:txBody>
          <a:bodyPr spcFirstLastPara="1" wrap="square" lIns="0" tIns="108371" rIns="0" bIns="0" anchor="t" anchorCtr="0">
            <a:spAutoFit/>
          </a:bodyPr>
          <a:lstStyle/>
          <a:p>
            <a:pPr defTabSz="812820">
              <a:lnSpc>
                <a:spcPct val="130000"/>
              </a:lnSpc>
              <a:buClr>
                <a:srgbClr val="0B8ECC"/>
              </a:buClr>
              <a:buSzPts val="1600"/>
            </a:pPr>
            <a:r>
              <a:rPr lang="en-US" sz="2000" kern="0" dirty="0">
                <a:solidFill>
                  <a:srgbClr val="000000"/>
                </a:solidFill>
                <a:latin typeface="Montserrat" panose="00000500000000000000" pitchFamily="2" charset="0"/>
                <a:cs typeface="Arial"/>
                <a:sym typeface="Arial"/>
              </a:rPr>
              <a:t>M.A.Sc., Ph.D., MBA</a:t>
            </a:r>
          </a:p>
        </p:txBody>
      </p:sp>
      <p:pic>
        <p:nvPicPr>
          <p:cNvPr id="31" name="Picture 16" descr="General Motors | Detroit MI">
            <a:extLst>
              <a:ext uri="{FF2B5EF4-FFF2-40B4-BE49-F238E27FC236}">
                <a16:creationId xmlns:a16="http://schemas.microsoft.com/office/drawing/2014/main" id="{8AD99D7B-174B-B0DC-3490-9A2D8A7B93AC}"/>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97872" y="3823838"/>
            <a:ext cx="1022179" cy="1022179"/>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0" descr="Logo | Brand Identity | About Us | Samsung Canada">
            <a:extLst>
              <a:ext uri="{FF2B5EF4-FFF2-40B4-BE49-F238E27FC236}">
                <a16:creationId xmlns:a16="http://schemas.microsoft.com/office/drawing/2014/main" id="{C6E5C73B-E1E6-6E8B-AF67-B273164E5E57}"/>
              </a:ext>
            </a:extLst>
          </p:cNvPr>
          <p:cNvPicPr>
            <a:picLocks noChangeAspect="1" noChangeArrowheads="1"/>
          </p:cNvPicPr>
          <p:nvPr/>
        </p:nvPicPr>
        <p:blipFill rotWithShape="1">
          <a:blip r:embed="rId8">
            <a:clrChange>
              <a:clrFrom>
                <a:srgbClr val="F7F7F7"/>
              </a:clrFrom>
              <a:clrTo>
                <a:srgbClr val="F7F7F7">
                  <a:alpha val="0"/>
                </a:srgbClr>
              </a:clrTo>
            </a:clrChange>
            <a:extLst>
              <a:ext uri="{28A0092B-C50C-407E-A947-70E740481C1C}">
                <a14:useLocalDpi xmlns:a14="http://schemas.microsoft.com/office/drawing/2010/main" val="0"/>
              </a:ext>
            </a:extLst>
          </a:blip>
          <a:srcRect t="27183" b="29688"/>
          <a:stretch/>
        </p:blipFill>
        <p:spPr bwMode="auto">
          <a:xfrm>
            <a:off x="565103" y="4638656"/>
            <a:ext cx="3147211" cy="742789"/>
          </a:xfrm>
          <a:prstGeom prst="rect">
            <a:avLst/>
          </a:prstGeom>
          <a:noFill/>
          <a:extLst>
            <a:ext uri="{909E8E84-426E-40DD-AFC4-6F175D3DCCD1}">
              <a14:hiddenFill xmlns:a14="http://schemas.microsoft.com/office/drawing/2010/main">
                <a:solidFill>
                  <a:srgbClr val="FFFFFF"/>
                </a:solidFill>
              </a14:hiddenFill>
            </a:ext>
          </a:extLst>
        </p:spPr>
      </p:pic>
      <p:sp>
        <p:nvSpPr>
          <p:cNvPr id="33" name="Google Shape;122;p3">
            <a:extLst>
              <a:ext uri="{FF2B5EF4-FFF2-40B4-BE49-F238E27FC236}">
                <a16:creationId xmlns:a16="http://schemas.microsoft.com/office/drawing/2014/main" id="{778AE7D0-1FED-D2D3-A6EA-F106FEDF6012}"/>
              </a:ext>
            </a:extLst>
          </p:cNvPr>
          <p:cNvSpPr txBox="1"/>
          <p:nvPr/>
        </p:nvSpPr>
        <p:spPr>
          <a:xfrm>
            <a:off x="414073" y="5217532"/>
            <a:ext cx="3298241" cy="509539"/>
          </a:xfrm>
          <a:prstGeom prst="rect">
            <a:avLst/>
          </a:prstGeom>
          <a:noFill/>
          <a:ln>
            <a:noFill/>
          </a:ln>
        </p:spPr>
        <p:txBody>
          <a:bodyPr spcFirstLastPara="1" wrap="square" lIns="0" tIns="108371" rIns="0" bIns="0" anchor="t" anchorCtr="0">
            <a:spAutoFit/>
          </a:bodyPr>
          <a:lstStyle>
            <a:defPPr>
              <a:defRPr lang="en-US"/>
            </a:defPPr>
            <a:lvl1pPr defTabSz="914400">
              <a:lnSpc>
                <a:spcPct val="130000"/>
              </a:lnSpc>
              <a:buClr>
                <a:srgbClr val="0B8ECC"/>
              </a:buClr>
              <a:buSzPts val="1600"/>
              <a:buFont typeface="Arial"/>
              <a:buNone/>
              <a:defRPr sz="2800" i="1" kern="0">
                <a:solidFill>
                  <a:srgbClr val="000000"/>
                </a:solidFill>
                <a:latin typeface="Arial"/>
                <a:cs typeface="Arial"/>
              </a:defRPr>
            </a:lvl1pPr>
          </a:lstStyle>
          <a:p>
            <a:pPr algn="ctr" defTabSz="1219170"/>
            <a:r>
              <a:rPr lang="en-US" sz="2000" i="0" dirty="0">
                <a:latin typeface="Montserrat" panose="00000500000000000000" pitchFamily="2" charset="0"/>
                <a:sym typeface="Arial"/>
              </a:rPr>
              <a:t>AI &amp; EV/AV</a:t>
            </a:r>
          </a:p>
        </p:txBody>
      </p:sp>
      <p:pic>
        <p:nvPicPr>
          <p:cNvPr id="34" name="Picture 2" descr="CF Markville | HSBC">
            <a:extLst>
              <a:ext uri="{FF2B5EF4-FFF2-40B4-BE49-F238E27FC236}">
                <a16:creationId xmlns:a16="http://schemas.microsoft.com/office/drawing/2014/main" id="{FC076D62-8C52-630B-4EC4-A8422C3FF09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75733" y="4099436"/>
            <a:ext cx="1523340" cy="85688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RBC">
            <a:extLst>
              <a:ext uri="{FF2B5EF4-FFF2-40B4-BE49-F238E27FC236}">
                <a16:creationId xmlns:a16="http://schemas.microsoft.com/office/drawing/2014/main" id="{8E0BB076-47EC-44EE-3C19-75159EDA001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80341" y="5014304"/>
            <a:ext cx="629033" cy="629033"/>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10" descr="Discover Bank Review">
            <a:extLst>
              <a:ext uri="{FF2B5EF4-FFF2-40B4-BE49-F238E27FC236}">
                <a16:creationId xmlns:a16="http://schemas.microsoft.com/office/drawing/2014/main" id="{FD97CBB3-166F-63A6-8E4F-3AE1F05DB8C4}"/>
              </a:ext>
            </a:extLst>
          </p:cNvPr>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705379" y="4044207"/>
            <a:ext cx="1705471" cy="852736"/>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Lowe's Home Improvement">
            <a:extLst>
              <a:ext uri="{FF2B5EF4-FFF2-40B4-BE49-F238E27FC236}">
                <a16:creationId xmlns:a16="http://schemas.microsoft.com/office/drawing/2014/main" id="{DEDC5946-1339-FB07-C117-75450F4FEA10}"/>
              </a:ext>
            </a:extLst>
          </p:cNvPr>
          <p:cNvPicPr>
            <a:picLocks noChangeAspect="1" noChangeArrowheads="1"/>
          </p:cNvPicPr>
          <p:nvPr/>
        </p:nvPicPr>
        <p:blipFill rotWithShape="1">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l="17730" r="18250"/>
          <a:stretch/>
        </p:blipFill>
        <p:spPr bwMode="auto">
          <a:xfrm>
            <a:off x="9452149" y="3936335"/>
            <a:ext cx="1254083" cy="1028416"/>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descr="LobbyMap Barclays">
            <a:extLst>
              <a:ext uri="{FF2B5EF4-FFF2-40B4-BE49-F238E27FC236}">
                <a16:creationId xmlns:a16="http://schemas.microsoft.com/office/drawing/2014/main" id="{6D92E9FC-10D1-8A38-E541-F9C39D17D95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42708" y="4913382"/>
            <a:ext cx="1815773" cy="907887"/>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0" descr="CFA Institute">
            <a:extLst>
              <a:ext uri="{FF2B5EF4-FFF2-40B4-BE49-F238E27FC236}">
                <a16:creationId xmlns:a16="http://schemas.microsoft.com/office/drawing/2014/main" id="{A842CA16-0D87-F734-C56A-70A357D7DCCB}"/>
              </a:ext>
            </a:extLst>
          </p:cNvPr>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601041" y="4896944"/>
            <a:ext cx="1523340" cy="795945"/>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a:extLst>
              <a:ext uri="{FF2B5EF4-FFF2-40B4-BE49-F238E27FC236}">
                <a16:creationId xmlns:a16="http://schemas.microsoft.com/office/drawing/2014/main" id="{09BC3137-B63E-BD7A-D2EF-AF7908A8D6C1}"/>
              </a:ext>
            </a:extLst>
          </p:cNvPr>
          <p:cNvPicPr>
            <a:picLocks noChangeAspect="1"/>
          </p:cNvPicPr>
          <p:nvPr/>
        </p:nvPicPr>
        <p:blipFill>
          <a:blip r:embed="rId15"/>
          <a:srcRect l="14989" t="-823" r="18763" b="-880"/>
          <a:stretch>
            <a:fillRect/>
          </a:stretch>
        </p:blipFill>
        <p:spPr>
          <a:xfrm>
            <a:off x="4349676" y="1827118"/>
            <a:ext cx="2636297" cy="2272319"/>
          </a:xfrm>
          <a:prstGeom prst="flowChartConnector">
            <a:avLst/>
          </a:prstGeom>
        </p:spPr>
      </p:pic>
    </p:spTree>
    <p:extLst>
      <p:ext uri="{BB962C8B-B14F-4D97-AF65-F5344CB8AC3E}">
        <p14:creationId xmlns:p14="http://schemas.microsoft.com/office/powerpoint/2010/main" val="2093928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g386c7c13429_7_75"/>
          <p:cNvPicPr preferRelativeResize="0"/>
          <p:nvPr/>
        </p:nvPicPr>
        <p:blipFill rotWithShape="1">
          <a:blip r:embed="rId3">
            <a:alphaModFix/>
          </a:blip>
          <a:srcRect/>
          <a:stretch/>
        </p:blipFill>
        <p:spPr>
          <a:xfrm>
            <a:off x="0" y="0"/>
            <a:ext cx="12224773" cy="6857999"/>
          </a:xfrm>
          <a:prstGeom prst="rect">
            <a:avLst/>
          </a:prstGeom>
          <a:noFill/>
          <a:ln>
            <a:noFill/>
          </a:ln>
        </p:spPr>
      </p:pic>
      <p:pic>
        <p:nvPicPr>
          <p:cNvPr id="164" name="Google Shape;164;g386c7c13429_7_75"/>
          <p:cNvPicPr preferRelativeResize="0"/>
          <p:nvPr/>
        </p:nvPicPr>
        <p:blipFill rotWithShape="1">
          <a:blip r:embed="rId4">
            <a:alphaModFix/>
          </a:blip>
          <a:srcRect l="2731" t="18969" r="5592" b="23667"/>
          <a:stretch/>
        </p:blipFill>
        <p:spPr>
          <a:xfrm>
            <a:off x="9428854" y="90489"/>
            <a:ext cx="2763145" cy="477788"/>
          </a:xfrm>
          <a:prstGeom prst="rect">
            <a:avLst/>
          </a:prstGeom>
          <a:noFill/>
          <a:ln>
            <a:noFill/>
          </a:ln>
        </p:spPr>
      </p:pic>
      <p:sp>
        <p:nvSpPr>
          <p:cNvPr id="165" name="Google Shape;165;g386c7c13429_7_75"/>
          <p:cNvSpPr/>
          <p:nvPr/>
        </p:nvSpPr>
        <p:spPr>
          <a:xfrm>
            <a:off x="154722" y="90489"/>
            <a:ext cx="98274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Montserrat"/>
                <a:ea typeface="Montserrat"/>
                <a:cs typeface="Montserrat"/>
                <a:sym typeface="Montserrat"/>
              </a:rPr>
              <a:t>Instructor Introduction</a:t>
            </a:r>
            <a:endParaRPr sz="1400" b="0" i="0" u="none" strike="noStrike" cap="none">
              <a:solidFill>
                <a:srgbClr val="000000"/>
              </a:solidFill>
              <a:latin typeface="Arial"/>
              <a:ea typeface="Arial"/>
              <a:cs typeface="Arial"/>
              <a:sym typeface="Arial"/>
            </a:endParaRPr>
          </a:p>
        </p:txBody>
      </p:sp>
      <p:sp>
        <p:nvSpPr>
          <p:cNvPr id="166" name="Google Shape;166;g386c7c13429_7_75"/>
          <p:cNvSpPr txBox="1"/>
          <p:nvPr/>
        </p:nvSpPr>
        <p:spPr>
          <a:xfrm rot="5400000">
            <a:off x="9505625" y="3291320"/>
            <a:ext cx="5106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chemeClr val="accent3"/>
                </a:solidFill>
                <a:latin typeface="Calibri"/>
                <a:ea typeface="Calibri"/>
                <a:cs typeface="Calibri"/>
                <a:sym typeface="Calibri"/>
              </a:rPr>
              <a:t>© All rights reserved for Dr. Ryan Ahmed @Stemplicity Inc. </a:t>
            </a:r>
            <a:endParaRPr sz="1400" b="0" i="0" u="none" strike="noStrike" cap="none">
              <a:solidFill>
                <a:srgbClr val="000000"/>
              </a:solidFill>
              <a:latin typeface="Arial"/>
              <a:ea typeface="Arial"/>
              <a:cs typeface="Arial"/>
              <a:sym typeface="Arial"/>
            </a:endParaRPr>
          </a:p>
        </p:txBody>
      </p:sp>
      <p:sp>
        <p:nvSpPr>
          <p:cNvPr id="167" name="Google Shape;167;g386c7c13429_7_75"/>
          <p:cNvSpPr txBox="1"/>
          <p:nvPr/>
        </p:nvSpPr>
        <p:spPr>
          <a:xfrm>
            <a:off x="2998775" y="3786950"/>
            <a:ext cx="5391300" cy="890700"/>
          </a:xfrm>
          <a:prstGeom prst="rect">
            <a:avLst/>
          </a:prstGeom>
          <a:noFill/>
          <a:ln>
            <a:noFill/>
          </a:ln>
        </p:spPr>
        <p:txBody>
          <a:bodyPr spcFirstLastPara="1" wrap="square" lIns="0" tIns="81250" rIns="0" bIns="81250" anchor="ctr" anchorCtr="0">
            <a:spAutoFit/>
          </a:bodyPr>
          <a:lstStyle/>
          <a:p>
            <a:pPr marL="0" marR="0" lvl="4" indent="0" algn="ctr" rtl="0">
              <a:lnSpc>
                <a:spcPct val="130000"/>
              </a:lnSpc>
              <a:spcBef>
                <a:spcPts val="0"/>
              </a:spcBef>
              <a:spcAft>
                <a:spcPts val="0"/>
              </a:spcAft>
              <a:buClr>
                <a:srgbClr val="000000"/>
              </a:buClr>
              <a:buSzPts val="2400"/>
              <a:buFont typeface="Arial"/>
              <a:buNone/>
            </a:pPr>
            <a:r>
              <a:rPr lang="en-US" sz="2400" b="1" i="0" u="none" strike="noStrike" cap="none">
                <a:solidFill>
                  <a:srgbClr val="1E3D53"/>
                </a:solidFill>
                <a:latin typeface="Arial"/>
                <a:ea typeface="Arial"/>
                <a:cs typeface="Arial"/>
                <a:sym typeface="Arial"/>
              </a:rPr>
              <a:t>Kukeshajanth Kodeswaran, M.Eng.</a:t>
            </a:r>
            <a:br>
              <a:rPr lang="en-US" sz="1400" b="1" i="0" u="none" strike="noStrike" cap="none">
                <a:solidFill>
                  <a:srgbClr val="000000"/>
                </a:solidFill>
                <a:latin typeface="Arial"/>
                <a:ea typeface="Arial"/>
                <a:cs typeface="Arial"/>
                <a:sym typeface="Arial"/>
              </a:rPr>
            </a:br>
            <a:r>
              <a:rPr lang="en-US" sz="1600" b="0" i="0" u="none" strike="noStrike" cap="none">
                <a:solidFill>
                  <a:srgbClr val="0B8ECC"/>
                </a:solidFill>
                <a:latin typeface="Arial"/>
                <a:ea typeface="Arial"/>
                <a:cs typeface="Arial"/>
                <a:sym typeface="Arial"/>
              </a:rPr>
              <a:t>Director of Engineering</a:t>
            </a:r>
            <a:endParaRPr sz="1400" b="0" i="0" u="none" strike="noStrike" cap="none">
              <a:solidFill>
                <a:srgbClr val="000000"/>
              </a:solidFill>
              <a:latin typeface="Arial"/>
              <a:ea typeface="Arial"/>
              <a:cs typeface="Arial"/>
              <a:sym typeface="Arial"/>
            </a:endParaRPr>
          </a:p>
        </p:txBody>
      </p:sp>
      <p:pic>
        <p:nvPicPr>
          <p:cNvPr id="168" name="Google Shape;168;g386c7c13429_7_75" title="Screenshot 2026-03-01 at 8.12.02 PM.png"/>
          <p:cNvPicPr preferRelativeResize="0"/>
          <p:nvPr/>
        </p:nvPicPr>
        <p:blipFill rotWithShape="1">
          <a:blip r:embed="rId5">
            <a:alphaModFix/>
          </a:blip>
          <a:srcRect/>
          <a:stretch/>
        </p:blipFill>
        <p:spPr>
          <a:xfrm>
            <a:off x="4595924" y="1581475"/>
            <a:ext cx="2197000" cy="2205474"/>
          </a:xfrm>
          <a:prstGeom prst="rect">
            <a:avLst/>
          </a:prstGeom>
          <a:noFill/>
          <a:ln>
            <a:noFill/>
          </a:ln>
        </p:spPr>
      </p:pic>
      <p:pic>
        <p:nvPicPr>
          <p:cNvPr id="169" name="Google Shape;169;g386c7c13429_7_75"/>
          <p:cNvPicPr preferRelativeResize="0"/>
          <p:nvPr/>
        </p:nvPicPr>
        <p:blipFill rotWithShape="1">
          <a:blip r:embed="rId6">
            <a:alphaModFix/>
          </a:blip>
          <a:srcRect l="287" r="297"/>
          <a:stretch/>
        </p:blipFill>
        <p:spPr>
          <a:xfrm>
            <a:off x="1454175" y="4754450"/>
            <a:ext cx="1308724" cy="1514400"/>
          </a:xfrm>
          <a:prstGeom prst="rect">
            <a:avLst/>
          </a:prstGeom>
          <a:noFill/>
          <a:ln>
            <a:noFill/>
          </a:ln>
        </p:spPr>
      </p:pic>
      <p:pic>
        <p:nvPicPr>
          <p:cNvPr id="170" name="Google Shape;170;g386c7c13429_7_75" title="Screenshot 2026-03-01 at 8.03.26 PM.png"/>
          <p:cNvPicPr preferRelativeResize="0"/>
          <p:nvPr/>
        </p:nvPicPr>
        <p:blipFill rotWithShape="1">
          <a:blip r:embed="rId7">
            <a:alphaModFix/>
          </a:blip>
          <a:srcRect/>
          <a:stretch/>
        </p:blipFill>
        <p:spPr>
          <a:xfrm>
            <a:off x="3211352" y="4816234"/>
            <a:ext cx="2196999" cy="1390829"/>
          </a:xfrm>
          <a:prstGeom prst="rect">
            <a:avLst/>
          </a:prstGeom>
          <a:noFill/>
          <a:ln>
            <a:noFill/>
          </a:ln>
        </p:spPr>
      </p:pic>
      <p:pic>
        <p:nvPicPr>
          <p:cNvPr id="171" name="Google Shape;171;g386c7c13429_7_75" title="Screenshot 2026-03-01 at 8.02.57 PM.png"/>
          <p:cNvPicPr preferRelativeResize="0"/>
          <p:nvPr/>
        </p:nvPicPr>
        <p:blipFill rotWithShape="1">
          <a:blip r:embed="rId8">
            <a:alphaModFix/>
          </a:blip>
          <a:srcRect/>
          <a:stretch/>
        </p:blipFill>
        <p:spPr>
          <a:xfrm>
            <a:off x="5856800" y="4816225"/>
            <a:ext cx="2938566" cy="1390850"/>
          </a:xfrm>
          <a:prstGeom prst="rect">
            <a:avLst/>
          </a:prstGeom>
          <a:noFill/>
          <a:ln>
            <a:noFill/>
          </a:ln>
        </p:spPr>
      </p:pic>
      <p:pic>
        <p:nvPicPr>
          <p:cNvPr id="172" name="Google Shape;172;g386c7c13429_7_75" title="Screenshot 2026-03-01 at 8.01.57 PM.png"/>
          <p:cNvPicPr preferRelativeResize="0"/>
          <p:nvPr/>
        </p:nvPicPr>
        <p:blipFill rotWithShape="1">
          <a:blip r:embed="rId9">
            <a:alphaModFix/>
          </a:blip>
          <a:srcRect/>
          <a:stretch/>
        </p:blipFill>
        <p:spPr>
          <a:xfrm>
            <a:off x="9175950" y="4816224"/>
            <a:ext cx="2332761" cy="1390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7A98F-BD1F-43AD-C8E9-40B172FCC3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85B66A-AA98-099E-85E2-84C7AA78370D}"/>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BF176E83-05D3-848B-F1B9-45673784C5E1}"/>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6601CC2-4E3A-647C-137B-C9FC930D2B73}"/>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Key Learning Objectives</a:t>
            </a:r>
          </a:p>
        </p:txBody>
      </p:sp>
      <p:sp>
        <p:nvSpPr>
          <p:cNvPr id="9" name="TextBox 8">
            <a:extLst>
              <a:ext uri="{FF2B5EF4-FFF2-40B4-BE49-F238E27FC236}">
                <a16:creationId xmlns:a16="http://schemas.microsoft.com/office/drawing/2014/main" id="{15E1ABA1-4346-BCD9-77D3-F476F71DE45C}"/>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10" name="Diagram 9">
            <a:extLst>
              <a:ext uri="{FF2B5EF4-FFF2-40B4-BE49-F238E27FC236}">
                <a16:creationId xmlns:a16="http://schemas.microsoft.com/office/drawing/2014/main" id="{CDE97257-FE11-D1D9-A636-0ACB5045E997}"/>
              </a:ext>
            </a:extLst>
          </p:cNvPr>
          <p:cNvGraphicFramePr/>
          <p:nvPr>
            <p:extLst>
              <p:ext uri="{D42A27DB-BD31-4B8C-83A1-F6EECF244321}">
                <p14:modId xmlns:p14="http://schemas.microsoft.com/office/powerpoint/2010/main" val="1022258340"/>
              </p:ext>
            </p:extLst>
          </p:nvPr>
        </p:nvGraphicFramePr>
        <p:xfrm>
          <a:off x="229828" y="1501472"/>
          <a:ext cx="10710022" cy="51061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F3277FBC-BCB9-28BB-3AF4-DD0751F1CA5C}"/>
              </a:ext>
            </a:extLst>
          </p:cNvPr>
          <p:cNvSpPr txBox="1"/>
          <p:nvPr/>
        </p:nvSpPr>
        <p:spPr>
          <a:xfrm>
            <a:off x="162914" y="900574"/>
            <a:ext cx="11219935" cy="584775"/>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This bootcamp teaches you how to design agent architectures, build RAG pipelines, orchestrate multi-agent workflows, and deploy reliable autonomous AI systems.</a:t>
            </a:r>
          </a:p>
        </p:txBody>
      </p:sp>
    </p:spTree>
    <p:extLst>
      <p:ext uri="{BB962C8B-B14F-4D97-AF65-F5344CB8AC3E}">
        <p14:creationId xmlns:p14="http://schemas.microsoft.com/office/powerpoint/2010/main" val="312393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graphicEl>
                                              <a:dgm id="{0353F168-E2F2-4BF2-9127-1F18A7AB26C6}"/>
                                            </p:graphicEl>
                                          </p:spTgt>
                                        </p:tgtEl>
                                        <p:attrNameLst>
                                          <p:attrName>style.visibility</p:attrName>
                                        </p:attrNameLst>
                                      </p:cBhvr>
                                      <p:to>
                                        <p:strVal val="visible"/>
                                      </p:to>
                                    </p:set>
                                    <p:animEffect transition="in" filter="fade">
                                      <p:cBhvr>
                                        <p:cTn id="7" dur="500"/>
                                        <p:tgtEl>
                                          <p:spTgt spid="10">
                                            <p:graphicEl>
                                              <a:dgm id="{0353F168-E2F2-4BF2-9127-1F18A7AB26C6}"/>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graphicEl>
                                              <a:dgm id="{B5B24182-6AEB-4632-A7F1-DA25427AB613}"/>
                                            </p:graphicEl>
                                          </p:spTgt>
                                        </p:tgtEl>
                                        <p:attrNameLst>
                                          <p:attrName>style.visibility</p:attrName>
                                        </p:attrNameLst>
                                      </p:cBhvr>
                                      <p:to>
                                        <p:strVal val="visible"/>
                                      </p:to>
                                    </p:set>
                                    <p:animEffect transition="in" filter="fade">
                                      <p:cBhvr>
                                        <p:cTn id="12" dur="500"/>
                                        <p:tgtEl>
                                          <p:spTgt spid="10">
                                            <p:graphicEl>
                                              <a:dgm id="{B5B24182-6AEB-4632-A7F1-DA25427AB61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graphicEl>
                                              <a:dgm id="{60F1E27E-515E-4AD7-8611-4A46E32F9647}"/>
                                            </p:graphicEl>
                                          </p:spTgt>
                                        </p:tgtEl>
                                        <p:attrNameLst>
                                          <p:attrName>style.visibility</p:attrName>
                                        </p:attrNameLst>
                                      </p:cBhvr>
                                      <p:to>
                                        <p:strVal val="visible"/>
                                      </p:to>
                                    </p:set>
                                    <p:animEffect transition="in" filter="fade">
                                      <p:cBhvr>
                                        <p:cTn id="17" dur="500"/>
                                        <p:tgtEl>
                                          <p:spTgt spid="10">
                                            <p:graphicEl>
                                              <a:dgm id="{60F1E27E-515E-4AD7-8611-4A46E32F9647}"/>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graphicEl>
                                              <a:dgm id="{49955CF1-8B55-48DE-9A30-8F30E28EF567}"/>
                                            </p:graphicEl>
                                          </p:spTgt>
                                        </p:tgtEl>
                                        <p:attrNameLst>
                                          <p:attrName>style.visibility</p:attrName>
                                        </p:attrNameLst>
                                      </p:cBhvr>
                                      <p:to>
                                        <p:strVal val="visible"/>
                                      </p:to>
                                    </p:set>
                                    <p:animEffect transition="in" filter="fade">
                                      <p:cBhvr>
                                        <p:cTn id="22" dur="500"/>
                                        <p:tgtEl>
                                          <p:spTgt spid="10">
                                            <p:graphicEl>
                                              <a:dgm id="{49955CF1-8B55-48DE-9A30-8F30E28EF567}"/>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graphicEl>
                                              <a:dgm id="{9422227E-9921-481C-93BB-8F3BDCDD9A3A}"/>
                                            </p:graphicEl>
                                          </p:spTgt>
                                        </p:tgtEl>
                                        <p:attrNameLst>
                                          <p:attrName>style.visibility</p:attrName>
                                        </p:attrNameLst>
                                      </p:cBhvr>
                                      <p:to>
                                        <p:strVal val="visible"/>
                                      </p:to>
                                    </p:set>
                                    <p:animEffect transition="in" filter="fade">
                                      <p:cBhvr>
                                        <p:cTn id="27" dur="500"/>
                                        <p:tgtEl>
                                          <p:spTgt spid="10">
                                            <p:graphicEl>
                                              <a:dgm id="{9422227E-9921-481C-93BB-8F3BDCDD9A3A}"/>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graphicEl>
                                              <a:dgm id="{CA347ABC-0AF2-4660-A4A8-22294E20AC94}"/>
                                            </p:graphicEl>
                                          </p:spTgt>
                                        </p:tgtEl>
                                        <p:attrNameLst>
                                          <p:attrName>style.visibility</p:attrName>
                                        </p:attrNameLst>
                                      </p:cBhvr>
                                      <p:to>
                                        <p:strVal val="visible"/>
                                      </p:to>
                                    </p:set>
                                    <p:animEffect transition="in" filter="fade">
                                      <p:cBhvr>
                                        <p:cTn id="32" dur="500"/>
                                        <p:tgtEl>
                                          <p:spTgt spid="10">
                                            <p:graphicEl>
                                              <a:dgm id="{CA347ABC-0AF2-4660-A4A8-22294E20AC94}"/>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graphicEl>
                                              <a:dgm id="{00427C60-DC1A-4438-ACE7-B59EDE6DA284}"/>
                                            </p:graphicEl>
                                          </p:spTgt>
                                        </p:tgtEl>
                                        <p:attrNameLst>
                                          <p:attrName>style.visibility</p:attrName>
                                        </p:attrNameLst>
                                      </p:cBhvr>
                                      <p:to>
                                        <p:strVal val="visible"/>
                                      </p:to>
                                    </p:set>
                                    <p:animEffect transition="in" filter="fade">
                                      <p:cBhvr>
                                        <p:cTn id="37" dur="500"/>
                                        <p:tgtEl>
                                          <p:spTgt spid="10">
                                            <p:graphicEl>
                                              <a:dgm id="{00427C60-DC1A-4438-ACE7-B59EDE6DA284}"/>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graphicEl>
                                              <a:dgm id="{D62B9485-1D72-41D4-888B-011B08942627}"/>
                                            </p:graphicEl>
                                          </p:spTgt>
                                        </p:tgtEl>
                                        <p:attrNameLst>
                                          <p:attrName>style.visibility</p:attrName>
                                        </p:attrNameLst>
                                      </p:cBhvr>
                                      <p:to>
                                        <p:strVal val="visible"/>
                                      </p:to>
                                    </p:set>
                                    <p:animEffect transition="in" filter="fade">
                                      <p:cBhvr>
                                        <p:cTn id="42" dur="500"/>
                                        <p:tgtEl>
                                          <p:spTgt spid="10">
                                            <p:graphicEl>
                                              <a:dgm id="{D62B9485-1D72-41D4-888B-011B08942627}"/>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graphicEl>
                                              <a:dgm id="{24D07BB6-9F50-424C-A059-3C01B027A5F5}"/>
                                            </p:graphicEl>
                                          </p:spTgt>
                                        </p:tgtEl>
                                        <p:attrNameLst>
                                          <p:attrName>style.visibility</p:attrName>
                                        </p:attrNameLst>
                                      </p:cBhvr>
                                      <p:to>
                                        <p:strVal val="visible"/>
                                      </p:to>
                                    </p:set>
                                    <p:animEffect transition="in" filter="fade">
                                      <p:cBhvr>
                                        <p:cTn id="47" dur="500"/>
                                        <p:tgtEl>
                                          <p:spTgt spid="10">
                                            <p:graphicEl>
                                              <a:dgm id="{24D07BB6-9F50-424C-A059-3C01B027A5F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18E27-A80D-818C-955E-A5A00A202F6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1F2B9FF-24ED-DAAA-A36E-2BA7A95FB94B}"/>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85780880-0DF2-FEE1-909F-F7F65133155B}"/>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854D7286-0A87-4B7B-5516-986D35980AFF}"/>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Success Tips</a:t>
            </a:r>
          </a:p>
        </p:txBody>
      </p:sp>
      <p:sp>
        <p:nvSpPr>
          <p:cNvPr id="9" name="TextBox 8">
            <a:extLst>
              <a:ext uri="{FF2B5EF4-FFF2-40B4-BE49-F238E27FC236}">
                <a16:creationId xmlns:a16="http://schemas.microsoft.com/office/drawing/2014/main" id="{265A659F-23B5-5FE0-6B6E-82FADE60CDF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6" name="TextBox 15">
            <a:extLst>
              <a:ext uri="{FF2B5EF4-FFF2-40B4-BE49-F238E27FC236}">
                <a16:creationId xmlns:a16="http://schemas.microsoft.com/office/drawing/2014/main" id="{F565FB9B-CB34-259C-4385-0D7A194617B8}"/>
              </a:ext>
            </a:extLst>
          </p:cNvPr>
          <p:cNvSpPr txBox="1"/>
          <p:nvPr/>
        </p:nvSpPr>
        <p:spPr>
          <a:xfrm>
            <a:off x="722168" y="692498"/>
            <a:ext cx="11167251" cy="400110"/>
          </a:xfrm>
          <a:prstGeom prst="rect">
            <a:avLst/>
          </a:prstGeom>
          <a:solidFill>
            <a:schemeClr val="bg1"/>
          </a:solidFill>
        </p:spPr>
        <p:txBody>
          <a:bodyPr wrap="square" rtlCol="0">
            <a:spAutoFit/>
          </a:bodyPr>
          <a:lstStyle>
            <a:defPPr marR="0" lvl="0" algn="l" rtl="0">
              <a:lnSpc>
                <a:spcPct val="100000"/>
              </a:lnSpc>
              <a:spcBef>
                <a:spcPts val="0"/>
              </a:spcBef>
              <a:spcAft>
                <a:spcPts val="0"/>
              </a:spcAft>
              <a:defRPr lang="en-US"/>
            </a:defPPr>
            <a:lvl1pPr algn="ctr">
              <a:defRPr sz="2000" b="0">
                <a:solidFill>
                  <a:srgbClr val="D56E48"/>
                </a:solidFill>
              </a:defRPr>
            </a:lvl1pPr>
          </a:lstStyle>
          <a:p>
            <a:endParaRPr lang="en-CA" dirty="0"/>
          </a:p>
        </p:txBody>
      </p:sp>
      <p:sp>
        <p:nvSpPr>
          <p:cNvPr id="18" name="Shape 288">
            <a:extLst>
              <a:ext uri="{FF2B5EF4-FFF2-40B4-BE49-F238E27FC236}">
                <a16:creationId xmlns:a16="http://schemas.microsoft.com/office/drawing/2014/main" id="{38C6C87D-6697-104A-7E1E-8BD1CCCDB9ED}"/>
              </a:ext>
            </a:extLst>
          </p:cNvPr>
          <p:cNvSpPr/>
          <p:nvPr/>
        </p:nvSpPr>
        <p:spPr>
          <a:xfrm>
            <a:off x="248230" y="961877"/>
            <a:ext cx="2743200" cy="2743200"/>
          </a:xfrm>
          <a:prstGeom prst="ellipse">
            <a:avLst/>
          </a:prstGeom>
          <a:solidFill>
            <a:srgbClr val="D56E48"/>
          </a:solidFill>
          <a:ln w="12700">
            <a:miter lim="400000"/>
          </a:ln>
        </p:spPr>
        <p:txBody>
          <a:bodyPr lIns="19050" tIns="19050" rIns="19050" bIns="19050" anchor="ctr"/>
          <a:lstStyle/>
          <a:p>
            <a:pPr lvl="0" algn="ctr" defTabSz="171459" hangingPunct="0">
              <a:lnSpc>
                <a:spcPct val="110000"/>
              </a:lnSpc>
              <a:defRPr sz="1600">
                <a:solidFill>
                  <a:srgbClr val="FFFFFF"/>
                </a:solidFill>
                <a:effectLst>
                  <a:outerShdw blurRad="38100" dist="12700" dir="5400000" rotWithShape="0">
                    <a:srgbClr val="000000">
                      <a:alpha val="50000"/>
                    </a:srgbClr>
                  </a:outerShdw>
                </a:effectLst>
              </a:defRPr>
            </a:pPr>
            <a:r>
              <a:rPr lang="en-US" sz="2000" b="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sym typeface="Helvetica Neue UltraLight"/>
              </a:rPr>
              <a:t>Build Every Week</a:t>
            </a:r>
          </a:p>
          <a:p>
            <a:pPr lvl="0" algn="ctr" defTabSz="171459" hangingPunct="0">
              <a:lnSpc>
                <a:spcPct val="110000"/>
              </a:lnSpc>
              <a:defRPr sz="1600">
                <a:solidFill>
                  <a:srgbClr val="FFFFFF"/>
                </a:solidFill>
                <a:effectLst>
                  <a:outerShdw blurRad="38100" dist="12700" dir="5400000" rotWithShape="0">
                    <a:srgbClr val="000000">
                      <a:alpha val="50000"/>
                    </a:srgbClr>
                  </a:outerShdw>
                </a:effectLst>
              </a:defRPr>
            </a:pPr>
            <a:r>
              <a:rPr lang="en-US" sz="1400" i="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sym typeface="Helvetica Neue UltraLight"/>
              </a:rPr>
              <a:t>Ship at least one working agent per week.</a:t>
            </a:r>
            <a:endParaRPr kumimoji="0" lang="en-US" sz="1400" i="1" u="none" strike="noStrike" kern="0" cap="none" spc="0" normalizeH="0" baseline="0" noProof="0" dirty="0">
              <a:ln>
                <a:noFill/>
              </a:ln>
              <a:solidFill>
                <a:srgbClr val="FFFFFF"/>
              </a:solidFill>
              <a:effectLst>
                <a:outerShdw blurRad="38100" dist="12700" dir="5400000" rotWithShape="0">
                  <a:srgbClr val="000000">
                    <a:alpha val="0"/>
                  </a:srgbClr>
                </a:outerShdw>
              </a:effectLst>
              <a:uLnTx/>
              <a:uFillTx/>
              <a:latin typeface="Montserrat" panose="00000500000000000000" pitchFamily="2" charset="0"/>
              <a:ea typeface="Arial"/>
              <a:cs typeface="Arial"/>
              <a:sym typeface="Helvetica Neue UltraLight"/>
            </a:endParaRPr>
          </a:p>
        </p:txBody>
      </p:sp>
      <p:sp>
        <p:nvSpPr>
          <p:cNvPr id="19" name="Shape 288">
            <a:extLst>
              <a:ext uri="{FF2B5EF4-FFF2-40B4-BE49-F238E27FC236}">
                <a16:creationId xmlns:a16="http://schemas.microsoft.com/office/drawing/2014/main" id="{37D1F6F3-F113-7358-9AAC-6BC15EA0DAE1}"/>
              </a:ext>
            </a:extLst>
          </p:cNvPr>
          <p:cNvSpPr/>
          <p:nvPr/>
        </p:nvSpPr>
        <p:spPr>
          <a:xfrm>
            <a:off x="3162796" y="2603704"/>
            <a:ext cx="2743200" cy="2743200"/>
          </a:xfrm>
          <a:prstGeom prst="ellipse">
            <a:avLst/>
          </a:prstGeom>
          <a:solidFill>
            <a:srgbClr val="0C1752"/>
          </a:solidFill>
          <a:ln w="12700">
            <a:miter lim="400000"/>
          </a:ln>
        </p:spPr>
        <p:txBody>
          <a:bodyPr lIns="19050" tIns="19050" rIns="19050" bIns="19050" anchor="ctr"/>
          <a:lstStyle/>
          <a:p>
            <a:pPr lvl="0" algn="ctr" defTabSz="171459" hangingPunct="0">
              <a:lnSpc>
                <a:spcPct val="110000"/>
              </a:lnSpc>
              <a:defRPr sz="1600">
                <a:solidFill>
                  <a:srgbClr val="FFFFFF"/>
                </a:solidFill>
                <a:effectLst>
                  <a:outerShdw blurRad="38100" dist="12700" dir="5400000" rotWithShape="0">
                    <a:srgbClr val="000000">
                      <a:alpha val="50000"/>
                    </a:srgbClr>
                  </a:outerShdw>
                </a:effectLst>
              </a:defRPr>
            </a:pPr>
            <a:r>
              <a:rPr lang="en-US" sz="2000" b="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sym typeface="Helvetica Neue UltraLight"/>
              </a:rPr>
              <a:t>Ask Questions Live</a:t>
            </a:r>
          </a:p>
          <a:p>
            <a:pPr lvl="0" algn="ctr" defTabSz="171459" hangingPunct="0">
              <a:lnSpc>
                <a:spcPct val="110000"/>
              </a:lnSpc>
              <a:defRPr sz="1600">
                <a:solidFill>
                  <a:srgbClr val="FFFFFF"/>
                </a:solidFill>
                <a:effectLst>
                  <a:outerShdw blurRad="38100" dist="12700" dir="5400000" rotWithShape="0">
                    <a:srgbClr val="000000">
                      <a:alpha val="50000"/>
                    </a:srgbClr>
                  </a:outerShdw>
                </a:effectLst>
              </a:defRPr>
            </a:pPr>
            <a:r>
              <a:rPr lang="en-US" sz="1400" i="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sym typeface="Helvetica Neue UltraLight"/>
              </a:rPr>
              <a:t>Drop your errors. </a:t>
            </a:r>
          </a:p>
          <a:p>
            <a:pPr lvl="0" algn="ctr" defTabSz="171459" hangingPunct="0">
              <a:lnSpc>
                <a:spcPct val="110000"/>
              </a:lnSpc>
              <a:defRPr sz="1600">
                <a:solidFill>
                  <a:srgbClr val="FFFFFF"/>
                </a:solidFill>
                <a:effectLst>
                  <a:outerShdw blurRad="38100" dist="12700" dir="5400000" rotWithShape="0">
                    <a:srgbClr val="000000">
                      <a:alpha val="50000"/>
                    </a:srgbClr>
                  </a:outerShdw>
                </a:effectLst>
              </a:defRPr>
            </a:pPr>
            <a:r>
              <a:rPr lang="en-US" sz="1400" i="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sym typeface="Helvetica Neue UltraLight"/>
              </a:rPr>
              <a:t>Share your blockers. Debugging in public accelerates mastery.</a:t>
            </a:r>
            <a:endParaRPr kumimoji="0" lang="en-US" sz="1400" i="1" u="none" strike="noStrike" kern="0" cap="none" spc="0" normalizeH="0" baseline="0" noProof="0" dirty="0">
              <a:ln>
                <a:noFill/>
              </a:ln>
              <a:solidFill>
                <a:srgbClr val="FFFFFF"/>
              </a:solidFill>
              <a:effectLst>
                <a:outerShdw blurRad="38100" dist="12700" dir="5400000" rotWithShape="0">
                  <a:srgbClr val="000000">
                    <a:alpha val="0"/>
                  </a:srgbClr>
                </a:outerShdw>
              </a:effectLst>
              <a:uLnTx/>
              <a:uFillTx/>
              <a:latin typeface="Montserrat" panose="00000500000000000000" pitchFamily="2" charset="0"/>
              <a:ea typeface="Arial"/>
              <a:cs typeface="Arial"/>
              <a:sym typeface="Helvetica Neue UltraLight"/>
            </a:endParaRPr>
          </a:p>
        </p:txBody>
      </p:sp>
      <p:sp>
        <p:nvSpPr>
          <p:cNvPr id="20" name="Shape 288">
            <a:extLst>
              <a:ext uri="{FF2B5EF4-FFF2-40B4-BE49-F238E27FC236}">
                <a16:creationId xmlns:a16="http://schemas.microsoft.com/office/drawing/2014/main" id="{397AE90D-D0E2-12A6-2FA1-5A72AC921DA2}"/>
              </a:ext>
            </a:extLst>
          </p:cNvPr>
          <p:cNvSpPr/>
          <p:nvPr/>
        </p:nvSpPr>
        <p:spPr>
          <a:xfrm>
            <a:off x="6057661" y="961877"/>
            <a:ext cx="2743200" cy="2743200"/>
          </a:xfrm>
          <a:prstGeom prst="ellipse">
            <a:avLst/>
          </a:prstGeom>
          <a:solidFill>
            <a:srgbClr val="11CCDD"/>
          </a:solidFill>
          <a:ln w="12700">
            <a:miter lim="400000"/>
          </a:ln>
        </p:spPr>
        <p:txBody>
          <a:bodyPr lIns="19050" tIns="19050" rIns="19050" bIns="19050" anchor="ctr"/>
          <a:lstStyle/>
          <a:p>
            <a:pPr lvl="0" algn="ctr" defTabSz="171459" hangingPunct="0">
              <a:lnSpc>
                <a:spcPct val="110000"/>
              </a:lnSpc>
              <a:defRPr sz="1600">
                <a:solidFill>
                  <a:srgbClr val="FFFFFF"/>
                </a:solidFill>
                <a:effectLst>
                  <a:outerShdw blurRad="38100" dist="12700" dir="5400000" rotWithShape="0">
                    <a:srgbClr val="000000">
                      <a:alpha val="50000"/>
                    </a:srgbClr>
                  </a:outerShdw>
                </a:effectLst>
              </a:defRPr>
            </a:pPr>
            <a:r>
              <a:rPr lang="en-US" sz="2000" b="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sym typeface="Helvetica Neue UltraLight"/>
              </a:rPr>
              <a:t>Block 3–5 Hours / Week</a:t>
            </a:r>
          </a:p>
          <a:p>
            <a:pPr lvl="0" algn="ctr" defTabSz="171459" hangingPunct="0">
              <a:lnSpc>
                <a:spcPct val="110000"/>
              </a:lnSpc>
              <a:defRPr sz="1600">
                <a:solidFill>
                  <a:srgbClr val="FFFFFF"/>
                </a:solidFill>
                <a:effectLst>
                  <a:outerShdw blurRad="38100" dist="12700" dir="5400000" rotWithShape="0">
                    <a:srgbClr val="000000">
                      <a:alpha val="50000"/>
                    </a:srgbClr>
                  </a:outerShdw>
                </a:effectLst>
              </a:defRPr>
            </a:pPr>
            <a:r>
              <a:rPr lang="en-US" sz="1400" i="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sym typeface="Helvetica Neue UltraLight"/>
              </a:rPr>
              <a:t>No multitasking. Deep work only.</a:t>
            </a:r>
          </a:p>
        </p:txBody>
      </p:sp>
      <p:sp>
        <p:nvSpPr>
          <p:cNvPr id="27" name="Shape 288">
            <a:extLst>
              <a:ext uri="{FF2B5EF4-FFF2-40B4-BE49-F238E27FC236}">
                <a16:creationId xmlns:a16="http://schemas.microsoft.com/office/drawing/2014/main" id="{294752F2-A63F-A72D-E1E8-1DEA8E26DD80}"/>
              </a:ext>
            </a:extLst>
          </p:cNvPr>
          <p:cNvSpPr/>
          <p:nvPr/>
        </p:nvSpPr>
        <p:spPr>
          <a:xfrm>
            <a:off x="9101565" y="2438328"/>
            <a:ext cx="2743200" cy="2743200"/>
          </a:xfrm>
          <a:prstGeom prst="ellipse">
            <a:avLst/>
          </a:prstGeom>
          <a:solidFill>
            <a:schemeClr val="bg1">
              <a:lumMod val="65000"/>
            </a:schemeClr>
          </a:solidFill>
          <a:ln w="12700">
            <a:miter lim="400000"/>
          </a:ln>
        </p:spPr>
        <p:txBody>
          <a:bodyPr lIns="19050" tIns="19050" rIns="19050" bIns="19050" anchor="ctr"/>
          <a:lstStyle/>
          <a:p>
            <a:pPr lvl="0" algn="ctr" defTabSz="171459" hangingPunct="0">
              <a:lnSpc>
                <a:spcPct val="110000"/>
              </a:lnSpc>
              <a:defRPr sz="1600">
                <a:solidFill>
                  <a:srgbClr val="FFFFFF"/>
                </a:solidFill>
                <a:effectLst>
                  <a:outerShdw blurRad="38100" dist="12700" dir="5400000" rotWithShape="0">
                    <a:srgbClr val="000000">
                      <a:alpha val="50000"/>
                    </a:srgbClr>
                  </a:outerShdw>
                </a:effectLst>
              </a:defRPr>
            </a:pPr>
            <a:r>
              <a:rPr lang="en-US" sz="2000" b="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sym typeface="Helvetica Neue UltraLight"/>
              </a:rPr>
              <a:t>Share &amp; Demo</a:t>
            </a:r>
          </a:p>
          <a:p>
            <a:pPr lvl="0" algn="ctr" defTabSz="171459" hangingPunct="0">
              <a:lnSpc>
                <a:spcPct val="110000"/>
              </a:lnSpc>
              <a:defRPr sz="1600">
                <a:solidFill>
                  <a:srgbClr val="FFFFFF"/>
                </a:solidFill>
                <a:effectLst>
                  <a:outerShdw blurRad="38100" dist="12700" dir="5400000" rotWithShape="0">
                    <a:srgbClr val="000000">
                      <a:alpha val="50000"/>
                    </a:srgbClr>
                  </a:outerShdw>
                </a:effectLst>
              </a:defRPr>
            </a:pPr>
            <a:r>
              <a:rPr lang="en-US" sz="1400" i="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rPr>
              <a:t>Post your builds.</a:t>
            </a:r>
            <a:br>
              <a:rPr lang="en-US" sz="1400" i="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rPr>
            </a:br>
            <a:r>
              <a:rPr lang="en-US" sz="1400" i="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rPr>
              <a:t>Demo in Q&amp;A.</a:t>
            </a:r>
            <a:br>
              <a:rPr lang="en-US" sz="1400" i="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rPr>
            </a:br>
            <a:r>
              <a:rPr lang="en-US" sz="1400" i="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rPr>
              <a:t>Momentum compounds socially.</a:t>
            </a:r>
            <a:endParaRPr lang="en-US" sz="1400" i="1" kern="0" dirty="0">
              <a:solidFill>
                <a:srgbClr val="FFFFFF"/>
              </a:solidFill>
              <a:effectLst>
                <a:outerShdw blurRad="38100" dist="12700" dir="5400000" rotWithShape="0">
                  <a:srgbClr val="000000">
                    <a:alpha val="0"/>
                  </a:srgbClr>
                </a:outerShdw>
              </a:effectLst>
              <a:latin typeface="Montserrat" panose="00000500000000000000" pitchFamily="2" charset="0"/>
              <a:ea typeface="Arial"/>
              <a:cs typeface="Arial"/>
              <a:sym typeface="Helvetica Neue UltraLight"/>
            </a:endParaRPr>
          </a:p>
        </p:txBody>
      </p:sp>
    </p:spTree>
    <p:extLst>
      <p:ext uri="{BB962C8B-B14F-4D97-AF65-F5344CB8AC3E}">
        <p14:creationId xmlns:p14="http://schemas.microsoft.com/office/powerpoint/2010/main" val="36512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1EBD4-5CAB-36F7-EFF7-26F80A26BBE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0F1F424-C56B-3FAE-D21E-7083EDB5E753}"/>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E0FBF69-65E3-CCD5-073D-C5E6C99B0ECF}"/>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8AE543C-817A-D868-AD0B-9BCB5BD620A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Week 1 Outline</a:t>
            </a:r>
          </a:p>
        </p:txBody>
      </p:sp>
      <p:sp>
        <p:nvSpPr>
          <p:cNvPr id="9" name="TextBox 8">
            <a:extLst>
              <a:ext uri="{FF2B5EF4-FFF2-40B4-BE49-F238E27FC236}">
                <a16:creationId xmlns:a16="http://schemas.microsoft.com/office/drawing/2014/main" id="{49BF07F0-BC33-3FF2-20D8-84E973A69B1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TextBox 3">
            <a:extLst>
              <a:ext uri="{FF2B5EF4-FFF2-40B4-BE49-F238E27FC236}">
                <a16:creationId xmlns:a16="http://schemas.microsoft.com/office/drawing/2014/main" id="{9FD0AB03-FE02-E84C-0F01-AB9A6C70C483}"/>
              </a:ext>
            </a:extLst>
          </p:cNvPr>
          <p:cNvSpPr txBox="1"/>
          <p:nvPr/>
        </p:nvSpPr>
        <p:spPr>
          <a:xfrm>
            <a:off x="612259" y="940373"/>
            <a:ext cx="10934707" cy="369332"/>
          </a:xfrm>
          <a:prstGeom prst="rect">
            <a:avLst/>
          </a:prstGeom>
          <a:noFill/>
        </p:spPr>
        <p:txBody>
          <a:bodyPr wrap="square">
            <a:spAutoFit/>
          </a:bodyPr>
          <a:lstStyle/>
          <a:p>
            <a:r>
              <a:rPr lang="en-US" b="1" dirty="0">
                <a:latin typeface="Montserrat" panose="00000500000000000000" pitchFamily="2" charset="0"/>
              </a:rPr>
              <a:t>Check Week 1 outline in </a:t>
            </a:r>
            <a:r>
              <a:rPr lang="en-US" i="1" dirty="0">
                <a:latin typeface="Montserrat" panose="00000500000000000000" pitchFamily="2" charset="0"/>
              </a:rPr>
              <a:t>“The Agentic AI Engineering Bootcamp - Week 1 Outline.xlsx”</a:t>
            </a:r>
          </a:p>
        </p:txBody>
      </p:sp>
      <p:pic>
        <p:nvPicPr>
          <p:cNvPr id="8" name="Picture 7">
            <a:extLst>
              <a:ext uri="{FF2B5EF4-FFF2-40B4-BE49-F238E27FC236}">
                <a16:creationId xmlns:a16="http://schemas.microsoft.com/office/drawing/2014/main" id="{2B43E469-8BFF-C59F-BE08-C702AB9B207E}"/>
              </a:ext>
            </a:extLst>
          </p:cNvPr>
          <p:cNvPicPr>
            <a:picLocks noChangeAspect="1"/>
          </p:cNvPicPr>
          <p:nvPr/>
        </p:nvPicPr>
        <p:blipFill>
          <a:blip r:embed="rId4"/>
          <a:stretch>
            <a:fillRect/>
          </a:stretch>
        </p:blipFill>
        <p:spPr>
          <a:xfrm>
            <a:off x="2379542" y="1324839"/>
            <a:ext cx="5877219" cy="5292351"/>
          </a:xfrm>
          <a:prstGeom prst="rect">
            <a:avLst/>
          </a:prstGeom>
        </p:spPr>
      </p:pic>
    </p:spTree>
    <p:extLst>
      <p:ext uri="{BB962C8B-B14F-4D97-AF65-F5344CB8AC3E}">
        <p14:creationId xmlns:p14="http://schemas.microsoft.com/office/powerpoint/2010/main" val="3840205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DA26F-F209-2742-BFC8-EC55BCB3078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84DA34E-14D1-B608-A240-6915C4D635FB}"/>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BF75944-14D6-A4EB-F8E4-4BE76C08B632}"/>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F0B0ED9F-6FEE-651A-36E7-6430E9FE1737}"/>
              </a:ext>
            </a:extLst>
          </p:cNvPr>
          <p:cNvSpPr/>
          <p:nvPr/>
        </p:nvSpPr>
        <p:spPr>
          <a:xfrm>
            <a:off x="293914" y="793804"/>
            <a:ext cx="4823518" cy="317009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INTRODUCTION TO AI AGENTS &amp; LIVE DEMO (</a:t>
            </a:r>
            <a:r>
              <a:rPr lang="en-US" sz="4000" i="1" dirty="0">
                <a:solidFill>
                  <a:schemeClr val="bg1"/>
                </a:solidFill>
                <a:latin typeface="Montserrat" charset="0"/>
                <a:ea typeface="Montserrat" charset="0"/>
                <a:cs typeface="Montserrat" charset="0"/>
              </a:rPr>
              <a:t>CLAUDE &amp; GPT AGENT MODE</a:t>
            </a:r>
            <a:r>
              <a:rPr lang="en-US" sz="4000" b="1" dirty="0">
                <a:solidFill>
                  <a:schemeClr val="bg1"/>
                </a:solidFill>
                <a:latin typeface="Montserrat" charset="0"/>
                <a:ea typeface="Montserrat" charset="0"/>
                <a:cs typeface="Montserrat" charset="0"/>
              </a:rPr>
              <a:t>)</a:t>
            </a:r>
          </a:p>
        </p:txBody>
      </p:sp>
      <p:pic>
        <p:nvPicPr>
          <p:cNvPr id="5" name="Picture 4">
            <a:extLst>
              <a:ext uri="{FF2B5EF4-FFF2-40B4-BE49-F238E27FC236}">
                <a16:creationId xmlns:a16="http://schemas.microsoft.com/office/drawing/2014/main" id="{212020E6-1611-117B-A724-5130150820BE}"/>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5043121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2CFA2-BD2E-F57F-DD51-64E5B97F08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5925F58-B47E-35F2-1DBC-DFBA0F573D44}"/>
              </a:ext>
            </a:extLst>
          </p:cNvPr>
          <p:cNvPicPr>
            <a:picLocks noChangeAspect="1"/>
          </p:cNvPicPr>
          <p:nvPr/>
        </p:nvPicPr>
        <p:blipFill>
          <a:blip r:embed="rId2"/>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1A425897-584C-BF0A-E016-C5F9FC574ECF}"/>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25CA6914-B647-93F3-7930-94E5E59C7EB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AI Agents 101</a:t>
            </a:r>
          </a:p>
        </p:txBody>
      </p:sp>
      <p:sp>
        <p:nvSpPr>
          <p:cNvPr id="9" name="TextBox 8">
            <a:extLst>
              <a:ext uri="{FF2B5EF4-FFF2-40B4-BE49-F238E27FC236}">
                <a16:creationId xmlns:a16="http://schemas.microsoft.com/office/drawing/2014/main" id="{F7918C1E-20E7-4595-F6EA-CD0425805354}"/>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A51D7F6F-2188-D8B3-A493-C1E31DA1FE0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8" name="TextBox 7">
            <a:extLst>
              <a:ext uri="{FF2B5EF4-FFF2-40B4-BE49-F238E27FC236}">
                <a16:creationId xmlns:a16="http://schemas.microsoft.com/office/drawing/2014/main" id="{CC9CDEF2-B19B-1B00-2607-B9A27FE271B1}"/>
              </a:ext>
            </a:extLst>
          </p:cNvPr>
          <p:cNvSpPr txBox="1"/>
          <p:nvPr/>
        </p:nvSpPr>
        <p:spPr>
          <a:xfrm>
            <a:off x="191887" y="749823"/>
            <a:ext cx="12026564" cy="1477328"/>
          </a:xfrm>
          <a:prstGeom prst="rect">
            <a:avLst/>
          </a:prstGeom>
        </p:spPr>
        <p:txBody>
          <a:bodyPr vert="horz" lIns="91440" tIns="45720" rIns="91440" bIns="45720" rtlCol="0">
            <a:norm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marL="304792" indent="-304792" defTabSz="1219170">
              <a:spcBef>
                <a:spcPts val="1333"/>
              </a:spcBef>
            </a:pPr>
            <a:r>
              <a:rPr lang="en-US" kern="0" dirty="0">
                <a:solidFill>
                  <a:srgbClr val="000000"/>
                </a:solidFill>
                <a:cs typeface="Arial"/>
                <a:sym typeface="Arial"/>
              </a:rPr>
              <a:t>AI agents are intelligent systems that take a goal, plan the steps, and autonomously execute them using tools &amp; knowledge with minimal human input. </a:t>
            </a:r>
            <a:endParaRPr lang="en-CA" kern="0" dirty="0">
              <a:solidFill>
                <a:srgbClr val="000000"/>
              </a:solidFill>
              <a:cs typeface="Arial"/>
              <a:sym typeface="Arial"/>
            </a:endParaRPr>
          </a:p>
        </p:txBody>
      </p:sp>
      <p:cxnSp>
        <p:nvCxnSpPr>
          <p:cNvPr id="10" name="Straight Arrow Connector 9">
            <a:extLst>
              <a:ext uri="{FF2B5EF4-FFF2-40B4-BE49-F238E27FC236}">
                <a16:creationId xmlns:a16="http://schemas.microsoft.com/office/drawing/2014/main" id="{F49A67CF-D8AC-BDF5-39A9-69130E1D3EA5}"/>
              </a:ext>
            </a:extLst>
          </p:cNvPr>
          <p:cNvCxnSpPr>
            <a:cxnSpLocks/>
          </p:cNvCxnSpPr>
          <p:nvPr/>
        </p:nvCxnSpPr>
        <p:spPr>
          <a:xfrm>
            <a:off x="1762175" y="4170632"/>
            <a:ext cx="621707" cy="0"/>
          </a:xfrm>
          <a:prstGeom prst="straightConnector1">
            <a:avLst/>
          </a:prstGeom>
          <a:ln w="57150">
            <a:solidFill>
              <a:srgbClr val="02291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521A7B1-D694-0CA1-0106-67033C3A0EBC}"/>
              </a:ext>
            </a:extLst>
          </p:cNvPr>
          <p:cNvSpPr txBox="1"/>
          <p:nvPr/>
        </p:nvSpPr>
        <p:spPr>
          <a:xfrm>
            <a:off x="407188" y="3376736"/>
            <a:ext cx="2031739" cy="646331"/>
          </a:xfrm>
          <a:prstGeom prst="rect">
            <a:avLst/>
          </a:prstGeom>
          <a:noFill/>
        </p:spPr>
        <p:txBody>
          <a:bodyPr wrap="square" rtlCol="0">
            <a:spAutoFit/>
          </a:bodyPr>
          <a:lstStyle/>
          <a:p>
            <a:pPr defTabSz="1219170">
              <a:buClr>
                <a:srgbClr val="000000"/>
              </a:buClr>
            </a:pPr>
            <a:r>
              <a:rPr lang="en-US" i="1" kern="0" dirty="0">
                <a:solidFill>
                  <a:srgbClr val="000000"/>
                </a:solidFill>
                <a:latin typeface="Montserrat" panose="00000500000000000000" pitchFamily="2" charset="0"/>
                <a:cs typeface="Arial"/>
                <a:sym typeface="Arial"/>
              </a:rPr>
              <a:t>“Plan my 3-day trip to Paris”</a:t>
            </a:r>
            <a:endParaRPr lang="en-CA" sz="1400" i="1" kern="0" dirty="0">
              <a:solidFill>
                <a:srgbClr val="000000"/>
              </a:solidFill>
              <a:latin typeface="Montserrat" panose="00000500000000000000" pitchFamily="2" charset="0"/>
              <a:cs typeface="Arial"/>
              <a:sym typeface="Arial"/>
            </a:endParaRPr>
          </a:p>
        </p:txBody>
      </p:sp>
      <p:sp>
        <p:nvSpPr>
          <p:cNvPr id="19" name="TextBox 18">
            <a:extLst>
              <a:ext uri="{FF2B5EF4-FFF2-40B4-BE49-F238E27FC236}">
                <a16:creationId xmlns:a16="http://schemas.microsoft.com/office/drawing/2014/main" id="{406B9CC7-A13B-72C2-DF0D-4F122A3742FC}"/>
              </a:ext>
            </a:extLst>
          </p:cNvPr>
          <p:cNvSpPr txBox="1"/>
          <p:nvPr/>
        </p:nvSpPr>
        <p:spPr>
          <a:xfrm>
            <a:off x="2456086" y="4743730"/>
            <a:ext cx="1617751" cy="461665"/>
          </a:xfrm>
          <a:prstGeom prst="rect">
            <a:avLst/>
          </a:prstGeom>
          <a:noFill/>
          <a:ln>
            <a:noFill/>
          </a:ln>
        </p:spPr>
        <p:txBody>
          <a:bodyPr wrap="none" rtlCol="0">
            <a:spAutoFit/>
          </a:bodyPr>
          <a:lstStyle/>
          <a:p>
            <a:pPr defTabSz="1219170">
              <a:buClr>
                <a:srgbClr val="000000"/>
              </a:buClr>
            </a:pPr>
            <a:r>
              <a:rPr lang="en-CA" sz="2400" i="1" kern="0" dirty="0">
                <a:solidFill>
                  <a:srgbClr val="022911"/>
                </a:solidFill>
                <a:latin typeface="Montserrat" panose="00000500000000000000" pitchFamily="2" charset="0"/>
                <a:cs typeface="Arial"/>
                <a:sym typeface="Arial"/>
              </a:rPr>
              <a:t>Planning</a:t>
            </a:r>
            <a:endParaRPr lang="en-CA" sz="1400" i="1" kern="0" dirty="0">
              <a:solidFill>
                <a:srgbClr val="022911"/>
              </a:solidFill>
              <a:latin typeface="Montserrat" panose="00000500000000000000" pitchFamily="2" charset="0"/>
              <a:cs typeface="Arial"/>
              <a:sym typeface="Arial"/>
            </a:endParaRPr>
          </a:p>
        </p:txBody>
      </p:sp>
      <p:sp>
        <p:nvSpPr>
          <p:cNvPr id="22" name="TextBox 21">
            <a:extLst>
              <a:ext uri="{FF2B5EF4-FFF2-40B4-BE49-F238E27FC236}">
                <a16:creationId xmlns:a16="http://schemas.microsoft.com/office/drawing/2014/main" id="{EAB8361F-B491-CF52-3AE3-98FC2A437507}"/>
              </a:ext>
            </a:extLst>
          </p:cNvPr>
          <p:cNvSpPr txBox="1"/>
          <p:nvPr/>
        </p:nvSpPr>
        <p:spPr>
          <a:xfrm>
            <a:off x="4613045" y="5119768"/>
            <a:ext cx="1473480" cy="461665"/>
          </a:xfrm>
          <a:prstGeom prst="rect">
            <a:avLst/>
          </a:prstGeom>
          <a:noFill/>
        </p:spPr>
        <p:txBody>
          <a:bodyPr wrap="none" rtlCol="0">
            <a:spAutoFit/>
          </a:bodyPr>
          <a:lstStyle/>
          <a:p>
            <a:pPr defTabSz="1219170">
              <a:buClr>
                <a:srgbClr val="000000"/>
              </a:buClr>
            </a:pPr>
            <a:r>
              <a:rPr lang="en-CA" sz="2400" i="1" kern="0" dirty="0">
                <a:solidFill>
                  <a:srgbClr val="022911"/>
                </a:solidFill>
                <a:latin typeface="Montserrat" panose="00000500000000000000" pitchFamily="2" charset="0"/>
                <a:cs typeface="Arial"/>
                <a:sym typeface="Arial"/>
              </a:rPr>
              <a:t>Memory</a:t>
            </a:r>
            <a:endParaRPr lang="en-CA" sz="1400" i="1" kern="0" dirty="0">
              <a:solidFill>
                <a:srgbClr val="022911"/>
              </a:solidFill>
              <a:latin typeface="Montserrat" panose="00000500000000000000" pitchFamily="2" charset="0"/>
              <a:cs typeface="Arial"/>
              <a:sym typeface="Arial"/>
            </a:endParaRPr>
          </a:p>
        </p:txBody>
      </p:sp>
      <p:cxnSp>
        <p:nvCxnSpPr>
          <p:cNvPr id="25" name="Connector: Curved 24">
            <a:extLst>
              <a:ext uri="{FF2B5EF4-FFF2-40B4-BE49-F238E27FC236}">
                <a16:creationId xmlns:a16="http://schemas.microsoft.com/office/drawing/2014/main" id="{B44CFDCC-503C-D047-8CC0-F1DE27F9B2F4}"/>
              </a:ext>
            </a:extLst>
          </p:cNvPr>
          <p:cNvCxnSpPr>
            <a:cxnSpLocks/>
          </p:cNvCxnSpPr>
          <p:nvPr/>
        </p:nvCxnSpPr>
        <p:spPr>
          <a:xfrm rot="10800000" flipV="1">
            <a:off x="3078154" y="3883000"/>
            <a:ext cx="1834309" cy="995507"/>
          </a:xfrm>
          <a:prstGeom prst="curvedConnector2">
            <a:avLst/>
          </a:prstGeom>
          <a:ln w="57150">
            <a:solidFill>
              <a:srgbClr val="022911"/>
            </a:solidFill>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98F88D3D-FB83-640B-2910-B59125657086}"/>
              </a:ext>
            </a:extLst>
          </p:cNvPr>
          <p:cNvCxnSpPr>
            <a:cxnSpLocks/>
          </p:cNvCxnSpPr>
          <p:nvPr/>
        </p:nvCxnSpPr>
        <p:spPr>
          <a:xfrm rot="16200000" flipV="1">
            <a:off x="5509545" y="3057565"/>
            <a:ext cx="1226688" cy="2475960"/>
          </a:xfrm>
          <a:prstGeom prst="curvedConnector2">
            <a:avLst/>
          </a:prstGeom>
          <a:ln w="57150">
            <a:solidFill>
              <a:srgbClr val="02291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5565401-1F61-E80D-691F-5500DB8F5F89}"/>
              </a:ext>
            </a:extLst>
          </p:cNvPr>
          <p:cNvCxnSpPr>
            <a:cxnSpLocks/>
          </p:cNvCxnSpPr>
          <p:nvPr/>
        </p:nvCxnSpPr>
        <p:spPr>
          <a:xfrm>
            <a:off x="5288212" y="4462613"/>
            <a:ext cx="0" cy="720919"/>
          </a:xfrm>
          <a:prstGeom prst="line">
            <a:avLst/>
          </a:prstGeom>
          <a:ln w="57150">
            <a:solidFill>
              <a:srgbClr val="022911"/>
            </a:solidFill>
          </a:ln>
        </p:spPr>
        <p:style>
          <a:lnRef idx="1">
            <a:schemeClr val="accent1"/>
          </a:lnRef>
          <a:fillRef idx="0">
            <a:schemeClr val="accent1"/>
          </a:fillRef>
          <a:effectRef idx="0">
            <a:schemeClr val="accent1"/>
          </a:effectRef>
          <a:fontRef idx="minor">
            <a:schemeClr val="tx1"/>
          </a:fontRef>
        </p:style>
      </p:cxnSp>
      <p:pic>
        <p:nvPicPr>
          <p:cNvPr id="29" name="Picture 6" descr="Generated image">
            <a:extLst>
              <a:ext uri="{FF2B5EF4-FFF2-40B4-BE49-F238E27FC236}">
                <a16:creationId xmlns:a16="http://schemas.microsoft.com/office/drawing/2014/main" id="{D7FBD199-CC0D-3C9F-F56C-03F52076AB1B}"/>
              </a:ext>
            </a:extLst>
          </p:cNvPr>
          <p:cNvPicPr>
            <a:picLocks noChangeAspect="1" noChangeArrowheads="1"/>
          </p:cNvPicPr>
          <p:nvPr/>
        </p:nvPicPr>
        <p:blipFill>
          <a:blip r:embed="rId4">
            <a:clrChange>
              <a:clrFrom>
                <a:srgbClr val="FEFDFC"/>
              </a:clrFrom>
              <a:clrTo>
                <a:srgbClr val="FEFDFC">
                  <a:alpha val="0"/>
                </a:srgbClr>
              </a:clrTo>
            </a:clrChange>
            <a:extLst>
              <a:ext uri="{28A0092B-C50C-407E-A947-70E740481C1C}">
                <a14:useLocalDpi xmlns:a14="http://schemas.microsoft.com/office/drawing/2010/main" val="0"/>
              </a:ext>
            </a:extLst>
          </a:blip>
          <a:srcRect/>
          <a:stretch>
            <a:fillRect/>
          </a:stretch>
        </p:blipFill>
        <p:spPr bwMode="auto">
          <a:xfrm>
            <a:off x="6614321" y="5104394"/>
            <a:ext cx="1464969" cy="146496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8" descr="Generated image">
            <a:extLst>
              <a:ext uri="{FF2B5EF4-FFF2-40B4-BE49-F238E27FC236}">
                <a16:creationId xmlns:a16="http://schemas.microsoft.com/office/drawing/2014/main" id="{95FD28F4-F9C6-0207-879F-41299084D693}"/>
              </a:ext>
            </a:extLst>
          </p:cNvPr>
          <p:cNvPicPr>
            <a:picLocks noChangeAspect="1" noChangeArrowheads="1"/>
          </p:cNvPicPr>
          <p:nvPr/>
        </p:nvPicPr>
        <p:blipFill rotWithShape="1">
          <a:blip r:embed="rId5">
            <a:clrChange>
              <a:clrFrom>
                <a:srgbClr val="FDFDFC"/>
              </a:clrFrom>
              <a:clrTo>
                <a:srgbClr val="FDFDFC">
                  <a:alpha val="0"/>
                </a:srgbClr>
              </a:clrTo>
            </a:clrChange>
            <a:extLst>
              <a:ext uri="{28A0092B-C50C-407E-A947-70E740481C1C}">
                <a14:useLocalDpi xmlns:a14="http://schemas.microsoft.com/office/drawing/2010/main" val="0"/>
              </a:ext>
            </a:extLst>
          </a:blip>
          <a:srcRect t="13693"/>
          <a:stretch>
            <a:fillRect/>
          </a:stretch>
        </p:blipFill>
        <p:spPr bwMode="auto">
          <a:xfrm>
            <a:off x="4543816" y="5478425"/>
            <a:ext cx="1611419" cy="1390764"/>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Rounded Corners 30">
            <a:extLst>
              <a:ext uri="{FF2B5EF4-FFF2-40B4-BE49-F238E27FC236}">
                <a16:creationId xmlns:a16="http://schemas.microsoft.com/office/drawing/2014/main" id="{01358253-3759-4BC0-F2B7-012D5E0F7602}"/>
              </a:ext>
            </a:extLst>
          </p:cNvPr>
          <p:cNvSpPr/>
          <p:nvPr/>
        </p:nvSpPr>
        <p:spPr>
          <a:xfrm>
            <a:off x="4142333" y="3640887"/>
            <a:ext cx="2219851" cy="1057127"/>
          </a:xfrm>
          <a:prstGeom prst="roundRect">
            <a:avLst/>
          </a:prstGeom>
          <a:solidFill>
            <a:srgbClr val="0C1752"/>
          </a:solidFill>
          <a:ln>
            <a:solidFill>
              <a:srgbClr val="02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r>
              <a:rPr lang="en-CA" sz="2133" i="1" kern="0" dirty="0">
                <a:solidFill>
                  <a:srgbClr val="EBEBE6"/>
                </a:solidFill>
                <a:latin typeface="Montserrat" panose="00000500000000000000" pitchFamily="2" charset="0"/>
                <a:sym typeface="Arial"/>
              </a:rPr>
              <a:t>Large Language Model</a:t>
            </a:r>
            <a:endParaRPr lang="en-CA" sz="1467" i="1" kern="0" dirty="0">
              <a:solidFill>
                <a:srgbClr val="EBEBE6"/>
              </a:solidFill>
              <a:latin typeface="Montserrat" panose="00000500000000000000" pitchFamily="2" charset="0"/>
              <a:sym typeface="Arial"/>
            </a:endParaRPr>
          </a:p>
        </p:txBody>
      </p:sp>
      <p:sp>
        <p:nvSpPr>
          <p:cNvPr id="32" name="TextBox 31">
            <a:extLst>
              <a:ext uri="{FF2B5EF4-FFF2-40B4-BE49-F238E27FC236}">
                <a16:creationId xmlns:a16="http://schemas.microsoft.com/office/drawing/2014/main" id="{F5317DEB-27A8-2EE6-8B0B-ABCCF37D1FB5}"/>
              </a:ext>
            </a:extLst>
          </p:cNvPr>
          <p:cNvSpPr txBox="1"/>
          <p:nvPr/>
        </p:nvSpPr>
        <p:spPr>
          <a:xfrm>
            <a:off x="6826151" y="4888934"/>
            <a:ext cx="979755" cy="461665"/>
          </a:xfrm>
          <a:prstGeom prst="rect">
            <a:avLst/>
          </a:prstGeom>
          <a:noFill/>
        </p:spPr>
        <p:txBody>
          <a:bodyPr wrap="none" rtlCol="0">
            <a:spAutoFit/>
          </a:bodyPr>
          <a:lstStyle/>
          <a:p>
            <a:pPr defTabSz="1219170">
              <a:buClr>
                <a:srgbClr val="000000"/>
              </a:buClr>
            </a:pPr>
            <a:r>
              <a:rPr lang="en-CA" sz="2400" i="1" kern="0" dirty="0">
                <a:solidFill>
                  <a:srgbClr val="022911"/>
                </a:solidFill>
                <a:latin typeface="Montserrat" panose="00000500000000000000" pitchFamily="2" charset="0"/>
                <a:cs typeface="Arial"/>
                <a:sym typeface="Arial"/>
              </a:rPr>
              <a:t>Tools</a:t>
            </a:r>
            <a:endParaRPr lang="en-CA" sz="1400" i="1" kern="0" dirty="0">
              <a:solidFill>
                <a:srgbClr val="022911"/>
              </a:solidFill>
              <a:latin typeface="Montserrat" panose="00000500000000000000" pitchFamily="2" charset="0"/>
              <a:cs typeface="Arial"/>
              <a:sym typeface="Arial"/>
            </a:endParaRPr>
          </a:p>
        </p:txBody>
      </p:sp>
      <p:pic>
        <p:nvPicPr>
          <p:cNvPr id="33" name="Picture 12">
            <a:extLst>
              <a:ext uri="{FF2B5EF4-FFF2-40B4-BE49-F238E27FC236}">
                <a16:creationId xmlns:a16="http://schemas.microsoft.com/office/drawing/2014/main" id="{065014B0-5ABA-8F7A-79F4-0BF6AA4B524F}"/>
              </a:ext>
            </a:extLst>
          </p:cNvPr>
          <p:cNvPicPr>
            <a:picLocks noChangeAspect="1" noChangeArrowheads="1"/>
          </p:cNvPicPr>
          <p:nvPr/>
        </p:nvPicPr>
        <p:blipFill>
          <a:blip r:embed="rId6">
            <a:clrChange>
              <a:clrFrom>
                <a:srgbClr val="FEFFFF"/>
              </a:clrFrom>
              <a:clrTo>
                <a:srgbClr val="FEFFFF">
                  <a:alpha val="0"/>
                </a:srgbClr>
              </a:clrTo>
            </a:clrChange>
            <a:extLst>
              <a:ext uri="{28A0092B-C50C-407E-A947-70E740481C1C}">
                <a14:useLocalDpi xmlns:a14="http://schemas.microsoft.com/office/drawing/2010/main" val="0"/>
              </a:ext>
            </a:extLst>
          </a:blip>
          <a:srcRect/>
          <a:stretch>
            <a:fillRect/>
          </a:stretch>
        </p:blipFill>
        <p:spPr bwMode="auto">
          <a:xfrm>
            <a:off x="2563852" y="5108164"/>
            <a:ext cx="1309568" cy="1309568"/>
          </a:xfrm>
          <a:prstGeom prst="rect">
            <a:avLst/>
          </a:prstGeom>
          <a:noFill/>
          <a:extLst>
            <a:ext uri="{909E8E84-426E-40DD-AFC4-6F175D3DCCD1}">
              <a14:hiddenFill xmlns:a14="http://schemas.microsoft.com/office/drawing/2010/main">
                <a:solidFill>
                  <a:srgbClr val="FFFFFF"/>
                </a:solidFill>
              </a14:hiddenFill>
            </a:ext>
          </a:extLst>
        </p:spPr>
      </p:pic>
      <p:sp>
        <p:nvSpPr>
          <p:cNvPr id="34" name="Rectangle: Rounded Corners 33">
            <a:extLst>
              <a:ext uri="{FF2B5EF4-FFF2-40B4-BE49-F238E27FC236}">
                <a16:creationId xmlns:a16="http://schemas.microsoft.com/office/drawing/2014/main" id="{D3215C76-09B9-E0DE-98CF-4D81A2A37A76}"/>
              </a:ext>
            </a:extLst>
          </p:cNvPr>
          <p:cNvSpPr/>
          <p:nvPr/>
        </p:nvSpPr>
        <p:spPr>
          <a:xfrm>
            <a:off x="2462948" y="2635431"/>
            <a:ext cx="6855768" cy="4073656"/>
          </a:xfrm>
          <a:prstGeom prst="roundRect">
            <a:avLst/>
          </a:prstGeom>
          <a:noFill/>
          <a:ln w="38100">
            <a:solidFill>
              <a:srgbClr val="02291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CA" sz="1867" kern="0" dirty="0">
              <a:solidFill>
                <a:srgbClr val="022911"/>
              </a:solidFill>
              <a:latin typeface="Arial"/>
              <a:sym typeface="Arial"/>
            </a:endParaRPr>
          </a:p>
        </p:txBody>
      </p:sp>
      <p:sp>
        <p:nvSpPr>
          <p:cNvPr id="35" name="TextBox 34">
            <a:extLst>
              <a:ext uri="{FF2B5EF4-FFF2-40B4-BE49-F238E27FC236}">
                <a16:creationId xmlns:a16="http://schemas.microsoft.com/office/drawing/2014/main" id="{88352C14-19DF-644B-0B93-424FBF617A06}"/>
              </a:ext>
            </a:extLst>
          </p:cNvPr>
          <p:cNvSpPr txBox="1"/>
          <p:nvPr/>
        </p:nvSpPr>
        <p:spPr>
          <a:xfrm>
            <a:off x="2790694" y="2161527"/>
            <a:ext cx="1684415" cy="461665"/>
          </a:xfrm>
          <a:prstGeom prst="rect">
            <a:avLst/>
          </a:prstGeom>
          <a:noFill/>
        </p:spPr>
        <p:txBody>
          <a:bodyPr wrap="square" rtlCol="0">
            <a:spAutoFit/>
          </a:bodyPr>
          <a:lstStyle/>
          <a:p>
            <a:pPr defTabSz="1219170">
              <a:buClr>
                <a:srgbClr val="000000"/>
              </a:buClr>
            </a:pPr>
            <a:r>
              <a:rPr lang="en-CA" sz="2400" b="1" kern="0" dirty="0">
                <a:solidFill>
                  <a:srgbClr val="000000"/>
                </a:solidFill>
                <a:latin typeface="Montserrat" panose="00000500000000000000" pitchFamily="2" charset="0"/>
                <a:cs typeface="Arial"/>
                <a:sym typeface="Arial"/>
              </a:rPr>
              <a:t>AI </a:t>
            </a:r>
            <a:r>
              <a:rPr lang="en-CA" sz="2400" b="1" kern="0" dirty="0">
                <a:solidFill>
                  <a:srgbClr val="022911"/>
                </a:solidFill>
                <a:latin typeface="Montserrat" panose="00000500000000000000" pitchFamily="2" charset="0"/>
                <a:cs typeface="Arial"/>
                <a:sym typeface="Arial"/>
              </a:rPr>
              <a:t>Agent</a:t>
            </a:r>
            <a:endParaRPr lang="en-CA" sz="1400" b="1" kern="0" dirty="0">
              <a:solidFill>
                <a:srgbClr val="022911"/>
              </a:solidFill>
              <a:latin typeface="Montserrat" panose="00000500000000000000" pitchFamily="2" charset="0"/>
              <a:cs typeface="Arial"/>
              <a:sym typeface="Arial"/>
            </a:endParaRPr>
          </a:p>
        </p:txBody>
      </p:sp>
      <p:cxnSp>
        <p:nvCxnSpPr>
          <p:cNvPr id="36" name="Straight Arrow Connector 35">
            <a:extLst>
              <a:ext uri="{FF2B5EF4-FFF2-40B4-BE49-F238E27FC236}">
                <a16:creationId xmlns:a16="http://schemas.microsoft.com/office/drawing/2014/main" id="{A33B9D35-03FF-7705-14EF-B82E47DD3E65}"/>
              </a:ext>
            </a:extLst>
          </p:cNvPr>
          <p:cNvCxnSpPr>
            <a:cxnSpLocks/>
          </p:cNvCxnSpPr>
          <p:nvPr/>
        </p:nvCxnSpPr>
        <p:spPr>
          <a:xfrm>
            <a:off x="9420929" y="4131141"/>
            <a:ext cx="540151" cy="0"/>
          </a:xfrm>
          <a:prstGeom prst="straightConnector1">
            <a:avLst/>
          </a:prstGeom>
          <a:ln w="57150">
            <a:solidFill>
              <a:srgbClr val="022911"/>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C3A5A3D-9401-7A3B-9433-009C7E466F1C}"/>
              </a:ext>
            </a:extLst>
          </p:cNvPr>
          <p:cNvSpPr txBox="1"/>
          <p:nvPr/>
        </p:nvSpPr>
        <p:spPr>
          <a:xfrm>
            <a:off x="7399313" y="2734082"/>
            <a:ext cx="1818126" cy="461665"/>
          </a:xfrm>
          <a:prstGeom prst="rect">
            <a:avLst/>
          </a:prstGeom>
          <a:noFill/>
        </p:spPr>
        <p:txBody>
          <a:bodyPr wrap="none" rtlCol="0">
            <a:spAutoFit/>
          </a:bodyPr>
          <a:lstStyle>
            <a:defPPr marR="0" lvl="0" algn="l" rtl="0">
              <a:lnSpc>
                <a:spcPct val="100000"/>
              </a:lnSpc>
              <a:spcBef>
                <a:spcPts val="0"/>
              </a:spcBef>
              <a:spcAft>
                <a:spcPts val="0"/>
              </a:spcAft>
            </a:defPPr>
            <a:lvl1pPr>
              <a:defRPr sz="2400" i="1">
                <a:solidFill>
                  <a:srgbClr val="002060"/>
                </a:solidFill>
                <a:latin typeface="Montserrat" panose="00000500000000000000" pitchFamily="2" charset="0"/>
              </a:defRPr>
            </a:lvl1pPr>
          </a:lstStyle>
          <a:p>
            <a:pPr defTabSz="1219170">
              <a:buClr>
                <a:srgbClr val="000000"/>
              </a:buClr>
            </a:pPr>
            <a:r>
              <a:rPr lang="en-CA" kern="0" dirty="0">
                <a:solidFill>
                  <a:srgbClr val="022911"/>
                </a:solidFill>
                <a:cs typeface="Arial"/>
                <a:sym typeface="Arial"/>
              </a:rPr>
              <a:t>Guardrails</a:t>
            </a:r>
          </a:p>
        </p:txBody>
      </p:sp>
      <p:sp>
        <p:nvSpPr>
          <p:cNvPr id="38" name="TextBox 37">
            <a:extLst>
              <a:ext uri="{FF2B5EF4-FFF2-40B4-BE49-F238E27FC236}">
                <a16:creationId xmlns:a16="http://schemas.microsoft.com/office/drawing/2014/main" id="{EFCE16B5-489C-6C15-2164-202B498BFDE5}"/>
              </a:ext>
            </a:extLst>
          </p:cNvPr>
          <p:cNvSpPr txBox="1"/>
          <p:nvPr/>
        </p:nvSpPr>
        <p:spPr>
          <a:xfrm>
            <a:off x="7508951" y="3993524"/>
            <a:ext cx="1611339" cy="461665"/>
          </a:xfrm>
          <a:prstGeom prst="rect">
            <a:avLst/>
          </a:prstGeom>
          <a:noFill/>
        </p:spPr>
        <p:txBody>
          <a:bodyPr wrap="none" rtlCol="0">
            <a:spAutoFit/>
          </a:bodyPr>
          <a:lstStyle>
            <a:defPPr marR="0" lvl="0" algn="l" rtl="0">
              <a:lnSpc>
                <a:spcPct val="100000"/>
              </a:lnSpc>
              <a:spcBef>
                <a:spcPts val="0"/>
              </a:spcBef>
              <a:spcAft>
                <a:spcPts val="0"/>
              </a:spcAft>
              <a:defRPr/>
            </a:defPPr>
            <a:lvl1pPr>
              <a:defRPr sz="2400" i="1">
                <a:solidFill>
                  <a:srgbClr val="002060"/>
                </a:solidFill>
                <a:latin typeface="Montserrat" panose="00000500000000000000" pitchFamily="2" charset="0"/>
              </a:defRPr>
            </a:lvl1pPr>
          </a:lstStyle>
          <a:p>
            <a:pPr defTabSz="1219170">
              <a:buClr>
                <a:srgbClr val="000000"/>
              </a:buClr>
            </a:pPr>
            <a:r>
              <a:rPr lang="en-CA" kern="0" dirty="0">
                <a:solidFill>
                  <a:srgbClr val="022911"/>
                </a:solidFill>
                <a:cs typeface="Arial"/>
                <a:sym typeface="Arial"/>
              </a:rPr>
              <a:t>Handoffs</a:t>
            </a:r>
          </a:p>
        </p:txBody>
      </p:sp>
      <p:pic>
        <p:nvPicPr>
          <p:cNvPr id="39" name="Picture 2">
            <a:extLst>
              <a:ext uri="{FF2B5EF4-FFF2-40B4-BE49-F238E27FC236}">
                <a16:creationId xmlns:a16="http://schemas.microsoft.com/office/drawing/2014/main" id="{771855EA-F667-5767-5BBB-56D36540C61B}"/>
              </a:ext>
            </a:extLst>
          </p:cNvPr>
          <p:cNvPicPr>
            <a:picLocks noChangeAspect="1" noChangeArrowheads="1"/>
          </p:cNvPicPr>
          <p:nvPr/>
        </p:nvPicPr>
        <p:blipFill>
          <a:blip r:embed="rId7">
            <a:clrChange>
              <a:clrFrom>
                <a:srgbClr val="FEFEFC"/>
              </a:clrFrom>
              <a:clrTo>
                <a:srgbClr val="FEFEFC">
                  <a:alpha val="0"/>
                </a:srgbClr>
              </a:clrTo>
            </a:clrChange>
            <a:extLst>
              <a:ext uri="{28A0092B-C50C-407E-A947-70E740481C1C}">
                <a14:useLocalDpi xmlns:a14="http://schemas.microsoft.com/office/drawing/2010/main" val="0"/>
              </a:ext>
            </a:extLst>
          </a:blip>
          <a:srcRect/>
          <a:stretch>
            <a:fillRect/>
          </a:stretch>
        </p:blipFill>
        <p:spPr bwMode="auto">
          <a:xfrm>
            <a:off x="7884973" y="3099697"/>
            <a:ext cx="808364" cy="80836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4">
            <a:extLst>
              <a:ext uri="{FF2B5EF4-FFF2-40B4-BE49-F238E27FC236}">
                <a16:creationId xmlns:a16="http://schemas.microsoft.com/office/drawing/2014/main" id="{C6063063-BF55-BEC7-A073-5CB5E429B206}"/>
              </a:ext>
            </a:extLst>
          </p:cNvPr>
          <p:cNvPicPr>
            <a:picLocks noChangeAspect="1" noChangeArrowheads="1"/>
          </p:cNvPicPr>
          <p:nvPr/>
        </p:nvPicPr>
        <p:blipFill>
          <a:blip r:embed="rId8">
            <a:clrChange>
              <a:clrFrom>
                <a:srgbClr val="FEFDFB"/>
              </a:clrFrom>
              <a:clrTo>
                <a:srgbClr val="FEFDFB">
                  <a:alpha val="0"/>
                </a:srgbClr>
              </a:clrTo>
            </a:clrChange>
            <a:extLst>
              <a:ext uri="{28A0092B-C50C-407E-A947-70E740481C1C}">
                <a14:useLocalDpi xmlns:a14="http://schemas.microsoft.com/office/drawing/2010/main" val="0"/>
              </a:ext>
            </a:extLst>
          </a:blip>
          <a:srcRect/>
          <a:stretch>
            <a:fillRect/>
          </a:stretch>
        </p:blipFill>
        <p:spPr bwMode="auto">
          <a:xfrm>
            <a:off x="7884973" y="4342622"/>
            <a:ext cx="787279" cy="787279"/>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3" descr="Claude Logo Free Download SVG, PNG a... · LobeHub">
            <a:extLst>
              <a:ext uri="{FF2B5EF4-FFF2-40B4-BE49-F238E27FC236}">
                <a16:creationId xmlns:a16="http://schemas.microsoft.com/office/drawing/2014/main" id="{4385B206-0B5C-B5C2-D192-B2275D939BE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23805" y="2766073"/>
            <a:ext cx="808364" cy="808364"/>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5" descr="How Much Power Will Deep Seek Suck? Can US Grid Handle Data Demand? – This  is Not Cool">
            <a:extLst>
              <a:ext uri="{FF2B5EF4-FFF2-40B4-BE49-F238E27FC236}">
                <a16:creationId xmlns:a16="http://schemas.microsoft.com/office/drawing/2014/main" id="{AE7F88ED-404B-E6C9-7667-70043D2B91AC}"/>
              </a:ext>
            </a:extLst>
          </p:cNvPr>
          <p:cNvPicPr>
            <a:picLocks noChangeAspect="1" noChangeArrowheads="1"/>
          </p:cNvPicPr>
          <p:nvPr/>
        </p:nvPicPr>
        <p:blipFill rotWithShape="1">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l="21846" t="2270" r="23974" b="42788"/>
          <a:stretch>
            <a:fillRect/>
          </a:stretch>
        </p:blipFill>
        <p:spPr bwMode="auto">
          <a:xfrm>
            <a:off x="3632901" y="2849364"/>
            <a:ext cx="1210796" cy="689117"/>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a:extLst>
              <a:ext uri="{FF2B5EF4-FFF2-40B4-BE49-F238E27FC236}">
                <a16:creationId xmlns:a16="http://schemas.microsoft.com/office/drawing/2014/main" id="{40BF65E2-9939-1DC5-CCE7-2E166B4CAF06}"/>
              </a:ext>
            </a:extLst>
          </p:cNvPr>
          <p:cNvPicPr>
            <a:picLocks noChangeAspect="1"/>
          </p:cNvPicPr>
          <p:nvPr/>
        </p:nvPicPr>
        <p:blipFill>
          <a:blip r:embed="rId11">
            <a:clrChange>
              <a:clrFrom>
                <a:srgbClr val="FFFFFF"/>
              </a:clrFrom>
              <a:clrTo>
                <a:srgbClr val="FFFFFF">
                  <a:alpha val="0"/>
                </a:srgbClr>
              </a:clrTo>
            </a:clrChange>
          </a:blip>
          <a:stretch>
            <a:fillRect/>
          </a:stretch>
        </p:blipFill>
        <p:spPr>
          <a:xfrm>
            <a:off x="549931" y="3957393"/>
            <a:ext cx="1242621" cy="1863932"/>
          </a:xfrm>
          <a:prstGeom prst="rect">
            <a:avLst/>
          </a:prstGeom>
        </p:spPr>
      </p:pic>
      <p:sp>
        <p:nvSpPr>
          <p:cNvPr id="44" name="TextBox 43">
            <a:extLst>
              <a:ext uri="{FF2B5EF4-FFF2-40B4-BE49-F238E27FC236}">
                <a16:creationId xmlns:a16="http://schemas.microsoft.com/office/drawing/2014/main" id="{EAE903EB-C6E7-CED1-8EA9-F9FF0DE3BE22}"/>
              </a:ext>
            </a:extLst>
          </p:cNvPr>
          <p:cNvSpPr txBox="1"/>
          <p:nvPr/>
        </p:nvSpPr>
        <p:spPr>
          <a:xfrm>
            <a:off x="5890832" y="1248886"/>
            <a:ext cx="6186869" cy="1323439"/>
          </a:xfrm>
          <a:prstGeom prst="rect">
            <a:avLst/>
          </a:prstGeom>
          <a:noFill/>
        </p:spPr>
        <p:txBody>
          <a:bodyPr wrap="square">
            <a:spAutoFit/>
          </a:bodyPr>
          <a:lstStyle/>
          <a:p>
            <a:pPr marL="285744" indent="-285744" defTabSz="914377" eaLnBrk="0" fontAlgn="base" hangingPunct="0">
              <a:spcBef>
                <a:spcPct val="0"/>
              </a:spcBef>
              <a:spcAft>
                <a:spcPct val="0"/>
              </a:spcAft>
              <a:buFont typeface="Arial" panose="020B0604020202020204" pitchFamily="34" charset="0"/>
              <a:buChar char="•"/>
            </a:pPr>
            <a:r>
              <a:rPr lang="en-US" altLang="en-US" sz="1600" b="1" i="1" kern="0" dirty="0">
                <a:solidFill>
                  <a:srgbClr val="022911"/>
                </a:solidFill>
                <a:latin typeface="Montserrat" panose="00000500000000000000" pitchFamily="2" charset="0"/>
                <a:cs typeface="Arial"/>
                <a:sym typeface="Arial"/>
              </a:rPr>
              <a:t>Planning</a:t>
            </a:r>
            <a:r>
              <a:rPr lang="en-US" altLang="en-US" sz="1600" i="1" kern="0" dirty="0">
                <a:solidFill>
                  <a:srgbClr val="022911"/>
                </a:solidFill>
                <a:latin typeface="Montserrat" panose="00000500000000000000" pitchFamily="2" charset="0"/>
                <a:cs typeface="Arial"/>
                <a:sym typeface="Arial"/>
              </a:rPr>
              <a:t>: schedule sightseeing, check weather</a:t>
            </a:r>
          </a:p>
          <a:p>
            <a:pPr marL="285744" indent="-285744" defTabSz="914377" eaLnBrk="0" fontAlgn="base" hangingPunct="0">
              <a:spcBef>
                <a:spcPct val="0"/>
              </a:spcBef>
              <a:spcAft>
                <a:spcPct val="0"/>
              </a:spcAft>
              <a:buFont typeface="Arial" panose="020B0604020202020204" pitchFamily="34" charset="0"/>
              <a:buChar char="•"/>
            </a:pPr>
            <a:r>
              <a:rPr lang="en-US" altLang="en-US" sz="1600" b="1" i="1" kern="0" dirty="0">
                <a:solidFill>
                  <a:srgbClr val="022911"/>
                </a:solidFill>
                <a:latin typeface="Montserrat" panose="00000500000000000000" pitchFamily="2" charset="0"/>
                <a:cs typeface="Arial"/>
                <a:sym typeface="Arial"/>
              </a:rPr>
              <a:t>Memory</a:t>
            </a:r>
            <a:r>
              <a:rPr lang="en-US" altLang="en-US" sz="1600" i="1" kern="0" dirty="0">
                <a:solidFill>
                  <a:srgbClr val="022911"/>
                </a:solidFill>
                <a:latin typeface="Montserrat" panose="00000500000000000000" pitchFamily="2" charset="0"/>
                <a:cs typeface="Arial"/>
                <a:sym typeface="Arial"/>
              </a:rPr>
              <a:t>: recalls that user likes museums</a:t>
            </a:r>
          </a:p>
          <a:p>
            <a:pPr marL="285744" indent="-285744" defTabSz="1219170" eaLnBrk="0" fontAlgn="base" hangingPunct="0">
              <a:spcBef>
                <a:spcPct val="0"/>
              </a:spcBef>
              <a:spcAft>
                <a:spcPct val="0"/>
              </a:spcAft>
              <a:buFont typeface="Arial" panose="020B0604020202020204" pitchFamily="34" charset="0"/>
              <a:buChar char="•"/>
            </a:pPr>
            <a:r>
              <a:rPr lang="en-US" altLang="en-US" sz="1600" b="1" i="1" kern="0" dirty="0">
                <a:solidFill>
                  <a:srgbClr val="022911"/>
                </a:solidFill>
                <a:latin typeface="Montserrat" panose="00000500000000000000" pitchFamily="2" charset="0"/>
                <a:cs typeface="Arial"/>
                <a:sym typeface="Arial"/>
              </a:rPr>
              <a:t>Tools</a:t>
            </a:r>
            <a:r>
              <a:rPr lang="en-US" altLang="en-US" sz="1600" i="1" kern="0" dirty="0">
                <a:solidFill>
                  <a:srgbClr val="022911"/>
                </a:solidFill>
                <a:latin typeface="Montserrat" panose="00000500000000000000" pitchFamily="2" charset="0"/>
                <a:cs typeface="Arial"/>
                <a:sym typeface="Arial"/>
              </a:rPr>
              <a:t>: maps, hotel, weather</a:t>
            </a:r>
          </a:p>
          <a:p>
            <a:pPr marL="285744" indent="-285744" defTabSz="914377" eaLnBrk="0" fontAlgn="base" hangingPunct="0">
              <a:spcBef>
                <a:spcPct val="0"/>
              </a:spcBef>
              <a:spcAft>
                <a:spcPct val="0"/>
              </a:spcAft>
              <a:buFont typeface="Arial" panose="020B0604020202020204" pitchFamily="34" charset="0"/>
              <a:buChar char="•"/>
            </a:pPr>
            <a:r>
              <a:rPr lang="en-US" altLang="en-US" sz="1600" b="1" i="1" kern="0" dirty="0">
                <a:solidFill>
                  <a:srgbClr val="022911"/>
                </a:solidFill>
                <a:latin typeface="Montserrat" panose="00000500000000000000" pitchFamily="2" charset="0"/>
                <a:cs typeface="Arial"/>
                <a:sym typeface="Arial"/>
              </a:rPr>
              <a:t>Guardrails</a:t>
            </a:r>
            <a:r>
              <a:rPr lang="en-US" altLang="en-US" sz="1600" i="1" kern="0" dirty="0">
                <a:solidFill>
                  <a:srgbClr val="022911"/>
                </a:solidFill>
                <a:latin typeface="Montserrat" panose="00000500000000000000" pitchFamily="2" charset="0"/>
                <a:cs typeface="Arial"/>
                <a:sym typeface="Arial"/>
              </a:rPr>
              <a:t>: safe suggestions</a:t>
            </a:r>
          </a:p>
          <a:p>
            <a:pPr marL="285744" indent="-285744" defTabSz="1219170" eaLnBrk="0" fontAlgn="base" hangingPunct="0">
              <a:spcBef>
                <a:spcPct val="0"/>
              </a:spcBef>
              <a:spcAft>
                <a:spcPct val="0"/>
              </a:spcAft>
              <a:buFont typeface="Arial" panose="020B0604020202020204" pitchFamily="34" charset="0"/>
              <a:buChar char="•"/>
            </a:pPr>
            <a:r>
              <a:rPr lang="en-US" altLang="en-US" sz="1600" b="1" i="1" kern="0" dirty="0">
                <a:solidFill>
                  <a:srgbClr val="022911"/>
                </a:solidFill>
                <a:latin typeface="Montserrat" panose="00000500000000000000" pitchFamily="2" charset="0"/>
                <a:cs typeface="Arial"/>
                <a:sym typeface="Arial"/>
              </a:rPr>
              <a:t>Handoff</a:t>
            </a:r>
            <a:r>
              <a:rPr lang="en-US" altLang="en-US" sz="1600" i="1" kern="0" dirty="0">
                <a:solidFill>
                  <a:srgbClr val="022911"/>
                </a:solidFill>
                <a:latin typeface="Montserrat" panose="00000500000000000000" pitchFamily="2" charset="0"/>
                <a:cs typeface="Arial"/>
                <a:sym typeface="Arial"/>
              </a:rPr>
              <a:t>: pass task to restaurant booking agent </a:t>
            </a:r>
          </a:p>
        </p:txBody>
      </p:sp>
      <p:pic>
        <p:nvPicPr>
          <p:cNvPr id="45" name="Picture 44">
            <a:extLst>
              <a:ext uri="{FF2B5EF4-FFF2-40B4-BE49-F238E27FC236}">
                <a16:creationId xmlns:a16="http://schemas.microsoft.com/office/drawing/2014/main" id="{E91D6CBC-AE96-8BFC-42DD-2689AABB7975}"/>
              </a:ext>
            </a:extLst>
          </p:cNvPr>
          <p:cNvPicPr>
            <a:picLocks noChangeAspect="1"/>
          </p:cNvPicPr>
          <p:nvPr/>
        </p:nvPicPr>
        <p:blipFill>
          <a:blip r:embed="rId12"/>
          <a:stretch>
            <a:fillRect/>
          </a:stretch>
        </p:blipFill>
        <p:spPr>
          <a:xfrm>
            <a:off x="10084585" y="2734082"/>
            <a:ext cx="1728199" cy="2592297"/>
          </a:xfrm>
          <a:prstGeom prst="rect">
            <a:avLst/>
          </a:prstGeom>
        </p:spPr>
      </p:pic>
      <p:pic>
        <p:nvPicPr>
          <p:cNvPr id="46" name="Picture 2" descr="OpenAI (ChatGPT) Free SVG, PNG, and ... · LobeHub">
            <a:extLst>
              <a:ext uri="{FF2B5EF4-FFF2-40B4-BE49-F238E27FC236}">
                <a16:creationId xmlns:a16="http://schemas.microsoft.com/office/drawing/2014/main" id="{F195E482-1331-F77B-8E16-E536F1A5A57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74545" y="2724148"/>
            <a:ext cx="904171" cy="904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330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fade">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fade">
                                      <p:cBhvr>
                                        <p:cTn id="26" dur="500"/>
                                        <p:tgtEl>
                                          <p:spTgt spid="42"/>
                                        </p:tgtEl>
                                      </p:cBhvr>
                                    </p:animEffect>
                                  </p:childTnLst>
                                </p:cTn>
                              </p:par>
                              <p:par>
                                <p:cTn id="27" presetID="10" presetClass="entr" presetSubtype="0"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animEffect transition="in" filter="fade">
                                      <p:cBhvr>
                                        <p:cTn id="29" dur="500"/>
                                        <p:tgtEl>
                                          <p:spTgt spid="46"/>
                                        </p:tgtEl>
                                      </p:cBhvr>
                                    </p:animEffect>
                                  </p:childTnLst>
                                </p:cTn>
                              </p:par>
                              <p:par>
                                <p:cTn id="30" presetID="10" presetClass="entr" presetSubtype="0" fill="hold"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500"/>
                                        <p:tgtEl>
                                          <p:spTgt spid="33"/>
                                        </p:tgtEl>
                                      </p:cBhvr>
                                    </p:animEffect>
                                  </p:childTnLst>
                                </p:cTn>
                              </p:par>
                              <p:par>
                                <p:cTn id="47" presetID="10" presetClass="entr" presetSubtype="0" fill="hold" nodeType="withEffect">
                                  <p:stCondLst>
                                    <p:cond delay="0"/>
                                  </p:stCondLst>
                                  <p:childTnLst>
                                    <p:set>
                                      <p:cBhvr>
                                        <p:cTn id="48" dur="1" fill="hold">
                                          <p:stCondLst>
                                            <p:cond delay="0"/>
                                          </p:stCondLst>
                                        </p:cTn>
                                        <p:tgtEl>
                                          <p:spTgt spid="44">
                                            <p:txEl>
                                              <p:pRg st="0" end="0"/>
                                            </p:txEl>
                                          </p:spTgt>
                                        </p:tgtEl>
                                        <p:attrNameLst>
                                          <p:attrName>style.visibility</p:attrName>
                                        </p:attrNameLst>
                                      </p:cBhvr>
                                      <p:to>
                                        <p:strVal val="visible"/>
                                      </p:to>
                                    </p:set>
                                    <p:animEffect transition="in" filter="fade">
                                      <p:cBhvr>
                                        <p:cTn id="49" dur="500"/>
                                        <p:tgtEl>
                                          <p:spTgt spid="44">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500"/>
                                        <p:tgtEl>
                                          <p:spTgt spid="30"/>
                                        </p:tgtEl>
                                      </p:cBhvr>
                                    </p:animEffect>
                                  </p:childTnLst>
                                </p:cTn>
                              </p:par>
                              <p:par>
                                <p:cTn id="61" presetID="10" presetClass="entr" presetSubtype="0" fill="hold" nodeType="withEffect">
                                  <p:stCondLst>
                                    <p:cond delay="0"/>
                                  </p:stCondLst>
                                  <p:childTnLst>
                                    <p:set>
                                      <p:cBhvr>
                                        <p:cTn id="62" dur="1" fill="hold">
                                          <p:stCondLst>
                                            <p:cond delay="0"/>
                                          </p:stCondLst>
                                        </p:cTn>
                                        <p:tgtEl>
                                          <p:spTgt spid="44">
                                            <p:txEl>
                                              <p:pRg st="1" end="1"/>
                                            </p:txEl>
                                          </p:spTgt>
                                        </p:tgtEl>
                                        <p:attrNameLst>
                                          <p:attrName>style.visibility</p:attrName>
                                        </p:attrNameLst>
                                      </p:cBhvr>
                                      <p:to>
                                        <p:strVal val="visible"/>
                                      </p:to>
                                    </p:set>
                                    <p:animEffect transition="in" filter="fade">
                                      <p:cBhvr>
                                        <p:cTn id="63" dur="500"/>
                                        <p:tgtEl>
                                          <p:spTgt spid="44">
                                            <p:txEl>
                                              <p:pRg st="1" end="1"/>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00"/>
                                        <p:tgtEl>
                                          <p:spTgt spid="32"/>
                                        </p:tgtEl>
                                      </p:cBhvr>
                                    </p:animEffect>
                                  </p:childTnLst>
                                </p:cTn>
                              </p:par>
                              <p:par>
                                <p:cTn id="72" presetID="10" presetClass="entr" presetSubtype="0" fill="hold"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00"/>
                                        <p:tgtEl>
                                          <p:spTgt spid="29"/>
                                        </p:tgtEl>
                                      </p:cBhvr>
                                    </p:animEffect>
                                  </p:childTnLst>
                                </p:cTn>
                              </p:par>
                              <p:par>
                                <p:cTn id="75" presetID="10" presetClass="entr" presetSubtype="0" fill="hold" nodeType="withEffect">
                                  <p:stCondLst>
                                    <p:cond delay="0"/>
                                  </p:stCondLst>
                                  <p:childTnLst>
                                    <p:set>
                                      <p:cBhvr>
                                        <p:cTn id="76" dur="1" fill="hold">
                                          <p:stCondLst>
                                            <p:cond delay="0"/>
                                          </p:stCondLst>
                                        </p:cTn>
                                        <p:tgtEl>
                                          <p:spTgt spid="44">
                                            <p:txEl>
                                              <p:pRg st="2" end="2"/>
                                            </p:txEl>
                                          </p:spTgt>
                                        </p:tgtEl>
                                        <p:attrNameLst>
                                          <p:attrName>style.visibility</p:attrName>
                                        </p:attrNameLst>
                                      </p:cBhvr>
                                      <p:to>
                                        <p:strVal val="visible"/>
                                      </p:to>
                                    </p:set>
                                    <p:animEffect transition="in" filter="fade">
                                      <p:cBhvr>
                                        <p:cTn id="77" dur="500"/>
                                        <p:tgtEl>
                                          <p:spTgt spid="44">
                                            <p:txEl>
                                              <p:pRg st="2" end="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500"/>
                                        <p:tgtEl>
                                          <p:spTgt spid="37"/>
                                        </p:tgtEl>
                                      </p:cBhvr>
                                    </p:animEffect>
                                  </p:childTnLst>
                                </p:cTn>
                              </p:par>
                              <p:par>
                                <p:cTn id="83" presetID="10" presetClass="entr" presetSubtype="0" fill="hold"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fade">
                                      <p:cBhvr>
                                        <p:cTn id="85" dur="500"/>
                                        <p:tgtEl>
                                          <p:spTgt spid="39"/>
                                        </p:tgtEl>
                                      </p:cBhvr>
                                    </p:animEffect>
                                  </p:childTnLst>
                                </p:cTn>
                              </p:par>
                              <p:par>
                                <p:cTn id="86" presetID="10" presetClass="entr" presetSubtype="0" fill="hold" nodeType="withEffect">
                                  <p:stCondLst>
                                    <p:cond delay="0"/>
                                  </p:stCondLst>
                                  <p:childTnLst>
                                    <p:set>
                                      <p:cBhvr>
                                        <p:cTn id="87" dur="1" fill="hold">
                                          <p:stCondLst>
                                            <p:cond delay="0"/>
                                          </p:stCondLst>
                                        </p:cTn>
                                        <p:tgtEl>
                                          <p:spTgt spid="44">
                                            <p:txEl>
                                              <p:pRg st="3" end="3"/>
                                            </p:txEl>
                                          </p:spTgt>
                                        </p:tgtEl>
                                        <p:attrNameLst>
                                          <p:attrName>style.visibility</p:attrName>
                                        </p:attrNameLst>
                                      </p:cBhvr>
                                      <p:to>
                                        <p:strVal val="visible"/>
                                      </p:to>
                                    </p:set>
                                    <p:animEffect transition="in" filter="fade">
                                      <p:cBhvr>
                                        <p:cTn id="88" dur="500"/>
                                        <p:tgtEl>
                                          <p:spTgt spid="44">
                                            <p:txEl>
                                              <p:pRg st="3" end="3"/>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500"/>
                                        <p:tgtEl>
                                          <p:spTgt spid="38"/>
                                        </p:tgtEl>
                                      </p:cBhvr>
                                    </p:animEffect>
                                  </p:childTnLst>
                                </p:cTn>
                              </p:par>
                              <p:par>
                                <p:cTn id="94" presetID="10" presetClass="entr" presetSubtype="0" fill="hold" nodeType="with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500"/>
                                        <p:tgtEl>
                                          <p:spTgt spid="40"/>
                                        </p:tgtEl>
                                      </p:cBhvr>
                                    </p:animEffect>
                                  </p:childTnLst>
                                </p:cTn>
                              </p:par>
                              <p:par>
                                <p:cTn id="97" presetID="10" presetClass="entr" presetSubtype="0" fill="hold" nodeType="withEffect">
                                  <p:stCondLst>
                                    <p:cond delay="0"/>
                                  </p:stCondLst>
                                  <p:childTnLst>
                                    <p:set>
                                      <p:cBhvr>
                                        <p:cTn id="98" dur="1" fill="hold">
                                          <p:stCondLst>
                                            <p:cond delay="0"/>
                                          </p:stCondLst>
                                        </p:cTn>
                                        <p:tgtEl>
                                          <p:spTgt spid="44">
                                            <p:txEl>
                                              <p:pRg st="4" end="4"/>
                                            </p:txEl>
                                          </p:spTgt>
                                        </p:tgtEl>
                                        <p:attrNameLst>
                                          <p:attrName>style.visibility</p:attrName>
                                        </p:attrNameLst>
                                      </p:cBhvr>
                                      <p:to>
                                        <p:strVal val="visible"/>
                                      </p:to>
                                    </p:set>
                                    <p:animEffect transition="in" filter="fade">
                                      <p:cBhvr>
                                        <p:cTn id="99" dur="500"/>
                                        <p:tgtEl>
                                          <p:spTgt spid="44">
                                            <p:txEl>
                                              <p:pRg st="4" end="4"/>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par>
                                <p:cTn id="105" presetID="10" presetClass="entr" presetSubtype="0" fill="hold" nodeType="with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fade">
                                      <p:cBhvr>
                                        <p:cTn id="10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animBg="1"/>
      <p:bldP spid="22" grpId="0"/>
      <p:bldP spid="31" grpId="0" animBg="1"/>
      <p:bldP spid="32" grpId="0"/>
      <p:bldP spid="34" grpId="0" animBg="1"/>
      <p:bldP spid="35" grpId="0"/>
      <p:bldP spid="37" grpId="0"/>
      <p:bldP spid="3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EC216-1076-8B9E-4EBA-42983FA7B2C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0F6C403-6391-D567-C085-2CA37BCB5469}"/>
              </a:ext>
            </a:extLst>
          </p:cNvPr>
          <p:cNvPicPr>
            <a:picLocks noChangeAspect="1"/>
          </p:cNvPicPr>
          <p:nvPr/>
        </p:nvPicPr>
        <p:blipFill>
          <a:blip r:embed="rId2"/>
          <a:stretch>
            <a:fillRect/>
          </a:stretch>
        </p:blipFill>
        <p:spPr>
          <a:xfrm>
            <a:off x="-6323" y="0"/>
            <a:ext cx="12224773" cy="6858000"/>
          </a:xfrm>
          <a:prstGeom prst="rect">
            <a:avLst/>
          </a:prstGeom>
        </p:spPr>
      </p:pic>
      <p:pic>
        <p:nvPicPr>
          <p:cNvPr id="6" name="Picture 5">
            <a:extLst>
              <a:ext uri="{FF2B5EF4-FFF2-40B4-BE49-F238E27FC236}">
                <a16:creationId xmlns:a16="http://schemas.microsoft.com/office/drawing/2014/main" id="{7656EB66-936B-8628-6C85-CBFD1CE65E2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A4B67642-69A2-E57E-DAB7-3B8A716F06D2}"/>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AI Agents in Action</a:t>
            </a:r>
          </a:p>
        </p:txBody>
      </p:sp>
      <p:sp>
        <p:nvSpPr>
          <p:cNvPr id="9" name="TextBox 8">
            <a:extLst>
              <a:ext uri="{FF2B5EF4-FFF2-40B4-BE49-F238E27FC236}">
                <a16:creationId xmlns:a16="http://schemas.microsoft.com/office/drawing/2014/main" id="{A590F6B9-BC69-8F9A-3181-2C17B0E264E6}"/>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BED04DDE-3319-801D-24D6-C7B4706125C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pic>
        <p:nvPicPr>
          <p:cNvPr id="4" name="Picture 3" descr="A computer screen with a blue and white background&#10;&#10;AI-generated content may be incorrect.">
            <a:extLst>
              <a:ext uri="{FF2B5EF4-FFF2-40B4-BE49-F238E27FC236}">
                <a16:creationId xmlns:a16="http://schemas.microsoft.com/office/drawing/2014/main" id="{A928295B-1E95-C2CD-BDEA-5F074EFA813F}"/>
              </a:ext>
            </a:extLst>
          </p:cNvPr>
          <p:cNvPicPr>
            <a:picLocks noChangeAspect="1"/>
          </p:cNvPicPr>
          <p:nvPr/>
        </p:nvPicPr>
        <p:blipFill>
          <a:blip r:embed="rId4"/>
          <a:stretch>
            <a:fillRect/>
          </a:stretch>
        </p:blipFill>
        <p:spPr>
          <a:xfrm>
            <a:off x="5804499" y="1745998"/>
            <a:ext cx="5714381" cy="3861068"/>
          </a:xfrm>
          <a:prstGeom prst="rect">
            <a:avLst/>
          </a:prstGeom>
        </p:spPr>
      </p:pic>
      <p:pic>
        <p:nvPicPr>
          <p:cNvPr id="8" name="Picture 7">
            <a:extLst>
              <a:ext uri="{FF2B5EF4-FFF2-40B4-BE49-F238E27FC236}">
                <a16:creationId xmlns:a16="http://schemas.microsoft.com/office/drawing/2014/main" id="{9CF54642-6A9E-6031-71CD-A5714F4FD6A8}"/>
              </a:ext>
            </a:extLst>
          </p:cNvPr>
          <p:cNvPicPr>
            <a:picLocks noChangeAspect="1"/>
          </p:cNvPicPr>
          <p:nvPr/>
        </p:nvPicPr>
        <p:blipFill>
          <a:blip r:embed="rId5"/>
          <a:stretch>
            <a:fillRect/>
          </a:stretch>
        </p:blipFill>
        <p:spPr>
          <a:xfrm>
            <a:off x="121358" y="1815961"/>
            <a:ext cx="5574733" cy="3226078"/>
          </a:xfrm>
          <a:prstGeom prst="rect">
            <a:avLst/>
          </a:prstGeom>
        </p:spPr>
      </p:pic>
      <p:sp>
        <p:nvSpPr>
          <p:cNvPr id="10" name="TextBox 9">
            <a:extLst>
              <a:ext uri="{FF2B5EF4-FFF2-40B4-BE49-F238E27FC236}">
                <a16:creationId xmlns:a16="http://schemas.microsoft.com/office/drawing/2014/main" id="{0A76D71C-8B68-9E62-3358-0F398C08BB9C}"/>
              </a:ext>
            </a:extLst>
          </p:cNvPr>
          <p:cNvSpPr txBox="1"/>
          <p:nvPr/>
        </p:nvSpPr>
        <p:spPr>
          <a:xfrm>
            <a:off x="1480842" y="1118513"/>
            <a:ext cx="2512483" cy="369332"/>
          </a:xfrm>
          <a:prstGeom prst="rect">
            <a:avLst/>
          </a:prstGeom>
          <a:noFill/>
        </p:spPr>
        <p:txBody>
          <a:bodyPr wrap="none" rtlCol="0">
            <a:spAutoFit/>
          </a:bodyPr>
          <a:lstStyle/>
          <a:p>
            <a:r>
              <a:rPr lang="en-CA" b="1" dirty="0">
                <a:hlinkClick r:id="rId6"/>
              </a:rPr>
              <a:t>Claude Agent in Chrome</a:t>
            </a:r>
            <a:endParaRPr lang="en-CA" b="1" dirty="0"/>
          </a:p>
        </p:txBody>
      </p:sp>
      <p:sp>
        <p:nvSpPr>
          <p:cNvPr id="11" name="TextBox 10">
            <a:extLst>
              <a:ext uri="{FF2B5EF4-FFF2-40B4-BE49-F238E27FC236}">
                <a16:creationId xmlns:a16="http://schemas.microsoft.com/office/drawing/2014/main" id="{9DA9EA47-B432-AC7E-9C1A-2042F64CF44A}"/>
              </a:ext>
            </a:extLst>
          </p:cNvPr>
          <p:cNvSpPr txBox="1"/>
          <p:nvPr/>
        </p:nvSpPr>
        <p:spPr>
          <a:xfrm>
            <a:off x="6685131" y="1135161"/>
            <a:ext cx="2238690" cy="369332"/>
          </a:xfrm>
          <a:prstGeom prst="rect">
            <a:avLst/>
          </a:prstGeom>
          <a:noFill/>
        </p:spPr>
        <p:txBody>
          <a:bodyPr wrap="none" rtlCol="0">
            <a:spAutoFit/>
          </a:bodyPr>
          <a:lstStyle/>
          <a:p>
            <a:r>
              <a:rPr lang="en-CA" b="1" dirty="0">
                <a:hlinkClick r:id="rId7"/>
              </a:rPr>
              <a:t>ChatGPT Agent Mode</a:t>
            </a:r>
            <a:endParaRPr lang="en-CA" b="1" dirty="0"/>
          </a:p>
        </p:txBody>
      </p:sp>
    </p:spTree>
    <p:extLst>
      <p:ext uri="{BB962C8B-B14F-4D97-AF65-F5344CB8AC3E}">
        <p14:creationId xmlns:p14="http://schemas.microsoft.com/office/powerpoint/2010/main" val="3426533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47912-CAD3-F294-AD93-B46D06D76E9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77C425C-CF5D-DB36-4427-F6403017C1DA}"/>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77787C7-C45C-C55A-2F35-6487DA9030F9}"/>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9059CA85-F2D4-AD32-11D4-DC00ED2A6F8E}"/>
              </a:ext>
            </a:extLst>
          </p:cNvPr>
          <p:cNvSpPr/>
          <p:nvPr/>
        </p:nvSpPr>
        <p:spPr>
          <a:xfrm>
            <a:off x="293914" y="793804"/>
            <a:ext cx="580208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LARGE LANGUAGE MODELS FOUNDATIONS</a:t>
            </a:r>
          </a:p>
        </p:txBody>
      </p:sp>
      <p:pic>
        <p:nvPicPr>
          <p:cNvPr id="5" name="Picture 4">
            <a:extLst>
              <a:ext uri="{FF2B5EF4-FFF2-40B4-BE49-F238E27FC236}">
                <a16:creationId xmlns:a16="http://schemas.microsoft.com/office/drawing/2014/main" id="{C2336E85-1A6C-C38D-FFBC-A0071623742E}"/>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794172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6C21-CD28-3319-9153-D5D785A15EC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75E52CD-DECF-818C-E732-05B47F90F766}"/>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619569AC-BD12-83B4-8634-2615B620FEE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E3E9BBFC-9E88-F8AF-D5CA-860DD41086E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Large Language Models (LLMs)</a:t>
            </a:r>
          </a:p>
        </p:txBody>
      </p:sp>
      <p:sp>
        <p:nvSpPr>
          <p:cNvPr id="9" name="TextBox 8">
            <a:extLst>
              <a:ext uri="{FF2B5EF4-FFF2-40B4-BE49-F238E27FC236}">
                <a16:creationId xmlns:a16="http://schemas.microsoft.com/office/drawing/2014/main" id="{435DAAC8-4190-22A8-473B-779FAF80CA14}"/>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88545837-30EF-30E9-D9B7-7E12FAB3B8CB}"/>
              </a:ext>
            </a:extLst>
          </p:cNvPr>
          <p:cNvSpPr txBox="1"/>
          <p:nvPr/>
        </p:nvSpPr>
        <p:spPr>
          <a:xfrm>
            <a:off x="189384" y="871861"/>
            <a:ext cx="11780457" cy="1979233"/>
          </a:xfrm>
          <a:prstGeom prst="rect">
            <a:avLst/>
          </a:prstGeom>
        </p:spPr>
        <p:txBody>
          <a:bodyPr vert="horz" lIns="91440" tIns="45720" rIns="91440" bIns="45720" rtlCol="0">
            <a:norm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r>
              <a:rPr lang="en-US" sz="1700" dirty="0"/>
              <a:t>A Large Language Model is a neural network trained on massive text datasets to understand and generate human language. At its core, it predicts the next most probable token in a sequence.</a:t>
            </a:r>
          </a:p>
          <a:p>
            <a:endParaRPr lang="en-US" sz="1700" dirty="0"/>
          </a:p>
        </p:txBody>
      </p:sp>
      <p:sp>
        <p:nvSpPr>
          <p:cNvPr id="20" name="Rectangle 2">
            <a:extLst>
              <a:ext uri="{FF2B5EF4-FFF2-40B4-BE49-F238E27FC236}">
                <a16:creationId xmlns:a16="http://schemas.microsoft.com/office/drawing/2014/main" id="{6C81C8BA-32E9-FCB8-F916-3CED105A57A1}"/>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Shape 4">
            <a:extLst>
              <a:ext uri="{FF2B5EF4-FFF2-40B4-BE49-F238E27FC236}">
                <a16:creationId xmlns:a16="http://schemas.microsoft.com/office/drawing/2014/main" id="{ABC8D61E-8B0C-6CB2-6073-0277DC70A56C}"/>
              </a:ext>
            </a:extLst>
          </p:cNvPr>
          <p:cNvSpPr/>
          <p:nvPr/>
        </p:nvSpPr>
        <p:spPr>
          <a:xfrm>
            <a:off x="337939" y="2754568"/>
            <a:ext cx="2560320" cy="2796540"/>
          </a:xfrm>
          <a:prstGeom prst="rect">
            <a:avLst/>
          </a:prstGeom>
          <a:solidFill>
            <a:srgbClr val="D56E48"/>
          </a:solidFill>
          <a:ln/>
          <a:effectLst>
            <a:outerShdw blurRad="76200" dist="25400" dir="8100000" algn="bl" rotWithShape="0">
              <a:srgbClr val="000000">
                <a:alpha val="10000"/>
              </a:srgbClr>
            </a:outerShdw>
          </a:effectLst>
        </p:spPr>
        <p:txBody>
          <a:bodyPr/>
          <a:lstStyle/>
          <a:p>
            <a:endParaRPr lang="en-CA"/>
          </a:p>
        </p:txBody>
      </p:sp>
      <p:sp>
        <p:nvSpPr>
          <p:cNvPr id="10" name="Text 7">
            <a:extLst>
              <a:ext uri="{FF2B5EF4-FFF2-40B4-BE49-F238E27FC236}">
                <a16:creationId xmlns:a16="http://schemas.microsoft.com/office/drawing/2014/main" id="{FFC83E80-230F-F638-55E7-DF1AE37CF66A}"/>
              </a:ext>
            </a:extLst>
          </p:cNvPr>
          <p:cNvSpPr/>
          <p:nvPr/>
        </p:nvSpPr>
        <p:spPr>
          <a:xfrm>
            <a:off x="520819" y="3440368"/>
            <a:ext cx="2194560" cy="320040"/>
          </a:xfrm>
          <a:prstGeom prst="rect">
            <a:avLst/>
          </a:prstGeom>
          <a:noFill/>
          <a:ln/>
        </p:spPr>
        <p:txBody>
          <a:bodyPr wrap="square" lIns="0" tIns="0" rIns="0" bIns="0" rtlCol="0" anchor="ctr"/>
          <a:lstStyle/>
          <a:p>
            <a:pPr marL="0" indent="0">
              <a:buNone/>
            </a:pPr>
            <a:r>
              <a:rPr lang="en-US" sz="2400" b="1" dirty="0">
                <a:solidFill>
                  <a:schemeClr val="bg1"/>
                </a:solidFill>
                <a:latin typeface="Montserrat" panose="00000500000000000000" pitchFamily="2" charset="0"/>
                <a:ea typeface="Calibri" pitchFamily="34" charset="-122"/>
                <a:cs typeface="Calibri" pitchFamily="34" charset="-120"/>
              </a:rPr>
              <a:t>Training Data</a:t>
            </a:r>
            <a:endParaRPr lang="en-US" sz="2400" dirty="0">
              <a:solidFill>
                <a:schemeClr val="bg1"/>
              </a:solidFill>
              <a:latin typeface="Montserrat" panose="00000500000000000000" pitchFamily="2" charset="0"/>
            </a:endParaRPr>
          </a:p>
        </p:txBody>
      </p:sp>
      <p:sp>
        <p:nvSpPr>
          <p:cNvPr id="11" name="Text 8">
            <a:extLst>
              <a:ext uri="{FF2B5EF4-FFF2-40B4-BE49-F238E27FC236}">
                <a16:creationId xmlns:a16="http://schemas.microsoft.com/office/drawing/2014/main" id="{FD531D90-10B2-1A8B-3599-4BC9BC48CBE9}"/>
              </a:ext>
            </a:extLst>
          </p:cNvPr>
          <p:cNvSpPr/>
          <p:nvPr/>
        </p:nvSpPr>
        <p:spPr>
          <a:xfrm>
            <a:off x="440809" y="3960433"/>
            <a:ext cx="2194560" cy="179070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Billions of tokens from books, web pages, code, and conversations</a:t>
            </a:r>
            <a:endParaRPr lang="en-US" dirty="0">
              <a:solidFill>
                <a:schemeClr val="bg1"/>
              </a:solidFill>
              <a:latin typeface="Montserrat" panose="00000500000000000000" pitchFamily="2" charset="0"/>
            </a:endParaRPr>
          </a:p>
        </p:txBody>
      </p:sp>
      <p:sp>
        <p:nvSpPr>
          <p:cNvPr id="12" name="Shape 9">
            <a:extLst>
              <a:ext uri="{FF2B5EF4-FFF2-40B4-BE49-F238E27FC236}">
                <a16:creationId xmlns:a16="http://schemas.microsoft.com/office/drawing/2014/main" id="{0E0EB3F4-9379-7188-C8BC-B0978C9363E2}"/>
              </a:ext>
            </a:extLst>
          </p:cNvPr>
          <p:cNvSpPr/>
          <p:nvPr/>
        </p:nvSpPr>
        <p:spPr>
          <a:xfrm>
            <a:off x="4605139" y="2783834"/>
            <a:ext cx="2560320" cy="2767273"/>
          </a:xfrm>
          <a:prstGeom prst="rect">
            <a:avLst/>
          </a:prstGeom>
          <a:solidFill>
            <a:srgbClr val="0C1752"/>
          </a:solidFill>
          <a:ln/>
          <a:effectLst>
            <a:outerShdw blurRad="76200" dist="25400" dir="8100000" algn="bl" rotWithShape="0">
              <a:srgbClr val="000000">
                <a:alpha val="10000"/>
              </a:srgbClr>
            </a:outerShdw>
          </a:effectLst>
        </p:spPr>
        <p:txBody>
          <a:bodyPr/>
          <a:lstStyle/>
          <a:p>
            <a:endParaRPr lang="en-CA" dirty="0"/>
          </a:p>
        </p:txBody>
      </p:sp>
      <p:sp>
        <p:nvSpPr>
          <p:cNvPr id="18" name="Text 12">
            <a:extLst>
              <a:ext uri="{FF2B5EF4-FFF2-40B4-BE49-F238E27FC236}">
                <a16:creationId xmlns:a16="http://schemas.microsoft.com/office/drawing/2014/main" id="{95B6E00C-1EDF-905F-A1EB-5F80D6CAC7C9}"/>
              </a:ext>
            </a:extLst>
          </p:cNvPr>
          <p:cNvSpPr/>
          <p:nvPr/>
        </p:nvSpPr>
        <p:spPr>
          <a:xfrm>
            <a:off x="4970899" y="3440368"/>
            <a:ext cx="2194560" cy="320040"/>
          </a:xfrm>
          <a:prstGeom prst="rect">
            <a:avLst/>
          </a:prstGeom>
          <a:noFill/>
          <a:ln/>
        </p:spPr>
        <p:txBody>
          <a:bodyPr wrap="square" lIns="0" tIns="0" rIns="0" bIns="0" rtlCol="0" anchor="ctr"/>
          <a:lstStyle/>
          <a:p>
            <a:r>
              <a:rPr lang="en-US" sz="2400" b="1" dirty="0">
                <a:solidFill>
                  <a:schemeClr val="bg1"/>
                </a:solidFill>
                <a:latin typeface="Montserrat" panose="00000500000000000000" pitchFamily="2" charset="0"/>
                <a:ea typeface="Calibri" pitchFamily="34" charset="-122"/>
                <a:cs typeface="Calibri" pitchFamily="34" charset="-120"/>
              </a:rPr>
              <a:t>Parameters</a:t>
            </a:r>
          </a:p>
        </p:txBody>
      </p:sp>
      <p:sp>
        <p:nvSpPr>
          <p:cNvPr id="19" name="Text 13">
            <a:extLst>
              <a:ext uri="{FF2B5EF4-FFF2-40B4-BE49-F238E27FC236}">
                <a16:creationId xmlns:a16="http://schemas.microsoft.com/office/drawing/2014/main" id="{148BC2BC-FA9B-6174-13F7-A20EC0DE0F8F}"/>
              </a:ext>
            </a:extLst>
          </p:cNvPr>
          <p:cNvSpPr/>
          <p:nvPr/>
        </p:nvSpPr>
        <p:spPr>
          <a:xfrm>
            <a:off x="4675624" y="3881721"/>
            <a:ext cx="2362200" cy="1761433"/>
          </a:xfrm>
          <a:prstGeom prst="rect">
            <a:avLst/>
          </a:prstGeom>
          <a:noFill/>
          <a:ln/>
        </p:spPr>
        <p:txBody>
          <a:bodyPr wrap="square" lIns="0" tIns="0" rIns="0" bIns="0" rtlCol="0" anchor="t"/>
          <a:lstStyle/>
          <a:p>
            <a:pPr algn="ctr"/>
            <a:r>
              <a:rPr lang="en-US" dirty="0">
                <a:solidFill>
                  <a:schemeClr val="bg1"/>
                </a:solidFill>
                <a:latin typeface="Montserrat" panose="00000500000000000000" pitchFamily="2" charset="0"/>
                <a:ea typeface="Calibri" pitchFamily="34" charset="-122"/>
                <a:cs typeface="Calibri" pitchFamily="34" charset="-120"/>
              </a:rPr>
              <a:t>Billions of learned weights that encode language patterns and knowledge</a:t>
            </a:r>
          </a:p>
        </p:txBody>
      </p:sp>
      <p:sp>
        <p:nvSpPr>
          <p:cNvPr id="21" name="Shape 14">
            <a:extLst>
              <a:ext uri="{FF2B5EF4-FFF2-40B4-BE49-F238E27FC236}">
                <a16:creationId xmlns:a16="http://schemas.microsoft.com/office/drawing/2014/main" id="{42CC5797-4BAA-308A-4622-C3411327E9BF}"/>
              </a:ext>
            </a:extLst>
          </p:cNvPr>
          <p:cNvSpPr/>
          <p:nvPr/>
        </p:nvSpPr>
        <p:spPr>
          <a:xfrm>
            <a:off x="8769469" y="2807908"/>
            <a:ext cx="2560320" cy="2743199"/>
          </a:xfrm>
          <a:prstGeom prst="rect">
            <a:avLst/>
          </a:prstGeom>
          <a:solidFill>
            <a:schemeClr val="bg1">
              <a:lumMod val="65000"/>
            </a:schemeClr>
          </a:solidFill>
          <a:ln/>
          <a:effectLst>
            <a:outerShdw blurRad="76200" dist="25400" dir="8100000" algn="bl" rotWithShape="0">
              <a:srgbClr val="000000">
                <a:alpha val="10000"/>
              </a:srgbClr>
            </a:outerShdw>
          </a:effectLst>
        </p:spPr>
        <p:txBody>
          <a:bodyPr/>
          <a:lstStyle/>
          <a:p>
            <a:endParaRPr lang="en-CA"/>
          </a:p>
        </p:txBody>
      </p:sp>
      <p:sp>
        <p:nvSpPr>
          <p:cNvPr id="25" name="Text 17">
            <a:extLst>
              <a:ext uri="{FF2B5EF4-FFF2-40B4-BE49-F238E27FC236}">
                <a16:creationId xmlns:a16="http://schemas.microsoft.com/office/drawing/2014/main" id="{24EB9A00-D2E4-F2DC-F877-AFF79CC99C50}"/>
              </a:ext>
            </a:extLst>
          </p:cNvPr>
          <p:cNvSpPr/>
          <p:nvPr/>
        </p:nvSpPr>
        <p:spPr>
          <a:xfrm>
            <a:off x="9135229" y="3406685"/>
            <a:ext cx="2194560" cy="320040"/>
          </a:xfrm>
          <a:prstGeom prst="rect">
            <a:avLst/>
          </a:prstGeom>
          <a:noFill/>
          <a:ln/>
        </p:spPr>
        <p:txBody>
          <a:bodyPr wrap="square" lIns="0" tIns="0" rIns="0" bIns="0" rtlCol="0" anchor="ctr"/>
          <a:lstStyle/>
          <a:p>
            <a:r>
              <a:rPr lang="en-US" sz="2400" b="1" dirty="0">
                <a:solidFill>
                  <a:schemeClr val="bg1"/>
                </a:solidFill>
                <a:latin typeface="Montserrat" panose="00000500000000000000" pitchFamily="2" charset="0"/>
                <a:ea typeface="Calibri" pitchFamily="34" charset="-122"/>
                <a:cs typeface="Calibri" pitchFamily="34" charset="-120"/>
              </a:rPr>
              <a:t>Generation</a:t>
            </a:r>
          </a:p>
        </p:txBody>
      </p:sp>
      <p:sp>
        <p:nvSpPr>
          <p:cNvPr id="29" name="Text 18">
            <a:extLst>
              <a:ext uri="{FF2B5EF4-FFF2-40B4-BE49-F238E27FC236}">
                <a16:creationId xmlns:a16="http://schemas.microsoft.com/office/drawing/2014/main" id="{C08C47C0-08D5-005F-DFF8-90981E7FA9D0}"/>
              </a:ext>
            </a:extLst>
          </p:cNvPr>
          <p:cNvSpPr/>
          <p:nvPr/>
        </p:nvSpPr>
        <p:spPr>
          <a:xfrm>
            <a:off x="8952349" y="3813748"/>
            <a:ext cx="2194560" cy="731520"/>
          </a:xfrm>
          <a:prstGeom prst="rect">
            <a:avLst/>
          </a:prstGeom>
          <a:noFill/>
          <a:ln/>
        </p:spPr>
        <p:txBody>
          <a:bodyPr wrap="square" lIns="0" tIns="0" rIns="0" bIns="0" rtlCol="0" anchor="t"/>
          <a:lstStyle/>
          <a:p>
            <a:pPr algn="ctr"/>
            <a:r>
              <a:rPr lang="en-US" dirty="0">
                <a:solidFill>
                  <a:schemeClr val="bg1"/>
                </a:solidFill>
                <a:latin typeface="Montserrat" panose="00000500000000000000" pitchFamily="2" charset="0"/>
                <a:ea typeface="Calibri" pitchFamily="34" charset="-122"/>
                <a:cs typeface="Calibri" pitchFamily="34" charset="-120"/>
              </a:rPr>
              <a:t>Produces text token-by-token using probability distributions</a:t>
            </a:r>
          </a:p>
        </p:txBody>
      </p:sp>
      <p:pic>
        <p:nvPicPr>
          <p:cNvPr id="31" name="Picture 30">
            <a:extLst>
              <a:ext uri="{FF2B5EF4-FFF2-40B4-BE49-F238E27FC236}">
                <a16:creationId xmlns:a16="http://schemas.microsoft.com/office/drawing/2014/main" id="{97245D3C-99F1-10A5-CA60-06C73700D928}"/>
              </a:ext>
            </a:extLst>
          </p:cNvPr>
          <p:cNvPicPr>
            <a:picLocks noChangeAspect="1"/>
          </p:cNvPicPr>
          <p:nvPr/>
        </p:nvPicPr>
        <p:blipFill>
          <a:blip r:embed="rId4">
            <a:clrChange>
              <a:clrFrom>
                <a:srgbClr val="FEFEFE"/>
              </a:clrFrom>
              <a:clrTo>
                <a:srgbClr val="FEFEFE">
                  <a:alpha val="0"/>
                </a:srgbClr>
              </a:clrTo>
            </a:clrChange>
            <a:duotone>
              <a:prstClr val="black"/>
              <a:schemeClr val="accent1">
                <a:tint val="45000"/>
                <a:satMod val="400000"/>
              </a:schemeClr>
            </a:duotone>
          </a:blip>
          <a:stretch>
            <a:fillRect/>
          </a:stretch>
        </p:blipFill>
        <p:spPr>
          <a:xfrm>
            <a:off x="5072053" y="1500492"/>
            <a:ext cx="1493763" cy="1493763"/>
          </a:xfrm>
          <a:prstGeom prst="rect">
            <a:avLst/>
          </a:prstGeom>
        </p:spPr>
      </p:pic>
      <p:pic>
        <p:nvPicPr>
          <p:cNvPr id="33" name="Picture 32">
            <a:extLst>
              <a:ext uri="{FF2B5EF4-FFF2-40B4-BE49-F238E27FC236}">
                <a16:creationId xmlns:a16="http://schemas.microsoft.com/office/drawing/2014/main" id="{75FE1FB2-E01D-9ABC-9B9E-C48C51161ED4}"/>
              </a:ext>
            </a:extLst>
          </p:cNvPr>
          <p:cNvPicPr>
            <a:picLocks noChangeAspect="1"/>
          </p:cNvPicPr>
          <p:nvPr/>
        </p:nvPicPr>
        <p:blipFill>
          <a:blip r:embed="rId5">
            <a:duotone>
              <a:schemeClr val="accent2">
                <a:shade val="45000"/>
                <a:satMod val="135000"/>
              </a:schemeClr>
              <a:prstClr val="white"/>
            </a:duotone>
          </a:blip>
          <a:stretch>
            <a:fillRect/>
          </a:stretch>
        </p:blipFill>
        <p:spPr>
          <a:xfrm>
            <a:off x="751317" y="1382293"/>
            <a:ext cx="1730160" cy="1730160"/>
          </a:xfrm>
          <a:prstGeom prst="rect">
            <a:avLst/>
          </a:prstGeom>
        </p:spPr>
      </p:pic>
      <p:pic>
        <p:nvPicPr>
          <p:cNvPr id="37" name="Picture 36">
            <a:extLst>
              <a:ext uri="{FF2B5EF4-FFF2-40B4-BE49-F238E27FC236}">
                <a16:creationId xmlns:a16="http://schemas.microsoft.com/office/drawing/2014/main" id="{B1E0E101-D4A1-7B53-BB29-B309ACC476E4}"/>
              </a:ext>
            </a:extLst>
          </p:cNvPr>
          <p:cNvPicPr>
            <a:picLocks noChangeAspect="1"/>
          </p:cNvPicPr>
          <p:nvPr/>
        </p:nvPicPr>
        <p:blipFill>
          <a:blip r:embed="rId6">
            <a:clrChange>
              <a:clrFrom>
                <a:srgbClr val="FEFEFE"/>
              </a:clrFrom>
              <a:clrTo>
                <a:srgbClr val="FEFEFE">
                  <a:alpha val="0"/>
                </a:srgbClr>
              </a:clrTo>
            </a:clrChange>
            <a:duotone>
              <a:schemeClr val="accent3">
                <a:shade val="45000"/>
                <a:satMod val="135000"/>
              </a:schemeClr>
              <a:prstClr val="white"/>
            </a:duotone>
          </a:blip>
          <a:stretch>
            <a:fillRect/>
          </a:stretch>
        </p:blipFill>
        <p:spPr>
          <a:xfrm>
            <a:off x="9437908" y="1720090"/>
            <a:ext cx="1180237" cy="933895"/>
          </a:xfrm>
          <a:prstGeom prst="rect">
            <a:avLst/>
          </a:prstGeom>
        </p:spPr>
      </p:pic>
    </p:spTree>
    <p:extLst>
      <p:ext uri="{BB962C8B-B14F-4D97-AF65-F5344CB8AC3E}">
        <p14:creationId xmlns:p14="http://schemas.microsoft.com/office/powerpoint/2010/main" val="1091999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par>
                                <p:cTn id="42" presetID="10" presetClass="entr" presetSubtype="0" fill="hold" nodeType="with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1" grpId="0" animBg="1"/>
      <p:bldP spid="12" grpId="0" animBg="1"/>
      <p:bldP spid="18" grpId="0" animBg="1"/>
      <p:bldP spid="19" grpId="0" animBg="1"/>
      <p:bldP spid="21" grpId="0" animBg="1"/>
      <p:bldP spid="25" grpId="0" animBg="1"/>
      <p:bldP spid="2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DE3C2-7E78-52DD-27B2-F1A1DE67C4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91493CD-6B46-C6DA-5202-3FC6A4224C4D}"/>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BD3DDAA-E46A-BEEC-326F-D96988041144}"/>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831DC05-DAE0-6251-CBA3-EECF599AE9A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How LLMs work?</a:t>
            </a:r>
          </a:p>
        </p:txBody>
      </p:sp>
      <p:sp>
        <p:nvSpPr>
          <p:cNvPr id="9" name="TextBox 8">
            <a:extLst>
              <a:ext uri="{FF2B5EF4-FFF2-40B4-BE49-F238E27FC236}">
                <a16:creationId xmlns:a16="http://schemas.microsoft.com/office/drawing/2014/main" id="{F4A84152-B416-3ADB-9C38-79AE443A17C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D908AE43-A565-9E5C-A3F5-D0080FF6920F}"/>
              </a:ext>
            </a:extLst>
          </p:cNvPr>
          <p:cNvSpPr txBox="1"/>
          <p:nvPr/>
        </p:nvSpPr>
        <p:spPr>
          <a:xfrm>
            <a:off x="358195" y="2982660"/>
            <a:ext cx="11780457" cy="1979233"/>
          </a:xfrm>
          <a:prstGeom prst="rect">
            <a:avLst/>
          </a:prstGeom>
        </p:spPr>
        <p:txBody>
          <a:bodyPr vert="horz" lIns="91440" tIns="45720" rIns="91440" bIns="45720" rtlCol="0">
            <a:norm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eaLnBrk="0" fontAlgn="base" hangingPunct="0">
              <a:lnSpc>
                <a:spcPct val="150000"/>
              </a:lnSpc>
              <a:spcBef>
                <a:spcPct val="0"/>
              </a:spcBef>
              <a:spcAft>
                <a:spcPct val="0"/>
              </a:spcAft>
              <a:buClrTx/>
            </a:pPr>
            <a:r>
              <a:rPr lang="en-US" altLang="en-US" sz="1600" b="1" dirty="0"/>
              <a:t>Input Text:</a:t>
            </a:r>
            <a:r>
              <a:rPr lang="en-US" altLang="en-US" sz="1600" dirty="0"/>
              <a:t> The user provides a prompt in natural language.</a:t>
            </a:r>
          </a:p>
          <a:p>
            <a:pPr eaLnBrk="0" fontAlgn="base" hangingPunct="0">
              <a:lnSpc>
                <a:spcPct val="150000"/>
              </a:lnSpc>
              <a:spcBef>
                <a:spcPct val="0"/>
              </a:spcBef>
              <a:spcAft>
                <a:spcPct val="0"/>
              </a:spcAft>
              <a:buClrTx/>
            </a:pPr>
            <a:r>
              <a:rPr lang="en-US" altLang="en-US" sz="1600" b="1" dirty="0"/>
              <a:t>Tokenization:</a:t>
            </a:r>
            <a:r>
              <a:rPr lang="en-US" altLang="en-US" sz="1600" dirty="0"/>
              <a:t> The text is converted into numerical tokens the model can process.</a:t>
            </a:r>
          </a:p>
          <a:p>
            <a:pPr eaLnBrk="0" fontAlgn="base" hangingPunct="0">
              <a:lnSpc>
                <a:spcPct val="150000"/>
              </a:lnSpc>
              <a:spcBef>
                <a:spcPct val="0"/>
              </a:spcBef>
              <a:spcAft>
                <a:spcPct val="0"/>
              </a:spcAft>
              <a:buClrTx/>
            </a:pPr>
            <a:r>
              <a:rPr lang="en-US" altLang="en-US" sz="1600" b="1" dirty="0"/>
              <a:t>Transformer Layers:</a:t>
            </a:r>
            <a:r>
              <a:rPr lang="en-US" altLang="en-US" sz="1600" dirty="0"/>
              <a:t> The model analyzes token relationships using self-attention to understand context.</a:t>
            </a:r>
          </a:p>
          <a:p>
            <a:pPr eaLnBrk="0" fontAlgn="base" hangingPunct="0">
              <a:lnSpc>
                <a:spcPct val="150000"/>
              </a:lnSpc>
              <a:spcBef>
                <a:spcPct val="0"/>
              </a:spcBef>
              <a:spcAft>
                <a:spcPct val="0"/>
              </a:spcAft>
              <a:buClrTx/>
            </a:pPr>
            <a:r>
              <a:rPr lang="en-US" altLang="en-US" sz="1600" b="1" dirty="0"/>
              <a:t>Probability Distribution:</a:t>
            </a:r>
            <a:r>
              <a:rPr lang="en-US" altLang="en-US" sz="1600" dirty="0"/>
              <a:t> The model calculates the likelihood of every possible next token.</a:t>
            </a:r>
          </a:p>
          <a:p>
            <a:pPr eaLnBrk="0" fontAlgn="base" hangingPunct="0">
              <a:lnSpc>
                <a:spcPct val="150000"/>
              </a:lnSpc>
              <a:spcBef>
                <a:spcPct val="0"/>
              </a:spcBef>
              <a:spcAft>
                <a:spcPct val="0"/>
              </a:spcAft>
              <a:buClrTx/>
            </a:pPr>
            <a:r>
              <a:rPr lang="en-US" altLang="en-US" sz="1600" b="1" dirty="0"/>
              <a:t>Output Token:</a:t>
            </a:r>
            <a:r>
              <a:rPr lang="en-US" altLang="en-US" sz="1600" dirty="0"/>
              <a:t> The most likely (or sampled) token is selected and generated as output.</a:t>
            </a:r>
          </a:p>
        </p:txBody>
      </p:sp>
      <p:sp>
        <p:nvSpPr>
          <p:cNvPr id="20" name="Rectangle 2">
            <a:extLst>
              <a:ext uri="{FF2B5EF4-FFF2-40B4-BE49-F238E27FC236}">
                <a16:creationId xmlns:a16="http://schemas.microsoft.com/office/drawing/2014/main" id="{1DA5CC54-E0F5-83F2-620A-1194526BBCD4}"/>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grpSp>
        <p:nvGrpSpPr>
          <p:cNvPr id="52" name="Group 51">
            <a:extLst>
              <a:ext uri="{FF2B5EF4-FFF2-40B4-BE49-F238E27FC236}">
                <a16:creationId xmlns:a16="http://schemas.microsoft.com/office/drawing/2014/main" id="{A908366B-504D-D285-31B8-2CEED00CF475}"/>
              </a:ext>
            </a:extLst>
          </p:cNvPr>
          <p:cNvGrpSpPr/>
          <p:nvPr/>
        </p:nvGrpSpPr>
        <p:grpSpPr>
          <a:xfrm>
            <a:off x="358195" y="1580130"/>
            <a:ext cx="1681564" cy="1106806"/>
            <a:chOff x="1028149" y="3106362"/>
            <a:chExt cx="1463040" cy="822960"/>
          </a:xfrm>
        </p:grpSpPr>
        <p:sp>
          <p:nvSpPr>
            <p:cNvPr id="38" name="Shape 3">
              <a:extLst>
                <a:ext uri="{FF2B5EF4-FFF2-40B4-BE49-F238E27FC236}">
                  <a16:creationId xmlns:a16="http://schemas.microsoft.com/office/drawing/2014/main" id="{E9ABBA5A-1AD4-7B02-6269-8EE1EEA2F986}"/>
                </a:ext>
              </a:extLst>
            </p:cNvPr>
            <p:cNvSpPr/>
            <p:nvPr/>
          </p:nvSpPr>
          <p:spPr>
            <a:xfrm>
              <a:off x="1028149" y="3106362"/>
              <a:ext cx="1463040" cy="822960"/>
            </a:xfrm>
            <a:prstGeom prst="rect">
              <a:avLst/>
            </a:prstGeom>
            <a:solidFill>
              <a:srgbClr val="D56E48"/>
            </a:solidFill>
            <a:ln/>
            <a:effectLst>
              <a:outerShdw blurRad="76200" dist="25400" dir="8100000" algn="bl" rotWithShape="0">
                <a:srgbClr val="000000">
                  <a:alpha val="10000"/>
                </a:srgbClr>
              </a:outerShdw>
            </a:effectLst>
          </p:spPr>
          <p:txBody>
            <a:bodyPr/>
            <a:lstStyle/>
            <a:p>
              <a:endParaRPr lang="en-CA" sz="1500">
                <a:latin typeface="Montserrat" panose="00000500000000000000" pitchFamily="2" charset="0"/>
              </a:endParaRPr>
            </a:p>
          </p:txBody>
        </p:sp>
        <p:sp>
          <p:nvSpPr>
            <p:cNvPr id="39" name="Text 4">
              <a:extLst>
                <a:ext uri="{FF2B5EF4-FFF2-40B4-BE49-F238E27FC236}">
                  <a16:creationId xmlns:a16="http://schemas.microsoft.com/office/drawing/2014/main" id="{FE8970C4-05EA-0694-0C48-DA2BCC77D3D3}"/>
                </a:ext>
              </a:extLst>
            </p:cNvPr>
            <p:cNvSpPr/>
            <p:nvPr/>
          </p:nvSpPr>
          <p:spPr>
            <a:xfrm>
              <a:off x="1028149" y="3106362"/>
              <a:ext cx="1463040" cy="822960"/>
            </a:xfrm>
            <a:prstGeom prst="rect">
              <a:avLst/>
            </a:prstGeom>
            <a:noFill/>
            <a:ln/>
          </p:spPr>
          <p:txBody>
            <a:bodyPr wrap="square" lIns="0" tIns="0" rIns="0" bIns="0" rtlCol="0" anchor="ctr"/>
            <a:lstStyle/>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Input Text</a:t>
              </a:r>
              <a:endParaRPr lang="en-US" sz="1500" dirty="0">
                <a:solidFill>
                  <a:schemeClr val="bg1"/>
                </a:solidFill>
                <a:latin typeface="Montserrat" panose="00000500000000000000" pitchFamily="2" charset="0"/>
              </a:endParaRPr>
            </a:p>
          </p:txBody>
        </p:sp>
      </p:grpSp>
      <p:grpSp>
        <p:nvGrpSpPr>
          <p:cNvPr id="53" name="Group 52">
            <a:extLst>
              <a:ext uri="{FF2B5EF4-FFF2-40B4-BE49-F238E27FC236}">
                <a16:creationId xmlns:a16="http://schemas.microsoft.com/office/drawing/2014/main" id="{2ACF1EC9-46DB-454A-0FC8-416799059598}"/>
              </a:ext>
            </a:extLst>
          </p:cNvPr>
          <p:cNvGrpSpPr/>
          <p:nvPr/>
        </p:nvGrpSpPr>
        <p:grpSpPr>
          <a:xfrm>
            <a:off x="2772074" y="1594732"/>
            <a:ext cx="1767596" cy="1106806"/>
            <a:chOff x="2852029" y="3106362"/>
            <a:chExt cx="1463040" cy="822960"/>
          </a:xfrm>
        </p:grpSpPr>
        <p:sp>
          <p:nvSpPr>
            <p:cNvPr id="41" name="Shape 6">
              <a:extLst>
                <a:ext uri="{FF2B5EF4-FFF2-40B4-BE49-F238E27FC236}">
                  <a16:creationId xmlns:a16="http://schemas.microsoft.com/office/drawing/2014/main" id="{D8ABC665-32C8-1639-A32A-000662B67B73}"/>
                </a:ext>
              </a:extLst>
            </p:cNvPr>
            <p:cNvSpPr/>
            <p:nvPr/>
          </p:nvSpPr>
          <p:spPr>
            <a:xfrm>
              <a:off x="2852029" y="3106362"/>
              <a:ext cx="1463040" cy="822960"/>
            </a:xfrm>
            <a:prstGeom prst="rect">
              <a:avLst/>
            </a:prstGeom>
            <a:solidFill>
              <a:srgbClr val="0C1752"/>
            </a:solidFill>
            <a:ln/>
            <a:effectLst>
              <a:outerShdw blurRad="76200" dist="25400" dir="8100000" algn="bl" rotWithShape="0">
                <a:srgbClr val="000000">
                  <a:alpha val="10000"/>
                </a:srgbClr>
              </a:outerShdw>
            </a:effectLst>
          </p:spPr>
          <p:txBody>
            <a:bodyPr/>
            <a:lstStyle/>
            <a:p>
              <a:endParaRPr lang="en-CA" sz="1500">
                <a:latin typeface="Montserrat" panose="00000500000000000000" pitchFamily="2" charset="0"/>
              </a:endParaRPr>
            </a:p>
          </p:txBody>
        </p:sp>
        <p:sp>
          <p:nvSpPr>
            <p:cNvPr id="42" name="Text 7">
              <a:extLst>
                <a:ext uri="{FF2B5EF4-FFF2-40B4-BE49-F238E27FC236}">
                  <a16:creationId xmlns:a16="http://schemas.microsoft.com/office/drawing/2014/main" id="{337878E0-03C4-8D30-261E-F2C7E44E6E90}"/>
                </a:ext>
              </a:extLst>
            </p:cNvPr>
            <p:cNvSpPr/>
            <p:nvPr/>
          </p:nvSpPr>
          <p:spPr>
            <a:xfrm>
              <a:off x="2852029" y="3106362"/>
              <a:ext cx="1463040" cy="822960"/>
            </a:xfrm>
            <a:prstGeom prst="rect">
              <a:avLst/>
            </a:prstGeom>
            <a:noFill/>
            <a:ln/>
          </p:spPr>
          <p:txBody>
            <a:bodyPr wrap="square" lIns="0" tIns="0" rIns="0" bIns="0" rtlCol="0" anchor="ctr"/>
            <a:lstStyle/>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Tokenization</a:t>
              </a:r>
              <a:endParaRPr lang="en-US" sz="1500" dirty="0">
                <a:solidFill>
                  <a:schemeClr val="bg1"/>
                </a:solidFill>
                <a:latin typeface="Montserrat" panose="00000500000000000000" pitchFamily="2" charset="0"/>
              </a:endParaRPr>
            </a:p>
          </p:txBody>
        </p:sp>
      </p:grpSp>
      <p:grpSp>
        <p:nvGrpSpPr>
          <p:cNvPr id="54" name="Group 53">
            <a:extLst>
              <a:ext uri="{FF2B5EF4-FFF2-40B4-BE49-F238E27FC236}">
                <a16:creationId xmlns:a16="http://schemas.microsoft.com/office/drawing/2014/main" id="{F25B377A-12B3-374A-B9B0-1DE76F27EBF1}"/>
              </a:ext>
            </a:extLst>
          </p:cNvPr>
          <p:cNvGrpSpPr/>
          <p:nvPr/>
        </p:nvGrpSpPr>
        <p:grpSpPr>
          <a:xfrm>
            <a:off x="5335415" y="1594732"/>
            <a:ext cx="1767595" cy="1106806"/>
            <a:chOff x="5211529" y="3106362"/>
            <a:chExt cx="1463040" cy="822960"/>
          </a:xfrm>
        </p:grpSpPr>
        <p:sp>
          <p:nvSpPr>
            <p:cNvPr id="44" name="Shape 9">
              <a:extLst>
                <a:ext uri="{FF2B5EF4-FFF2-40B4-BE49-F238E27FC236}">
                  <a16:creationId xmlns:a16="http://schemas.microsoft.com/office/drawing/2014/main" id="{F9495DF2-6B72-DC11-F966-F617FB863083}"/>
                </a:ext>
              </a:extLst>
            </p:cNvPr>
            <p:cNvSpPr/>
            <p:nvPr/>
          </p:nvSpPr>
          <p:spPr>
            <a:xfrm>
              <a:off x="5211529" y="3106362"/>
              <a:ext cx="1463040" cy="822960"/>
            </a:xfrm>
            <a:prstGeom prst="rect">
              <a:avLst/>
            </a:prstGeom>
            <a:solidFill>
              <a:schemeClr val="bg1">
                <a:lumMod val="65000"/>
              </a:schemeClr>
            </a:solidFill>
            <a:ln/>
            <a:effectLst>
              <a:outerShdw blurRad="76200" dist="25400" dir="8100000" algn="bl" rotWithShape="0">
                <a:srgbClr val="000000">
                  <a:alpha val="10000"/>
                </a:srgbClr>
              </a:outerShdw>
            </a:effectLst>
          </p:spPr>
          <p:txBody>
            <a:bodyPr/>
            <a:lstStyle/>
            <a:p>
              <a:endParaRPr lang="en-CA" sz="1500">
                <a:latin typeface="Montserrat" panose="00000500000000000000" pitchFamily="2" charset="0"/>
              </a:endParaRPr>
            </a:p>
          </p:txBody>
        </p:sp>
        <p:sp>
          <p:nvSpPr>
            <p:cNvPr id="45" name="Text 10">
              <a:extLst>
                <a:ext uri="{FF2B5EF4-FFF2-40B4-BE49-F238E27FC236}">
                  <a16:creationId xmlns:a16="http://schemas.microsoft.com/office/drawing/2014/main" id="{A53CA60A-8BA4-1D59-B5DF-55ACD20FF5E6}"/>
                </a:ext>
              </a:extLst>
            </p:cNvPr>
            <p:cNvSpPr/>
            <p:nvPr/>
          </p:nvSpPr>
          <p:spPr>
            <a:xfrm>
              <a:off x="5211529" y="3106362"/>
              <a:ext cx="1463040" cy="82296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anose="00000500000000000000" pitchFamily="2" charset="0"/>
                  <a:ea typeface="Calibri" pitchFamily="34" charset="-122"/>
                  <a:cs typeface="Calibri" pitchFamily="34" charset="-120"/>
                </a:rPr>
                <a:t>Transformer</a:t>
              </a:r>
              <a:endParaRPr lang="en-US" sz="1500" dirty="0">
                <a:latin typeface="Montserrat" panose="00000500000000000000" pitchFamily="2" charset="0"/>
              </a:endParaRPr>
            </a:p>
            <a:p>
              <a:pPr marL="0" indent="0" algn="ctr">
                <a:buNone/>
              </a:pPr>
              <a:r>
                <a:rPr lang="en-US" sz="1500" b="1" dirty="0">
                  <a:solidFill>
                    <a:srgbClr val="FFFFFF"/>
                  </a:solidFill>
                  <a:latin typeface="Montserrat" panose="00000500000000000000" pitchFamily="2" charset="0"/>
                  <a:ea typeface="Calibri" pitchFamily="34" charset="-122"/>
                  <a:cs typeface="Calibri" pitchFamily="34" charset="-120"/>
                </a:rPr>
                <a:t>Layers</a:t>
              </a:r>
              <a:endParaRPr lang="en-US" sz="1500" dirty="0">
                <a:latin typeface="Montserrat" panose="00000500000000000000" pitchFamily="2" charset="0"/>
              </a:endParaRPr>
            </a:p>
          </p:txBody>
        </p:sp>
      </p:grpSp>
      <p:grpSp>
        <p:nvGrpSpPr>
          <p:cNvPr id="56" name="Group 55">
            <a:extLst>
              <a:ext uri="{FF2B5EF4-FFF2-40B4-BE49-F238E27FC236}">
                <a16:creationId xmlns:a16="http://schemas.microsoft.com/office/drawing/2014/main" id="{AFD3396C-CF43-5051-2272-A895B0DD9FDF}"/>
              </a:ext>
            </a:extLst>
          </p:cNvPr>
          <p:cNvGrpSpPr/>
          <p:nvPr/>
        </p:nvGrpSpPr>
        <p:grpSpPr>
          <a:xfrm>
            <a:off x="10216570" y="1579642"/>
            <a:ext cx="1592895" cy="1063626"/>
            <a:chOff x="9587615" y="3106362"/>
            <a:chExt cx="1463040" cy="822960"/>
          </a:xfrm>
        </p:grpSpPr>
        <p:sp>
          <p:nvSpPr>
            <p:cNvPr id="50" name="Shape 15">
              <a:extLst>
                <a:ext uri="{FF2B5EF4-FFF2-40B4-BE49-F238E27FC236}">
                  <a16:creationId xmlns:a16="http://schemas.microsoft.com/office/drawing/2014/main" id="{C0885846-60E0-B3C1-4B12-5B73C191494F}"/>
                </a:ext>
              </a:extLst>
            </p:cNvPr>
            <p:cNvSpPr/>
            <p:nvPr/>
          </p:nvSpPr>
          <p:spPr>
            <a:xfrm>
              <a:off x="9587615" y="3106362"/>
              <a:ext cx="1463040" cy="822960"/>
            </a:xfrm>
            <a:prstGeom prst="rect">
              <a:avLst/>
            </a:prstGeom>
            <a:solidFill>
              <a:srgbClr val="0C1752"/>
            </a:solidFill>
            <a:ln/>
            <a:effectLst>
              <a:outerShdw blurRad="76200" dist="25400" dir="8100000" algn="bl" rotWithShape="0">
                <a:srgbClr val="000000">
                  <a:alpha val="10000"/>
                </a:srgbClr>
              </a:outerShdw>
            </a:effectLst>
          </p:spPr>
          <p:txBody>
            <a:bodyPr/>
            <a:lstStyle/>
            <a:p>
              <a:endParaRPr lang="en-CA" sz="1500">
                <a:latin typeface="Montserrat" panose="00000500000000000000" pitchFamily="2" charset="0"/>
              </a:endParaRPr>
            </a:p>
          </p:txBody>
        </p:sp>
        <p:sp>
          <p:nvSpPr>
            <p:cNvPr id="51" name="Text 16">
              <a:extLst>
                <a:ext uri="{FF2B5EF4-FFF2-40B4-BE49-F238E27FC236}">
                  <a16:creationId xmlns:a16="http://schemas.microsoft.com/office/drawing/2014/main" id="{F99321C7-9D83-B448-7D04-1089D52C04CD}"/>
                </a:ext>
              </a:extLst>
            </p:cNvPr>
            <p:cNvSpPr/>
            <p:nvPr/>
          </p:nvSpPr>
          <p:spPr>
            <a:xfrm>
              <a:off x="9587615" y="3106362"/>
              <a:ext cx="1463040" cy="822960"/>
            </a:xfrm>
            <a:prstGeom prst="rect">
              <a:avLst/>
            </a:prstGeom>
            <a:noFill/>
            <a:ln/>
          </p:spPr>
          <p:txBody>
            <a:bodyPr wrap="square" lIns="0" tIns="0" rIns="0" bIns="0" rtlCol="0" anchor="ctr"/>
            <a:lstStyle/>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Output</a:t>
              </a:r>
              <a:endParaRPr lang="en-US" sz="1500" dirty="0">
                <a:solidFill>
                  <a:schemeClr val="bg1"/>
                </a:solidFill>
                <a:latin typeface="Montserrat" panose="00000500000000000000" pitchFamily="2" charset="0"/>
              </a:endParaRPr>
            </a:p>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Token</a:t>
              </a:r>
              <a:endParaRPr lang="en-US" sz="1500" dirty="0">
                <a:solidFill>
                  <a:schemeClr val="bg1"/>
                </a:solidFill>
                <a:latin typeface="Montserrat" panose="00000500000000000000" pitchFamily="2" charset="0"/>
              </a:endParaRPr>
            </a:p>
          </p:txBody>
        </p:sp>
      </p:grpSp>
      <p:cxnSp>
        <p:nvCxnSpPr>
          <p:cNvPr id="58" name="Straight Arrow Connector 57">
            <a:extLst>
              <a:ext uri="{FF2B5EF4-FFF2-40B4-BE49-F238E27FC236}">
                <a16:creationId xmlns:a16="http://schemas.microsoft.com/office/drawing/2014/main" id="{434938F1-132C-6076-9875-A41507178671}"/>
              </a:ext>
            </a:extLst>
          </p:cNvPr>
          <p:cNvCxnSpPr>
            <a:cxnSpLocks/>
          </p:cNvCxnSpPr>
          <p:nvPr/>
        </p:nvCxnSpPr>
        <p:spPr>
          <a:xfrm>
            <a:off x="2039759" y="2126174"/>
            <a:ext cx="732315"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A2FAE960-A8FA-4C44-5957-107ACCC16467}"/>
              </a:ext>
            </a:extLst>
          </p:cNvPr>
          <p:cNvCxnSpPr>
            <a:cxnSpLocks/>
          </p:cNvCxnSpPr>
          <p:nvPr/>
        </p:nvCxnSpPr>
        <p:spPr>
          <a:xfrm>
            <a:off x="4539670" y="2111456"/>
            <a:ext cx="795745"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9CA3DBF8-7C1A-2B4C-AB5C-818068E9EEC7}"/>
              </a:ext>
            </a:extLst>
          </p:cNvPr>
          <p:cNvCxnSpPr>
            <a:cxnSpLocks/>
          </p:cNvCxnSpPr>
          <p:nvPr/>
        </p:nvCxnSpPr>
        <p:spPr>
          <a:xfrm>
            <a:off x="7103010" y="2090124"/>
            <a:ext cx="682036"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CFE2A7F8-4394-3DD9-7431-D032E487C742}"/>
              </a:ext>
            </a:extLst>
          </p:cNvPr>
          <p:cNvCxnSpPr>
            <a:cxnSpLocks/>
          </p:cNvCxnSpPr>
          <p:nvPr/>
        </p:nvCxnSpPr>
        <p:spPr>
          <a:xfrm>
            <a:off x="9561241" y="2067931"/>
            <a:ext cx="682036"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B880FA88-BBD5-292A-3B74-AE8C6C5DB66B}"/>
              </a:ext>
            </a:extLst>
          </p:cNvPr>
          <p:cNvGrpSpPr/>
          <p:nvPr/>
        </p:nvGrpSpPr>
        <p:grpSpPr>
          <a:xfrm>
            <a:off x="7785046" y="1579642"/>
            <a:ext cx="1821717" cy="1121895"/>
            <a:chOff x="7360383" y="3106362"/>
            <a:chExt cx="1463040" cy="822960"/>
          </a:xfrm>
        </p:grpSpPr>
        <p:sp>
          <p:nvSpPr>
            <p:cNvPr id="47" name="Shape 12">
              <a:extLst>
                <a:ext uri="{FF2B5EF4-FFF2-40B4-BE49-F238E27FC236}">
                  <a16:creationId xmlns:a16="http://schemas.microsoft.com/office/drawing/2014/main" id="{FB6ABA33-0629-59F3-40B1-E948735AEA9F}"/>
                </a:ext>
              </a:extLst>
            </p:cNvPr>
            <p:cNvSpPr/>
            <p:nvPr/>
          </p:nvSpPr>
          <p:spPr>
            <a:xfrm>
              <a:off x="7360383" y="3106362"/>
              <a:ext cx="1463040" cy="822960"/>
            </a:xfrm>
            <a:prstGeom prst="rect">
              <a:avLst/>
            </a:prstGeom>
            <a:solidFill>
              <a:srgbClr val="1BBFD1"/>
            </a:solidFill>
            <a:ln/>
            <a:effectLst>
              <a:outerShdw blurRad="76200" dist="25400" dir="8100000" algn="bl" rotWithShape="0">
                <a:srgbClr val="000000">
                  <a:alpha val="10000"/>
                </a:srgbClr>
              </a:outerShdw>
            </a:effectLst>
          </p:spPr>
          <p:txBody>
            <a:bodyPr/>
            <a:lstStyle/>
            <a:p>
              <a:endParaRPr lang="en-CA" sz="1500">
                <a:latin typeface="Montserrat" panose="00000500000000000000" pitchFamily="2" charset="0"/>
              </a:endParaRPr>
            </a:p>
          </p:txBody>
        </p:sp>
        <p:sp>
          <p:nvSpPr>
            <p:cNvPr id="48" name="Text 13">
              <a:extLst>
                <a:ext uri="{FF2B5EF4-FFF2-40B4-BE49-F238E27FC236}">
                  <a16:creationId xmlns:a16="http://schemas.microsoft.com/office/drawing/2014/main" id="{E5B2351A-8AAC-AE76-BD66-A8625263FEC2}"/>
                </a:ext>
              </a:extLst>
            </p:cNvPr>
            <p:cNvSpPr/>
            <p:nvPr/>
          </p:nvSpPr>
          <p:spPr>
            <a:xfrm>
              <a:off x="7360383" y="3106362"/>
              <a:ext cx="1463040" cy="822960"/>
            </a:xfrm>
            <a:prstGeom prst="rect">
              <a:avLst/>
            </a:prstGeom>
            <a:noFill/>
            <a:ln/>
          </p:spPr>
          <p:txBody>
            <a:bodyPr wrap="square" lIns="0" tIns="0" rIns="0" bIns="0" rtlCol="0" anchor="ctr"/>
            <a:lstStyle/>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Probability</a:t>
              </a:r>
              <a:endParaRPr lang="en-US" sz="1500" dirty="0">
                <a:solidFill>
                  <a:schemeClr val="bg1"/>
                </a:solidFill>
                <a:latin typeface="Montserrat" panose="00000500000000000000" pitchFamily="2" charset="0"/>
              </a:endParaRPr>
            </a:p>
            <a:p>
              <a:pPr marL="0" indent="0" algn="ctr">
                <a:buNone/>
              </a:pPr>
              <a:r>
                <a:rPr lang="en-US" sz="1500" b="1" dirty="0">
                  <a:solidFill>
                    <a:schemeClr val="bg1"/>
                  </a:solidFill>
                  <a:latin typeface="Montserrat" panose="00000500000000000000" pitchFamily="2" charset="0"/>
                  <a:ea typeface="Calibri" pitchFamily="34" charset="-122"/>
                  <a:cs typeface="Calibri" pitchFamily="34" charset="-120"/>
                </a:rPr>
                <a:t>Distribution</a:t>
              </a:r>
              <a:endParaRPr lang="en-US" sz="1500" dirty="0">
                <a:solidFill>
                  <a:schemeClr val="bg1"/>
                </a:solidFill>
                <a:latin typeface="Montserrat" panose="00000500000000000000" pitchFamily="2" charset="0"/>
              </a:endParaRPr>
            </a:p>
          </p:txBody>
        </p:sp>
      </p:grpSp>
    </p:spTree>
    <p:extLst>
      <p:ext uri="{BB962C8B-B14F-4D97-AF65-F5344CB8AC3E}">
        <p14:creationId xmlns:p14="http://schemas.microsoft.com/office/powerpoint/2010/main" val="3649809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10" presetClass="entr" presetSubtype="0" fill="hold" nodeType="withEffect">
                                  <p:stCondLst>
                                    <p:cond delay="0"/>
                                  </p:stCondLst>
                                  <p:childTnLst>
                                    <p:set>
                                      <p:cBhvr>
                                        <p:cTn id="9" dur="1" fill="hold">
                                          <p:stCondLst>
                                            <p:cond delay="0"/>
                                          </p:stCondLst>
                                        </p:cTn>
                                        <p:tgtEl>
                                          <p:spTgt spid="15">
                                            <p:txEl>
                                              <p:pRg st="0" end="0"/>
                                            </p:txEl>
                                          </p:spTgt>
                                        </p:tgtEl>
                                        <p:attrNameLst>
                                          <p:attrName>style.visibility</p:attrName>
                                        </p:attrNameLst>
                                      </p:cBhvr>
                                      <p:to>
                                        <p:strVal val="visible"/>
                                      </p:to>
                                    </p:set>
                                    <p:animEffect transition="in" filter="fade">
                                      <p:cBhvr>
                                        <p:cTn id="10" dur="500"/>
                                        <p:tgtEl>
                                          <p:spTgt spid="1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fade">
                                      <p:cBhvr>
                                        <p:cTn id="15" dur="500"/>
                                        <p:tgtEl>
                                          <p:spTgt spid="58"/>
                                        </p:tgtEl>
                                      </p:cBhvr>
                                    </p:animEffect>
                                  </p:childTnLst>
                                </p:cTn>
                              </p:par>
                              <p:par>
                                <p:cTn id="16" presetID="10" presetClass="entr" presetSubtype="0" fill="hold" nodeType="withEffect">
                                  <p:stCondLst>
                                    <p:cond delay="0"/>
                                  </p:stCondLst>
                                  <p:childTnLst>
                                    <p:set>
                                      <p:cBhvr>
                                        <p:cTn id="17" dur="1" fill="hold">
                                          <p:stCondLst>
                                            <p:cond delay="0"/>
                                          </p:stCondLst>
                                        </p:cTn>
                                        <p:tgtEl>
                                          <p:spTgt spid="53"/>
                                        </p:tgtEl>
                                        <p:attrNameLst>
                                          <p:attrName>style.visibility</p:attrName>
                                        </p:attrNameLst>
                                      </p:cBhvr>
                                      <p:to>
                                        <p:strVal val="visible"/>
                                      </p:to>
                                    </p:set>
                                    <p:animEffect transition="in" filter="fade">
                                      <p:cBhvr>
                                        <p:cTn id="18" dur="500"/>
                                        <p:tgtEl>
                                          <p:spTgt spid="53"/>
                                        </p:tgtEl>
                                      </p:cBhvr>
                                    </p:animEffect>
                                  </p:childTnLst>
                                </p:cTn>
                              </p:par>
                              <p:par>
                                <p:cTn id="19" presetID="10" presetClass="entr" presetSubtype="0" fill="hold" nodeType="withEffect">
                                  <p:stCondLst>
                                    <p:cond delay="0"/>
                                  </p:stCondLst>
                                  <p:childTnLst>
                                    <p:set>
                                      <p:cBhvr>
                                        <p:cTn id="20" dur="1" fill="hold">
                                          <p:stCondLst>
                                            <p:cond delay="0"/>
                                          </p:stCondLst>
                                        </p:cTn>
                                        <p:tgtEl>
                                          <p:spTgt spid="15">
                                            <p:txEl>
                                              <p:pRg st="1" end="1"/>
                                            </p:txEl>
                                          </p:spTgt>
                                        </p:tgtEl>
                                        <p:attrNameLst>
                                          <p:attrName>style.visibility</p:attrName>
                                        </p:attrNameLst>
                                      </p:cBhvr>
                                      <p:to>
                                        <p:strVal val="visible"/>
                                      </p:to>
                                    </p:set>
                                    <p:animEffect transition="in" filter="fade">
                                      <p:cBhvr>
                                        <p:cTn id="21" dur="500"/>
                                        <p:tgtEl>
                                          <p:spTgt spid="1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0"/>
                                        </p:tgtEl>
                                        <p:attrNameLst>
                                          <p:attrName>style.visibility</p:attrName>
                                        </p:attrNameLst>
                                      </p:cBhvr>
                                      <p:to>
                                        <p:strVal val="visible"/>
                                      </p:to>
                                    </p:set>
                                    <p:animEffect transition="in" filter="fade">
                                      <p:cBhvr>
                                        <p:cTn id="26" dur="500"/>
                                        <p:tgtEl>
                                          <p:spTgt spid="60"/>
                                        </p:tgtEl>
                                      </p:cBhvr>
                                    </p:animEffect>
                                  </p:childTnLst>
                                </p:cTn>
                              </p:par>
                              <p:par>
                                <p:cTn id="27" presetID="10" presetClass="entr" presetSubtype="0" fill="hold" nodeType="with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fade">
                                      <p:cBhvr>
                                        <p:cTn id="29" dur="500"/>
                                        <p:tgtEl>
                                          <p:spTgt spid="54"/>
                                        </p:tgtEl>
                                      </p:cBhvr>
                                    </p:animEffect>
                                  </p:childTnLst>
                                </p:cTn>
                              </p:par>
                              <p:par>
                                <p:cTn id="30" presetID="10" presetClass="entr" presetSubtype="0" fill="hold" nodeType="withEffect">
                                  <p:stCondLst>
                                    <p:cond delay="0"/>
                                  </p:stCondLst>
                                  <p:childTnLst>
                                    <p:set>
                                      <p:cBhvr>
                                        <p:cTn id="31" dur="1" fill="hold">
                                          <p:stCondLst>
                                            <p:cond delay="0"/>
                                          </p:stCondLst>
                                        </p:cTn>
                                        <p:tgtEl>
                                          <p:spTgt spid="15">
                                            <p:txEl>
                                              <p:pRg st="2" end="2"/>
                                            </p:txEl>
                                          </p:spTgt>
                                        </p:tgtEl>
                                        <p:attrNameLst>
                                          <p:attrName>style.visibility</p:attrName>
                                        </p:attrNameLst>
                                      </p:cBhvr>
                                      <p:to>
                                        <p:strVal val="visible"/>
                                      </p:to>
                                    </p:set>
                                    <p:animEffect transition="in" filter="fade">
                                      <p:cBhvr>
                                        <p:cTn id="32" dur="500"/>
                                        <p:tgtEl>
                                          <p:spTgt spid="15">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2"/>
                                        </p:tgtEl>
                                        <p:attrNameLst>
                                          <p:attrName>style.visibility</p:attrName>
                                        </p:attrNameLst>
                                      </p:cBhvr>
                                      <p:to>
                                        <p:strVal val="visible"/>
                                      </p:to>
                                    </p:set>
                                    <p:animEffect transition="in" filter="fade">
                                      <p:cBhvr>
                                        <p:cTn id="37" dur="500"/>
                                        <p:tgtEl>
                                          <p:spTgt spid="62"/>
                                        </p:tgtEl>
                                      </p:cBhvr>
                                    </p:animEffect>
                                  </p:childTnLst>
                                </p:cTn>
                              </p:par>
                              <p:par>
                                <p:cTn id="38" presetID="10" presetClass="entr" presetSubtype="0" fill="hold" nodeType="with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fade">
                                      <p:cBhvr>
                                        <p:cTn id="40" dur="500"/>
                                        <p:tgtEl>
                                          <p:spTgt spid="55"/>
                                        </p:tgtEl>
                                      </p:cBhvr>
                                    </p:animEffect>
                                  </p:childTnLst>
                                </p:cTn>
                              </p:par>
                              <p:par>
                                <p:cTn id="41" presetID="10" presetClass="entr" presetSubtype="0" fill="hold" nodeType="withEffect">
                                  <p:stCondLst>
                                    <p:cond delay="0"/>
                                  </p:stCondLst>
                                  <p:childTnLst>
                                    <p:set>
                                      <p:cBhvr>
                                        <p:cTn id="42" dur="1" fill="hold">
                                          <p:stCondLst>
                                            <p:cond delay="0"/>
                                          </p:stCondLst>
                                        </p:cTn>
                                        <p:tgtEl>
                                          <p:spTgt spid="15">
                                            <p:txEl>
                                              <p:pRg st="3" end="3"/>
                                            </p:txEl>
                                          </p:spTgt>
                                        </p:tgtEl>
                                        <p:attrNameLst>
                                          <p:attrName>style.visibility</p:attrName>
                                        </p:attrNameLst>
                                      </p:cBhvr>
                                      <p:to>
                                        <p:strVal val="visible"/>
                                      </p:to>
                                    </p:set>
                                    <p:animEffect transition="in" filter="fade">
                                      <p:cBhvr>
                                        <p:cTn id="43" dur="500"/>
                                        <p:tgtEl>
                                          <p:spTgt spid="15">
                                            <p:txEl>
                                              <p:pRg st="3" end="3"/>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500"/>
                                        <p:tgtEl>
                                          <p:spTgt spid="64"/>
                                        </p:tgtEl>
                                      </p:cBhvr>
                                    </p:animEffect>
                                  </p:childTnLst>
                                </p:cTn>
                              </p:par>
                              <p:par>
                                <p:cTn id="49" presetID="10" presetClass="entr" presetSubtype="0" fill="hold" nodeType="withEffect">
                                  <p:stCondLst>
                                    <p:cond delay="0"/>
                                  </p:stCondLst>
                                  <p:childTnLst>
                                    <p:set>
                                      <p:cBhvr>
                                        <p:cTn id="50" dur="1" fill="hold">
                                          <p:stCondLst>
                                            <p:cond delay="0"/>
                                          </p:stCondLst>
                                        </p:cTn>
                                        <p:tgtEl>
                                          <p:spTgt spid="56"/>
                                        </p:tgtEl>
                                        <p:attrNameLst>
                                          <p:attrName>style.visibility</p:attrName>
                                        </p:attrNameLst>
                                      </p:cBhvr>
                                      <p:to>
                                        <p:strVal val="visible"/>
                                      </p:to>
                                    </p:set>
                                    <p:animEffect transition="in" filter="fade">
                                      <p:cBhvr>
                                        <p:cTn id="51" dur="500"/>
                                        <p:tgtEl>
                                          <p:spTgt spid="56"/>
                                        </p:tgtEl>
                                      </p:cBhvr>
                                    </p:animEffect>
                                  </p:childTnLst>
                                </p:cTn>
                              </p:par>
                              <p:par>
                                <p:cTn id="52" presetID="10" presetClass="entr" presetSubtype="0" fill="hold" nodeType="withEffect">
                                  <p:stCondLst>
                                    <p:cond delay="0"/>
                                  </p:stCondLst>
                                  <p:childTnLst>
                                    <p:set>
                                      <p:cBhvr>
                                        <p:cTn id="53" dur="1" fill="hold">
                                          <p:stCondLst>
                                            <p:cond delay="0"/>
                                          </p:stCondLst>
                                        </p:cTn>
                                        <p:tgtEl>
                                          <p:spTgt spid="15">
                                            <p:txEl>
                                              <p:pRg st="4" end="4"/>
                                            </p:txEl>
                                          </p:spTgt>
                                        </p:tgtEl>
                                        <p:attrNameLst>
                                          <p:attrName>style.visibility</p:attrName>
                                        </p:attrNameLst>
                                      </p:cBhvr>
                                      <p:to>
                                        <p:strVal val="visible"/>
                                      </p:to>
                                    </p:set>
                                    <p:animEffect transition="in" filter="fade">
                                      <p:cBhvr>
                                        <p:cTn id="54"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689A3-6559-728A-89FE-3184C1689C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BD2D3AD-D426-E146-EBCF-D8692C0750E9}"/>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80DCD08-AF0F-41A5-0BBF-DF82AFCDC012}"/>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1450A713-AF78-C5F0-202C-604F8EC8605A}"/>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Tokens</a:t>
            </a:r>
          </a:p>
        </p:txBody>
      </p:sp>
      <p:sp>
        <p:nvSpPr>
          <p:cNvPr id="9" name="TextBox 8">
            <a:extLst>
              <a:ext uri="{FF2B5EF4-FFF2-40B4-BE49-F238E27FC236}">
                <a16:creationId xmlns:a16="http://schemas.microsoft.com/office/drawing/2014/main" id="{D3E74964-DD66-C32E-1465-EB6408FA4366}"/>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0" name="Rectangle 2">
            <a:extLst>
              <a:ext uri="{FF2B5EF4-FFF2-40B4-BE49-F238E27FC236}">
                <a16:creationId xmlns:a16="http://schemas.microsoft.com/office/drawing/2014/main" id="{849E045A-4275-E6D7-FBAB-8CB4626F6DDE}"/>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TextBox 2">
            <a:extLst>
              <a:ext uri="{FF2B5EF4-FFF2-40B4-BE49-F238E27FC236}">
                <a16:creationId xmlns:a16="http://schemas.microsoft.com/office/drawing/2014/main" id="{62600D81-CA4B-E4E5-B4AC-69B13CC8B695}"/>
              </a:ext>
            </a:extLst>
          </p:cNvPr>
          <p:cNvSpPr txBox="1"/>
          <p:nvPr/>
        </p:nvSpPr>
        <p:spPr>
          <a:xfrm>
            <a:off x="222159" y="865898"/>
            <a:ext cx="11780457" cy="1569660"/>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Tokens are chunks of text, typically words, </a:t>
            </a:r>
            <a:r>
              <a:rPr lang="en-US" sz="1600" dirty="0" err="1">
                <a:latin typeface="Montserrat" panose="00000500000000000000" pitchFamily="2" charset="0"/>
              </a:rPr>
              <a:t>subwords</a:t>
            </a:r>
            <a:r>
              <a:rPr lang="en-US" sz="1600" dirty="0">
                <a:latin typeface="Montserrat" panose="00000500000000000000" pitchFamily="2" charset="0"/>
              </a:rPr>
              <a:t>, or characters, that the model uses to process and generate language. Understanding tokens is key to managing costs and context limits.</a:t>
            </a:r>
          </a:p>
          <a:p>
            <a:pPr marL="285750" indent="-285750">
              <a:buFont typeface="Arial" panose="020B0604020202020204" pitchFamily="34" charset="0"/>
              <a:buChar char="•"/>
            </a:pPr>
            <a:r>
              <a:rPr lang="en-US" sz="1600" dirty="0">
                <a:latin typeface="Montserrat" panose="00000500000000000000" pitchFamily="2" charset="0"/>
              </a:rPr>
              <a:t>The model doesn't "read" text like humans do. Instead, a tokenizer breaks down the input into these tokens and converts them into numerical IDs the model can understand.</a:t>
            </a:r>
          </a:p>
          <a:p>
            <a:pPr marL="285750" indent="-285750">
              <a:buFont typeface="Arial" panose="020B0604020202020204" pitchFamily="34" charset="0"/>
              <a:buChar char="•"/>
            </a:pPr>
            <a:r>
              <a:rPr lang="en-US" sz="1600" dirty="0">
                <a:latin typeface="Montserrat" panose="00000500000000000000" pitchFamily="2" charset="0"/>
              </a:rPr>
              <a:t>The model then learns relationships between these tokens to predict the next one in a sequence.</a:t>
            </a:r>
          </a:p>
          <a:p>
            <a:pPr marL="285750" indent="-285750">
              <a:buFont typeface="Arial" panose="020B0604020202020204" pitchFamily="34" charset="0"/>
              <a:buChar char="•"/>
            </a:pPr>
            <a:r>
              <a:rPr lang="en-US" sz="1600" dirty="0">
                <a:latin typeface="Montserrat" panose="00000500000000000000" pitchFamily="2" charset="0"/>
              </a:rPr>
              <a:t>Check OpenAI's Tokenizers here: </a:t>
            </a:r>
            <a:r>
              <a:rPr lang="en-US" sz="1600" dirty="0">
                <a:latin typeface="Montserrat" panose="00000500000000000000" pitchFamily="2" charset="0"/>
                <a:hlinkClick r:id="rId4"/>
              </a:rPr>
              <a:t>https://platform.openai.com/tokenizer</a:t>
            </a:r>
            <a:endParaRPr lang="en-US" sz="1600" dirty="0">
              <a:latin typeface="Montserrat" panose="00000500000000000000" pitchFamily="2" charset="0"/>
            </a:endParaRPr>
          </a:p>
        </p:txBody>
      </p:sp>
      <p:sp>
        <p:nvSpPr>
          <p:cNvPr id="17" name="Shape 4">
            <a:extLst>
              <a:ext uri="{FF2B5EF4-FFF2-40B4-BE49-F238E27FC236}">
                <a16:creationId xmlns:a16="http://schemas.microsoft.com/office/drawing/2014/main" id="{31C23C73-C6C2-9910-077C-2EDEB9D1332E}"/>
              </a:ext>
            </a:extLst>
          </p:cNvPr>
          <p:cNvSpPr/>
          <p:nvPr/>
        </p:nvSpPr>
        <p:spPr>
          <a:xfrm>
            <a:off x="2016042" y="2592598"/>
            <a:ext cx="8046720" cy="1188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800">
              <a:latin typeface="Montserrat" panose="00000500000000000000" pitchFamily="2" charset="0"/>
            </a:endParaRPr>
          </a:p>
        </p:txBody>
      </p:sp>
      <p:sp>
        <p:nvSpPr>
          <p:cNvPr id="18" name="Text 5">
            <a:extLst>
              <a:ext uri="{FF2B5EF4-FFF2-40B4-BE49-F238E27FC236}">
                <a16:creationId xmlns:a16="http://schemas.microsoft.com/office/drawing/2014/main" id="{23729B43-D62C-F752-651C-F2258B2F05B8}"/>
              </a:ext>
            </a:extLst>
          </p:cNvPr>
          <p:cNvSpPr/>
          <p:nvPr/>
        </p:nvSpPr>
        <p:spPr>
          <a:xfrm>
            <a:off x="2198922" y="2638318"/>
            <a:ext cx="1828800" cy="320040"/>
          </a:xfrm>
          <a:prstGeom prst="rect">
            <a:avLst/>
          </a:prstGeom>
          <a:noFill/>
          <a:ln/>
        </p:spPr>
        <p:txBody>
          <a:bodyPr wrap="square" lIns="0" tIns="0" rIns="0" bIns="0" rtlCol="0" anchor="ctr"/>
          <a:lstStyle/>
          <a:p>
            <a:pPr marL="0" indent="0">
              <a:buNone/>
            </a:pPr>
            <a:r>
              <a:rPr lang="en-US" b="1" dirty="0">
                <a:solidFill>
                  <a:srgbClr val="0C1752"/>
                </a:solidFill>
                <a:latin typeface="Montserrat" panose="00000500000000000000" pitchFamily="2" charset="0"/>
                <a:ea typeface="Calibri" pitchFamily="34" charset="-122"/>
                <a:cs typeface="Calibri" pitchFamily="34" charset="-120"/>
              </a:rPr>
              <a:t>Example</a:t>
            </a:r>
            <a:endParaRPr lang="en-US" dirty="0">
              <a:solidFill>
                <a:srgbClr val="0C1752"/>
              </a:solidFill>
              <a:latin typeface="Montserrat" panose="00000500000000000000" pitchFamily="2" charset="0"/>
            </a:endParaRPr>
          </a:p>
        </p:txBody>
      </p:sp>
      <p:sp>
        <p:nvSpPr>
          <p:cNvPr id="19" name="Text 6">
            <a:extLst>
              <a:ext uri="{FF2B5EF4-FFF2-40B4-BE49-F238E27FC236}">
                <a16:creationId xmlns:a16="http://schemas.microsoft.com/office/drawing/2014/main" id="{20B5A196-9D4D-D35D-4C61-47D8E282F25D}"/>
              </a:ext>
            </a:extLst>
          </p:cNvPr>
          <p:cNvSpPr/>
          <p:nvPr/>
        </p:nvSpPr>
        <p:spPr>
          <a:xfrm>
            <a:off x="2198922" y="2958358"/>
            <a:ext cx="7680960" cy="731520"/>
          </a:xfrm>
          <a:prstGeom prst="rect">
            <a:avLst/>
          </a:prstGeom>
          <a:noFill/>
          <a:ln/>
        </p:spPr>
        <p:txBody>
          <a:bodyPr wrap="square" lIns="0" tIns="0" rIns="0" bIns="0" rtlCol="0" anchor="ctr"/>
          <a:lstStyle/>
          <a:p>
            <a:r>
              <a:rPr lang="en-US" sz="2000" b="1" dirty="0">
                <a:solidFill>
                  <a:srgbClr val="1B2A4A"/>
                </a:solidFill>
                <a:latin typeface="Montserrat" panose="00000500000000000000" pitchFamily="2" charset="0"/>
                <a:ea typeface="Consolas" pitchFamily="34" charset="-122"/>
                <a:cs typeface="Consolas" pitchFamily="34" charset="-120"/>
              </a:rPr>
              <a:t>"Welcome to the Bootcamp!"</a:t>
            </a:r>
            <a:endParaRPr lang="en-US" sz="2000" dirty="0">
              <a:latin typeface="Montserrat" panose="00000500000000000000" pitchFamily="2" charset="0"/>
            </a:endParaRPr>
          </a:p>
          <a:p>
            <a:pPr marL="0" indent="0">
              <a:buNone/>
            </a:pPr>
            <a:r>
              <a:rPr lang="en-US" dirty="0">
                <a:solidFill>
                  <a:srgbClr val="D56E48"/>
                </a:solidFill>
                <a:latin typeface="Montserrat" panose="00000500000000000000" pitchFamily="2" charset="0"/>
                <a:ea typeface="Consolas" pitchFamily="34" charset="-122"/>
                <a:cs typeface="Consolas" pitchFamily="34" charset="-120"/>
              </a:rPr>
              <a:t>→  [“Welcome", “to", " the", " Boot", " camp", " !"]  =  6 tokens</a:t>
            </a:r>
            <a:endParaRPr lang="en-US" sz="2000" dirty="0">
              <a:solidFill>
                <a:srgbClr val="D56E48"/>
              </a:solidFill>
              <a:latin typeface="Montserrat" panose="00000500000000000000" pitchFamily="2" charset="0"/>
            </a:endParaRPr>
          </a:p>
        </p:txBody>
      </p:sp>
      <p:sp>
        <p:nvSpPr>
          <p:cNvPr id="21" name="Shape 7">
            <a:extLst>
              <a:ext uri="{FF2B5EF4-FFF2-40B4-BE49-F238E27FC236}">
                <a16:creationId xmlns:a16="http://schemas.microsoft.com/office/drawing/2014/main" id="{BD513371-D5AB-6D12-97E5-B993307C9C02}"/>
              </a:ext>
            </a:extLst>
          </p:cNvPr>
          <p:cNvSpPr/>
          <p:nvPr/>
        </p:nvSpPr>
        <p:spPr>
          <a:xfrm>
            <a:off x="639875" y="4310142"/>
            <a:ext cx="2560320" cy="1815882"/>
          </a:xfrm>
          <a:prstGeom prst="rect">
            <a:avLst/>
          </a:prstGeom>
          <a:solidFill>
            <a:srgbClr val="0C1752"/>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22" name="Text 8">
            <a:extLst>
              <a:ext uri="{FF2B5EF4-FFF2-40B4-BE49-F238E27FC236}">
                <a16:creationId xmlns:a16="http://schemas.microsoft.com/office/drawing/2014/main" id="{4ED03A90-4A6F-A3A2-AA20-66607E832EEF}"/>
              </a:ext>
            </a:extLst>
          </p:cNvPr>
          <p:cNvSpPr/>
          <p:nvPr/>
        </p:nvSpPr>
        <p:spPr>
          <a:xfrm>
            <a:off x="639875" y="4487625"/>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~1 token</a:t>
            </a:r>
            <a:endParaRPr lang="en-US" sz="3200" dirty="0">
              <a:solidFill>
                <a:schemeClr val="bg1"/>
              </a:solidFill>
              <a:latin typeface="Montserrat" panose="00000500000000000000" pitchFamily="2" charset="0"/>
            </a:endParaRPr>
          </a:p>
        </p:txBody>
      </p:sp>
      <p:sp>
        <p:nvSpPr>
          <p:cNvPr id="23" name="Text 9">
            <a:extLst>
              <a:ext uri="{FF2B5EF4-FFF2-40B4-BE49-F238E27FC236}">
                <a16:creationId xmlns:a16="http://schemas.microsoft.com/office/drawing/2014/main" id="{FFBEA5F5-A45F-0ED9-0C16-FC37FDC1C3E9}"/>
              </a:ext>
            </a:extLst>
          </p:cNvPr>
          <p:cNvSpPr/>
          <p:nvPr/>
        </p:nvSpPr>
        <p:spPr>
          <a:xfrm>
            <a:off x="639875" y="5325550"/>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4 characters</a:t>
            </a:r>
            <a:endParaRPr lang="en-US" dirty="0">
              <a:solidFill>
                <a:schemeClr val="bg1"/>
              </a:solidFill>
              <a:latin typeface="Montserrat" panose="00000500000000000000" pitchFamily="2" charset="0"/>
            </a:endParaRP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in English</a:t>
            </a:r>
            <a:endParaRPr lang="en-US" dirty="0">
              <a:solidFill>
                <a:schemeClr val="bg1"/>
              </a:solidFill>
              <a:latin typeface="Montserrat" panose="00000500000000000000" pitchFamily="2" charset="0"/>
            </a:endParaRPr>
          </a:p>
        </p:txBody>
      </p:sp>
      <p:sp>
        <p:nvSpPr>
          <p:cNvPr id="24" name="Shape 10">
            <a:extLst>
              <a:ext uri="{FF2B5EF4-FFF2-40B4-BE49-F238E27FC236}">
                <a16:creationId xmlns:a16="http://schemas.microsoft.com/office/drawing/2014/main" id="{8DA52108-45DA-003C-90C0-A40BCCC8165A}"/>
              </a:ext>
            </a:extLst>
          </p:cNvPr>
          <p:cNvSpPr/>
          <p:nvPr/>
        </p:nvSpPr>
        <p:spPr>
          <a:xfrm>
            <a:off x="4759242" y="4300033"/>
            <a:ext cx="2560320" cy="1809893"/>
          </a:xfrm>
          <a:prstGeom prst="rect">
            <a:avLst/>
          </a:prstGeom>
          <a:solidFill>
            <a:srgbClr val="D56E48"/>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25" name="Text 11">
            <a:extLst>
              <a:ext uri="{FF2B5EF4-FFF2-40B4-BE49-F238E27FC236}">
                <a16:creationId xmlns:a16="http://schemas.microsoft.com/office/drawing/2014/main" id="{B726CCFD-7E6D-5939-861D-E5A2C84A6192}"/>
              </a:ext>
            </a:extLst>
          </p:cNvPr>
          <p:cNvSpPr/>
          <p:nvPr/>
        </p:nvSpPr>
        <p:spPr>
          <a:xfrm>
            <a:off x="4759242" y="4457073"/>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~750</a:t>
            </a:r>
            <a:endParaRPr lang="en-US" sz="3200" dirty="0">
              <a:solidFill>
                <a:schemeClr val="bg1"/>
              </a:solidFill>
              <a:latin typeface="Montserrat" panose="00000500000000000000" pitchFamily="2" charset="0"/>
            </a:endParaRPr>
          </a:p>
        </p:txBody>
      </p:sp>
      <p:sp>
        <p:nvSpPr>
          <p:cNvPr id="26" name="Text 12">
            <a:extLst>
              <a:ext uri="{FF2B5EF4-FFF2-40B4-BE49-F238E27FC236}">
                <a16:creationId xmlns:a16="http://schemas.microsoft.com/office/drawing/2014/main" id="{9C499881-0EE5-069B-14FD-CD64CD12201F}"/>
              </a:ext>
            </a:extLst>
          </p:cNvPr>
          <p:cNvSpPr/>
          <p:nvPr/>
        </p:nvSpPr>
        <p:spPr>
          <a:xfrm>
            <a:off x="4853932" y="5283014"/>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words per</a:t>
            </a:r>
            <a:endParaRPr lang="en-US" dirty="0">
              <a:solidFill>
                <a:schemeClr val="bg1"/>
              </a:solidFill>
              <a:latin typeface="Montserrat" panose="00000500000000000000" pitchFamily="2" charset="0"/>
            </a:endParaRP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1,000 tokens</a:t>
            </a:r>
            <a:endParaRPr lang="en-US" dirty="0">
              <a:solidFill>
                <a:schemeClr val="bg1"/>
              </a:solidFill>
              <a:latin typeface="Montserrat" panose="00000500000000000000" pitchFamily="2" charset="0"/>
            </a:endParaRPr>
          </a:p>
        </p:txBody>
      </p:sp>
      <p:sp>
        <p:nvSpPr>
          <p:cNvPr id="27" name="Shape 13">
            <a:extLst>
              <a:ext uri="{FF2B5EF4-FFF2-40B4-BE49-F238E27FC236}">
                <a16:creationId xmlns:a16="http://schemas.microsoft.com/office/drawing/2014/main" id="{E9833D4C-2354-5193-4BF4-1A16BA2FDB52}"/>
              </a:ext>
            </a:extLst>
          </p:cNvPr>
          <p:cNvSpPr/>
          <p:nvPr/>
        </p:nvSpPr>
        <p:spPr>
          <a:xfrm>
            <a:off x="8782602" y="4305474"/>
            <a:ext cx="2560320" cy="1815882"/>
          </a:xfrm>
          <a:prstGeom prst="rect">
            <a:avLst/>
          </a:prstGeom>
          <a:solidFill>
            <a:schemeClr val="bg1">
              <a:lumMod val="65000"/>
            </a:schemeClr>
          </a:solidFill>
          <a:ln/>
          <a:effectLst>
            <a:outerShdw blurRad="76200" dist="25400" dir="8100000" algn="bl" rotWithShape="0">
              <a:srgbClr val="000000">
                <a:alpha val="10000"/>
              </a:srgbClr>
            </a:outerShdw>
          </a:effectLst>
        </p:spPr>
        <p:txBody>
          <a:bodyPr/>
          <a:lstStyle/>
          <a:p>
            <a:endParaRPr lang="en-CA" sz="2400">
              <a:solidFill>
                <a:schemeClr val="bg1">
                  <a:lumMod val="65000"/>
                </a:schemeClr>
              </a:solidFill>
              <a:latin typeface="Montserrat" panose="00000500000000000000" pitchFamily="2" charset="0"/>
            </a:endParaRPr>
          </a:p>
        </p:txBody>
      </p:sp>
      <p:sp>
        <p:nvSpPr>
          <p:cNvPr id="28" name="Text 14">
            <a:extLst>
              <a:ext uri="{FF2B5EF4-FFF2-40B4-BE49-F238E27FC236}">
                <a16:creationId xmlns:a16="http://schemas.microsoft.com/office/drawing/2014/main" id="{5B3689BE-CC37-173A-E740-901F34C2892E}"/>
              </a:ext>
            </a:extLst>
          </p:cNvPr>
          <p:cNvSpPr/>
          <p:nvPr/>
        </p:nvSpPr>
        <p:spPr>
          <a:xfrm>
            <a:off x="8782602" y="4426080"/>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1M tokens</a:t>
            </a:r>
            <a:endParaRPr lang="en-US" sz="3200" dirty="0">
              <a:solidFill>
                <a:schemeClr val="bg1"/>
              </a:solidFill>
              <a:latin typeface="Montserrat" panose="00000500000000000000" pitchFamily="2" charset="0"/>
            </a:endParaRPr>
          </a:p>
        </p:txBody>
      </p:sp>
      <p:sp>
        <p:nvSpPr>
          <p:cNvPr id="29" name="Text 15">
            <a:extLst>
              <a:ext uri="{FF2B5EF4-FFF2-40B4-BE49-F238E27FC236}">
                <a16:creationId xmlns:a16="http://schemas.microsoft.com/office/drawing/2014/main" id="{7EEE39C7-959C-8FE1-4346-C38618823E65}"/>
              </a:ext>
            </a:extLst>
          </p:cNvPr>
          <p:cNvSpPr/>
          <p:nvPr/>
        </p:nvSpPr>
        <p:spPr>
          <a:xfrm>
            <a:off x="8782602" y="5102918"/>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Entire works of Shakespeare OR </a:t>
            </a: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8 full-length novels</a:t>
            </a:r>
            <a:endParaRPr lang="en-US"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388712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5B119-793C-0FDF-C32E-5F9DDE91E1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9267E8-8584-BDA9-D39B-300EAC7A87B4}"/>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92872C3-0E9D-1C5F-A116-5900D1DCADC0}"/>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AADF091B-9C17-B638-40BA-5AE0C84FB81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Understanding Tokens </a:t>
            </a:r>
          </a:p>
        </p:txBody>
      </p:sp>
      <p:sp>
        <p:nvSpPr>
          <p:cNvPr id="9" name="TextBox 8">
            <a:extLst>
              <a:ext uri="{FF2B5EF4-FFF2-40B4-BE49-F238E27FC236}">
                <a16:creationId xmlns:a16="http://schemas.microsoft.com/office/drawing/2014/main" id="{62AC4715-593F-BF2A-1E8F-7A0FF7951D7B}"/>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B431A747-CE62-D3DB-6E1D-A991DED273B4}"/>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E4E95363-7C0B-15FF-C8BD-02853A7DEC97}"/>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TextBox 2">
            <a:extLst>
              <a:ext uri="{FF2B5EF4-FFF2-40B4-BE49-F238E27FC236}">
                <a16:creationId xmlns:a16="http://schemas.microsoft.com/office/drawing/2014/main" id="{560A6279-38FB-B7CB-89A2-84DEBF975B7E}"/>
              </a:ext>
            </a:extLst>
          </p:cNvPr>
          <p:cNvSpPr txBox="1"/>
          <p:nvPr/>
        </p:nvSpPr>
        <p:spPr>
          <a:xfrm>
            <a:off x="153409" y="907669"/>
            <a:ext cx="8905799" cy="3046988"/>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Use the </a:t>
            </a:r>
            <a:r>
              <a:rPr lang="en-US" sz="1600" dirty="0">
                <a:latin typeface="Montserrat" panose="00000500000000000000" pitchFamily="2" charset="0"/>
                <a:hlinkClick r:id="rId4"/>
              </a:rPr>
              <a:t>OpenAI Tokenizer Tool </a:t>
            </a:r>
            <a:r>
              <a:rPr lang="en-US" sz="1600" dirty="0">
                <a:latin typeface="Montserrat" panose="00000500000000000000" pitchFamily="2" charset="0"/>
              </a:rPr>
              <a:t>to analyze the following two prompts. Record the number of tokens for each of the following examples:</a:t>
            </a:r>
          </a:p>
          <a:p>
            <a:pPr marL="742950" lvl="1" indent="-285750">
              <a:buFont typeface="Courier New" panose="02070309020205020404" pitchFamily="49" charset="0"/>
              <a:buChar char="o"/>
            </a:pPr>
            <a:r>
              <a:rPr lang="en-US" sz="1600" i="1" dirty="0">
                <a:latin typeface="Montserrat" panose="00000500000000000000" pitchFamily="2" charset="0"/>
              </a:rPr>
              <a:t>Example 1: "Explain the difference between supervised and unsupervised learning in AI."</a:t>
            </a:r>
          </a:p>
          <a:p>
            <a:pPr marL="742950" lvl="1" indent="-285750">
              <a:buFont typeface="Courier New" panose="02070309020205020404" pitchFamily="49" charset="0"/>
              <a:buChar char="o"/>
            </a:pPr>
            <a:r>
              <a:rPr lang="en-US" sz="1600" i="1" dirty="0">
                <a:latin typeface="Montserrat" panose="00000500000000000000" pitchFamily="2" charset="0"/>
              </a:rPr>
              <a:t>Example 2: "Please explain the difference between supervised and unsupervised learning in AI. Thank You."</a:t>
            </a:r>
          </a:p>
          <a:p>
            <a:pPr marL="285750" indent="-285750">
              <a:buFont typeface="Arial" panose="020B0604020202020204" pitchFamily="34" charset="0"/>
              <a:buChar char="•"/>
            </a:pPr>
            <a:r>
              <a:rPr lang="en-US" sz="1600" dirty="0">
                <a:latin typeface="Montserrat" panose="00000500000000000000" pitchFamily="2" charset="0"/>
              </a:rPr>
              <a:t>Which sentence had more tokens?</a:t>
            </a:r>
          </a:p>
          <a:p>
            <a:pPr marL="285750" indent="-285750">
              <a:buFont typeface="Arial" panose="020B0604020202020204" pitchFamily="34" charset="0"/>
              <a:buChar char="•"/>
            </a:pPr>
            <a:r>
              <a:rPr lang="en-US" sz="1600" dirty="0">
                <a:latin typeface="Montserrat" panose="00000500000000000000" pitchFamily="2" charset="0"/>
              </a:rPr>
              <a:t>Reflect: Sam Altman once mentioned that people typing “thank you” and "please" to ChatGPT cost OpenAI millions of dollars. What does this tell you about the importance of token efficiency when designing prompts or building tools? (</a:t>
            </a:r>
            <a:r>
              <a:rPr lang="en-US" sz="1600" dirty="0">
                <a:latin typeface="Montserrat" panose="00000500000000000000" pitchFamily="2" charset="0"/>
                <a:hlinkClick r:id="rId5"/>
              </a:rPr>
              <a:t>https://futurism.com/altman-please-thanks-chatgpt</a:t>
            </a:r>
            <a:r>
              <a:rPr lang="en-US" sz="1600" dirty="0">
                <a:latin typeface="Montserrat" panose="00000500000000000000" pitchFamily="2" charset="0"/>
              </a:rPr>
              <a:t>)</a:t>
            </a:r>
          </a:p>
          <a:p>
            <a:endParaRPr lang="en-US" sz="1400" dirty="0">
              <a:latin typeface="Montserrat" panose="00000500000000000000" pitchFamily="2" charset="0"/>
            </a:endParaRPr>
          </a:p>
        </p:txBody>
      </p:sp>
      <p:pic>
        <p:nvPicPr>
          <p:cNvPr id="2" name="Picture 1">
            <a:extLst>
              <a:ext uri="{FF2B5EF4-FFF2-40B4-BE49-F238E27FC236}">
                <a16:creationId xmlns:a16="http://schemas.microsoft.com/office/drawing/2014/main" id="{CA27231B-FFAA-F14A-02D5-B1871A7DECF8}"/>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8998545" y="747334"/>
            <a:ext cx="3060152" cy="2421464"/>
          </a:xfrm>
          <a:prstGeom prst="rect">
            <a:avLst/>
          </a:prstGeom>
        </p:spPr>
      </p:pic>
    </p:spTree>
    <p:extLst>
      <p:ext uri="{BB962C8B-B14F-4D97-AF65-F5344CB8AC3E}">
        <p14:creationId xmlns:p14="http://schemas.microsoft.com/office/powerpoint/2010/main" val="2907660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945B-9AC5-9655-1F3F-BA8913D45B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780441-8869-1559-1FBA-4AE9F8E4DA82}"/>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5E594419-2D55-73D1-796E-0D29D1F00F5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BC95098-DA5D-8E90-AA7A-9EE94D9F06F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sp>
        <p:nvSpPr>
          <p:cNvPr id="9" name="TextBox 8">
            <a:extLst>
              <a:ext uri="{FF2B5EF4-FFF2-40B4-BE49-F238E27FC236}">
                <a16:creationId xmlns:a16="http://schemas.microsoft.com/office/drawing/2014/main" id="{99A51415-D902-DB72-57F4-B249C4FB9E2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1D2F54A1-A847-84F9-E14D-28C0FDD23C3B}"/>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1133437D-8854-84C2-795A-FA3A35919691}"/>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pic>
        <p:nvPicPr>
          <p:cNvPr id="2" name="Picture 1">
            <a:extLst>
              <a:ext uri="{FF2B5EF4-FFF2-40B4-BE49-F238E27FC236}">
                <a16:creationId xmlns:a16="http://schemas.microsoft.com/office/drawing/2014/main" id="{27641939-3BD4-782F-1EC6-3078BEAB473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998545" y="747334"/>
            <a:ext cx="3060152" cy="2421464"/>
          </a:xfrm>
          <a:prstGeom prst="rect">
            <a:avLst/>
          </a:prstGeom>
        </p:spPr>
      </p:pic>
      <p:pic>
        <p:nvPicPr>
          <p:cNvPr id="11" name="Picture 10">
            <a:extLst>
              <a:ext uri="{FF2B5EF4-FFF2-40B4-BE49-F238E27FC236}">
                <a16:creationId xmlns:a16="http://schemas.microsoft.com/office/drawing/2014/main" id="{4EC9C979-DB65-0995-7B76-86C67FEFB6A7}"/>
              </a:ext>
            </a:extLst>
          </p:cNvPr>
          <p:cNvPicPr>
            <a:picLocks noChangeAspect="1"/>
          </p:cNvPicPr>
          <p:nvPr/>
        </p:nvPicPr>
        <p:blipFill>
          <a:blip r:embed="rId5"/>
          <a:stretch>
            <a:fillRect/>
          </a:stretch>
        </p:blipFill>
        <p:spPr>
          <a:xfrm>
            <a:off x="164684" y="1017178"/>
            <a:ext cx="4317272" cy="3766391"/>
          </a:xfrm>
          <a:prstGeom prst="rect">
            <a:avLst/>
          </a:prstGeom>
        </p:spPr>
      </p:pic>
      <p:pic>
        <p:nvPicPr>
          <p:cNvPr id="13" name="Picture 12">
            <a:extLst>
              <a:ext uri="{FF2B5EF4-FFF2-40B4-BE49-F238E27FC236}">
                <a16:creationId xmlns:a16="http://schemas.microsoft.com/office/drawing/2014/main" id="{84B6D989-F72A-F660-79AF-F662FCF47299}"/>
              </a:ext>
            </a:extLst>
          </p:cNvPr>
          <p:cNvPicPr>
            <a:picLocks noChangeAspect="1"/>
          </p:cNvPicPr>
          <p:nvPr/>
        </p:nvPicPr>
        <p:blipFill>
          <a:blip r:embed="rId6"/>
          <a:stretch>
            <a:fillRect/>
          </a:stretch>
        </p:blipFill>
        <p:spPr>
          <a:xfrm>
            <a:off x="4793157" y="1094367"/>
            <a:ext cx="4359232" cy="3689202"/>
          </a:xfrm>
          <a:prstGeom prst="rect">
            <a:avLst/>
          </a:prstGeom>
        </p:spPr>
      </p:pic>
    </p:spTree>
    <p:extLst>
      <p:ext uri="{BB962C8B-B14F-4D97-AF65-F5344CB8AC3E}">
        <p14:creationId xmlns:p14="http://schemas.microsoft.com/office/powerpoint/2010/main" val="321075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463F-A36F-9D61-D6D8-1013AE178C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2AAAD86-EB35-9870-30A8-58B09EAD1987}"/>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D9243261-24CC-1DB6-3324-09D8C77FE3FE}"/>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643021B-60C5-6942-2743-AE2A01F0865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The Context Window</a:t>
            </a:r>
          </a:p>
        </p:txBody>
      </p:sp>
      <p:sp>
        <p:nvSpPr>
          <p:cNvPr id="9" name="TextBox 8">
            <a:extLst>
              <a:ext uri="{FF2B5EF4-FFF2-40B4-BE49-F238E27FC236}">
                <a16:creationId xmlns:a16="http://schemas.microsoft.com/office/drawing/2014/main" id="{8F50E4DC-B747-2EB2-513C-BC3DCE653F9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95177514-1B9F-9486-2153-F8522FC5FDF5}"/>
              </a:ext>
            </a:extLst>
          </p:cNvPr>
          <p:cNvSpPr txBox="1"/>
          <p:nvPr/>
        </p:nvSpPr>
        <p:spPr>
          <a:xfrm>
            <a:off x="189384" y="871861"/>
            <a:ext cx="11780457" cy="1979233"/>
          </a:xfrm>
          <a:prstGeom prst="rect">
            <a:avLst/>
          </a:prstGeom>
        </p:spPr>
        <p:txBody>
          <a:bodyPr vert="horz" lIns="91440" tIns="45720" rIns="91440" bIns="45720" rtlCol="0">
            <a:norm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r>
              <a:rPr lang="en-US" sz="1700" dirty="0"/>
              <a:t>The context window is the maximum number of tokens an LLM can process in a single interaction including both input and output. It defines how much information the model can "see" at once.</a:t>
            </a:r>
          </a:p>
          <a:p>
            <a:endParaRPr lang="en-US" sz="1700" dirty="0"/>
          </a:p>
        </p:txBody>
      </p:sp>
      <p:sp>
        <p:nvSpPr>
          <p:cNvPr id="20" name="Rectangle 2">
            <a:extLst>
              <a:ext uri="{FF2B5EF4-FFF2-40B4-BE49-F238E27FC236}">
                <a16:creationId xmlns:a16="http://schemas.microsoft.com/office/drawing/2014/main" id="{4D0986B4-605D-347E-5CFD-A07E329E0683}"/>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4" name="Text 3">
            <a:extLst>
              <a:ext uri="{FF2B5EF4-FFF2-40B4-BE49-F238E27FC236}">
                <a16:creationId xmlns:a16="http://schemas.microsoft.com/office/drawing/2014/main" id="{927F478E-8A65-D52F-B8E8-50BDF33C3788}"/>
              </a:ext>
            </a:extLst>
          </p:cNvPr>
          <p:cNvSpPr/>
          <p:nvPr/>
        </p:nvSpPr>
        <p:spPr>
          <a:xfrm>
            <a:off x="548640" y="1005840"/>
            <a:ext cx="8046720" cy="640080"/>
          </a:xfrm>
          <a:prstGeom prst="rect">
            <a:avLst/>
          </a:prstGeom>
          <a:noFill/>
          <a:ln/>
        </p:spPr>
        <p:txBody>
          <a:bodyPr wrap="square" lIns="0" tIns="0" rIns="0" bIns="0" rtlCol="0" anchor="ctr"/>
          <a:lstStyle/>
          <a:p>
            <a:pPr marL="0" indent="0">
              <a:buNone/>
            </a:pPr>
            <a:endParaRPr lang="en-US" sz="1500" dirty="0"/>
          </a:p>
        </p:txBody>
      </p:sp>
      <p:sp>
        <p:nvSpPr>
          <p:cNvPr id="8" name="Text 4">
            <a:extLst>
              <a:ext uri="{FF2B5EF4-FFF2-40B4-BE49-F238E27FC236}">
                <a16:creationId xmlns:a16="http://schemas.microsoft.com/office/drawing/2014/main" id="{41E3F8B8-934B-99BA-951C-407321F3D3A1}"/>
              </a:ext>
            </a:extLst>
          </p:cNvPr>
          <p:cNvSpPr/>
          <p:nvPr/>
        </p:nvSpPr>
        <p:spPr>
          <a:xfrm>
            <a:off x="1423589" y="146987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GPT-5</a:t>
            </a:r>
            <a:endParaRPr lang="en-US" sz="1600" dirty="0">
              <a:latin typeface="Montserrat" panose="00000500000000000000" pitchFamily="2" charset="0"/>
            </a:endParaRPr>
          </a:p>
        </p:txBody>
      </p:sp>
      <p:sp>
        <p:nvSpPr>
          <p:cNvPr id="10" name="Shape 5">
            <a:extLst>
              <a:ext uri="{FF2B5EF4-FFF2-40B4-BE49-F238E27FC236}">
                <a16:creationId xmlns:a16="http://schemas.microsoft.com/office/drawing/2014/main" id="{79D07D50-B2DF-3729-61C4-70C066545837}"/>
              </a:ext>
            </a:extLst>
          </p:cNvPr>
          <p:cNvSpPr/>
          <p:nvPr/>
        </p:nvSpPr>
        <p:spPr>
          <a:xfrm>
            <a:off x="3526709" y="1543030"/>
            <a:ext cx="2569291" cy="274320"/>
          </a:xfrm>
          <a:prstGeom prst="rect">
            <a:avLst/>
          </a:prstGeom>
          <a:solidFill>
            <a:srgbClr val="D56E48"/>
          </a:solidFill>
          <a:ln/>
        </p:spPr>
        <p:txBody>
          <a:bodyPr/>
          <a:lstStyle/>
          <a:p>
            <a:endParaRPr lang="en-CA">
              <a:solidFill>
                <a:srgbClr val="D56E48"/>
              </a:solidFill>
            </a:endParaRPr>
          </a:p>
        </p:txBody>
      </p:sp>
      <p:sp>
        <p:nvSpPr>
          <p:cNvPr id="11" name="Text 6">
            <a:extLst>
              <a:ext uri="{FF2B5EF4-FFF2-40B4-BE49-F238E27FC236}">
                <a16:creationId xmlns:a16="http://schemas.microsoft.com/office/drawing/2014/main" id="{2CE5F398-F9C9-136E-5B90-8DB529993B32}"/>
              </a:ext>
            </a:extLst>
          </p:cNvPr>
          <p:cNvSpPr/>
          <p:nvPr/>
        </p:nvSpPr>
        <p:spPr>
          <a:xfrm>
            <a:off x="6407069" y="1479022"/>
            <a:ext cx="914400" cy="411480"/>
          </a:xfrm>
          <a:prstGeom prst="rect">
            <a:avLst/>
          </a:prstGeom>
          <a:noFill/>
          <a:ln/>
        </p:spPr>
        <p:txBody>
          <a:bodyPr wrap="square" lIns="0" tIns="0" rIns="0" bIns="0" rtlCol="0" anchor="ctr"/>
          <a:lstStyle/>
          <a:p>
            <a:pPr marL="0" indent="0">
              <a:buNone/>
            </a:pPr>
            <a:r>
              <a:rPr lang="en-US" b="1" dirty="0">
                <a:solidFill>
                  <a:srgbClr val="D56E48"/>
                </a:solidFill>
                <a:latin typeface="Montserrat" panose="00000500000000000000" pitchFamily="2" charset="0"/>
                <a:ea typeface="Calibri" pitchFamily="34" charset="-122"/>
                <a:cs typeface="Calibri" pitchFamily="34" charset="-120"/>
              </a:rPr>
              <a:t>400K</a:t>
            </a:r>
            <a:endParaRPr lang="en-US" dirty="0">
              <a:solidFill>
                <a:srgbClr val="D56E48"/>
              </a:solidFill>
              <a:latin typeface="Montserrat" panose="00000500000000000000" pitchFamily="2" charset="0"/>
            </a:endParaRPr>
          </a:p>
        </p:txBody>
      </p:sp>
      <p:sp>
        <p:nvSpPr>
          <p:cNvPr id="12" name="Text 7">
            <a:extLst>
              <a:ext uri="{FF2B5EF4-FFF2-40B4-BE49-F238E27FC236}">
                <a16:creationId xmlns:a16="http://schemas.microsoft.com/office/drawing/2014/main" id="{1B7E11A2-0433-9325-CEB4-D28A655D6F51}"/>
              </a:ext>
            </a:extLst>
          </p:cNvPr>
          <p:cNvSpPr/>
          <p:nvPr/>
        </p:nvSpPr>
        <p:spPr>
          <a:xfrm>
            <a:off x="1423589" y="201851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Claude Opus 4.6</a:t>
            </a:r>
            <a:endParaRPr lang="en-US" sz="1600" dirty="0">
              <a:latin typeface="Montserrat" panose="00000500000000000000" pitchFamily="2" charset="0"/>
            </a:endParaRPr>
          </a:p>
        </p:txBody>
      </p:sp>
      <p:sp>
        <p:nvSpPr>
          <p:cNvPr id="13" name="Shape 8">
            <a:extLst>
              <a:ext uri="{FF2B5EF4-FFF2-40B4-BE49-F238E27FC236}">
                <a16:creationId xmlns:a16="http://schemas.microsoft.com/office/drawing/2014/main" id="{613C4032-36B8-6F62-6BDB-AA047B7FDD88}"/>
              </a:ext>
            </a:extLst>
          </p:cNvPr>
          <p:cNvSpPr/>
          <p:nvPr/>
        </p:nvSpPr>
        <p:spPr>
          <a:xfrm>
            <a:off x="3526709" y="2091670"/>
            <a:ext cx="4645741" cy="274320"/>
          </a:xfrm>
          <a:prstGeom prst="rect">
            <a:avLst/>
          </a:prstGeom>
          <a:solidFill>
            <a:schemeClr val="bg1">
              <a:lumMod val="65000"/>
            </a:schemeClr>
          </a:solidFill>
          <a:ln/>
        </p:spPr>
        <p:txBody>
          <a:bodyPr/>
          <a:lstStyle/>
          <a:p>
            <a:endParaRPr lang="en-CA"/>
          </a:p>
        </p:txBody>
      </p:sp>
      <p:sp>
        <p:nvSpPr>
          <p:cNvPr id="17" name="Text 9">
            <a:extLst>
              <a:ext uri="{FF2B5EF4-FFF2-40B4-BE49-F238E27FC236}">
                <a16:creationId xmlns:a16="http://schemas.microsoft.com/office/drawing/2014/main" id="{0CC3C94E-8F4F-858C-E52C-B90C329CD459}"/>
              </a:ext>
            </a:extLst>
          </p:cNvPr>
          <p:cNvSpPr/>
          <p:nvPr/>
        </p:nvSpPr>
        <p:spPr>
          <a:xfrm>
            <a:off x="8382430" y="2056253"/>
            <a:ext cx="914400" cy="411480"/>
          </a:xfrm>
          <a:prstGeom prst="rect">
            <a:avLst/>
          </a:prstGeom>
          <a:noFill/>
          <a:ln/>
        </p:spPr>
        <p:txBody>
          <a:bodyPr wrap="square" lIns="0" tIns="0" rIns="0" bIns="0" rtlCol="0" anchor="ctr"/>
          <a:lstStyle/>
          <a:p>
            <a:pPr marL="0" indent="0">
              <a:buNone/>
            </a:pPr>
            <a:r>
              <a:rPr lang="en-US" b="1" dirty="0">
                <a:solidFill>
                  <a:schemeClr val="bg1">
                    <a:lumMod val="50000"/>
                  </a:schemeClr>
                </a:solidFill>
                <a:latin typeface="Montserrat" panose="00000500000000000000" pitchFamily="2" charset="0"/>
                <a:ea typeface="Calibri" pitchFamily="34" charset="-122"/>
                <a:cs typeface="Calibri" pitchFamily="34" charset="-120"/>
              </a:rPr>
              <a:t>1M</a:t>
            </a:r>
            <a:endParaRPr lang="en-US" dirty="0">
              <a:solidFill>
                <a:schemeClr val="bg1">
                  <a:lumMod val="50000"/>
                </a:schemeClr>
              </a:solidFill>
              <a:latin typeface="Montserrat" panose="00000500000000000000" pitchFamily="2" charset="0"/>
            </a:endParaRPr>
          </a:p>
        </p:txBody>
      </p:sp>
      <p:sp>
        <p:nvSpPr>
          <p:cNvPr id="18" name="Text 10">
            <a:extLst>
              <a:ext uri="{FF2B5EF4-FFF2-40B4-BE49-F238E27FC236}">
                <a16:creationId xmlns:a16="http://schemas.microsoft.com/office/drawing/2014/main" id="{29270D2E-0012-4EE9-C057-FE40C218FEBF}"/>
              </a:ext>
            </a:extLst>
          </p:cNvPr>
          <p:cNvSpPr/>
          <p:nvPr/>
        </p:nvSpPr>
        <p:spPr>
          <a:xfrm>
            <a:off x="1423589" y="256715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Gemini 3.0</a:t>
            </a:r>
            <a:endParaRPr lang="en-US" sz="1600" dirty="0">
              <a:latin typeface="Montserrat" panose="00000500000000000000" pitchFamily="2" charset="0"/>
            </a:endParaRPr>
          </a:p>
        </p:txBody>
      </p:sp>
      <p:sp>
        <p:nvSpPr>
          <p:cNvPr id="19" name="Shape 11">
            <a:extLst>
              <a:ext uri="{FF2B5EF4-FFF2-40B4-BE49-F238E27FC236}">
                <a16:creationId xmlns:a16="http://schemas.microsoft.com/office/drawing/2014/main" id="{532C980E-E8C4-D2EA-41BA-CE1CFE395B22}"/>
              </a:ext>
            </a:extLst>
          </p:cNvPr>
          <p:cNvSpPr/>
          <p:nvPr/>
        </p:nvSpPr>
        <p:spPr>
          <a:xfrm>
            <a:off x="3526709" y="2640310"/>
            <a:ext cx="4645741" cy="274320"/>
          </a:xfrm>
          <a:prstGeom prst="rect">
            <a:avLst/>
          </a:prstGeom>
          <a:solidFill>
            <a:srgbClr val="0C1752"/>
          </a:solidFill>
          <a:ln/>
        </p:spPr>
        <p:txBody>
          <a:bodyPr/>
          <a:lstStyle/>
          <a:p>
            <a:endParaRPr lang="en-CA">
              <a:solidFill>
                <a:srgbClr val="0C1752"/>
              </a:solidFill>
            </a:endParaRPr>
          </a:p>
        </p:txBody>
      </p:sp>
      <p:sp>
        <p:nvSpPr>
          <p:cNvPr id="21" name="Text 12">
            <a:extLst>
              <a:ext uri="{FF2B5EF4-FFF2-40B4-BE49-F238E27FC236}">
                <a16:creationId xmlns:a16="http://schemas.microsoft.com/office/drawing/2014/main" id="{F4F8C250-F9EE-0240-C6FC-D7F6343AFC6D}"/>
              </a:ext>
            </a:extLst>
          </p:cNvPr>
          <p:cNvSpPr/>
          <p:nvPr/>
        </p:nvSpPr>
        <p:spPr>
          <a:xfrm>
            <a:off x="8394607" y="2598222"/>
            <a:ext cx="914400" cy="411480"/>
          </a:xfrm>
          <a:prstGeom prst="rect">
            <a:avLst/>
          </a:prstGeom>
          <a:noFill/>
          <a:ln/>
        </p:spPr>
        <p:txBody>
          <a:bodyPr wrap="square" lIns="0" tIns="0" rIns="0" bIns="0" rtlCol="0" anchor="ctr"/>
          <a:lstStyle/>
          <a:p>
            <a:pPr marL="0" indent="0">
              <a:buNone/>
            </a:pPr>
            <a:r>
              <a:rPr lang="en-US" b="1" dirty="0">
                <a:solidFill>
                  <a:srgbClr val="0C1752"/>
                </a:solidFill>
                <a:latin typeface="Montserrat" panose="00000500000000000000" pitchFamily="2" charset="0"/>
                <a:ea typeface="Calibri" pitchFamily="34" charset="-122"/>
                <a:cs typeface="Calibri" pitchFamily="34" charset="-120"/>
              </a:rPr>
              <a:t>1M</a:t>
            </a:r>
            <a:endParaRPr lang="en-US" dirty="0">
              <a:solidFill>
                <a:srgbClr val="0C1752"/>
              </a:solidFill>
              <a:latin typeface="Montserrat" panose="00000500000000000000" pitchFamily="2" charset="0"/>
            </a:endParaRPr>
          </a:p>
        </p:txBody>
      </p:sp>
      <p:sp>
        <p:nvSpPr>
          <p:cNvPr id="22" name="Text 13">
            <a:extLst>
              <a:ext uri="{FF2B5EF4-FFF2-40B4-BE49-F238E27FC236}">
                <a16:creationId xmlns:a16="http://schemas.microsoft.com/office/drawing/2014/main" id="{C44D4C51-0FE4-5D05-FAFB-6A489E75F9DE}"/>
              </a:ext>
            </a:extLst>
          </p:cNvPr>
          <p:cNvSpPr/>
          <p:nvPr/>
        </p:nvSpPr>
        <p:spPr>
          <a:xfrm>
            <a:off x="1423589" y="311579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Llama 4 Maverick</a:t>
            </a:r>
            <a:endParaRPr lang="en-US" sz="1600" dirty="0">
              <a:latin typeface="Montserrat" panose="00000500000000000000" pitchFamily="2" charset="0"/>
            </a:endParaRPr>
          </a:p>
        </p:txBody>
      </p:sp>
      <p:sp>
        <p:nvSpPr>
          <p:cNvPr id="23" name="Shape 14">
            <a:extLst>
              <a:ext uri="{FF2B5EF4-FFF2-40B4-BE49-F238E27FC236}">
                <a16:creationId xmlns:a16="http://schemas.microsoft.com/office/drawing/2014/main" id="{26B4D30A-B359-245E-09D3-4D44C84C3174}"/>
              </a:ext>
            </a:extLst>
          </p:cNvPr>
          <p:cNvSpPr/>
          <p:nvPr/>
        </p:nvSpPr>
        <p:spPr>
          <a:xfrm>
            <a:off x="3526708" y="3188950"/>
            <a:ext cx="7388937" cy="274320"/>
          </a:xfrm>
          <a:prstGeom prst="rect">
            <a:avLst/>
          </a:prstGeom>
          <a:solidFill>
            <a:srgbClr val="1BBFD1"/>
          </a:solidFill>
          <a:ln/>
        </p:spPr>
        <p:txBody>
          <a:bodyPr/>
          <a:lstStyle/>
          <a:p>
            <a:endParaRPr lang="en-CA"/>
          </a:p>
        </p:txBody>
      </p:sp>
      <p:sp>
        <p:nvSpPr>
          <p:cNvPr id="25" name="Text 15">
            <a:extLst>
              <a:ext uri="{FF2B5EF4-FFF2-40B4-BE49-F238E27FC236}">
                <a16:creationId xmlns:a16="http://schemas.microsoft.com/office/drawing/2014/main" id="{9EF19AC7-C427-D040-AC03-2FF99B7E5764}"/>
              </a:ext>
            </a:extLst>
          </p:cNvPr>
          <p:cNvSpPr/>
          <p:nvPr/>
        </p:nvSpPr>
        <p:spPr>
          <a:xfrm>
            <a:off x="11096623" y="3136589"/>
            <a:ext cx="914400" cy="411480"/>
          </a:xfrm>
          <a:prstGeom prst="rect">
            <a:avLst/>
          </a:prstGeom>
          <a:noFill/>
          <a:ln/>
        </p:spPr>
        <p:txBody>
          <a:bodyPr wrap="square" lIns="0" tIns="0" rIns="0" bIns="0" rtlCol="0" anchor="ctr"/>
          <a:lstStyle/>
          <a:p>
            <a:pPr marL="0" indent="0">
              <a:buNone/>
            </a:pPr>
            <a:r>
              <a:rPr lang="en-US" b="1" dirty="0">
                <a:solidFill>
                  <a:srgbClr val="1BBFD1"/>
                </a:solidFill>
                <a:latin typeface="Montserrat" panose="00000500000000000000" pitchFamily="2" charset="0"/>
                <a:ea typeface="Calibri" pitchFamily="34" charset="-122"/>
                <a:cs typeface="Calibri" pitchFamily="34" charset="-120"/>
              </a:rPr>
              <a:t>10M</a:t>
            </a:r>
            <a:endParaRPr lang="en-US" dirty="0">
              <a:solidFill>
                <a:srgbClr val="1BBFD1"/>
              </a:solidFill>
              <a:latin typeface="Montserrat" panose="00000500000000000000" pitchFamily="2" charset="0"/>
            </a:endParaRPr>
          </a:p>
        </p:txBody>
      </p:sp>
      <p:sp>
        <p:nvSpPr>
          <p:cNvPr id="32" name="Shape 19">
            <a:extLst>
              <a:ext uri="{FF2B5EF4-FFF2-40B4-BE49-F238E27FC236}">
                <a16:creationId xmlns:a16="http://schemas.microsoft.com/office/drawing/2014/main" id="{89033E47-3189-C62C-2FB8-0325C01D0371}"/>
              </a:ext>
            </a:extLst>
          </p:cNvPr>
          <p:cNvSpPr/>
          <p:nvPr/>
        </p:nvSpPr>
        <p:spPr>
          <a:xfrm>
            <a:off x="689029" y="3735685"/>
            <a:ext cx="10586131" cy="923233"/>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800"/>
          </a:p>
        </p:txBody>
      </p:sp>
      <p:sp>
        <p:nvSpPr>
          <p:cNvPr id="33" name="Text 20">
            <a:extLst>
              <a:ext uri="{FF2B5EF4-FFF2-40B4-BE49-F238E27FC236}">
                <a16:creationId xmlns:a16="http://schemas.microsoft.com/office/drawing/2014/main" id="{C5EAC387-2B31-74D3-7997-DFD3B9F24BFC}"/>
              </a:ext>
            </a:extLst>
          </p:cNvPr>
          <p:cNvSpPr/>
          <p:nvPr/>
        </p:nvSpPr>
        <p:spPr>
          <a:xfrm>
            <a:off x="916840" y="3828071"/>
            <a:ext cx="2743200" cy="320040"/>
          </a:xfrm>
          <a:prstGeom prst="rect">
            <a:avLst/>
          </a:prstGeom>
          <a:noFill/>
          <a:ln/>
        </p:spPr>
        <p:txBody>
          <a:bodyPr wrap="square" lIns="0" tIns="0" rIns="0" bIns="0" rtlCol="0" anchor="ctr"/>
          <a:lstStyle/>
          <a:p>
            <a:pPr marL="0" indent="0">
              <a:buNone/>
            </a:pPr>
            <a:r>
              <a:rPr lang="en-US" sz="2000" b="1" dirty="0">
                <a:latin typeface="Montserrat" panose="00000500000000000000" pitchFamily="2" charset="0"/>
                <a:ea typeface="Calibri" pitchFamily="34" charset="-122"/>
                <a:cs typeface="Calibri" pitchFamily="34" charset="-120"/>
              </a:rPr>
              <a:t>Why it matters</a:t>
            </a:r>
            <a:endParaRPr lang="en-US" sz="2000" dirty="0">
              <a:latin typeface="Montserrat" panose="00000500000000000000" pitchFamily="2" charset="0"/>
            </a:endParaRPr>
          </a:p>
        </p:txBody>
      </p:sp>
      <p:sp>
        <p:nvSpPr>
          <p:cNvPr id="34" name="Text 21">
            <a:extLst>
              <a:ext uri="{FF2B5EF4-FFF2-40B4-BE49-F238E27FC236}">
                <a16:creationId xmlns:a16="http://schemas.microsoft.com/office/drawing/2014/main" id="{56D7E4E5-031D-C50B-7E34-FB720CD895A3}"/>
              </a:ext>
            </a:extLst>
          </p:cNvPr>
          <p:cNvSpPr/>
          <p:nvPr/>
        </p:nvSpPr>
        <p:spPr>
          <a:xfrm>
            <a:off x="1325903" y="3931955"/>
            <a:ext cx="10162332" cy="854201"/>
          </a:xfrm>
          <a:prstGeom prst="rect">
            <a:avLst/>
          </a:prstGeom>
          <a:noFill/>
          <a:ln/>
        </p:spPr>
        <p:txBody>
          <a:bodyPr wrap="square" lIns="0" tIns="0" rIns="0" bIns="0" rtlCol="0" anchor="ctr"/>
          <a:lstStyle/>
          <a:p>
            <a:pPr marL="0" indent="0">
              <a:buNone/>
            </a:pPr>
            <a:r>
              <a:rPr lang="en-US" sz="1600" dirty="0">
                <a:latin typeface="Montserrat" panose="00000500000000000000" pitchFamily="2" charset="0"/>
                <a:ea typeface="Calibri" pitchFamily="34" charset="-122"/>
                <a:cs typeface="Calibri" pitchFamily="34" charset="-120"/>
              </a:rPr>
              <a:t>Larger context = more documents, longer conversations, and complex tasks. </a:t>
            </a:r>
            <a:endParaRPr lang="en-US" sz="1600" dirty="0">
              <a:latin typeface="Montserrat" panose="00000500000000000000" pitchFamily="2" charset="0"/>
            </a:endParaRPr>
          </a:p>
        </p:txBody>
      </p:sp>
      <p:graphicFrame>
        <p:nvGraphicFramePr>
          <p:cNvPr id="38" name="Table 37">
            <a:extLst>
              <a:ext uri="{FF2B5EF4-FFF2-40B4-BE49-F238E27FC236}">
                <a16:creationId xmlns:a16="http://schemas.microsoft.com/office/drawing/2014/main" id="{38DE4487-DF52-21DA-C0A7-A43ECE69E6FA}"/>
              </a:ext>
            </a:extLst>
          </p:cNvPr>
          <p:cNvGraphicFramePr>
            <a:graphicFrameLocks noGrp="1"/>
          </p:cNvGraphicFramePr>
          <p:nvPr>
            <p:extLst>
              <p:ext uri="{D42A27DB-BD31-4B8C-83A1-F6EECF244321}">
                <p14:modId xmlns:p14="http://schemas.microsoft.com/office/powerpoint/2010/main" val="4029252679"/>
              </p:ext>
            </p:extLst>
          </p:nvPr>
        </p:nvGraphicFramePr>
        <p:xfrm>
          <a:off x="2559139" y="4890040"/>
          <a:ext cx="6580879" cy="1676400"/>
        </p:xfrm>
        <a:graphic>
          <a:graphicData uri="http://schemas.openxmlformats.org/drawingml/2006/table">
            <a:tbl>
              <a:tblPr>
                <a:tableStyleId>{0E3FDE45-AF77-4B5C-9715-49D594BDF05E}</a:tableStyleId>
              </a:tblPr>
              <a:tblGrid>
                <a:gridCol w="1941752">
                  <a:extLst>
                    <a:ext uri="{9D8B030D-6E8A-4147-A177-3AD203B41FA5}">
                      <a16:colId xmlns:a16="http://schemas.microsoft.com/office/drawing/2014/main" val="1291129798"/>
                    </a:ext>
                  </a:extLst>
                </a:gridCol>
                <a:gridCol w="4639127">
                  <a:extLst>
                    <a:ext uri="{9D8B030D-6E8A-4147-A177-3AD203B41FA5}">
                      <a16:colId xmlns:a16="http://schemas.microsoft.com/office/drawing/2014/main" val="646490295"/>
                    </a:ext>
                  </a:extLst>
                </a:gridCol>
              </a:tblGrid>
              <a:tr h="236144">
                <a:tc>
                  <a:txBody>
                    <a:bodyPr/>
                    <a:lstStyle/>
                    <a:p>
                      <a:pPr algn="ctr">
                        <a:buNone/>
                      </a:pPr>
                      <a:r>
                        <a:rPr lang="en-CA" sz="1600" b="1" dirty="0">
                          <a:latin typeface="Montserrat" panose="00000500000000000000" pitchFamily="2" charset="0"/>
                        </a:rPr>
                        <a:t>Model</a:t>
                      </a:r>
                    </a:p>
                  </a:txBody>
                  <a:tcPr anchor="ctr"/>
                </a:tc>
                <a:tc>
                  <a:txBody>
                    <a:bodyPr/>
                    <a:lstStyle/>
                    <a:p>
                      <a:pPr algn="ctr">
                        <a:buNone/>
                      </a:pPr>
                      <a:r>
                        <a:rPr lang="en-CA" sz="1600" b="1" dirty="0">
                          <a:latin typeface="Montserrat" panose="00000500000000000000" pitchFamily="2" charset="0"/>
                        </a:rPr>
                        <a:t>Tokens</a:t>
                      </a:r>
                    </a:p>
                  </a:txBody>
                  <a:tcPr anchor="ctr"/>
                </a:tc>
                <a:extLst>
                  <a:ext uri="{0D108BD9-81ED-4DB2-BD59-A6C34878D82A}">
                    <a16:rowId xmlns:a16="http://schemas.microsoft.com/office/drawing/2014/main" val="2076730139"/>
                  </a:ext>
                </a:extLst>
              </a:tr>
              <a:tr h="236144">
                <a:tc>
                  <a:txBody>
                    <a:bodyPr/>
                    <a:lstStyle/>
                    <a:p>
                      <a:pPr algn="ctr">
                        <a:buNone/>
                      </a:pPr>
                      <a:r>
                        <a:rPr lang="en-CA" sz="1600" dirty="0">
                          <a:latin typeface="Montserrat" panose="00000500000000000000" pitchFamily="2" charset="0"/>
                        </a:rPr>
                        <a:t>128K</a:t>
                      </a:r>
                    </a:p>
                  </a:txBody>
                  <a:tcPr anchor="ctr"/>
                </a:tc>
                <a:tc>
                  <a:txBody>
                    <a:bodyPr/>
                    <a:lstStyle/>
                    <a:p>
                      <a:pPr algn="ctr">
                        <a:buNone/>
                      </a:pPr>
                      <a:r>
                        <a:rPr lang="en-CA" sz="1600" dirty="0">
                          <a:latin typeface="Montserrat" panose="00000500000000000000" pitchFamily="2" charset="0"/>
                        </a:rPr>
                        <a:t>~300 pages</a:t>
                      </a:r>
                    </a:p>
                  </a:txBody>
                  <a:tcPr anchor="ctr"/>
                </a:tc>
                <a:extLst>
                  <a:ext uri="{0D108BD9-81ED-4DB2-BD59-A6C34878D82A}">
                    <a16:rowId xmlns:a16="http://schemas.microsoft.com/office/drawing/2014/main" val="761086204"/>
                  </a:ext>
                </a:extLst>
              </a:tr>
              <a:tr h="236144">
                <a:tc>
                  <a:txBody>
                    <a:bodyPr/>
                    <a:lstStyle/>
                    <a:p>
                      <a:pPr algn="ctr">
                        <a:buNone/>
                      </a:pPr>
                      <a:r>
                        <a:rPr lang="en-CA" sz="1600">
                          <a:latin typeface="Montserrat" panose="00000500000000000000" pitchFamily="2" charset="0"/>
                        </a:rPr>
                        <a:t>400K</a:t>
                      </a:r>
                    </a:p>
                  </a:txBody>
                  <a:tcPr anchor="ctr"/>
                </a:tc>
                <a:tc>
                  <a:txBody>
                    <a:bodyPr/>
                    <a:lstStyle/>
                    <a:p>
                      <a:pPr algn="ctr">
                        <a:buNone/>
                      </a:pPr>
                      <a:r>
                        <a:rPr lang="en-CA" sz="1600" dirty="0">
                          <a:latin typeface="Montserrat" panose="00000500000000000000" pitchFamily="2" charset="0"/>
                        </a:rPr>
                        <a:t>~1,200 pages</a:t>
                      </a:r>
                    </a:p>
                  </a:txBody>
                  <a:tcPr anchor="ctr"/>
                </a:tc>
                <a:extLst>
                  <a:ext uri="{0D108BD9-81ED-4DB2-BD59-A6C34878D82A}">
                    <a16:rowId xmlns:a16="http://schemas.microsoft.com/office/drawing/2014/main" val="1195696201"/>
                  </a:ext>
                </a:extLst>
              </a:tr>
              <a:tr h="236144">
                <a:tc>
                  <a:txBody>
                    <a:bodyPr/>
                    <a:lstStyle/>
                    <a:p>
                      <a:pPr algn="ctr">
                        <a:buNone/>
                      </a:pPr>
                      <a:r>
                        <a:rPr lang="en-CA" sz="1600">
                          <a:latin typeface="Montserrat" panose="00000500000000000000" pitchFamily="2" charset="0"/>
                        </a:rPr>
                        <a:t>1M</a:t>
                      </a:r>
                    </a:p>
                  </a:txBody>
                  <a:tcPr anchor="ctr"/>
                </a:tc>
                <a:tc>
                  <a:txBody>
                    <a:bodyPr/>
                    <a:lstStyle/>
                    <a:p>
                      <a:pPr algn="ctr">
                        <a:buNone/>
                      </a:pPr>
                      <a:r>
                        <a:rPr lang="en-CA" sz="1600" dirty="0">
                          <a:latin typeface="Montserrat" panose="00000500000000000000" pitchFamily="2" charset="0"/>
                        </a:rPr>
                        <a:t>~2,500–3,000 pages</a:t>
                      </a:r>
                    </a:p>
                  </a:txBody>
                  <a:tcPr anchor="ctr"/>
                </a:tc>
                <a:extLst>
                  <a:ext uri="{0D108BD9-81ED-4DB2-BD59-A6C34878D82A}">
                    <a16:rowId xmlns:a16="http://schemas.microsoft.com/office/drawing/2014/main" val="553903336"/>
                  </a:ext>
                </a:extLst>
              </a:tr>
              <a:tr h="236144">
                <a:tc>
                  <a:txBody>
                    <a:bodyPr/>
                    <a:lstStyle/>
                    <a:p>
                      <a:pPr algn="ctr">
                        <a:buNone/>
                      </a:pPr>
                      <a:r>
                        <a:rPr lang="en-CA" sz="1600">
                          <a:latin typeface="Montserrat" panose="00000500000000000000" pitchFamily="2" charset="0"/>
                        </a:rPr>
                        <a:t>10M</a:t>
                      </a:r>
                    </a:p>
                  </a:txBody>
                  <a:tcPr anchor="ctr"/>
                </a:tc>
                <a:tc>
                  <a:txBody>
                    <a:bodyPr/>
                    <a:lstStyle/>
                    <a:p>
                      <a:pPr algn="ctr">
                        <a:buNone/>
                      </a:pPr>
                      <a:r>
                        <a:rPr lang="en-CA" sz="1600" dirty="0">
                          <a:latin typeface="Montserrat" panose="00000500000000000000" pitchFamily="2" charset="0"/>
                        </a:rPr>
                        <a:t>Entire codebase / archive</a:t>
                      </a:r>
                    </a:p>
                  </a:txBody>
                  <a:tcPr anchor="ctr"/>
                </a:tc>
                <a:extLst>
                  <a:ext uri="{0D108BD9-81ED-4DB2-BD59-A6C34878D82A}">
                    <a16:rowId xmlns:a16="http://schemas.microsoft.com/office/drawing/2014/main" val="52615529"/>
                  </a:ext>
                </a:extLst>
              </a:tr>
            </a:tbl>
          </a:graphicData>
        </a:graphic>
      </p:graphicFrame>
    </p:spTree>
    <p:extLst>
      <p:ext uri="{BB962C8B-B14F-4D97-AF65-F5344CB8AC3E}">
        <p14:creationId xmlns:p14="http://schemas.microsoft.com/office/powerpoint/2010/main" val="70703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500" fill="hold"/>
                                        <p:tgtEl>
                                          <p:spTgt spid="23"/>
                                        </p:tgtEl>
                                        <p:attrNameLst>
                                          <p:attrName>ppt_x</p:attrName>
                                        </p:attrNameLst>
                                      </p:cBhvr>
                                      <p:tavLst>
                                        <p:tav tm="0">
                                          <p:val>
                                            <p:strVal val="#ppt_x"/>
                                          </p:val>
                                        </p:tav>
                                        <p:tav tm="100000">
                                          <p:val>
                                            <p:strVal val="#ppt_x"/>
                                          </p:val>
                                        </p:tav>
                                      </p:tavLst>
                                    </p:anim>
                                    <p:anim calcmode="lin" valueType="num">
                                      <p:cBhvr additive="base">
                                        <p:cTn id="48" dur="500" fill="hold"/>
                                        <p:tgtEl>
                                          <p:spTgt spid="2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500" fill="hold"/>
                                        <p:tgtEl>
                                          <p:spTgt spid="25"/>
                                        </p:tgtEl>
                                        <p:attrNameLst>
                                          <p:attrName>ppt_x</p:attrName>
                                        </p:attrNameLst>
                                      </p:cBhvr>
                                      <p:tavLst>
                                        <p:tav tm="0">
                                          <p:val>
                                            <p:strVal val="#ppt_x"/>
                                          </p:val>
                                        </p:tav>
                                        <p:tav tm="100000">
                                          <p:val>
                                            <p:strVal val="#ppt_x"/>
                                          </p:val>
                                        </p:tav>
                                      </p:tavLst>
                                    </p:anim>
                                    <p:anim calcmode="lin" valueType="num">
                                      <p:cBhvr additive="base">
                                        <p:cTn id="5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7" grpId="0" animBg="1"/>
      <p:bldP spid="18" grpId="0" animBg="1"/>
      <p:bldP spid="19" grpId="0" animBg="1"/>
      <p:bldP spid="21" grpId="0" animBg="1"/>
      <p:bldP spid="22" grpId="0" animBg="1"/>
      <p:bldP spid="23" grpId="0" animBg="1"/>
      <p:bldP spid="25" grpId="0" animBg="1"/>
      <p:bldP spid="32" grpId="0" animBg="1"/>
      <p:bldP spid="33" grpId="0" animBg="1"/>
      <p:bldP spid="3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759F7-4209-3CBD-1C4F-B6210FD200D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0CE3A8E-EBB1-96AC-002C-29AF41B2FD99}"/>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282EBBEF-26F0-CAD8-9D53-739B586F3BFE}"/>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EE02A24F-1AC2-CD63-E90D-11A7D20C0D4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Top LLM Providers </a:t>
            </a:r>
          </a:p>
        </p:txBody>
      </p:sp>
      <p:sp>
        <p:nvSpPr>
          <p:cNvPr id="9" name="TextBox 8">
            <a:extLst>
              <a:ext uri="{FF2B5EF4-FFF2-40B4-BE49-F238E27FC236}">
                <a16:creationId xmlns:a16="http://schemas.microsoft.com/office/drawing/2014/main" id="{9BA9A631-21B5-A459-1119-6B7051B0DAAA}"/>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0" name="Rectangle 2">
            <a:extLst>
              <a:ext uri="{FF2B5EF4-FFF2-40B4-BE49-F238E27FC236}">
                <a16:creationId xmlns:a16="http://schemas.microsoft.com/office/drawing/2014/main" id="{E1873F4E-3EAF-BF63-1D21-39506FEB9899}"/>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4" name="Shape 3">
            <a:extLst>
              <a:ext uri="{FF2B5EF4-FFF2-40B4-BE49-F238E27FC236}">
                <a16:creationId xmlns:a16="http://schemas.microsoft.com/office/drawing/2014/main" id="{9E2BFC3A-B5E3-5F18-F1A4-E6A4FC802205}"/>
              </a:ext>
            </a:extLst>
          </p:cNvPr>
          <p:cNvSpPr/>
          <p:nvPr/>
        </p:nvSpPr>
        <p:spPr>
          <a:xfrm>
            <a:off x="660332" y="1062990"/>
            <a:ext cx="2882967" cy="204597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solidFill>
                <a:srgbClr val="0C1752"/>
              </a:solidFill>
              <a:latin typeface="Montserrat" panose="00000500000000000000" pitchFamily="2" charset="0"/>
            </a:endParaRPr>
          </a:p>
        </p:txBody>
      </p:sp>
      <p:sp>
        <p:nvSpPr>
          <p:cNvPr id="11" name="Text 6">
            <a:extLst>
              <a:ext uri="{FF2B5EF4-FFF2-40B4-BE49-F238E27FC236}">
                <a16:creationId xmlns:a16="http://schemas.microsoft.com/office/drawing/2014/main" id="{A0886AAD-6470-DFF0-DD38-D09AEA003B36}"/>
              </a:ext>
            </a:extLst>
          </p:cNvPr>
          <p:cNvSpPr/>
          <p:nvPr/>
        </p:nvSpPr>
        <p:spPr>
          <a:xfrm>
            <a:off x="822960" y="1157118"/>
            <a:ext cx="1828800" cy="365760"/>
          </a:xfrm>
          <a:prstGeom prst="rect">
            <a:avLst/>
          </a:prstGeom>
          <a:noFill/>
          <a:ln/>
        </p:spPr>
        <p:txBody>
          <a:bodyPr wrap="square" lIns="0" tIns="0" rIns="0" bIns="0" rtlCol="0" anchor="ctr"/>
          <a:lstStyle/>
          <a:p>
            <a:pPr marL="0" indent="0">
              <a:buNone/>
            </a:pPr>
            <a:r>
              <a:rPr lang="en-US" sz="2000" b="1" dirty="0">
                <a:solidFill>
                  <a:srgbClr val="0C1752"/>
                </a:solidFill>
                <a:latin typeface="Montserrat" panose="00000500000000000000" pitchFamily="2" charset="0"/>
                <a:ea typeface="Calibri" pitchFamily="34" charset="-122"/>
                <a:cs typeface="Calibri" pitchFamily="34" charset="-120"/>
              </a:rPr>
              <a:t>OpenAI</a:t>
            </a:r>
            <a:endParaRPr lang="en-US" sz="2000" dirty="0">
              <a:solidFill>
                <a:srgbClr val="0C1752"/>
              </a:solidFill>
              <a:latin typeface="Montserrat" panose="00000500000000000000" pitchFamily="2" charset="0"/>
            </a:endParaRPr>
          </a:p>
        </p:txBody>
      </p:sp>
      <p:sp>
        <p:nvSpPr>
          <p:cNvPr id="12" name="Text 7">
            <a:extLst>
              <a:ext uri="{FF2B5EF4-FFF2-40B4-BE49-F238E27FC236}">
                <a16:creationId xmlns:a16="http://schemas.microsoft.com/office/drawing/2014/main" id="{37727C42-7D54-6557-E7F6-B8DEAB301C2D}"/>
              </a:ext>
            </a:extLst>
          </p:cNvPr>
          <p:cNvSpPr/>
          <p:nvPr/>
        </p:nvSpPr>
        <p:spPr>
          <a:xfrm>
            <a:off x="790224" y="1850834"/>
            <a:ext cx="2286000" cy="365760"/>
          </a:xfrm>
          <a:prstGeom prst="rect">
            <a:avLst/>
          </a:prstGeom>
          <a:noFill/>
          <a:ln/>
        </p:spPr>
        <p:txBody>
          <a:bodyPr wrap="square" lIns="0" tIns="0" rIns="0" bIns="0" rtlCol="0" anchor="ctr"/>
          <a:lstStyle/>
          <a:p>
            <a:pPr marL="0" indent="0">
              <a:buNone/>
            </a:pPr>
            <a:r>
              <a:rPr lang="en-US" sz="1600" dirty="0">
                <a:latin typeface="Montserrat" panose="00000500000000000000" pitchFamily="2" charset="0"/>
                <a:ea typeface="Calibri" pitchFamily="34" charset="-122"/>
                <a:cs typeface="Calibri" pitchFamily="34" charset="-120"/>
              </a:rPr>
              <a:t>GPT-5, GPT-4.5, o1, o3</a:t>
            </a:r>
            <a:endParaRPr lang="en-US" sz="1600" dirty="0">
              <a:latin typeface="Montserrat" panose="00000500000000000000" pitchFamily="2" charset="0"/>
            </a:endParaRPr>
          </a:p>
        </p:txBody>
      </p:sp>
      <p:sp>
        <p:nvSpPr>
          <p:cNvPr id="13" name="Text 8">
            <a:extLst>
              <a:ext uri="{FF2B5EF4-FFF2-40B4-BE49-F238E27FC236}">
                <a16:creationId xmlns:a16="http://schemas.microsoft.com/office/drawing/2014/main" id="{EB6853E9-FA0D-0A32-626F-3E2C9A9E98E3}"/>
              </a:ext>
            </a:extLst>
          </p:cNvPr>
          <p:cNvSpPr/>
          <p:nvPr/>
        </p:nvSpPr>
        <p:spPr>
          <a:xfrm>
            <a:off x="822960" y="2320290"/>
            <a:ext cx="2162526" cy="502920"/>
          </a:xfrm>
          <a:prstGeom prst="rect">
            <a:avLst/>
          </a:prstGeom>
          <a:noFill/>
          <a:ln/>
        </p:spPr>
        <p:txBody>
          <a:bodyPr wrap="square" lIns="0" tIns="0" rIns="0" bIns="0" rtlCol="0" anchor="ctr"/>
          <a:lstStyle/>
          <a:p>
            <a:pPr marL="0" indent="0">
              <a:buNone/>
            </a:pPr>
            <a:r>
              <a:rPr lang="en-US" sz="1200" dirty="0">
                <a:latin typeface="Montserrat" panose="00000500000000000000" pitchFamily="2" charset="0"/>
                <a:ea typeface="Calibri" pitchFamily="34" charset="-122"/>
                <a:cs typeface="Calibri" pitchFamily="34" charset="-120"/>
              </a:rPr>
              <a:t>Market leader, ChatGPT ecosystem</a:t>
            </a:r>
            <a:endParaRPr lang="en-US" sz="1200" dirty="0">
              <a:latin typeface="Montserrat" panose="00000500000000000000" pitchFamily="2" charset="0"/>
            </a:endParaRPr>
          </a:p>
        </p:txBody>
      </p:sp>
      <p:sp>
        <p:nvSpPr>
          <p:cNvPr id="17" name="Shape 9">
            <a:extLst>
              <a:ext uri="{FF2B5EF4-FFF2-40B4-BE49-F238E27FC236}">
                <a16:creationId xmlns:a16="http://schemas.microsoft.com/office/drawing/2014/main" id="{CCF7B9CF-8B93-E463-F784-311E69F94AE7}"/>
              </a:ext>
            </a:extLst>
          </p:cNvPr>
          <p:cNvSpPr/>
          <p:nvPr/>
        </p:nvSpPr>
        <p:spPr>
          <a:xfrm>
            <a:off x="4266493" y="1009650"/>
            <a:ext cx="2882967" cy="2118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21" name="Text 12">
            <a:extLst>
              <a:ext uri="{FF2B5EF4-FFF2-40B4-BE49-F238E27FC236}">
                <a16:creationId xmlns:a16="http://schemas.microsoft.com/office/drawing/2014/main" id="{81BB3F6E-8276-952E-7E72-8D61E5C70FFB}"/>
              </a:ext>
            </a:extLst>
          </p:cNvPr>
          <p:cNvSpPr/>
          <p:nvPr/>
        </p:nvSpPr>
        <p:spPr>
          <a:xfrm>
            <a:off x="4447154" y="1158240"/>
            <a:ext cx="1828800" cy="365760"/>
          </a:xfrm>
          <a:prstGeom prst="rect">
            <a:avLst/>
          </a:prstGeom>
          <a:noFill/>
          <a:ln/>
        </p:spPr>
        <p:txBody>
          <a:bodyPr wrap="square" lIns="0" tIns="0" rIns="0" bIns="0" rtlCol="0" anchor="ctr"/>
          <a:lstStyle/>
          <a:p>
            <a:r>
              <a:rPr lang="en-US" sz="2000" b="1" dirty="0">
                <a:solidFill>
                  <a:srgbClr val="0C1752"/>
                </a:solidFill>
                <a:latin typeface="Montserrat" panose="00000500000000000000" pitchFamily="2" charset="0"/>
                <a:ea typeface="Calibri" pitchFamily="34" charset="-122"/>
                <a:cs typeface="Calibri" pitchFamily="34" charset="-120"/>
              </a:rPr>
              <a:t>Anthropic</a:t>
            </a:r>
          </a:p>
        </p:txBody>
      </p:sp>
      <p:sp>
        <p:nvSpPr>
          <p:cNvPr id="22" name="Text 13">
            <a:extLst>
              <a:ext uri="{FF2B5EF4-FFF2-40B4-BE49-F238E27FC236}">
                <a16:creationId xmlns:a16="http://schemas.microsoft.com/office/drawing/2014/main" id="{0A6090C7-AC6E-E8D2-01DF-67B463E59466}"/>
              </a:ext>
            </a:extLst>
          </p:cNvPr>
          <p:cNvSpPr/>
          <p:nvPr/>
        </p:nvSpPr>
        <p:spPr>
          <a:xfrm>
            <a:off x="4403654" y="1903095"/>
            <a:ext cx="2738724" cy="365760"/>
          </a:xfrm>
          <a:prstGeom prst="rect">
            <a:avLst/>
          </a:prstGeom>
          <a:noFill/>
          <a:ln/>
        </p:spPr>
        <p:txBody>
          <a:bodyPr wrap="square" lIns="0" tIns="0" rIns="0" bIns="0" rtlCol="0" anchor="ctr"/>
          <a:lstStyle/>
          <a:p>
            <a:r>
              <a:rPr lang="en-US" sz="1600" dirty="0">
                <a:latin typeface="Montserrat" panose="00000500000000000000" pitchFamily="2" charset="0"/>
                <a:ea typeface="Calibri" pitchFamily="34" charset="-122"/>
                <a:cs typeface="Calibri" pitchFamily="34" charset="-120"/>
              </a:rPr>
              <a:t>Claude 4.6 Opus, Sonnet, Haiku</a:t>
            </a:r>
          </a:p>
        </p:txBody>
      </p:sp>
      <p:sp>
        <p:nvSpPr>
          <p:cNvPr id="23" name="Text 14">
            <a:extLst>
              <a:ext uri="{FF2B5EF4-FFF2-40B4-BE49-F238E27FC236}">
                <a16:creationId xmlns:a16="http://schemas.microsoft.com/office/drawing/2014/main" id="{F5C86515-E3C9-A4B0-8CF9-660D11634A0D}"/>
              </a:ext>
            </a:extLst>
          </p:cNvPr>
          <p:cNvSpPr/>
          <p:nvPr/>
        </p:nvSpPr>
        <p:spPr>
          <a:xfrm>
            <a:off x="4383974" y="2381250"/>
            <a:ext cx="2286000" cy="502920"/>
          </a:xfrm>
          <a:prstGeom prst="rect">
            <a:avLst/>
          </a:prstGeom>
          <a:noFill/>
          <a:ln/>
        </p:spPr>
        <p:txBody>
          <a:bodyPr wrap="square" lIns="0" tIns="0" rIns="0" bIns="0" rtlCol="0" anchor="ctr"/>
          <a:lstStyle/>
          <a:p>
            <a:r>
              <a:rPr lang="en-US" sz="1200" dirty="0">
                <a:latin typeface="Montserrat" panose="00000500000000000000" pitchFamily="2" charset="0"/>
                <a:ea typeface="Calibri" pitchFamily="34" charset="-122"/>
                <a:cs typeface="Calibri" pitchFamily="34" charset="-120"/>
              </a:rPr>
              <a:t>Safety-focused, strong reasoning</a:t>
            </a:r>
          </a:p>
        </p:txBody>
      </p:sp>
      <p:sp>
        <p:nvSpPr>
          <p:cNvPr id="25" name="Shape 15">
            <a:extLst>
              <a:ext uri="{FF2B5EF4-FFF2-40B4-BE49-F238E27FC236}">
                <a16:creationId xmlns:a16="http://schemas.microsoft.com/office/drawing/2014/main" id="{B2B26FD6-16F4-7645-E5C0-8DBDED15D203}"/>
              </a:ext>
            </a:extLst>
          </p:cNvPr>
          <p:cNvSpPr/>
          <p:nvPr/>
        </p:nvSpPr>
        <p:spPr>
          <a:xfrm>
            <a:off x="8077956" y="1026795"/>
            <a:ext cx="2882967" cy="211836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31" name="Text 18">
            <a:extLst>
              <a:ext uri="{FF2B5EF4-FFF2-40B4-BE49-F238E27FC236}">
                <a16:creationId xmlns:a16="http://schemas.microsoft.com/office/drawing/2014/main" id="{F25D4B54-AC7B-D6CD-1E08-FE9AE9174363}"/>
              </a:ext>
            </a:extLst>
          </p:cNvPr>
          <p:cNvSpPr/>
          <p:nvPr/>
        </p:nvSpPr>
        <p:spPr>
          <a:xfrm>
            <a:off x="8258399" y="1201038"/>
            <a:ext cx="1828800" cy="365760"/>
          </a:xfrm>
          <a:prstGeom prst="rect">
            <a:avLst/>
          </a:prstGeom>
          <a:noFill/>
          <a:ln/>
        </p:spPr>
        <p:txBody>
          <a:bodyPr wrap="square" lIns="0" tIns="0" rIns="0" bIns="0" rtlCol="0" anchor="ctr"/>
          <a:lstStyle/>
          <a:p>
            <a:r>
              <a:rPr lang="en-US" sz="2000" b="1" dirty="0">
                <a:solidFill>
                  <a:srgbClr val="0C1752"/>
                </a:solidFill>
                <a:latin typeface="Montserrat" panose="00000500000000000000" pitchFamily="2" charset="0"/>
                <a:ea typeface="Calibri" pitchFamily="34" charset="-122"/>
                <a:cs typeface="Calibri" pitchFamily="34" charset="-120"/>
              </a:rPr>
              <a:t>Google</a:t>
            </a:r>
          </a:p>
        </p:txBody>
      </p:sp>
      <p:sp>
        <p:nvSpPr>
          <p:cNvPr id="32" name="Text 19">
            <a:extLst>
              <a:ext uri="{FF2B5EF4-FFF2-40B4-BE49-F238E27FC236}">
                <a16:creationId xmlns:a16="http://schemas.microsoft.com/office/drawing/2014/main" id="{DA0DE0A0-B828-C6B1-1BEB-E4C1E795C287}"/>
              </a:ext>
            </a:extLst>
          </p:cNvPr>
          <p:cNvSpPr/>
          <p:nvPr/>
        </p:nvSpPr>
        <p:spPr>
          <a:xfrm>
            <a:off x="8225538" y="1869101"/>
            <a:ext cx="2286000" cy="365760"/>
          </a:xfrm>
          <a:prstGeom prst="rect">
            <a:avLst/>
          </a:prstGeom>
          <a:noFill/>
          <a:ln/>
        </p:spPr>
        <p:txBody>
          <a:bodyPr wrap="square" lIns="0" tIns="0" rIns="0" bIns="0" rtlCol="0" anchor="ctr"/>
          <a:lstStyle/>
          <a:p>
            <a:r>
              <a:rPr lang="en-US" sz="1600" dirty="0">
                <a:latin typeface="Montserrat" panose="00000500000000000000" pitchFamily="2" charset="0"/>
                <a:ea typeface="Calibri" pitchFamily="34" charset="-122"/>
                <a:cs typeface="Calibri" pitchFamily="34" charset="-120"/>
              </a:rPr>
              <a:t>Gemini 3 Flash / Pro</a:t>
            </a:r>
          </a:p>
        </p:txBody>
      </p:sp>
      <p:sp>
        <p:nvSpPr>
          <p:cNvPr id="33" name="Text 20">
            <a:extLst>
              <a:ext uri="{FF2B5EF4-FFF2-40B4-BE49-F238E27FC236}">
                <a16:creationId xmlns:a16="http://schemas.microsoft.com/office/drawing/2014/main" id="{AA63C666-8A27-BE13-E610-2F5503E14644}"/>
              </a:ext>
            </a:extLst>
          </p:cNvPr>
          <p:cNvSpPr/>
          <p:nvPr/>
        </p:nvSpPr>
        <p:spPr>
          <a:xfrm>
            <a:off x="8202660" y="2353267"/>
            <a:ext cx="2446020" cy="502920"/>
          </a:xfrm>
          <a:prstGeom prst="rect">
            <a:avLst/>
          </a:prstGeom>
          <a:noFill/>
          <a:ln/>
        </p:spPr>
        <p:txBody>
          <a:bodyPr wrap="square" lIns="0" tIns="0" rIns="0" bIns="0" rtlCol="0" anchor="ctr"/>
          <a:lstStyle/>
          <a:p>
            <a:r>
              <a:rPr lang="en-US" sz="1200" dirty="0">
                <a:latin typeface="Montserrat" panose="00000500000000000000" pitchFamily="2" charset="0"/>
                <a:ea typeface="Calibri" pitchFamily="34" charset="-122"/>
                <a:cs typeface="Calibri" pitchFamily="34" charset="-120"/>
              </a:rPr>
              <a:t>Multimodal, deep search integration</a:t>
            </a:r>
          </a:p>
        </p:txBody>
      </p:sp>
      <p:sp>
        <p:nvSpPr>
          <p:cNvPr id="34" name="Shape 21">
            <a:extLst>
              <a:ext uri="{FF2B5EF4-FFF2-40B4-BE49-F238E27FC236}">
                <a16:creationId xmlns:a16="http://schemas.microsoft.com/office/drawing/2014/main" id="{A9E1859F-6F6C-0BC2-A530-19D9E2BEFCDF}"/>
              </a:ext>
            </a:extLst>
          </p:cNvPr>
          <p:cNvSpPr/>
          <p:nvPr/>
        </p:nvSpPr>
        <p:spPr>
          <a:xfrm>
            <a:off x="663885" y="3619796"/>
            <a:ext cx="2879414" cy="204597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37" name="Text 24">
            <a:extLst>
              <a:ext uri="{FF2B5EF4-FFF2-40B4-BE49-F238E27FC236}">
                <a16:creationId xmlns:a16="http://schemas.microsoft.com/office/drawing/2014/main" id="{D3182B47-FD5C-5271-312A-C6CFFB69AB63}"/>
              </a:ext>
            </a:extLst>
          </p:cNvPr>
          <p:cNvSpPr/>
          <p:nvPr/>
        </p:nvSpPr>
        <p:spPr>
          <a:xfrm>
            <a:off x="850833" y="3863341"/>
            <a:ext cx="1828800" cy="365760"/>
          </a:xfrm>
          <a:prstGeom prst="rect">
            <a:avLst/>
          </a:prstGeom>
          <a:noFill/>
          <a:ln/>
        </p:spPr>
        <p:txBody>
          <a:bodyPr wrap="square" lIns="0" tIns="0" rIns="0" bIns="0" rtlCol="0" anchor="ctr"/>
          <a:lstStyle/>
          <a:p>
            <a:r>
              <a:rPr lang="en-US" sz="2000" b="1" dirty="0">
                <a:solidFill>
                  <a:srgbClr val="0C1752"/>
                </a:solidFill>
                <a:latin typeface="Montserrat" panose="00000500000000000000" pitchFamily="2" charset="0"/>
                <a:ea typeface="Calibri" pitchFamily="34" charset="-122"/>
                <a:cs typeface="Calibri" pitchFamily="34" charset="-120"/>
              </a:rPr>
              <a:t>Meta</a:t>
            </a:r>
          </a:p>
        </p:txBody>
      </p:sp>
      <p:sp>
        <p:nvSpPr>
          <p:cNvPr id="38" name="Text 25">
            <a:extLst>
              <a:ext uri="{FF2B5EF4-FFF2-40B4-BE49-F238E27FC236}">
                <a16:creationId xmlns:a16="http://schemas.microsoft.com/office/drawing/2014/main" id="{D7213190-38B9-1833-DA21-97C156032FD3}"/>
              </a:ext>
            </a:extLst>
          </p:cNvPr>
          <p:cNvSpPr/>
          <p:nvPr/>
        </p:nvSpPr>
        <p:spPr>
          <a:xfrm>
            <a:off x="839687" y="4541522"/>
            <a:ext cx="2549592" cy="365760"/>
          </a:xfrm>
          <a:prstGeom prst="rect">
            <a:avLst/>
          </a:prstGeom>
          <a:noFill/>
          <a:ln/>
        </p:spPr>
        <p:txBody>
          <a:bodyPr wrap="square" lIns="0" tIns="0" rIns="0" bIns="0" rtlCol="0" anchor="ctr"/>
          <a:lstStyle/>
          <a:p>
            <a:r>
              <a:rPr lang="en-US" sz="1600" dirty="0">
                <a:latin typeface="Montserrat" panose="00000500000000000000" pitchFamily="2" charset="0"/>
                <a:ea typeface="Calibri" pitchFamily="34" charset="-122"/>
                <a:cs typeface="Calibri" pitchFamily="34" charset="-120"/>
              </a:rPr>
              <a:t>Llama 3.x (open source)</a:t>
            </a:r>
          </a:p>
        </p:txBody>
      </p:sp>
      <p:sp>
        <p:nvSpPr>
          <p:cNvPr id="39" name="Text 26">
            <a:extLst>
              <a:ext uri="{FF2B5EF4-FFF2-40B4-BE49-F238E27FC236}">
                <a16:creationId xmlns:a16="http://schemas.microsoft.com/office/drawing/2014/main" id="{85E6D4C2-EDA1-2D78-3E8C-504E2FDEF63F}"/>
              </a:ext>
            </a:extLst>
          </p:cNvPr>
          <p:cNvSpPr/>
          <p:nvPr/>
        </p:nvSpPr>
        <p:spPr>
          <a:xfrm>
            <a:off x="839687" y="4953002"/>
            <a:ext cx="2286000" cy="502920"/>
          </a:xfrm>
          <a:prstGeom prst="rect">
            <a:avLst/>
          </a:prstGeom>
          <a:noFill/>
          <a:ln/>
        </p:spPr>
        <p:txBody>
          <a:bodyPr wrap="square" lIns="0" tIns="0" rIns="0" bIns="0" rtlCol="0" anchor="ctr"/>
          <a:lstStyle/>
          <a:p>
            <a:r>
              <a:rPr lang="en-US" sz="1200" dirty="0">
                <a:latin typeface="Montserrat" panose="00000500000000000000" pitchFamily="2" charset="0"/>
                <a:ea typeface="Calibri" pitchFamily="34" charset="-122"/>
                <a:cs typeface="Calibri" pitchFamily="34" charset="-120"/>
              </a:rPr>
              <a:t>Leading open-weight models</a:t>
            </a:r>
          </a:p>
        </p:txBody>
      </p:sp>
      <p:sp>
        <p:nvSpPr>
          <p:cNvPr id="40" name="Shape 27">
            <a:extLst>
              <a:ext uri="{FF2B5EF4-FFF2-40B4-BE49-F238E27FC236}">
                <a16:creationId xmlns:a16="http://schemas.microsoft.com/office/drawing/2014/main" id="{65BCD073-9E19-8C8E-45DE-4A1E056C5F13}"/>
              </a:ext>
            </a:extLst>
          </p:cNvPr>
          <p:cNvSpPr/>
          <p:nvPr/>
        </p:nvSpPr>
        <p:spPr>
          <a:xfrm>
            <a:off x="4266492" y="3625806"/>
            <a:ext cx="2882967" cy="2039959"/>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43" name="Text 30">
            <a:extLst>
              <a:ext uri="{FF2B5EF4-FFF2-40B4-BE49-F238E27FC236}">
                <a16:creationId xmlns:a16="http://schemas.microsoft.com/office/drawing/2014/main" id="{20AC09A4-CF9C-49F3-4A93-FF42BE8BCAB8}"/>
              </a:ext>
            </a:extLst>
          </p:cNvPr>
          <p:cNvSpPr/>
          <p:nvPr/>
        </p:nvSpPr>
        <p:spPr>
          <a:xfrm>
            <a:off x="4447154" y="3763559"/>
            <a:ext cx="1828800" cy="365760"/>
          </a:xfrm>
          <a:prstGeom prst="rect">
            <a:avLst/>
          </a:prstGeom>
          <a:noFill/>
          <a:ln/>
        </p:spPr>
        <p:txBody>
          <a:bodyPr wrap="square" lIns="0" tIns="0" rIns="0" bIns="0" rtlCol="0" anchor="ctr"/>
          <a:lstStyle/>
          <a:p>
            <a:r>
              <a:rPr lang="en-US" sz="2000" b="1" dirty="0">
                <a:solidFill>
                  <a:srgbClr val="0C1752"/>
                </a:solidFill>
                <a:latin typeface="Montserrat" panose="00000500000000000000" pitchFamily="2" charset="0"/>
                <a:ea typeface="Calibri" pitchFamily="34" charset="-122"/>
                <a:cs typeface="Calibri" pitchFamily="34" charset="-120"/>
              </a:rPr>
              <a:t>Mistral</a:t>
            </a:r>
          </a:p>
        </p:txBody>
      </p:sp>
      <p:sp>
        <p:nvSpPr>
          <p:cNvPr id="44" name="Text 31">
            <a:extLst>
              <a:ext uri="{FF2B5EF4-FFF2-40B4-BE49-F238E27FC236}">
                <a16:creationId xmlns:a16="http://schemas.microsoft.com/office/drawing/2014/main" id="{5CC91AF2-26BF-17C0-3696-467A2F21D8AD}"/>
              </a:ext>
            </a:extLst>
          </p:cNvPr>
          <p:cNvSpPr/>
          <p:nvPr/>
        </p:nvSpPr>
        <p:spPr>
          <a:xfrm>
            <a:off x="4447154" y="4344229"/>
            <a:ext cx="2286000" cy="365760"/>
          </a:xfrm>
          <a:prstGeom prst="rect">
            <a:avLst/>
          </a:prstGeom>
          <a:noFill/>
          <a:ln/>
        </p:spPr>
        <p:txBody>
          <a:bodyPr wrap="square" lIns="0" tIns="0" rIns="0" bIns="0" rtlCol="0" anchor="ctr"/>
          <a:lstStyle/>
          <a:p>
            <a:r>
              <a:rPr lang="en-US" sz="1600" dirty="0">
                <a:latin typeface="Montserrat" panose="00000500000000000000" pitchFamily="2" charset="0"/>
                <a:ea typeface="Calibri" pitchFamily="34" charset="-122"/>
                <a:cs typeface="Calibri" pitchFamily="34" charset="-120"/>
              </a:rPr>
              <a:t>Mistral Large, </a:t>
            </a:r>
            <a:r>
              <a:rPr lang="en-US" sz="1600" dirty="0" err="1">
                <a:latin typeface="Montserrat" panose="00000500000000000000" pitchFamily="2" charset="0"/>
                <a:ea typeface="Calibri" pitchFamily="34" charset="-122"/>
                <a:cs typeface="Calibri" pitchFamily="34" charset="-120"/>
              </a:rPr>
              <a:t>Mixtral</a:t>
            </a:r>
            <a:endParaRPr lang="en-US" sz="1600" dirty="0">
              <a:latin typeface="Montserrat" panose="00000500000000000000" pitchFamily="2" charset="0"/>
              <a:ea typeface="Calibri" pitchFamily="34" charset="-122"/>
              <a:cs typeface="Calibri" pitchFamily="34" charset="-120"/>
            </a:endParaRPr>
          </a:p>
        </p:txBody>
      </p:sp>
      <p:sp>
        <p:nvSpPr>
          <p:cNvPr id="45" name="Text 32">
            <a:extLst>
              <a:ext uri="{FF2B5EF4-FFF2-40B4-BE49-F238E27FC236}">
                <a16:creationId xmlns:a16="http://schemas.microsoft.com/office/drawing/2014/main" id="{53C722E8-CA99-1918-B120-F70454A7CEDD}"/>
              </a:ext>
            </a:extLst>
          </p:cNvPr>
          <p:cNvSpPr/>
          <p:nvPr/>
        </p:nvSpPr>
        <p:spPr>
          <a:xfrm>
            <a:off x="4471796" y="4954909"/>
            <a:ext cx="2286000" cy="502920"/>
          </a:xfrm>
          <a:prstGeom prst="rect">
            <a:avLst/>
          </a:prstGeom>
          <a:noFill/>
          <a:ln/>
        </p:spPr>
        <p:txBody>
          <a:bodyPr wrap="square" lIns="0" tIns="0" rIns="0" bIns="0" rtlCol="0" anchor="ctr"/>
          <a:lstStyle/>
          <a:p>
            <a:r>
              <a:rPr lang="en-US" sz="1200" dirty="0">
                <a:latin typeface="Montserrat" panose="00000500000000000000" pitchFamily="2" charset="0"/>
                <a:ea typeface="Calibri" pitchFamily="34" charset="-122"/>
                <a:cs typeface="Calibri" pitchFamily="34" charset="-120"/>
              </a:rPr>
              <a:t>EU-based, efficient architectures</a:t>
            </a:r>
          </a:p>
        </p:txBody>
      </p:sp>
      <p:sp>
        <p:nvSpPr>
          <p:cNvPr id="46" name="Shape 33">
            <a:extLst>
              <a:ext uri="{FF2B5EF4-FFF2-40B4-BE49-F238E27FC236}">
                <a16:creationId xmlns:a16="http://schemas.microsoft.com/office/drawing/2014/main" id="{168D162F-A812-D0F2-E859-2498FD4EDE0B}"/>
              </a:ext>
            </a:extLst>
          </p:cNvPr>
          <p:cNvSpPr/>
          <p:nvPr/>
        </p:nvSpPr>
        <p:spPr>
          <a:xfrm>
            <a:off x="8129239" y="3625806"/>
            <a:ext cx="2882966" cy="2031155"/>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49" name="Text 36">
            <a:extLst>
              <a:ext uri="{FF2B5EF4-FFF2-40B4-BE49-F238E27FC236}">
                <a16:creationId xmlns:a16="http://schemas.microsoft.com/office/drawing/2014/main" id="{EC25FF44-95BE-A00E-CC87-01911318E0C2}"/>
              </a:ext>
            </a:extLst>
          </p:cNvPr>
          <p:cNvSpPr/>
          <p:nvPr/>
        </p:nvSpPr>
        <p:spPr>
          <a:xfrm>
            <a:off x="8349320" y="3752427"/>
            <a:ext cx="1828800" cy="365760"/>
          </a:xfrm>
          <a:prstGeom prst="rect">
            <a:avLst/>
          </a:prstGeom>
          <a:noFill/>
          <a:ln/>
        </p:spPr>
        <p:txBody>
          <a:bodyPr wrap="square" lIns="0" tIns="0" rIns="0" bIns="0" rtlCol="0" anchor="ctr"/>
          <a:lstStyle/>
          <a:p>
            <a:r>
              <a:rPr lang="en-US" sz="2000" b="1" dirty="0" err="1">
                <a:solidFill>
                  <a:srgbClr val="0C1752"/>
                </a:solidFill>
                <a:latin typeface="Montserrat" panose="00000500000000000000" pitchFamily="2" charset="0"/>
                <a:ea typeface="Calibri" pitchFamily="34" charset="-122"/>
                <a:cs typeface="Calibri" pitchFamily="34" charset="-120"/>
              </a:rPr>
              <a:t>xAI</a:t>
            </a:r>
            <a:endParaRPr lang="en-US" sz="2000" b="1" dirty="0">
              <a:solidFill>
                <a:srgbClr val="0C1752"/>
              </a:solidFill>
              <a:latin typeface="Montserrat" panose="00000500000000000000" pitchFamily="2" charset="0"/>
              <a:ea typeface="Calibri" pitchFamily="34" charset="-122"/>
              <a:cs typeface="Calibri" pitchFamily="34" charset="-120"/>
            </a:endParaRPr>
          </a:p>
        </p:txBody>
      </p:sp>
      <p:sp>
        <p:nvSpPr>
          <p:cNvPr id="50" name="Text 37">
            <a:extLst>
              <a:ext uri="{FF2B5EF4-FFF2-40B4-BE49-F238E27FC236}">
                <a16:creationId xmlns:a16="http://schemas.microsoft.com/office/drawing/2014/main" id="{2F078FD8-EAF2-11CD-32EE-AA974111FAF3}"/>
              </a:ext>
            </a:extLst>
          </p:cNvPr>
          <p:cNvSpPr/>
          <p:nvPr/>
        </p:nvSpPr>
        <p:spPr>
          <a:xfrm>
            <a:off x="8266399" y="4220167"/>
            <a:ext cx="2286000" cy="365760"/>
          </a:xfrm>
          <a:prstGeom prst="rect">
            <a:avLst/>
          </a:prstGeom>
          <a:noFill/>
          <a:ln/>
        </p:spPr>
        <p:txBody>
          <a:bodyPr wrap="square" lIns="0" tIns="0" rIns="0" bIns="0" rtlCol="0" anchor="ctr"/>
          <a:lstStyle/>
          <a:p>
            <a:r>
              <a:rPr lang="en-US" sz="1600" dirty="0">
                <a:latin typeface="Montserrat" panose="00000500000000000000" pitchFamily="2" charset="0"/>
                <a:ea typeface="Calibri" pitchFamily="34" charset="-122"/>
                <a:cs typeface="Calibri" pitchFamily="34" charset="-120"/>
              </a:rPr>
              <a:t>Grok 4</a:t>
            </a:r>
          </a:p>
        </p:txBody>
      </p:sp>
      <p:sp>
        <p:nvSpPr>
          <p:cNvPr id="51" name="Text 38">
            <a:extLst>
              <a:ext uri="{FF2B5EF4-FFF2-40B4-BE49-F238E27FC236}">
                <a16:creationId xmlns:a16="http://schemas.microsoft.com/office/drawing/2014/main" id="{C6819B13-CA34-DE3D-4F7A-33378E0ACF42}"/>
              </a:ext>
            </a:extLst>
          </p:cNvPr>
          <p:cNvSpPr/>
          <p:nvPr/>
        </p:nvSpPr>
        <p:spPr>
          <a:xfrm>
            <a:off x="8266398" y="4631647"/>
            <a:ext cx="2382281" cy="502920"/>
          </a:xfrm>
          <a:prstGeom prst="rect">
            <a:avLst/>
          </a:prstGeom>
          <a:noFill/>
          <a:ln/>
        </p:spPr>
        <p:txBody>
          <a:bodyPr wrap="square" lIns="0" tIns="0" rIns="0" bIns="0" rtlCol="0" anchor="ctr"/>
          <a:lstStyle/>
          <a:p>
            <a:r>
              <a:rPr lang="en-US" sz="1200" dirty="0">
                <a:latin typeface="Montserrat" panose="00000500000000000000" pitchFamily="2" charset="0"/>
                <a:ea typeface="Calibri" pitchFamily="34" charset="-122"/>
                <a:cs typeface="Calibri" pitchFamily="34" charset="-120"/>
              </a:rPr>
              <a:t>Strong benchmarks, real-time data</a:t>
            </a:r>
          </a:p>
        </p:txBody>
      </p:sp>
      <p:pic>
        <p:nvPicPr>
          <p:cNvPr id="4098" name="Picture 2" descr="OpenAI Logo &amp; Brand Assets (SVG, PNG and vector) - Brandfetch">
            <a:extLst>
              <a:ext uri="{FF2B5EF4-FFF2-40B4-BE49-F238E27FC236}">
                <a16:creationId xmlns:a16="http://schemas.microsoft.com/office/drawing/2014/main" id="{2FACB026-C7A5-65D4-1800-D114B4427E8A}"/>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93580" y="1018243"/>
            <a:ext cx="841184" cy="84118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nthropic icon in Windows 11 Color Style">
            <a:extLst>
              <a:ext uri="{FF2B5EF4-FFF2-40B4-BE49-F238E27FC236}">
                <a16:creationId xmlns:a16="http://schemas.microsoft.com/office/drawing/2014/main" id="{74DFFACA-A3BC-F8F3-D12B-04F18DC54C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4834" y="1043940"/>
            <a:ext cx="669734" cy="66973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a:extLst>
              <a:ext uri="{FF2B5EF4-FFF2-40B4-BE49-F238E27FC236}">
                <a16:creationId xmlns:a16="http://schemas.microsoft.com/office/drawing/2014/main" id="{8C23AC49-84EE-5C1F-CE0B-FEAD650C0CA2}"/>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9841996" y="1057571"/>
            <a:ext cx="740023" cy="740023"/>
          </a:xfrm>
          <a:prstGeom prst="rect">
            <a:avLst/>
          </a:prstGeom>
        </p:spPr>
      </p:pic>
      <p:pic>
        <p:nvPicPr>
          <p:cNvPr id="54" name="Picture 7" descr="Llama 2 Model Details">
            <a:extLst>
              <a:ext uri="{FF2B5EF4-FFF2-40B4-BE49-F238E27FC236}">
                <a16:creationId xmlns:a16="http://schemas.microsoft.com/office/drawing/2014/main" id="{A4F951B7-8CC2-097D-1173-FE5209492DB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0840" b="26118"/>
          <a:stretch/>
        </p:blipFill>
        <p:spPr bwMode="auto">
          <a:xfrm>
            <a:off x="1802790" y="3760768"/>
            <a:ext cx="1754195" cy="583461"/>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Mistral AI Icon logo transparent PNG - StickPNG">
            <a:extLst>
              <a:ext uri="{FF2B5EF4-FFF2-40B4-BE49-F238E27FC236}">
                <a16:creationId xmlns:a16="http://schemas.microsoft.com/office/drawing/2014/main" id="{846A1C80-87F0-0E56-3A9B-01EC2164FA2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06321" y="3703468"/>
            <a:ext cx="992826" cy="635974"/>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xAI | LinkedIn">
            <a:extLst>
              <a:ext uri="{FF2B5EF4-FFF2-40B4-BE49-F238E27FC236}">
                <a16:creationId xmlns:a16="http://schemas.microsoft.com/office/drawing/2014/main" id="{F2F27BB1-CC8F-35E4-AD39-AE5B8801FC7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90695" y="3582525"/>
            <a:ext cx="761704" cy="761704"/>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8" descr="The Progress of Perplexity AI - EGC Group">
            <a:extLst>
              <a:ext uri="{FF2B5EF4-FFF2-40B4-BE49-F238E27FC236}">
                <a16:creationId xmlns:a16="http://schemas.microsoft.com/office/drawing/2014/main" id="{19BD4E36-783E-3978-16DC-B90FCB1A671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3083" t="25571" r="10718" b="20870"/>
          <a:stretch/>
        </p:blipFill>
        <p:spPr bwMode="auto">
          <a:xfrm>
            <a:off x="1353325" y="6088313"/>
            <a:ext cx="1788202" cy="499179"/>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What is DeepSeek: China's open-source AI research lab which rivals OpenAI |  World News - Business Standard">
            <a:extLst>
              <a:ext uri="{FF2B5EF4-FFF2-40B4-BE49-F238E27FC236}">
                <a16:creationId xmlns:a16="http://schemas.microsoft.com/office/drawing/2014/main" id="{86A3116A-87FC-DD65-F884-3D06EE4171A0}"/>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36" t="37108" r="14033" b="33399"/>
          <a:stretch/>
        </p:blipFill>
        <p:spPr bwMode="auto">
          <a:xfrm>
            <a:off x="3615166" y="6057949"/>
            <a:ext cx="1959042" cy="473240"/>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a:extLst>
              <a:ext uri="{FF2B5EF4-FFF2-40B4-BE49-F238E27FC236}">
                <a16:creationId xmlns:a16="http://schemas.microsoft.com/office/drawing/2014/main" id="{45D438EB-DBA4-C53D-D8A5-377A782DA7C1}"/>
              </a:ext>
            </a:extLst>
          </p:cNvPr>
          <p:cNvPicPr>
            <a:picLocks noChangeAspect="1" noChangeArrowheads="1"/>
          </p:cNvPicPr>
          <p:nvPr/>
        </p:nvPicPr>
        <p:blipFill>
          <a:blip r:embed="rId12">
            <a:duotone>
              <a:prstClr val="black"/>
              <a:schemeClr val="accent1">
                <a:tint val="45000"/>
                <a:satMod val="400000"/>
              </a:schemeClr>
            </a:duotone>
            <a:extLst>
              <a:ext uri="{BEBA8EAE-BF5A-486C-A8C5-ECC9F3942E4B}">
                <a14:imgProps xmlns:a14="http://schemas.microsoft.com/office/drawing/2010/main">
                  <a14:imgLayer r:embed="rId13">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6096000" y="6025613"/>
            <a:ext cx="2556191" cy="511238"/>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58">
            <a:extLst>
              <a:ext uri="{FF2B5EF4-FFF2-40B4-BE49-F238E27FC236}">
                <a16:creationId xmlns:a16="http://schemas.microsoft.com/office/drawing/2014/main" id="{292CD2BC-9AFE-69B4-1837-C02614515507}"/>
              </a:ext>
            </a:extLst>
          </p:cNvPr>
          <p:cNvPicPr>
            <a:picLocks noChangeAspect="1"/>
          </p:cNvPicPr>
          <p:nvPr/>
        </p:nvPicPr>
        <p:blipFill>
          <a:blip r:embed="rId14"/>
          <a:stretch>
            <a:fillRect/>
          </a:stretch>
        </p:blipFill>
        <p:spPr>
          <a:xfrm>
            <a:off x="9263720" y="5933068"/>
            <a:ext cx="1681129" cy="684904"/>
          </a:xfrm>
          <a:prstGeom prst="rect">
            <a:avLst/>
          </a:prstGeom>
        </p:spPr>
      </p:pic>
    </p:spTree>
    <p:extLst>
      <p:ext uri="{BB962C8B-B14F-4D97-AF65-F5344CB8AC3E}">
        <p14:creationId xmlns:p14="http://schemas.microsoft.com/office/powerpoint/2010/main" val="1744108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52EC8-EBD8-C566-B206-96BCFFA9D2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4F4ACDC-94E1-B3B7-F2C8-191F3107002E}"/>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F0F55077-B8A7-1B91-4194-74DE4063701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300DCEAC-65CD-2EE8-4CA5-1FE76D82274F}"/>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Open Source Vs. Closed Source Models</a:t>
            </a:r>
          </a:p>
        </p:txBody>
      </p:sp>
      <p:sp>
        <p:nvSpPr>
          <p:cNvPr id="9" name="TextBox 8">
            <a:extLst>
              <a:ext uri="{FF2B5EF4-FFF2-40B4-BE49-F238E27FC236}">
                <a16:creationId xmlns:a16="http://schemas.microsoft.com/office/drawing/2014/main" id="{AB4D5900-620F-47FA-05E3-5B13321CAA63}"/>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EDACB928-0ACB-1BB6-BF1C-6C6A78BCCDEB}"/>
              </a:ext>
            </a:extLst>
          </p:cNvPr>
          <p:cNvSpPr txBox="1"/>
          <p:nvPr/>
        </p:nvSpPr>
        <p:spPr>
          <a:xfrm>
            <a:off x="-32773" y="733839"/>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endParaRPr lang="en-US" sz="1400" dirty="0"/>
          </a:p>
        </p:txBody>
      </p:sp>
      <p:sp>
        <p:nvSpPr>
          <p:cNvPr id="20" name="Rectangle 2">
            <a:extLst>
              <a:ext uri="{FF2B5EF4-FFF2-40B4-BE49-F238E27FC236}">
                <a16:creationId xmlns:a16="http://schemas.microsoft.com/office/drawing/2014/main" id="{A213DA4C-254B-D7F7-38BB-403A2FECEB52}"/>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4" name="Shape 3">
            <a:extLst>
              <a:ext uri="{FF2B5EF4-FFF2-40B4-BE49-F238E27FC236}">
                <a16:creationId xmlns:a16="http://schemas.microsoft.com/office/drawing/2014/main" id="{EBBAA77E-94A9-9F02-6E79-C26BA4673D67}"/>
              </a:ext>
            </a:extLst>
          </p:cNvPr>
          <p:cNvSpPr/>
          <p:nvPr/>
        </p:nvSpPr>
        <p:spPr>
          <a:xfrm>
            <a:off x="700691" y="2034063"/>
            <a:ext cx="4480560" cy="4465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8" name="Shape 4">
            <a:extLst>
              <a:ext uri="{FF2B5EF4-FFF2-40B4-BE49-F238E27FC236}">
                <a16:creationId xmlns:a16="http://schemas.microsoft.com/office/drawing/2014/main" id="{122222B8-AD0E-43AF-B9A7-A6109BBC5532}"/>
              </a:ext>
            </a:extLst>
          </p:cNvPr>
          <p:cNvSpPr/>
          <p:nvPr/>
        </p:nvSpPr>
        <p:spPr>
          <a:xfrm>
            <a:off x="700691" y="2034063"/>
            <a:ext cx="4480560" cy="502920"/>
          </a:xfrm>
          <a:prstGeom prst="rect">
            <a:avLst/>
          </a:prstGeom>
          <a:solidFill>
            <a:srgbClr val="0C1752"/>
          </a:solidFill>
          <a:ln/>
        </p:spPr>
        <p:txBody>
          <a:bodyPr/>
          <a:lstStyle/>
          <a:p>
            <a:endParaRPr lang="en-CA">
              <a:latin typeface="Montserrat" panose="00000500000000000000" pitchFamily="2" charset="0"/>
            </a:endParaRPr>
          </a:p>
        </p:txBody>
      </p:sp>
      <p:sp>
        <p:nvSpPr>
          <p:cNvPr id="10" name="Text 5">
            <a:extLst>
              <a:ext uri="{FF2B5EF4-FFF2-40B4-BE49-F238E27FC236}">
                <a16:creationId xmlns:a16="http://schemas.microsoft.com/office/drawing/2014/main" id="{A36CED3F-6F1D-F0D6-7101-56AB9EA5AA90}"/>
              </a:ext>
            </a:extLst>
          </p:cNvPr>
          <p:cNvSpPr/>
          <p:nvPr/>
        </p:nvSpPr>
        <p:spPr>
          <a:xfrm>
            <a:off x="700691" y="2034063"/>
            <a:ext cx="3749040" cy="502920"/>
          </a:xfrm>
          <a:prstGeom prst="rect">
            <a:avLst/>
          </a:prstGeom>
          <a:noFill/>
          <a:ln/>
        </p:spPr>
        <p:txBody>
          <a:bodyPr wrap="square" lIns="0" tIns="0" rIns="0" bIns="0" rtlCol="0" anchor="ctr"/>
          <a:lstStyle/>
          <a:p>
            <a:pPr marL="0" indent="0" algn="ctr">
              <a:buNone/>
            </a:pPr>
            <a:r>
              <a:rPr lang="en-US" b="1" dirty="0">
                <a:solidFill>
                  <a:srgbClr val="FFFFFF"/>
                </a:solidFill>
                <a:latin typeface="Montserrat" panose="00000500000000000000" pitchFamily="2" charset="0"/>
                <a:ea typeface="Calibri" pitchFamily="34" charset="-122"/>
                <a:cs typeface="Calibri" pitchFamily="34" charset="-120"/>
              </a:rPr>
              <a:t>Open Source / Open Weight</a:t>
            </a:r>
            <a:endParaRPr lang="en-US" dirty="0">
              <a:latin typeface="Montserrat" panose="00000500000000000000" pitchFamily="2" charset="0"/>
            </a:endParaRPr>
          </a:p>
        </p:txBody>
      </p:sp>
      <p:sp>
        <p:nvSpPr>
          <p:cNvPr id="11" name="Text 6">
            <a:extLst>
              <a:ext uri="{FF2B5EF4-FFF2-40B4-BE49-F238E27FC236}">
                <a16:creationId xmlns:a16="http://schemas.microsoft.com/office/drawing/2014/main" id="{83796633-7A2A-031D-B10E-99F9CAB8EC08}"/>
              </a:ext>
            </a:extLst>
          </p:cNvPr>
          <p:cNvSpPr/>
          <p:nvPr/>
        </p:nvSpPr>
        <p:spPr>
          <a:xfrm>
            <a:off x="883571" y="2674143"/>
            <a:ext cx="4202430" cy="3337560"/>
          </a:xfrm>
          <a:prstGeom prst="rect">
            <a:avLst/>
          </a:prstGeom>
          <a:noFill/>
          <a:ln/>
        </p:spPr>
        <p:txBody>
          <a:bodyPr wrap="square" rtlCol="0" anchor="ctr"/>
          <a:lstStyle/>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Weights publicly available for download</a:t>
            </a:r>
            <a:endParaRPr lang="en-US" dirty="0">
              <a:solidFill>
                <a:srgbClr val="0C1752"/>
              </a:solidFill>
              <a:latin typeface="Montserrat" panose="00000500000000000000" pitchFamily="2" charset="0"/>
            </a:endParaRPr>
          </a:p>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Can run locally or on your own infra</a:t>
            </a:r>
            <a:endParaRPr lang="en-US" dirty="0">
              <a:solidFill>
                <a:srgbClr val="0C1752"/>
              </a:solidFill>
              <a:latin typeface="Montserrat" panose="00000500000000000000" pitchFamily="2" charset="0"/>
            </a:endParaRPr>
          </a:p>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Full control &amp; customization</a:t>
            </a:r>
            <a:endParaRPr lang="en-US" dirty="0">
              <a:solidFill>
                <a:srgbClr val="0C1752"/>
              </a:solidFill>
              <a:latin typeface="Montserrat" panose="00000500000000000000" pitchFamily="2" charset="0"/>
            </a:endParaRPr>
          </a:p>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Examples: Llama 3, Mistral, Gemma, Qwen</a:t>
            </a:r>
            <a:endParaRPr lang="en-US" dirty="0">
              <a:solidFill>
                <a:srgbClr val="0C1752"/>
              </a:solidFill>
              <a:latin typeface="Montserrat" panose="00000500000000000000" pitchFamily="2" charset="0"/>
            </a:endParaRPr>
          </a:p>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Lower cost at scale, data stays private</a:t>
            </a:r>
            <a:endParaRPr lang="en-US" dirty="0">
              <a:solidFill>
                <a:srgbClr val="0C1752"/>
              </a:solidFill>
              <a:latin typeface="Montserrat" panose="00000500000000000000" pitchFamily="2" charset="0"/>
            </a:endParaRPr>
          </a:p>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Community-driven innovation</a:t>
            </a:r>
            <a:endParaRPr lang="en-US" dirty="0">
              <a:solidFill>
                <a:srgbClr val="0C1752"/>
              </a:solidFill>
              <a:latin typeface="Montserrat" panose="00000500000000000000" pitchFamily="2" charset="0"/>
            </a:endParaRPr>
          </a:p>
        </p:txBody>
      </p:sp>
      <p:sp>
        <p:nvSpPr>
          <p:cNvPr id="12" name="Shape 7">
            <a:extLst>
              <a:ext uri="{FF2B5EF4-FFF2-40B4-BE49-F238E27FC236}">
                <a16:creationId xmlns:a16="http://schemas.microsoft.com/office/drawing/2014/main" id="{8348496D-2D22-5D14-37D9-FD6CA0A23161}"/>
              </a:ext>
            </a:extLst>
          </p:cNvPr>
          <p:cNvSpPr/>
          <p:nvPr/>
        </p:nvSpPr>
        <p:spPr>
          <a:xfrm>
            <a:off x="6503321" y="2017259"/>
            <a:ext cx="4724399" cy="4482124"/>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13" name="Shape 8">
            <a:extLst>
              <a:ext uri="{FF2B5EF4-FFF2-40B4-BE49-F238E27FC236}">
                <a16:creationId xmlns:a16="http://schemas.microsoft.com/office/drawing/2014/main" id="{D885CD49-BE08-09AB-DAE5-9B28FCEA87FD}"/>
              </a:ext>
            </a:extLst>
          </p:cNvPr>
          <p:cNvSpPr/>
          <p:nvPr/>
        </p:nvSpPr>
        <p:spPr>
          <a:xfrm>
            <a:off x="6503321" y="2017259"/>
            <a:ext cx="4724399" cy="502920"/>
          </a:xfrm>
          <a:prstGeom prst="rect">
            <a:avLst/>
          </a:prstGeom>
          <a:solidFill>
            <a:srgbClr val="D56E48"/>
          </a:solidFill>
          <a:ln/>
        </p:spPr>
        <p:txBody>
          <a:bodyPr/>
          <a:lstStyle/>
          <a:p>
            <a:endParaRPr lang="en-CA">
              <a:latin typeface="Montserrat" panose="00000500000000000000" pitchFamily="2" charset="0"/>
            </a:endParaRPr>
          </a:p>
        </p:txBody>
      </p:sp>
      <p:sp>
        <p:nvSpPr>
          <p:cNvPr id="14" name="Text 9">
            <a:extLst>
              <a:ext uri="{FF2B5EF4-FFF2-40B4-BE49-F238E27FC236}">
                <a16:creationId xmlns:a16="http://schemas.microsoft.com/office/drawing/2014/main" id="{D2CB7954-0761-7207-304B-3D7EB3BEB958}"/>
              </a:ext>
            </a:extLst>
          </p:cNvPr>
          <p:cNvSpPr/>
          <p:nvPr/>
        </p:nvSpPr>
        <p:spPr>
          <a:xfrm>
            <a:off x="6896760" y="2017259"/>
            <a:ext cx="374904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anose="00000500000000000000" pitchFamily="2" charset="0"/>
                <a:ea typeface="Calibri" pitchFamily="34" charset="-122"/>
                <a:cs typeface="Calibri" pitchFamily="34" charset="-120"/>
              </a:rPr>
              <a:t>Closed Source / Proprietary</a:t>
            </a:r>
            <a:endParaRPr lang="en-US" sz="1600" dirty="0">
              <a:latin typeface="Montserrat" panose="00000500000000000000" pitchFamily="2" charset="0"/>
            </a:endParaRPr>
          </a:p>
        </p:txBody>
      </p:sp>
      <p:sp>
        <p:nvSpPr>
          <p:cNvPr id="16" name="Text 10">
            <a:extLst>
              <a:ext uri="{FF2B5EF4-FFF2-40B4-BE49-F238E27FC236}">
                <a16:creationId xmlns:a16="http://schemas.microsoft.com/office/drawing/2014/main" id="{9875AFA2-7401-0A1E-7D6E-6B6C12D368B8}"/>
              </a:ext>
            </a:extLst>
          </p:cNvPr>
          <p:cNvSpPr/>
          <p:nvPr/>
        </p:nvSpPr>
        <p:spPr>
          <a:xfrm>
            <a:off x="7040586" y="2886721"/>
            <a:ext cx="4043306" cy="2743200"/>
          </a:xfrm>
          <a:prstGeom prst="rect">
            <a:avLst/>
          </a:prstGeom>
          <a:noFill/>
          <a:ln/>
        </p:spPr>
        <p:txBody>
          <a:bodyPr wrap="square" rtlCol="0" anchor="ctr"/>
          <a:lstStyle/>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Access via API only</a:t>
            </a:r>
          </a:p>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Managed infrastructure &amp; scaling</a:t>
            </a:r>
          </a:p>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Often highest benchmark scores</a:t>
            </a:r>
          </a:p>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Examples: GPT-5, Claude, Gemini Pro</a:t>
            </a:r>
          </a:p>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Pay-per-token pricing model</a:t>
            </a:r>
          </a:p>
          <a:p>
            <a:pPr marL="285750" indent="-285750">
              <a:spcAft>
                <a:spcPts val="600"/>
              </a:spcAft>
              <a:buSzPct val="100000"/>
              <a:buFont typeface="Arial" panose="020B0604020202020204" pitchFamily="34" charset="0"/>
              <a:buChar char="•"/>
            </a:pPr>
            <a:r>
              <a:rPr lang="en-US" dirty="0">
                <a:solidFill>
                  <a:srgbClr val="0C1752"/>
                </a:solidFill>
                <a:latin typeface="Montserrat" panose="00000500000000000000" pitchFamily="2" charset="0"/>
                <a:ea typeface="Calibri" pitchFamily="34" charset="-122"/>
                <a:cs typeface="Calibri" pitchFamily="34" charset="-120"/>
              </a:rPr>
              <a:t>Vendor lock-in &amp; data privacy concerns</a:t>
            </a:r>
          </a:p>
        </p:txBody>
      </p:sp>
      <p:pic>
        <p:nvPicPr>
          <p:cNvPr id="17" name="Picture 7" descr="Llama 2 Model Details">
            <a:extLst>
              <a:ext uri="{FF2B5EF4-FFF2-40B4-BE49-F238E27FC236}">
                <a16:creationId xmlns:a16="http://schemas.microsoft.com/office/drawing/2014/main" id="{2DE3A114-706F-9731-9D8B-6E89224A6A6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0840" b="26118"/>
          <a:stretch/>
        </p:blipFill>
        <p:spPr bwMode="auto">
          <a:xfrm>
            <a:off x="969455" y="1465545"/>
            <a:ext cx="1513843" cy="50351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OpenAI Logo &amp; Brand Assets (SVG, PNG and vector) - Brandfetch">
            <a:extLst>
              <a:ext uri="{FF2B5EF4-FFF2-40B4-BE49-F238E27FC236}">
                <a16:creationId xmlns:a16="http://schemas.microsoft.com/office/drawing/2014/main" id="{46D619FD-5543-10A7-ED14-4C238392FC93}"/>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74551" y="1191949"/>
            <a:ext cx="841184" cy="84118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Anthropic icon in Windows 11 Color Style">
            <a:extLst>
              <a:ext uri="{FF2B5EF4-FFF2-40B4-BE49-F238E27FC236}">
                <a16:creationId xmlns:a16="http://schemas.microsoft.com/office/drawing/2014/main" id="{58629F5C-60CC-93C8-2E4C-48B01D478C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0696" y="1250502"/>
            <a:ext cx="669734" cy="66973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1A655CA6-10D3-5992-D0D8-EA61D03BB608}"/>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8302770" y="1219912"/>
            <a:ext cx="740023" cy="740023"/>
          </a:xfrm>
          <a:prstGeom prst="rect">
            <a:avLst/>
          </a:prstGeom>
        </p:spPr>
      </p:pic>
      <p:pic>
        <p:nvPicPr>
          <p:cNvPr id="22" name="Picture 10" descr="xAI | LinkedIn">
            <a:extLst>
              <a:ext uri="{FF2B5EF4-FFF2-40B4-BE49-F238E27FC236}">
                <a16:creationId xmlns:a16="http://schemas.microsoft.com/office/drawing/2014/main" id="{75C16C7B-CD7E-D902-0B2D-A82AAF4431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87328" y="1164713"/>
            <a:ext cx="761704" cy="76170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What is DeepSeek: China's open-source AI research lab which rivals OpenAI |  World News - Business Standard">
            <a:extLst>
              <a:ext uri="{FF2B5EF4-FFF2-40B4-BE49-F238E27FC236}">
                <a16:creationId xmlns:a16="http://schemas.microsoft.com/office/drawing/2014/main" id="{E9EEFFF3-0579-786B-6797-C2BF1538A4E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236" t="37108" r="14033" b="33399"/>
          <a:stretch/>
        </p:blipFill>
        <p:spPr bwMode="auto">
          <a:xfrm>
            <a:off x="3190920" y="1089781"/>
            <a:ext cx="1669089" cy="40319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4">
            <a:extLst>
              <a:ext uri="{FF2B5EF4-FFF2-40B4-BE49-F238E27FC236}">
                <a16:creationId xmlns:a16="http://schemas.microsoft.com/office/drawing/2014/main" id="{1194F13A-F063-BD82-C13E-F4DD6E0C0E82}"/>
              </a:ext>
            </a:extLst>
          </p:cNvPr>
          <p:cNvPicPr>
            <a:picLocks noChangeAspect="1" noChangeArrowheads="1"/>
          </p:cNvPicPr>
          <p:nvPr/>
        </p:nvPicPr>
        <p:blipFill>
          <a:blip r:embed="rId10">
            <a:duotone>
              <a:prstClr val="black"/>
              <a:schemeClr val="accent1">
                <a:tint val="45000"/>
                <a:satMod val="400000"/>
              </a:schemeClr>
            </a:duotone>
            <a:extLst>
              <a:ext uri="{BEBA8EAE-BF5A-486C-A8C5-ECC9F3942E4B}">
                <a14:imgProps xmlns:a14="http://schemas.microsoft.com/office/drawing/2010/main">
                  <a14:imgLayer r:embed="rId11">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798679" y="1062348"/>
            <a:ext cx="1961574" cy="39231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97F8BD68-79C5-5CCB-3788-A4E7A6932E84}"/>
              </a:ext>
            </a:extLst>
          </p:cNvPr>
          <p:cNvPicPr>
            <a:picLocks noChangeAspect="1"/>
          </p:cNvPicPr>
          <p:nvPr/>
        </p:nvPicPr>
        <p:blipFill>
          <a:blip r:embed="rId12">
            <a:clrChange>
              <a:clrFrom>
                <a:srgbClr val="FFFFFF"/>
              </a:clrFrom>
              <a:clrTo>
                <a:srgbClr val="FFFFFF">
                  <a:alpha val="0"/>
                </a:srgbClr>
              </a:clrTo>
            </a:clrChange>
          </a:blip>
          <a:stretch>
            <a:fillRect/>
          </a:stretch>
        </p:blipFill>
        <p:spPr>
          <a:xfrm>
            <a:off x="3011255" y="1374160"/>
            <a:ext cx="1986585" cy="809349"/>
          </a:xfrm>
          <a:prstGeom prst="rect">
            <a:avLst/>
          </a:prstGeom>
        </p:spPr>
      </p:pic>
      <p:pic>
        <p:nvPicPr>
          <p:cNvPr id="1026" name="Picture 2" descr="Perplexity Free SVG, PNG, and vector... · LobeHub">
            <a:extLst>
              <a:ext uri="{FF2B5EF4-FFF2-40B4-BE49-F238E27FC236}">
                <a16:creationId xmlns:a16="http://schemas.microsoft.com/office/drawing/2014/main" id="{52FB6552-0F9F-072F-706D-C2317E53583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179013" y="1295003"/>
            <a:ext cx="631414" cy="631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711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10" presetClass="entr" presetSubtype="0"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par>
                                <p:cTn id="55" presetID="10" presetClass="entr" presetSubtype="0" fill="hold" nodeType="withEffect">
                                  <p:stCondLst>
                                    <p:cond delay="0"/>
                                  </p:stCondLst>
                                  <p:childTnLst>
                                    <p:set>
                                      <p:cBhvr>
                                        <p:cTn id="56" dur="1" fill="hold">
                                          <p:stCondLst>
                                            <p:cond delay="0"/>
                                          </p:stCondLst>
                                        </p:cTn>
                                        <p:tgtEl>
                                          <p:spTgt spid="1026"/>
                                        </p:tgtEl>
                                        <p:attrNameLst>
                                          <p:attrName>style.visibility</p:attrName>
                                        </p:attrNameLst>
                                      </p:cBhvr>
                                      <p:to>
                                        <p:strVal val="visible"/>
                                      </p:to>
                                    </p:set>
                                    <p:animEffect transition="in" filter="fade">
                                      <p:cBhvr>
                                        <p:cTn id="5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0" grpId="0" animBg="1"/>
      <p:bldP spid="11" grpId="0" animBg="1"/>
      <p:bldP spid="12" grpId="0" animBg="1"/>
      <p:bldP spid="13" grpId="0" animBg="1"/>
      <p:bldP spid="14"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C3B19-E5F2-9D62-3D76-4C4834106E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AA564CE-B2BE-4E37-78FE-0B6C4B1B64FD}"/>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757293F0-63F5-68FA-6ABC-C6E6665173BC}"/>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767A2646-7C99-E3EE-B263-913A324328E7}"/>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How to Compare LLMs?</a:t>
            </a:r>
          </a:p>
        </p:txBody>
      </p:sp>
      <p:sp>
        <p:nvSpPr>
          <p:cNvPr id="9" name="TextBox 8">
            <a:extLst>
              <a:ext uri="{FF2B5EF4-FFF2-40B4-BE49-F238E27FC236}">
                <a16:creationId xmlns:a16="http://schemas.microsoft.com/office/drawing/2014/main" id="{0C19A88C-F068-368A-09C0-FD7DAC593952}"/>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A9C899B3-691E-2DAD-B134-2339E9220F57}"/>
              </a:ext>
            </a:extLst>
          </p:cNvPr>
          <p:cNvSpPr txBox="1"/>
          <p:nvPr/>
        </p:nvSpPr>
        <p:spPr>
          <a:xfrm>
            <a:off x="-32773" y="733839"/>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endParaRPr lang="en-US" sz="1400" dirty="0"/>
          </a:p>
        </p:txBody>
      </p:sp>
      <p:sp>
        <p:nvSpPr>
          <p:cNvPr id="20" name="Rectangle 2">
            <a:extLst>
              <a:ext uri="{FF2B5EF4-FFF2-40B4-BE49-F238E27FC236}">
                <a16:creationId xmlns:a16="http://schemas.microsoft.com/office/drawing/2014/main" id="{AC756D33-BBA4-A382-28EC-6BF9AB9859F4}"/>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graphicFrame>
        <p:nvGraphicFramePr>
          <p:cNvPr id="2" name="Diagram 1">
            <a:extLst>
              <a:ext uri="{FF2B5EF4-FFF2-40B4-BE49-F238E27FC236}">
                <a16:creationId xmlns:a16="http://schemas.microsoft.com/office/drawing/2014/main" id="{A1DCB368-3D5C-7126-3C28-D74822471FB5}"/>
              </a:ext>
            </a:extLst>
          </p:cNvPr>
          <p:cNvGraphicFramePr/>
          <p:nvPr>
            <p:extLst>
              <p:ext uri="{D42A27DB-BD31-4B8C-83A1-F6EECF244321}">
                <p14:modId xmlns:p14="http://schemas.microsoft.com/office/powerpoint/2010/main" val="3457608239"/>
              </p:ext>
            </p:extLst>
          </p:nvPr>
        </p:nvGraphicFramePr>
        <p:xfrm>
          <a:off x="154722" y="1044193"/>
          <a:ext cx="11437203" cy="496961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14893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22A683DA-2E6C-4A1D-B5EB-00B316BB5618}"/>
                                            </p:graphicEl>
                                          </p:spTgt>
                                        </p:tgtEl>
                                        <p:attrNameLst>
                                          <p:attrName>style.visibility</p:attrName>
                                        </p:attrNameLst>
                                      </p:cBhvr>
                                      <p:to>
                                        <p:strVal val="visible"/>
                                      </p:to>
                                    </p:set>
                                    <p:animEffect transition="in" filter="fade">
                                      <p:cBhvr>
                                        <p:cTn id="7" dur="500"/>
                                        <p:tgtEl>
                                          <p:spTgt spid="2">
                                            <p:graphicEl>
                                              <a:dgm id="{22A683DA-2E6C-4A1D-B5EB-00B316BB5618}"/>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91CC4636-DDCB-4FB1-83BD-729F95322A26}"/>
                                            </p:graphicEl>
                                          </p:spTgt>
                                        </p:tgtEl>
                                        <p:attrNameLst>
                                          <p:attrName>style.visibility</p:attrName>
                                        </p:attrNameLst>
                                      </p:cBhvr>
                                      <p:to>
                                        <p:strVal val="visible"/>
                                      </p:to>
                                    </p:set>
                                    <p:animEffect transition="in" filter="fade">
                                      <p:cBhvr>
                                        <p:cTn id="12" dur="500"/>
                                        <p:tgtEl>
                                          <p:spTgt spid="2">
                                            <p:graphicEl>
                                              <a:dgm id="{91CC4636-DDCB-4FB1-83BD-729F95322A2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5F91D587-461E-40AC-AD18-81F1604A5BB0}"/>
                                            </p:graphicEl>
                                          </p:spTgt>
                                        </p:tgtEl>
                                        <p:attrNameLst>
                                          <p:attrName>style.visibility</p:attrName>
                                        </p:attrNameLst>
                                      </p:cBhvr>
                                      <p:to>
                                        <p:strVal val="visible"/>
                                      </p:to>
                                    </p:set>
                                    <p:animEffect transition="in" filter="fade">
                                      <p:cBhvr>
                                        <p:cTn id="17" dur="500"/>
                                        <p:tgtEl>
                                          <p:spTgt spid="2">
                                            <p:graphicEl>
                                              <a:dgm id="{5F91D587-461E-40AC-AD18-81F1604A5BB0}"/>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8356DDC2-D974-41EE-9499-E52BC9F2CC40}"/>
                                            </p:graphicEl>
                                          </p:spTgt>
                                        </p:tgtEl>
                                        <p:attrNameLst>
                                          <p:attrName>style.visibility</p:attrName>
                                        </p:attrNameLst>
                                      </p:cBhvr>
                                      <p:to>
                                        <p:strVal val="visible"/>
                                      </p:to>
                                    </p:set>
                                    <p:animEffect transition="in" filter="fade">
                                      <p:cBhvr>
                                        <p:cTn id="22" dur="500"/>
                                        <p:tgtEl>
                                          <p:spTgt spid="2">
                                            <p:graphicEl>
                                              <a:dgm id="{8356DDC2-D974-41EE-9499-E52BC9F2CC40}"/>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graphicEl>
                                              <a:dgm id="{50F23731-CF3F-4209-BB59-D0165D9332CB}"/>
                                            </p:graphicEl>
                                          </p:spTgt>
                                        </p:tgtEl>
                                        <p:attrNameLst>
                                          <p:attrName>style.visibility</p:attrName>
                                        </p:attrNameLst>
                                      </p:cBhvr>
                                      <p:to>
                                        <p:strVal val="visible"/>
                                      </p:to>
                                    </p:set>
                                    <p:animEffect transition="in" filter="fade">
                                      <p:cBhvr>
                                        <p:cTn id="27" dur="500"/>
                                        <p:tgtEl>
                                          <p:spTgt spid="2">
                                            <p:graphicEl>
                                              <a:dgm id="{50F23731-CF3F-4209-BB59-D0165D9332CB}"/>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graphicEl>
                                              <a:dgm id="{DC6C59F9-2E11-4C92-9346-2C559100749B}"/>
                                            </p:graphicEl>
                                          </p:spTgt>
                                        </p:tgtEl>
                                        <p:attrNameLst>
                                          <p:attrName>style.visibility</p:attrName>
                                        </p:attrNameLst>
                                      </p:cBhvr>
                                      <p:to>
                                        <p:strVal val="visible"/>
                                      </p:to>
                                    </p:set>
                                    <p:animEffect transition="in" filter="fade">
                                      <p:cBhvr>
                                        <p:cTn id="32" dur="500"/>
                                        <p:tgtEl>
                                          <p:spTgt spid="2">
                                            <p:graphicEl>
                                              <a:dgm id="{DC6C59F9-2E11-4C92-9346-2C559100749B}"/>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FA36C-5D81-B471-FE1C-DBCD7E07CC8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71FF157-D9DA-EBD8-AFF9-134581D88A8F}"/>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6AE9C0C6-DE15-37A5-039B-AB2313E52D9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58F8FC9-3B43-52E8-E25A-4905FF02E186}"/>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LLM Leaderboard</a:t>
            </a:r>
          </a:p>
        </p:txBody>
      </p:sp>
      <p:sp>
        <p:nvSpPr>
          <p:cNvPr id="9" name="TextBox 8">
            <a:extLst>
              <a:ext uri="{FF2B5EF4-FFF2-40B4-BE49-F238E27FC236}">
                <a16:creationId xmlns:a16="http://schemas.microsoft.com/office/drawing/2014/main" id="{FE33B57D-6E34-9D80-DE8D-BDD82D8D0D2A}"/>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6C9755FB-3DB5-994F-1EDC-4998C1EA7A96}"/>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B98AE17A-5AA1-7B61-B35C-E04B1C2B8235}"/>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0" name="TextBox 9">
            <a:extLst>
              <a:ext uri="{FF2B5EF4-FFF2-40B4-BE49-F238E27FC236}">
                <a16:creationId xmlns:a16="http://schemas.microsoft.com/office/drawing/2014/main" id="{BE86E48F-57C8-E4D0-EA58-EF1ED762AA16}"/>
              </a:ext>
            </a:extLst>
          </p:cNvPr>
          <p:cNvSpPr txBox="1"/>
          <p:nvPr/>
        </p:nvSpPr>
        <p:spPr>
          <a:xfrm>
            <a:off x="362796" y="791638"/>
            <a:ext cx="9827491" cy="923330"/>
          </a:xfrm>
          <a:prstGeom prst="rect">
            <a:avLst/>
          </a:prstGeom>
          <a:noFill/>
        </p:spPr>
        <p:txBody>
          <a:bodyPr wrap="square">
            <a:spAutoFit/>
          </a:bodyPr>
          <a:lstStyle/>
          <a:p>
            <a:pPr marL="285750" indent="-285750">
              <a:buFont typeface="Arial" panose="020B0604020202020204" pitchFamily="34" charset="0"/>
              <a:buChar char="•"/>
            </a:pPr>
            <a:endParaRPr lang="en-CA" dirty="0"/>
          </a:p>
          <a:p>
            <a:endParaRPr lang="en-CA" dirty="0"/>
          </a:p>
          <a:p>
            <a:endParaRPr lang="en-CA" dirty="0"/>
          </a:p>
        </p:txBody>
      </p:sp>
      <p:sp>
        <p:nvSpPr>
          <p:cNvPr id="11" name="TextBox 10">
            <a:extLst>
              <a:ext uri="{FF2B5EF4-FFF2-40B4-BE49-F238E27FC236}">
                <a16:creationId xmlns:a16="http://schemas.microsoft.com/office/drawing/2014/main" id="{FC2D7898-77F3-CBD5-DC9B-DB47E1021713}"/>
              </a:ext>
            </a:extLst>
          </p:cNvPr>
          <p:cNvSpPr txBox="1"/>
          <p:nvPr/>
        </p:nvSpPr>
        <p:spPr>
          <a:xfrm>
            <a:off x="715991" y="875000"/>
            <a:ext cx="8790317" cy="830997"/>
          </a:xfrm>
          <a:prstGeom prst="rect">
            <a:avLst/>
          </a:prstGeom>
          <a:noFill/>
        </p:spPr>
        <p:txBody>
          <a:bodyPr wrap="square">
            <a:spAutoFit/>
          </a:bodyPr>
          <a:lstStyle>
            <a:defPPr>
              <a:defRPr lang="en-US"/>
            </a:defPPr>
            <a:lvl1pPr marL="285750" indent="-285750">
              <a:buClr>
                <a:srgbClr val="1BBFD1"/>
              </a:buClr>
              <a:buFont typeface="Arial" panose="020B0604020202020204" pitchFamily="34" charset="0"/>
              <a:buChar char="•"/>
              <a:defRPr sz="1600">
                <a:latin typeface="Montserrat" panose="00000500000000000000" pitchFamily="2" charset="0"/>
              </a:defRPr>
            </a:lvl1pPr>
          </a:lstStyle>
          <a:p>
            <a:r>
              <a:rPr lang="en-CA" dirty="0"/>
              <a:t>LLM Stats Leaderboard: </a:t>
            </a:r>
            <a:r>
              <a:rPr lang="en-CA" dirty="0">
                <a:hlinkClick r:id="rId4"/>
              </a:rPr>
              <a:t>https://llm-stats.com/leaderboards/llm-leaderboard</a:t>
            </a:r>
            <a:endParaRPr lang="en-CA" dirty="0"/>
          </a:p>
          <a:p>
            <a:r>
              <a:rPr lang="en-CA" dirty="0"/>
              <a:t>Vellum Leaderboard: </a:t>
            </a:r>
            <a:r>
              <a:rPr lang="en-CA" dirty="0">
                <a:hlinkClick r:id="rId5"/>
              </a:rPr>
              <a:t>https://www.vellum.ai/llm-leaderboard</a:t>
            </a:r>
            <a:endParaRPr lang="en-CA" dirty="0"/>
          </a:p>
          <a:p>
            <a:endParaRPr lang="en-CA" dirty="0"/>
          </a:p>
        </p:txBody>
      </p:sp>
      <p:pic>
        <p:nvPicPr>
          <p:cNvPr id="3" name="Picture 2">
            <a:extLst>
              <a:ext uri="{FF2B5EF4-FFF2-40B4-BE49-F238E27FC236}">
                <a16:creationId xmlns:a16="http://schemas.microsoft.com/office/drawing/2014/main" id="{E08ABF0E-354E-0518-505E-D196874D471F}"/>
              </a:ext>
            </a:extLst>
          </p:cNvPr>
          <p:cNvPicPr>
            <a:picLocks noChangeAspect="1"/>
          </p:cNvPicPr>
          <p:nvPr/>
        </p:nvPicPr>
        <p:blipFill>
          <a:blip r:embed="rId6"/>
          <a:stretch>
            <a:fillRect/>
          </a:stretch>
        </p:blipFill>
        <p:spPr>
          <a:xfrm>
            <a:off x="1726226" y="1705997"/>
            <a:ext cx="8626352" cy="4359279"/>
          </a:xfrm>
          <a:prstGeom prst="rect">
            <a:avLst/>
          </a:prstGeom>
        </p:spPr>
      </p:pic>
    </p:spTree>
    <p:extLst>
      <p:ext uri="{BB962C8B-B14F-4D97-AF65-F5344CB8AC3E}">
        <p14:creationId xmlns:p14="http://schemas.microsoft.com/office/powerpoint/2010/main" val="1224616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E94EC-CC2B-0640-D74E-3A59B39325B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69C5C72-7844-4FC0-DDE4-B0DDC805A8CF}"/>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1E157428-C5D0-0A87-3F2D-BB6E062F4B04}"/>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6976A32-8334-EE80-0DC6-37A15C28397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Chatbot Arena LLM Leaderboard &amp; Blind Test!</a:t>
            </a:r>
          </a:p>
        </p:txBody>
      </p:sp>
      <p:sp>
        <p:nvSpPr>
          <p:cNvPr id="9" name="TextBox 8">
            <a:extLst>
              <a:ext uri="{FF2B5EF4-FFF2-40B4-BE49-F238E27FC236}">
                <a16:creationId xmlns:a16="http://schemas.microsoft.com/office/drawing/2014/main" id="{CBFAF699-865B-DA4F-340B-53FDA9F17C93}"/>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0177F4FB-FDA7-9DCB-7CE3-264A543DFC9B}"/>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196C1378-D7EB-B096-3DA2-72B0AFCF5E4A}"/>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0" name="TextBox 9">
            <a:extLst>
              <a:ext uri="{FF2B5EF4-FFF2-40B4-BE49-F238E27FC236}">
                <a16:creationId xmlns:a16="http://schemas.microsoft.com/office/drawing/2014/main" id="{FF629A0A-1AF9-F2B7-7EE8-386D8D684272}"/>
              </a:ext>
            </a:extLst>
          </p:cNvPr>
          <p:cNvSpPr txBox="1"/>
          <p:nvPr/>
        </p:nvSpPr>
        <p:spPr>
          <a:xfrm>
            <a:off x="362796" y="791638"/>
            <a:ext cx="9827491" cy="923330"/>
          </a:xfrm>
          <a:prstGeom prst="rect">
            <a:avLst/>
          </a:prstGeom>
          <a:noFill/>
        </p:spPr>
        <p:txBody>
          <a:bodyPr wrap="square">
            <a:spAutoFit/>
          </a:bodyPr>
          <a:lstStyle/>
          <a:p>
            <a:pPr marL="285750" indent="-285750">
              <a:buFont typeface="Arial" panose="020B0604020202020204" pitchFamily="34" charset="0"/>
              <a:buChar char="•"/>
            </a:pPr>
            <a:endParaRPr lang="en-CA" dirty="0"/>
          </a:p>
          <a:p>
            <a:endParaRPr lang="en-CA" dirty="0"/>
          </a:p>
          <a:p>
            <a:endParaRPr lang="en-CA" dirty="0"/>
          </a:p>
        </p:txBody>
      </p:sp>
      <p:sp>
        <p:nvSpPr>
          <p:cNvPr id="4" name="TextBox 3">
            <a:extLst>
              <a:ext uri="{FF2B5EF4-FFF2-40B4-BE49-F238E27FC236}">
                <a16:creationId xmlns:a16="http://schemas.microsoft.com/office/drawing/2014/main" id="{36B9D91F-2AD0-2928-1ECD-CEA13D262379}"/>
              </a:ext>
            </a:extLst>
          </p:cNvPr>
          <p:cNvSpPr txBox="1"/>
          <p:nvPr/>
        </p:nvSpPr>
        <p:spPr>
          <a:xfrm>
            <a:off x="3329118" y="2137217"/>
            <a:ext cx="8973962" cy="1200329"/>
          </a:xfrm>
          <a:prstGeom prst="rect">
            <a:avLst/>
          </a:prstGeom>
          <a:noFill/>
        </p:spPr>
        <p:txBody>
          <a:bodyPr wrap="square">
            <a:spAutoFit/>
          </a:bodyPr>
          <a:lstStyle>
            <a:defPPr>
              <a:defRPr lang="en-US"/>
            </a:defPPr>
            <a:lvl1pPr marL="285750" marR="0" lvl="0" indent="-285750" eaLnBrk="0" fontAlgn="base" hangingPunct="0">
              <a:lnSpc>
                <a:spcPct val="100000"/>
              </a:lnSpc>
              <a:spcBef>
                <a:spcPct val="0"/>
              </a:spcBef>
              <a:spcAft>
                <a:spcPct val="0"/>
              </a:spcAft>
              <a:buClrTx/>
              <a:buSzTx/>
              <a:buFont typeface="Arial" panose="020B0604020202020204" pitchFamily="34" charset="0"/>
              <a:buChar char="•"/>
              <a:tabLst/>
              <a:defRPr kumimoji="0" b="1" i="0" u="none" strike="noStrike" cap="none" normalizeH="0" baseline="0">
                <a:ln>
                  <a:noFill/>
                </a:ln>
                <a:effectLst/>
                <a:latin typeface="Montserrat" panose="00000500000000000000" pitchFamily="2" charset="0"/>
              </a:defRPr>
            </a:lvl1pPr>
          </a:lstStyle>
          <a:p>
            <a:r>
              <a:rPr lang="en-CA" dirty="0"/>
              <a:t>Chatbot Arena: </a:t>
            </a:r>
            <a:r>
              <a:rPr lang="en-CA" dirty="0">
                <a:hlinkClick r:id="rId4"/>
              </a:rPr>
              <a:t>https://arena.ai/</a:t>
            </a:r>
            <a:endParaRPr lang="en-CA" dirty="0"/>
          </a:p>
          <a:p>
            <a:endParaRPr lang="en-CA" dirty="0"/>
          </a:p>
          <a:p>
            <a:endParaRPr lang="en-CA" dirty="0"/>
          </a:p>
          <a:p>
            <a:endParaRPr lang="en-CA" dirty="0"/>
          </a:p>
        </p:txBody>
      </p:sp>
      <p:sp>
        <p:nvSpPr>
          <p:cNvPr id="8" name="TextBox 7">
            <a:extLst>
              <a:ext uri="{FF2B5EF4-FFF2-40B4-BE49-F238E27FC236}">
                <a16:creationId xmlns:a16="http://schemas.microsoft.com/office/drawing/2014/main" id="{9AEEF1DB-FF5D-6BFB-D02A-882F07F3FE12}"/>
              </a:ext>
            </a:extLst>
          </p:cNvPr>
          <p:cNvSpPr txBox="1"/>
          <p:nvPr/>
        </p:nvSpPr>
        <p:spPr>
          <a:xfrm>
            <a:off x="103860" y="807761"/>
            <a:ext cx="11674482" cy="1077218"/>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Montserrat" panose="00000500000000000000" pitchFamily="2" charset="0"/>
              </a:rPr>
              <a:t>Chatbot Arena </a:t>
            </a:r>
            <a:r>
              <a:rPr kumimoji="0" lang="en-US" altLang="en-US" sz="1600" b="0" i="0" u="none" strike="noStrike" cap="none" normalizeH="0" baseline="0" dirty="0">
                <a:ln>
                  <a:noFill/>
                </a:ln>
                <a:solidFill>
                  <a:schemeClr val="tx1"/>
                </a:solidFill>
                <a:effectLst/>
                <a:latin typeface="Montserrat" panose="00000500000000000000" pitchFamily="2" charset="0"/>
              </a:rPr>
              <a:t>is a public platform where users compare responses from two anonymous LLMs side-by-side and vote for the better one, creating a crowdsourced benchmark based on real human preferences.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600" dirty="0">
                <a:latin typeface="Montserrat" panose="00000500000000000000" pitchFamily="2" charset="0"/>
              </a:rPr>
              <a:t>R</a:t>
            </a:r>
            <a:r>
              <a:rPr kumimoji="0" lang="en-US" altLang="en-US" sz="1600" b="0" i="0" u="none" strike="noStrike" cap="none" normalizeH="0" baseline="0" dirty="0">
                <a:ln>
                  <a:noFill/>
                </a:ln>
                <a:solidFill>
                  <a:schemeClr val="tx1"/>
                </a:solidFill>
                <a:effectLst/>
                <a:latin typeface="Montserrat" panose="00000500000000000000" pitchFamily="2" charset="0"/>
              </a:rPr>
              <a:t>esults are used to generate a live leaderboard that ranks top LLMs according to conversational quality, reasoning, and coding ability.</a:t>
            </a:r>
          </a:p>
        </p:txBody>
      </p:sp>
      <p:pic>
        <p:nvPicPr>
          <p:cNvPr id="12" name="Picture 11">
            <a:extLst>
              <a:ext uri="{FF2B5EF4-FFF2-40B4-BE49-F238E27FC236}">
                <a16:creationId xmlns:a16="http://schemas.microsoft.com/office/drawing/2014/main" id="{B4A73F41-9155-56B6-3318-1F4C75468137}"/>
              </a:ext>
            </a:extLst>
          </p:cNvPr>
          <p:cNvPicPr>
            <a:picLocks noChangeAspect="1"/>
          </p:cNvPicPr>
          <p:nvPr/>
        </p:nvPicPr>
        <p:blipFill>
          <a:blip r:embed="rId5"/>
          <a:stretch>
            <a:fillRect/>
          </a:stretch>
        </p:blipFill>
        <p:spPr>
          <a:xfrm>
            <a:off x="4970659" y="2769431"/>
            <a:ext cx="1940883" cy="877178"/>
          </a:xfrm>
          <a:prstGeom prst="rect">
            <a:avLst/>
          </a:prstGeom>
        </p:spPr>
      </p:pic>
      <p:pic>
        <p:nvPicPr>
          <p:cNvPr id="17" name="Picture 16">
            <a:extLst>
              <a:ext uri="{FF2B5EF4-FFF2-40B4-BE49-F238E27FC236}">
                <a16:creationId xmlns:a16="http://schemas.microsoft.com/office/drawing/2014/main" id="{ABEC198D-E1E0-93E8-C4C6-31D9198C803A}"/>
              </a:ext>
            </a:extLst>
          </p:cNvPr>
          <p:cNvPicPr>
            <a:picLocks noChangeAspect="1"/>
          </p:cNvPicPr>
          <p:nvPr/>
        </p:nvPicPr>
        <p:blipFill>
          <a:blip r:embed="rId6"/>
          <a:stretch>
            <a:fillRect/>
          </a:stretch>
        </p:blipFill>
        <p:spPr>
          <a:xfrm>
            <a:off x="2028825" y="3553065"/>
            <a:ext cx="8524875" cy="3075007"/>
          </a:xfrm>
          <a:prstGeom prst="rect">
            <a:avLst/>
          </a:prstGeom>
        </p:spPr>
      </p:pic>
    </p:spTree>
    <p:extLst>
      <p:ext uri="{BB962C8B-B14F-4D97-AF65-F5344CB8AC3E}">
        <p14:creationId xmlns:p14="http://schemas.microsoft.com/office/powerpoint/2010/main" val="9379801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B3473-6605-501D-F030-29B10309EC4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8A21E15-6E86-2A50-10FD-3E3ACA0AF534}"/>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5A4A882E-5F3D-CDC4-74A1-190D7677A90B}"/>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041B1C5-018D-FBD2-13F0-4F14EF17A427}"/>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Blind Test Top LLMs in Chatbot Arena</a:t>
            </a:r>
          </a:p>
        </p:txBody>
      </p:sp>
      <p:sp>
        <p:nvSpPr>
          <p:cNvPr id="9" name="TextBox 8">
            <a:extLst>
              <a:ext uri="{FF2B5EF4-FFF2-40B4-BE49-F238E27FC236}">
                <a16:creationId xmlns:a16="http://schemas.microsoft.com/office/drawing/2014/main" id="{9FC11F26-7B0A-ECBF-1E7C-6706F41D675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24E981A3-0386-7B69-D3C1-F1AE055E4B66}"/>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8A1D487F-5F30-B295-43A5-86EECB845A68}"/>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TextBox 2">
            <a:extLst>
              <a:ext uri="{FF2B5EF4-FFF2-40B4-BE49-F238E27FC236}">
                <a16:creationId xmlns:a16="http://schemas.microsoft.com/office/drawing/2014/main" id="{8B211418-58D6-F58D-BA55-142762FCADD9}"/>
              </a:ext>
            </a:extLst>
          </p:cNvPr>
          <p:cNvSpPr txBox="1"/>
          <p:nvPr/>
        </p:nvSpPr>
        <p:spPr>
          <a:xfrm>
            <a:off x="222159" y="747334"/>
            <a:ext cx="8905799" cy="3262432"/>
          </a:xfrm>
          <a:prstGeom prst="rect">
            <a:avLst/>
          </a:prstGeom>
          <a:noFill/>
        </p:spPr>
        <p:txBody>
          <a:bodyPr wrap="square">
            <a:spAutoFit/>
          </a:bodyPr>
          <a:lstStyle/>
          <a:p>
            <a:endParaRPr lang="en-US" sz="1600" dirty="0">
              <a:latin typeface="Montserrat" panose="00000500000000000000" pitchFamily="2" charset="0"/>
            </a:endParaRPr>
          </a:p>
          <a:p>
            <a:pPr marL="342900" indent="-342900">
              <a:buAutoNum type="arabicPeriod"/>
            </a:pPr>
            <a:r>
              <a:rPr lang="en-US" sz="1600" b="1" dirty="0">
                <a:latin typeface="Montserrat" panose="00000500000000000000" pitchFamily="2" charset="0"/>
              </a:rPr>
              <a:t>Visit Chatbot Arena: </a:t>
            </a:r>
            <a:r>
              <a:rPr lang="en-US" sz="1600" b="1" dirty="0">
                <a:latin typeface="Montserrat" panose="00000500000000000000" pitchFamily="2" charset="0"/>
                <a:hlinkClick r:id="rId4"/>
              </a:rPr>
              <a:t>https://arena.ai/</a:t>
            </a:r>
            <a:endParaRPr lang="en-US" sz="1600" b="1" dirty="0">
              <a:latin typeface="Montserrat" panose="00000500000000000000" pitchFamily="2" charset="0"/>
            </a:endParaRPr>
          </a:p>
          <a:p>
            <a:pPr marL="342900" indent="-342900">
              <a:buAutoNum type="arabicPeriod"/>
            </a:pPr>
            <a:r>
              <a:rPr lang="en-US" sz="1600" b="1" dirty="0">
                <a:latin typeface="Montserrat" panose="00000500000000000000" pitchFamily="2" charset="0"/>
              </a:rPr>
              <a:t>Enter a Strong Prompt</a:t>
            </a:r>
            <a:endParaRPr lang="en-US" sz="1600" dirty="0">
              <a:latin typeface="Montserrat" panose="00000500000000000000" pitchFamily="2" charset="0"/>
            </a:endParaRPr>
          </a:p>
          <a:p>
            <a:pPr marL="742950" lvl="1" indent="-285750">
              <a:buFont typeface="Arial" panose="020B0604020202020204" pitchFamily="34" charset="0"/>
              <a:buChar char="•"/>
            </a:pPr>
            <a:r>
              <a:rPr lang="en-US" sz="1600" dirty="0">
                <a:latin typeface="Montserrat" panose="00000500000000000000" pitchFamily="2" charset="0"/>
              </a:rPr>
              <a:t>“Explain how interest rate hikes impact real estate prices over 5 years. Include a numerical example.”</a:t>
            </a:r>
          </a:p>
          <a:p>
            <a:pPr marL="742950" lvl="1" indent="-285750">
              <a:buFont typeface="Arial" panose="020B0604020202020204" pitchFamily="34" charset="0"/>
              <a:buChar char="•"/>
            </a:pPr>
            <a:r>
              <a:rPr lang="en-US" sz="1600" dirty="0">
                <a:latin typeface="Montserrat" panose="00000500000000000000" pitchFamily="2" charset="0"/>
              </a:rPr>
              <a:t>Write a dad joke about AI agents.</a:t>
            </a:r>
          </a:p>
          <a:p>
            <a:endParaRPr lang="en-US" sz="1600" dirty="0">
              <a:latin typeface="Montserrat" panose="00000500000000000000" pitchFamily="2" charset="0"/>
            </a:endParaRPr>
          </a:p>
          <a:p>
            <a:r>
              <a:rPr lang="en-US" sz="1600" b="1" dirty="0">
                <a:latin typeface="Montserrat" panose="00000500000000000000" pitchFamily="2" charset="0"/>
              </a:rPr>
              <a:t>3. Compare the Two Anonymous Responses</a:t>
            </a:r>
          </a:p>
          <a:p>
            <a:pPr marL="742950" lvl="1" indent="-285750">
              <a:buFont typeface="Arial" panose="020B0604020202020204" pitchFamily="34" charset="0"/>
              <a:buChar char="•"/>
            </a:pPr>
            <a:r>
              <a:rPr lang="en-US" sz="1600" dirty="0">
                <a:latin typeface="Montserrat" panose="00000500000000000000" pitchFamily="2" charset="0"/>
              </a:rPr>
              <a:t>Evaluate for Clarity, Depth, Structure, and Practical usefulness</a:t>
            </a:r>
          </a:p>
          <a:p>
            <a:endParaRPr lang="en-US" sz="1600" dirty="0">
              <a:latin typeface="Montserrat" panose="00000500000000000000" pitchFamily="2" charset="0"/>
            </a:endParaRPr>
          </a:p>
          <a:p>
            <a:r>
              <a:rPr lang="en-US" sz="1600" b="1" dirty="0">
                <a:latin typeface="Montserrat" panose="00000500000000000000" pitchFamily="2" charset="0"/>
              </a:rPr>
              <a:t>4. Vote + Reflect</a:t>
            </a:r>
          </a:p>
          <a:p>
            <a:pPr marL="742950" lvl="1" indent="-285750">
              <a:buFont typeface="Arial" panose="020B0604020202020204" pitchFamily="34" charset="0"/>
              <a:buChar char="•"/>
            </a:pPr>
            <a:r>
              <a:rPr lang="en-US" sz="1600" dirty="0">
                <a:latin typeface="Montserrat" panose="00000500000000000000" pitchFamily="2" charset="0"/>
              </a:rPr>
              <a:t>Submit: Your prompt, Which answer you chose and explain why</a:t>
            </a:r>
          </a:p>
          <a:p>
            <a:pPr marL="285750" indent="-285750">
              <a:buFont typeface="Arial" panose="020B0604020202020204" pitchFamily="34" charset="0"/>
              <a:buChar char="•"/>
            </a:pPr>
            <a:endParaRPr lang="en-US" sz="1400" dirty="0">
              <a:latin typeface="Montserrat" panose="00000500000000000000" pitchFamily="2" charset="0"/>
            </a:endParaRPr>
          </a:p>
        </p:txBody>
      </p:sp>
      <p:pic>
        <p:nvPicPr>
          <p:cNvPr id="2" name="Picture 1">
            <a:extLst>
              <a:ext uri="{FF2B5EF4-FFF2-40B4-BE49-F238E27FC236}">
                <a16:creationId xmlns:a16="http://schemas.microsoft.com/office/drawing/2014/main" id="{E731A64F-E03E-CF2F-5BAC-ECDF7176BFF3}"/>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8998545" y="747334"/>
            <a:ext cx="3060152" cy="2421464"/>
          </a:xfrm>
          <a:prstGeom prst="rect">
            <a:avLst/>
          </a:prstGeom>
        </p:spPr>
      </p:pic>
    </p:spTree>
    <p:extLst>
      <p:ext uri="{BB962C8B-B14F-4D97-AF65-F5344CB8AC3E}">
        <p14:creationId xmlns:p14="http://schemas.microsoft.com/office/powerpoint/2010/main" val="3823840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CA604-ABA3-E1E3-E7BF-6DBE906A11B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396A6CE-48BE-3D35-7BF7-EBC54036BF2C}"/>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4D88FA4-E2A5-5C70-4D3B-5E6985B418B7}"/>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4E9719FD-A8BC-395E-F987-B06FE077C46B}"/>
              </a:ext>
            </a:extLst>
          </p:cNvPr>
          <p:cNvSpPr/>
          <p:nvPr/>
        </p:nvSpPr>
        <p:spPr>
          <a:xfrm>
            <a:off x="293914" y="793804"/>
            <a:ext cx="580208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AI AGENTS FOUNDATIONS</a:t>
            </a:r>
          </a:p>
        </p:txBody>
      </p:sp>
      <p:pic>
        <p:nvPicPr>
          <p:cNvPr id="5" name="Picture 4">
            <a:extLst>
              <a:ext uri="{FF2B5EF4-FFF2-40B4-BE49-F238E27FC236}">
                <a16:creationId xmlns:a16="http://schemas.microsoft.com/office/drawing/2014/main" id="{5F58988E-C33C-E558-EB93-1CF830742DCB}"/>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926615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DCAD8-EC07-756E-6CC0-C2A74C061CC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54E314F-32BA-B5D3-7B31-936A1DBDCEA7}"/>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747BA9DC-E14E-76C6-ECB6-E215EAB3D62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6A9758B-E655-DAAE-C6F5-ECA6E6828B57}"/>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What is an AI Agent?</a:t>
            </a:r>
          </a:p>
        </p:txBody>
      </p:sp>
      <p:sp>
        <p:nvSpPr>
          <p:cNvPr id="9" name="TextBox 8">
            <a:extLst>
              <a:ext uri="{FF2B5EF4-FFF2-40B4-BE49-F238E27FC236}">
                <a16:creationId xmlns:a16="http://schemas.microsoft.com/office/drawing/2014/main" id="{5C4F4A59-9D32-D729-269E-571A97284EE2}"/>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CAA541B8-BD55-6ADC-24D8-01FE3DE8FE64}"/>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73D691C4-5BD1-9F67-8BDA-A1A31C9FE689}"/>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0" name="TextBox 9">
            <a:extLst>
              <a:ext uri="{FF2B5EF4-FFF2-40B4-BE49-F238E27FC236}">
                <a16:creationId xmlns:a16="http://schemas.microsoft.com/office/drawing/2014/main" id="{C0A80D80-E3CE-11BD-8F3F-23E89A388555}"/>
              </a:ext>
            </a:extLst>
          </p:cNvPr>
          <p:cNvSpPr txBox="1"/>
          <p:nvPr/>
        </p:nvSpPr>
        <p:spPr>
          <a:xfrm>
            <a:off x="362796" y="791638"/>
            <a:ext cx="9827491" cy="923330"/>
          </a:xfrm>
          <a:prstGeom prst="rect">
            <a:avLst/>
          </a:prstGeom>
          <a:noFill/>
        </p:spPr>
        <p:txBody>
          <a:bodyPr wrap="square">
            <a:spAutoFit/>
          </a:bodyPr>
          <a:lstStyle/>
          <a:p>
            <a:pPr marL="285750" indent="-285750">
              <a:buFont typeface="Arial" panose="020B0604020202020204" pitchFamily="34" charset="0"/>
              <a:buChar char="•"/>
            </a:pPr>
            <a:endParaRPr lang="en-CA" dirty="0"/>
          </a:p>
          <a:p>
            <a:endParaRPr lang="en-CA" dirty="0"/>
          </a:p>
          <a:p>
            <a:endParaRPr lang="en-CA" dirty="0"/>
          </a:p>
        </p:txBody>
      </p:sp>
      <p:sp>
        <p:nvSpPr>
          <p:cNvPr id="8" name="TextBox 7">
            <a:extLst>
              <a:ext uri="{FF2B5EF4-FFF2-40B4-BE49-F238E27FC236}">
                <a16:creationId xmlns:a16="http://schemas.microsoft.com/office/drawing/2014/main" id="{D0FB3098-141E-0078-689A-4DBFB6D1A57E}"/>
              </a:ext>
            </a:extLst>
          </p:cNvPr>
          <p:cNvSpPr txBox="1"/>
          <p:nvPr/>
        </p:nvSpPr>
        <p:spPr>
          <a:xfrm>
            <a:off x="103860" y="807761"/>
            <a:ext cx="11674482" cy="646331"/>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ontserrat" panose="00000500000000000000" pitchFamily="2" charset="0"/>
              </a:rPr>
              <a:t>An AI agent is a system that uses an LLM as its reasoning engine to autonomously plan, take actions, and adapt based on feedback to accomplish goals.</a:t>
            </a:r>
          </a:p>
        </p:txBody>
      </p:sp>
      <p:sp>
        <p:nvSpPr>
          <p:cNvPr id="2" name="Shape 4">
            <a:extLst>
              <a:ext uri="{FF2B5EF4-FFF2-40B4-BE49-F238E27FC236}">
                <a16:creationId xmlns:a16="http://schemas.microsoft.com/office/drawing/2014/main" id="{A3F9C43C-AE59-72B5-6173-0F0DA6D9F7B2}"/>
              </a:ext>
            </a:extLst>
          </p:cNvPr>
          <p:cNvSpPr/>
          <p:nvPr/>
        </p:nvSpPr>
        <p:spPr>
          <a:xfrm>
            <a:off x="501015" y="1927406"/>
            <a:ext cx="4868000" cy="2895654"/>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11" name="Text 6">
            <a:extLst>
              <a:ext uri="{FF2B5EF4-FFF2-40B4-BE49-F238E27FC236}">
                <a16:creationId xmlns:a16="http://schemas.microsoft.com/office/drawing/2014/main" id="{119165C2-559C-C746-0BD5-BF1FFF4CF49E}"/>
              </a:ext>
            </a:extLst>
          </p:cNvPr>
          <p:cNvSpPr/>
          <p:nvPr/>
        </p:nvSpPr>
        <p:spPr>
          <a:xfrm>
            <a:off x="670875" y="2703565"/>
            <a:ext cx="4698140" cy="1645920"/>
          </a:xfrm>
          <a:prstGeom prst="rect">
            <a:avLst/>
          </a:prstGeom>
          <a:noFill/>
          <a:ln/>
        </p:spPr>
        <p:txBody>
          <a:bodyPr wrap="square" rtlCol="0" anchor="ctr"/>
          <a:lstStyle/>
          <a:p>
            <a:pPr marL="285750" indent="-285750">
              <a:spcAft>
                <a:spcPts val="800"/>
              </a:spcAft>
              <a:buSzPct val="100000"/>
              <a:buFont typeface="Arial" panose="020B0604020202020204" pitchFamily="34" charset="0"/>
              <a:buChar char="•"/>
            </a:pPr>
            <a:r>
              <a:rPr lang="en-US" dirty="0">
                <a:solidFill>
                  <a:srgbClr val="0C1752"/>
                </a:solidFill>
                <a:latin typeface="Montserrat" panose="00000500000000000000" pitchFamily="2" charset="0"/>
              </a:rPr>
              <a:t>Responds to a single prompt</a:t>
            </a:r>
          </a:p>
          <a:p>
            <a:pPr marL="285750" indent="-285750">
              <a:spcAft>
                <a:spcPts val="800"/>
              </a:spcAft>
              <a:buSzPct val="100000"/>
              <a:buFont typeface="Arial" panose="020B0604020202020204" pitchFamily="34" charset="0"/>
              <a:buChar char="•"/>
            </a:pPr>
            <a:r>
              <a:rPr lang="en-US" dirty="0">
                <a:solidFill>
                  <a:srgbClr val="0C1752"/>
                </a:solidFill>
                <a:latin typeface="Montserrat" panose="00000500000000000000" pitchFamily="2" charset="0"/>
              </a:rPr>
              <a:t>No access to external tools</a:t>
            </a:r>
          </a:p>
          <a:p>
            <a:pPr marL="285750" indent="-285750">
              <a:spcAft>
                <a:spcPts val="800"/>
              </a:spcAft>
              <a:buSzPct val="100000"/>
              <a:buFont typeface="Arial" panose="020B0604020202020204" pitchFamily="34" charset="0"/>
              <a:buChar char="•"/>
            </a:pPr>
            <a:r>
              <a:rPr lang="en-US" dirty="0">
                <a:solidFill>
                  <a:srgbClr val="0C1752"/>
                </a:solidFill>
                <a:latin typeface="Montserrat" panose="00000500000000000000" pitchFamily="2" charset="0"/>
              </a:rPr>
              <a:t>No persistent memory</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Stateless interaction</a:t>
            </a:r>
          </a:p>
        </p:txBody>
      </p:sp>
      <p:sp>
        <p:nvSpPr>
          <p:cNvPr id="13" name="Shape 7">
            <a:extLst>
              <a:ext uri="{FF2B5EF4-FFF2-40B4-BE49-F238E27FC236}">
                <a16:creationId xmlns:a16="http://schemas.microsoft.com/office/drawing/2014/main" id="{1679CEF3-4D16-1880-ED48-185348277AD2}"/>
              </a:ext>
            </a:extLst>
          </p:cNvPr>
          <p:cNvSpPr/>
          <p:nvPr/>
        </p:nvSpPr>
        <p:spPr>
          <a:xfrm>
            <a:off x="6095999" y="1916408"/>
            <a:ext cx="5141911" cy="2943755"/>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18" name="Text 10">
            <a:extLst>
              <a:ext uri="{FF2B5EF4-FFF2-40B4-BE49-F238E27FC236}">
                <a16:creationId xmlns:a16="http://schemas.microsoft.com/office/drawing/2014/main" id="{8737DC18-AE49-CB6C-937D-0B9157A4DE0D}"/>
              </a:ext>
            </a:extLst>
          </p:cNvPr>
          <p:cNvSpPr/>
          <p:nvPr/>
        </p:nvSpPr>
        <p:spPr>
          <a:xfrm>
            <a:off x="6281965" y="2677193"/>
            <a:ext cx="4528462" cy="1645920"/>
          </a:xfrm>
          <a:prstGeom prst="rect">
            <a:avLst/>
          </a:prstGeom>
          <a:noFill/>
          <a:ln/>
        </p:spPr>
        <p:txBody>
          <a:bodyPr wrap="square" rtlCol="0" anchor="ctr"/>
          <a:lstStyle/>
          <a:p>
            <a:pPr marL="285750" indent="-285750">
              <a:spcAft>
                <a:spcPts val="800"/>
              </a:spcAft>
              <a:buSzPct val="100000"/>
              <a:buFont typeface="Arial" panose="020B0604020202020204" pitchFamily="34" charset="0"/>
              <a:buChar char="•"/>
            </a:pPr>
            <a:r>
              <a:rPr lang="en-US" dirty="0">
                <a:solidFill>
                  <a:srgbClr val="0C1752"/>
                </a:solidFill>
                <a:latin typeface="Montserrat" panose="00000500000000000000" pitchFamily="2" charset="0"/>
              </a:rPr>
              <a:t>Plans multi-step workflows</a:t>
            </a:r>
          </a:p>
          <a:p>
            <a:pPr marL="285750" indent="-285750">
              <a:spcAft>
                <a:spcPts val="800"/>
              </a:spcAft>
              <a:buSzPct val="100000"/>
              <a:buFont typeface="Arial" panose="020B0604020202020204" pitchFamily="34" charset="0"/>
              <a:buChar char="•"/>
            </a:pPr>
            <a:r>
              <a:rPr lang="en-US" dirty="0">
                <a:solidFill>
                  <a:srgbClr val="0C1752"/>
                </a:solidFill>
                <a:latin typeface="Montserrat" panose="00000500000000000000" pitchFamily="2" charset="0"/>
              </a:rPr>
              <a:t>Uses tools (APIs, search, code)</a:t>
            </a:r>
          </a:p>
          <a:p>
            <a:pPr marL="285750" indent="-285750">
              <a:spcAft>
                <a:spcPts val="800"/>
              </a:spcAft>
              <a:buSzPct val="100000"/>
              <a:buFont typeface="Arial" panose="020B0604020202020204" pitchFamily="34" charset="0"/>
              <a:buChar char="•"/>
            </a:pPr>
            <a:r>
              <a:rPr lang="en-US" dirty="0">
                <a:solidFill>
                  <a:srgbClr val="0C1752"/>
                </a:solidFill>
                <a:latin typeface="Montserrat" panose="00000500000000000000" pitchFamily="2" charset="0"/>
              </a:rPr>
              <a:t>Maintains context &amp; memory</a:t>
            </a:r>
          </a:p>
          <a:p>
            <a:pPr marL="285750" indent="-285750">
              <a:buSzPct val="100000"/>
              <a:buFont typeface="Arial" panose="020B0604020202020204" pitchFamily="34" charset="0"/>
              <a:buChar char="•"/>
            </a:pPr>
            <a:r>
              <a:rPr lang="en-US" dirty="0">
                <a:solidFill>
                  <a:srgbClr val="0C1752"/>
                </a:solidFill>
                <a:latin typeface="Montserrat" panose="00000500000000000000" pitchFamily="2" charset="0"/>
              </a:rPr>
              <a:t>Autonomous decision-making</a:t>
            </a:r>
          </a:p>
        </p:txBody>
      </p:sp>
      <p:sp>
        <p:nvSpPr>
          <p:cNvPr id="19" name="Text 11">
            <a:extLst>
              <a:ext uri="{FF2B5EF4-FFF2-40B4-BE49-F238E27FC236}">
                <a16:creationId xmlns:a16="http://schemas.microsoft.com/office/drawing/2014/main" id="{9A046068-05AF-2D1C-0782-E5360E2279B6}"/>
              </a:ext>
            </a:extLst>
          </p:cNvPr>
          <p:cNvSpPr/>
          <p:nvPr/>
        </p:nvSpPr>
        <p:spPr>
          <a:xfrm>
            <a:off x="1374368" y="5539784"/>
            <a:ext cx="9452610" cy="457200"/>
          </a:xfrm>
          <a:prstGeom prst="rect">
            <a:avLst/>
          </a:prstGeom>
          <a:noFill/>
          <a:ln/>
        </p:spPr>
        <p:txBody>
          <a:bodyPr wrap="square" lIns="0" tIns="0" rIns="0" bIns="0" rtlCol="0" anchor="ctr"/>
          <a:lstStyle/>
          <a:p>
            <a:pPr marL="0" indent="0" algn="ctr">
              <a:buNone/>
            </a:pPr>
            <a:r>
              <a:rPr lang="en-US" sz="2400" b="1" dirty="0">
                <a:solidFill>
                  <a:srgbClr val="0C1752"/>
                </a:solidFill>
                <a:latin typeface="Montserrat" panose="00000500000000000000" pitchFamily="2" charset="0"/>
                <a:ea typeface="Georgia" pitchFamily="34" charset="-122"/>
                <a:cs typeface="Georgia" pitchFamily="34" charset="-120"/>
              </a:rPr>
              <a:t>An agent = LLM + Tools + Memory + Planning Loop</a:t>
            </a:r>
            <a:endParaRPr lang="en-US" sz="2400" dirty="0">
              <a:solidFill>
                <a:srgbClr val="0C1752"/>
              </a:solidFill>
              <a:latin typeface="Montserrat" panose="00000500000000000000" pitchFamily="2" charset="0"/>
            </a:endParaRPr>
          </a:p>
        </p:txBody>
      </p:sp>
      <p:sp>
        <p:nvSpPr>
          <p:cNvPr id="21" name="Rectangle 20">
            <a:extLst>
              <a:ext uri="{FF2B5EF4-FFF2-40B4-BE49-F238E27FC236}">
                <a16:creationId xmlns:a16="http://schemas.microsoft.com/office/drawing/2014/main" id="{30A1C30C-1B32-834B-A8A8-51C01B2BEC8F}"/>
              </a:ext>
            </a:extLst>
          </p:cNvPr>
          <p:cNvSpPr/>
          <p:nvPr/>
        </p:nvSpPr>
        <p:spPr>
          <a:xfrm>
            <a:off x="487995" y="1916409"/>
            <a:ext cx="4881020" cy="515283"/>
          </a:xfrm>
          <a:prstGeom prst="rect">
            <a:avLst/>
          </a:prstGeom>
          <a:solidFill>
            <a:srgbClr val="0C1752"/>
          </a:solidFill>
          <a:ln>
            <a:solidFill>
              <a:srgbClr val="0C17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Text 5">
            <a:extLst>
              <a:ext uri="{FF2B5EF4-FFF2-40B4-BE49-F238E27FC236}">
                <a16:creationId xmlns:a16="http://schemas.microsoft.com/office/drawing/2014/main" id="{7ED0E7D6-CEE6-4CC8-05C5-7EBF1AA4E38F}"/>
              </a:ext>
            </a:extLst>
          </p:cNvPr>
          <p:cNvSpPr/>
          <p:nvPr/>
        </p:nvSpPr>
        <p:spPr>
          <a:xfrm>
            <a:off x="871538" y="1916409"/>
            <a:ext cx="3749040" cy="457200"/>
          </a:xfrm>
          <a:prstGeom prst="rect">
            <a:avLst/>
          </a:prstGeom>
          <a:noFill/>
          <a:ln/>
        </p:spPr>
        <p:txBody>
          <a:bodyPr wrap="square" lIns="0" tIns="0" rIns="0" bIns="0" rtlCol="0" anchor="ctr"/>
          <a:lstStyle/>
          <a:p>
            <a:pPr marL="0" indent="0" algn="ctr">
              <a:buNone/>
            </a:pPr>
            <a:r>
              <a:rPr lang="en-US" b="1" dirty="0">
                <a:solidFill>
                  <a:schemeClr val="bg1"/>
                </a:solidFill>
                <a:latin typeface="Montserrat" panose="00000500000000000000" pitchFamily="2" charset="0"/>
                <a:ea typeface="Calibri" pitchFamily="34" charset="-122"/>
                <a:cs typeface="Calibri" pitchFamily="34" charset="-120"/>
              </a:rPr>
              <a:t>LLM (Chatbot)</a:t>
            </a:r>
            <a:endParaRPr lang="en-US" dirty="0">
              <a:solidFill>
                <a:schemeClr val="bg1"/>
              </a:solidFill>
              <a:latin typeface="Montserrat" panose="00000500000000000000" pitchFamily="2" charset="0"/>
            </a:endParaRPr>
          </a:p>
        </p:txBody>
      </p:sp>
      <p:sp>
        <p:nvSpPr>
          <p:cNvPr id="22" name="Rectangle 21">
            <a:extLst>
              <a:ext uri="{FF2B5EF4-FFF2-40B4-BE49-F238E27FC236}">
                <a16:creationId xmlns:a16="http://schemas.microsoft.com/office/drawing/2014/main" id="{BECE1E14-4E4F-C25E-7862-D04B00CF717F}"/>
              </a:ext>
            </a:extLst>
          </p:cNvPr>
          <p:cNvSpPr/>
          <p:nvPr/>
        </p:nvSpPr>
        <p:spPr>
          <a:xfrm>
            <a:off x="6096000" y="1916409"/>
            <a:ext cx="5141910" cy="515283"/>
          </a:xfrm>
          <a:prstGeom prst="rect">
            <a:avLst/>
          </a:prstGeom>
          <a:solidFill>
            <a:srgbClr val="D56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 9">
            <a:extLst>
              <a:ext uri="{FF2B5EF4-FFF2-40B4-BE49-F238E27FC236}">
                <a16:creationId xmlns:a16="http://schemas.microsoft.com/office/drawing/2014/main" id="{357A2173-04A8-E195-3F69-A2677288ABBD}"/>
              </a:ext>
            </a:extLst>
          </p:cNvPr>
          <p:cNvSpPr/>
          <p:nvPr/>
        </p:nvSpPr>
        <p:spPr>
          <a:xfrm>
            <a:off x="6894195" y="1916409"/>
            <a:ext cx="3749040" cy="457200"/>
          </a:xfrm>
          <a:prstGeom prst="rect">
            <a:avLst/>
          </a:prstGeom>
          <a:noFill/>
          <a:ln/>
        </p:spPr>
        <p:txBody>
          <a:bodyPr wrap="square" lIns="0" tIns="0" rIns="0" bIns="0" rtlCol="0" anchor="ctr"/>
          <a:lstStyle/>
          <a:p>
            <a:pPr marL="0" indent="0" algn="ctr">
              <a:buNone/>
            </a:pPr>
            <a:r>
              <a:rPr lang="en-US" b="1" dirty="0">
                <a:solidFill>
                  <a:schemeClr val="bg1"/>
                </a:solidFill>
                <a:latin typeface="Montserrat" panose="00000500000000000000" pitchFamily="2" charset="0"/>
                <a:ea typeface="Calibri" pitchFamily="34" charset="-122"/>
                <a:cs typeface="Calibri" pitchFamily="34" charset="-120"/>
              </a:rPr>
              <a:t>AI Agent</a:t>
            </a:r>
            <a:endParaRPr lang="en-US"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2562830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3" grpId="0" animBg="1"/>
      <p:bldP spid="18" grpId="0" animBg="1"/>
      <p:bldP spid="19" grpId="0" animBg="1"/>
      <p:bldP spid="21" grpId="0" animBg="1"/>
      <p:bldP spid="3" grpId="0" animBg="1"/>
      <p:bldP spid="22"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9ED1B-590E-A4E8-1555-7A76AE02E6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989E846-1911-AA21-CAF0-EE36D846870B}"/>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48572393-FF2A-6251-F795-BF4C270265B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86C40AD6-EC30-DB2F-A5BF-28A8D8B8969A}"/>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AI Agents Anatomy</a:t>
            </a:r>
          </a:p>
        </p:txBody>
      </p:sp>
      <p:sp>
        <p:nvSpPr>
          <p:cNvPr id="9" name="TextBox 8">
            <a:extLst>
              <a:ext uri="{FF2B5EF4-FFF2-40B4-BE49-F238E27FC236}">
                <a16:creationId xmlns:a16="http://schemas.microsoft.com/office/drawing/2014/main" id="{FFA3B729-BA72-0AA4-DA35-53D3F752CB98}"/>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0" name="Rectangle 2">
            <a:extLst>
              <a:ext uri="{FF2B5EF4-FFF2-40B4-BE49-F238E27FC236}">
                <a16:creationId xmlns:a16="http://schemas.microsoft.com/office/drawing/2014/main" id="{6D3388A4-76B4-81E5-BFC9-FCFFBA9BF60C}"/>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10" name="TextBox 9">
            <a:extLst>
              <a:ext uri="{FF2B5EF4-FFF2-40B4-BE49-F238E27FC236}">
                <a16:creationId xmlns:a16="http://schemas.microsoft.com/office/drawing/2014/main" id="{2FF1647D-5C49-2100-68F1-997D8F27E77B}"/>
              </a:ext>
            </a:extLst>
          </p:cNvPr>
          <p:cNvSpPr txBox="1"/>
          <p:nvPr/>
        </p:nvSpPr>
        <p:spPr>
          <a:xfrm>
            <a:off x="362796" y="791638"/>
            <a:ext cx="9827491" cy="923330"/>
          </a:xfrm>
          <a:prstGeom prst="rect">
            <a:avLst/>
          </a:prstGeom>
          <a:noFill/>
        </p:spPr>
        <p:txBody>
          <a:bodyPr wrap="square">
            <a:spAutoFit/>
          </a:bodyPr>
          <a:lstStyle/>
          <a:p>
            <a:pPr marL="285750" indent="-285750">
              <a:buFont typeface="Arial" panose="020B0604020202020204" pitchFamily="34" charset="0"/>
              <a:buChar char="•"/>
            </a:pPr>
            <a:endParaRPr lang="en-CA" dirty="0"/>
          </a:p>
          <a:p>
            <a:endParaRPr lang="en-CA" dirty="0"/>
          </a:p>
          <a:p>
            <a:endParaRPr lang="en-CA" dirty="0"/>
          </a:p>
        </p:txBody>
      </p:sp>
      <p:sp>
        <p:nvSpPr>
          <p:cNvPr id="8" name="TextBox 7">
            <a:extLst>
              <a:ext uri="{FF2B5EF4-FFF2-40B4-BE49-F238E27FC236}">
                <a16:creationId xmlns:a16="http://schemas.microsoft.com/office/drawing/2014/main" id="{29BC7D7D-A929-8098-56E6-86E5F772F7FA}"/>
              </a:ext>
            </a:extLst>
          </p:cNvPr>
          <p:cNvSpPr txBox="1"/>
          <p:nvPr/>
        </p:nvSpPr>
        <p:spPr>
          <a:xfrm>
            <a:off x="103860" y="807761"/>
            <a:ext cx="11674482" cy="646331"/>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Montserrat" panose="00000500000000000000" pitchFamily="2" charset="0"/>
              </a:rPr>
              <a:t>An AI Agent is a system built around an LLM that can autonomously reason, plan, use tools, and learn from feedback to accomplish complex goals.</a:t>
            </a:r>
          </a:p>
        </p:txBody>
      </p:sp>
      <p:sp>
        <p:nvSpPr>
          <p:cNvPr id="4" name="Shape 4">
            <a:extLst>
              <a:ext uri="{FF2B5EF4-FFF2-40B4-BE49-F238E27FC236}">
                <a16:creationId xmlns:a16="http://schemas.microsoft.com/office/drawing/2014/main" id="{C4451C6F-E3DE-3165-5C43-787D7FB9AEAE}"/>
              </a:ext>
            </a:extLst>
          </p:cNvPr>
          <p:cNvSpPr/>
          <p:nvPr/>
        </p:nvSpPr>
        <p:spPr>
          <a:xfrm>
            <a:off x="4658167" y="2062015"/>
            <a:ext cx="2651760" cy="1280160"/>
          </a:xfrm>
          <a:prstGeom prst="ellipse">
            <a:avLst/>
          </a:prstGeom>
          <a:solidFill>
            <a:schemeClr val="accent5">
              <a:lumMod val="20000"/>
              <a:lumOff val="80000"/>
            </a:schemeClr>
          </a:solidFill>
          <a:ln w="3175">
            <a:solidFill>
              <a:schemeClr val="tx1"/>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12" name="Text 5">
            <a:extLst>
              <a:ext uri="{FF2B5EF4-FFF2-40B4-BE49-F238E27FC236}">
                <a16:creationId xmlns:a16="http://schemas.microsoft.com/office/drawing/2014/main" id="{BBA04D72-2FAA-035C-5E88-624569B2F681}"/>
              </a:ext>
            </a:extLst>
          </p:cNvPr>
          <p:cNvSpPr/>
          <p:nvPr/>
        </p:nvSpPr>
        <p:spPr>
          <a:xfrm>
            <a:off x="4658167" y="2062015"/>
            <a:ext cx="2651760" cy="1280160"/>
          </a:xfrm>
          <a:prstGeom prst="rect">
            <a:avLst/>
          </a:prstGeom>
          <a:noFill/>
          <a:ln/>
        </p:spPr>
        <p:txBody>
          <a:bodyPr wrap="square" lIns="0" tIns="0" rIns="0" bIns="0" rtlCol="0" anchor="ctr"/>
          <a:lstStyle/>
          <a:p>
            <a:pPr marL="0" indent="0" algn="ctr">
              <a:buNone/>
            </a:pPr>
            <a:r>
              <a:rPr lang="en-US" sz="2200" b="1" dirty="0">
                <a:solidFill>
                  <a:srgbClr val="0C1752"/>
                </a:solidFill>
                <a:latin typeface="Montserrat" panose="00000500000000000000" pitchFamily="2" charset="0"/>
                <a:ea typeface="Georgia" pitchFamily="34" charset="-122"/>
                <a:cs typeface="Georgia" pitchFamily="34" charset="-120"/>
              </a:rPr>
              <a:t>LLM</a:t>
            </a:r>
            <a:endParaRPr lang="en-US" sz="2200" dirty="0">
              <a:solidFill>
                <a:srgbClr val="0C1752"/>
              </a:solidFill>
              <a:latin typeface="Montserrat" panose="00000500000000000000" pitchFamily="2" charset="0"/>
            </a:endParaRPr>
          </a:p>
          <a:p>
            <a:pPr marL="0" indent="0" algn="ctr">
              <a:buNone/>
            </a:pPr>
            <a:r>
              <a:rPr lang="en-US" i="1" dirty="0">
                <a:solidFill>
                  <a:srgbClr val="0C1752"/>
                </a:solidFill>
                <a:latin typeface="Montserrat" panose="00000500000000000000" pitchFamily="2" charset="0"/>
                <a:ea typeface="Calibri" pitchFamily="34" charset="-122"/>
                <a:cs typeface="Calibri" pitchFamily="34" charset="-120"/>
              </a:rPr>
              <a:t>Reasoning Engine</a:t>
            </a:r>
            <a:endParaRPr lang="en-US" sz="3600" i="1" dirty="0">
              <a:solidFill>
                <a:srgbClr val="0C1752"/>
              </a:solidFill>
              <a:latin typeface="Montserrat" panose="00000500000000000000" pitchFamily="2" charset="0"/>
            </a:endParaRPr>
          </a:p>
        </p:txBody>
      </p:sp>
      <p:grpSp>
        <p:nvGrpSpPr>
          <p:cNvPr id="59" name="Group 58">
            <a:extLst>
              <a:ext uri="{FF2B5EF4-FFF2-40B4-BE49-F238E27FC236}">
                <a16:creationId xmlns:a16="http://schemas.microsoft.com/office/drawing/2014/main" id="{B558F2B6-DCB0-5244-35EF-C01A2E43A627}"/>
              </a:ext>
            </a:extLst>
          </p:cNvPr>
          <p:cNvGrpSpPr/>
          <p:nvPr/>
        </p:nvGrpSpPr>
        <p:grpSpPr>
          <a:xfrm>
            <a:off x="945028" y="1628413"/>
            <a:ext cx="2377440" cy="594360"/>
            <a:chOff x="945028" y="1628413"/>
            <a:chExt cx="2377440" cy="594360"/>
          </a:xfrm>
        </p:grpSpPr>
        <p:sp>
          <p:nvSpPr>
            <p:cNvPr id="14" name="Shape 6">
              <a:extLst>
                <a:ext uri="{FF2B5EF4-FFF2-40B4-BE49-F238E27FC236}">
                  <a16:creationId xmlns:a16="http://schemas.microsoft.com/office/drawing/2014/main" id="{46E1A6B9-3185-EBDB-7F56-25FDBE3A40D1}"/>
                </a:ext>
              </a:extLst>
            </p:cNvPr>
            <p:cNvSpPr/>
            <p:nvPr/>
          </p:nvSpPr>
          <p:spPr>
            <a:xfrm>
              <a:off x="945028" y="1628413"/>
              <a:ext cx="2377440" cy="594360"/>
            </a:xfrm>
            <a:prstGeom prst="rect">
              <a:avLst/>
            </a:prstGeom>
            <a:solidFill>
              <a:srgbClr val="D56E48"/>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17" name="Text 7">
              <a:extLst>
                <a:ext uri="{FF2B5EF4-FFF2-40B4-BE49-F238E27FC236}">
                  <a16:creationId xmlns:a16="http://schemas.microsoft.com/office/drawing/2014/main" id="{6A6522B9-A723-7BC7-420E-3F026EEC84FF}"/>
                </a:ext>
              </a:extLst>
            </p:cNvPr>
            <p:cNvSpPr/>
            <p:nvPr/>
          </p:nvSpPr>
          <p:spPr>
            <a:xfrm>
              <a:off x="945028" y="1628413"/>
              <a:ext cx="237744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anose="00000500000000000000" pitchFamily="2" charset="0"/>
                  <a:ea typeface="Calibri" pitchFamily="34" charset="-122"/>
                  <a:cs typeface="Calibri" pitchFamily="34" charset="-120"/>
                </a:rPr>
                <a:t>Planning</a:t>
              </a:r>
              <a:endParaRPr lang="en-US" sz="1400" dirty="0">
                <a:latin typeface="Montserrat" panose="00000500000000000000" pitchFamily="2" charset="0"/>
              </a:endParaRPr>
            </a:p>
          </p:txBody>
        </p:sp>
      </p:grpSp>
      <p:grpSp>
        <p:nvGrpSpPr>
          <p:cNvPr id="58" name="Group 57">
            <a:extLst>
              <a:ext uri="{FF2B5EF4-FFF2-40B4-BE49-F238E27FC236}">
                <a16:creationId xmlns:a16="http://schemas.microsoft.com/office/drawing/2014/main" id="{CBE0044A-ACC6-EA4A-ACBA-C243597DD628}"/>
              </a:ext>
            </a:extLst>
          </p:cNvPr>
          <p:cNvGrpSpPr/>
          <p:nvPr/>
        </p:nvGrpSpPr>
        <p:grpSpPr>
          <a:xfrm>
            <a:off x="8330879" y="1657272"/>
            <a:ext cx="2392552" cy="596925"/>
            <a:chOff x="8330879" y="1657272"/>
            <a:chExt cx="2392552" cy="596925"/>
          </a:xfrm>
        </p:grpSpPr>
        <p:sp>
          <p:nvSpPr>
            <p:cNvPr id="24" name="Shape 9">
              <a:extLst>
                <a:ext uri="{FF2B5EF4-FFF2-40B4-BE49-F238E27FC236}">
                  <a16:creationId xmlns:a16="http://schemas.microsoft.com/office/drawing/2014/main" id="{F0A2EFD9-AB24-ED95-7FD2-57BFAF960783}"/>
                </a:ext>
              </a:extLst>
            </p:cNvPr>
            <p:cNvSpPr/>
            <p:nvPr/>
          </p:nvSpPr>
          <p:spPr>
            <a:xfrm>
              <a:off x="8345991" y="1657272"/>
              <a:ext cx="2377440" cy="594360"/>
            </a:xfrm>
            <a:prstGeom prst="rect">
              <a:avLst/>
            </a:prstGeom>
            <a:solidFill>
              <a:schemeClr val="bg1">
                <a:lumMod val="65000"/>
              </a:schemeClr>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25" name="Text 10">
              <a:extLst>
                <a:ext uri="{FF2B5EF4-FFF2-40B4-BE49-F238E27FC236}">
                  <a16:creationId xmlns:a16="http://schemas.microsoft.com/office/drawing/2014/main" id="{1E75DCA3-74CB-033E-1EF5-40F9B204032B}"/>
                </a:ext>
              </a:extLst>
            </p:cNvPr>
            <p:cNvSpPr/>
            <p:nvPr/>
          </p:nvSpPr>
          <p:spPr>
            <a:xfrm>
              <a:off x="8330879" y="1659837"/>
              <a:ext cx="237744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anose="00000500000000000000" pitchFamily="2" charset="0"/>
                  <a:ea typeface="Calibri" pitchFamily="34" charset="-122"/>
                  <a:cs typeface="Calibri" pitchFamily="34" charset="-120"/>
                </a:rPr>
                <a:t>Tools</a:t>
              </a:r>
              <a:endParaRPr lang="en-US" sz="1400" dirty="0">
                <a:latin typeface="Montserrat" panose="00000500000000000000" pitchFamily="2" charset="0"/>
              </a:endParaRPr>
            </a:p>
          </p:txBody>
        </p:sp>
      </p:grpSp>
      <p:grpSp>
        <p:nvGrpSpPr>
          <p:cNvPr id="60" name="Group 59">
            <a:extLst>
              <a:ext uri="{FF2B5EF4-FFF2-40B4-BE49-F238E27FC236}">
                <a16:creationId xmlns:a16="http://schemas.microsoft.com/office/drawing/2014/main" id="{88D8A5DE-E106-F323-6268-3ED57C5131F0}"/>
              </a:ext>
            </a:extLst>
          </p:cNvPr>
          <p:cNvGrpSpPr/>
          <p:nvPr/>
        </p:nvGrpSpPr>
        <p:grpSpPr>
          <a:xfrm>
            <a:off x="1003770" y="3373460"/>
            <a:ext cx="2395428" cy="615844"/>
            <a:chOff x="1003770" y="3373460"/>
            <a:chExt cx="2395428" cy="615844"/>
          </a:xfrm>
        </p:grpSpPr>
        <p:sp>
          <p:nvSpPr>
            <p:cNvPr id="27" name="Shape 12">
              <a:extLst>
                <a:ext uri="{FF2B5EF4-FFF2-40B4-BE49-F238E27FC236}">
                  <a16:creationId xmlns:a16="http://schemas.microsoft.com/office/drawing/2014/main" id="{DC96F23A-2600-D414-6CC1-7EA5EED599BD}"/>
                </a:ext>
              </a:extLst>
            </p:cNvPr>
            <p:cNvSpPr/>
            <p:nvPr/>
          </p:nvSpPr>
          <p:spPr>
            <a:xfrm>
              <a:off x="1021758" y="3394944"/>
              <a:ext cx="2377440" cy="594360"/>
            </a:xfrm>
            <a:prstGeom prst="rect">
              <a:avLst/>
            </a:prstGeom>
            <a:solidFill>
              <a:srgbClr val="1BBFD1"/>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28" name="Text 13">
              <a:extLst>
                <a:ext uri="{FF2B5EF4-FFF2-40B4-BE49-F238E27FC236}">
                  <a16:creationId xmlns:a16="http://schemas.microsoft.com/office/drawing/2014/main" id="{D6B8DCA3-B009-7B89-A8D7-17759CD24B03}"/>
                </a:ext>
              </a:extLst>
            </p:cNvPr>
            <p:cNvSpPr/>
            <p:nvPr/>
          </p:nvSpPr>
          <p:spPr>
            <a:xfrm>
              <a:off x="1003770" y="3373460"/>
              <a:ext cx="237744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anose="00000500000000000000" pitchFamily="2" charset="0"/>
                  <a:ea typeface="Calibri" pitchFamily="34" charset="-122"/>
                  <a:cs typeface="Calibri" pitchFamily="34" charset="-120"/>
                </a:rPr>
                <a:t>Memory</a:t>
              </a:r>
              <a:endParaRPr lang="en-US" sz="1400" dirty="0">
                <a:latin typeface="Montserrat" panose="00000500000000000000" pitchFamily="2" charset="0"/>
              </a:endParaRPr>
            </a:p>
          </p:txBody>
        </p:sp>
      </p:grpSp>
      <p:grpSp>
        <p:nvGrpSpPr>
          <p:cNvPr id="57" name="Group 56">
            <a:extLst>
              <a:ext uri="{FF2B5EF4-FFF2-40B4-BE49-F238E27FC236}">
                <a16:creationId xmlns:a16="http://schemas.microsoft.com/office/drawing/2014/main" id="{63B11AD9-8223-6911-F30D-E1B8E105F41E}"/>
              </a:ext>
            </a:extLst>
          </p:cNvPr>
          <p:cNvGrpSpPr/>
          <p:nvPr/>
        </p:nvGrpSpPr>
        <p:grpSpPr>
          <a:xfrm>
            <a:off x="8368045" y="3394944"/>
            <a:ext cx="2451112" cy="608681"/>
            <a:chOff x="8166462" y="3147312"/>
            <a:chExt cx="2451112" cy="608681"/>
          </a:xfrm>
        </p:grpSpPr>
        <p:sp>
          <p:nvSpPr>
            <p:cNvPr id="30" name="Shape 15">
              <a:extLst>
                <a:ext uri="{FF2B5EF4-FFF2-40B4-BE49-F238E27FC236}">
                  <a16:creationId xmlns:a16="http://schemas.microsoft.com/office/drawing/2014/main" id="{A404A053-5D17-29DB-1AB7-8CA7B6CD0440}"/>
                </a:ext>
              </a:extLst>
            </p:cNvPr>
            <p:cNvSpPr/>
            <p:nvPr/>
          </p:nvSpPr>
          <p:spPr>
            <a:xfrm>
              <a:off x="8166462" y="3161633"/>
              <a:ext cx="2377440" cy="594360"/>
            </a:xfrm>
            <a:prstGeom prst="rect">
              <a:avLst/>
            </a:prstGeom>
            <a:solidFill>
              <a:srgbClr val="0C1752"/>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31" name="Text 16">
              <a:extLst>
                <a:ext uri="{FF2B5EF4-FFF2-40B4-BE49-F238E27FC236}">
                  <a16:creationId xmlns:a16="http://schemas.microsoft.com/office/drawing/2014/main" id="{CA8B4530-71BD-9DAE-AE07-F86077EBA27B}"/>
                </a:ext>
              </a:extLst>
            </p:cNvPr>
            <p:cNvSpPr/>
            <p:nvPr/>
          </p:nvSpPr>
          <p:spPr>
            <a:xfrm>
              <a:off x="8240134" y="3147312"/>
              <a:ext cx="2377440" cy="5943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anose="00000500000000000000" pitchFamily="2" charset="0"/>
                  <a:ea typeface="Calibri" pitchFamily="34" charset="-122"/>
                  <a:cs typeface="Calibri" pitchFamily="34" charset="-120"/>
                </a:rPr>
                <a:t>Observation</a:t>
              </a:r>
              <a:endParaRPr lang="en-US" sz="1400" dirty="0">
                <a:latin typeface="Montserrat" panose="00000500000000000000" pitchFamily="2" charset="0"/>
              </a:endParaRPr>
            </a:p>
          </p:txBody>
        </p:sp>
      </p:grpSp>
      <p:sp>
        <p:nvSpPr>
          <p:cNvPr id="33" name="Shape 18">
            <a:extLst>
              <a:ext uri="{FF2B5EF4-FFF2-40B4-BE49-F238E27FC236}">
                <a16:creationId xmlns:a16="http://schemas.microsoft.com/office/drawing/2014/main" id="{B9E321A5-29CB-D1D3-9235-E7E4464603DA}"/>
              </a:ext>
            </a:extLst>
          </p:cNvPr>
          <p:cNvSpPr/>
          <p:nvPr/>
        </p:nvSpPr>
        <p:spPr>
          <a:xfrm>
            <a:off x="896982" y="4657435"/>
            <a:ext cx="201168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35" name="Shape 20">
            <a:extLst>
              <a:ext uri="{FF2B5EF4-FFF2-40B4-BE49-F238E27FC236}">
                <a16:creationId xmlns:a16="http://schemas.microsoft.com/office/drawing/2014/main" id="{0D8BC64E-DFE9-4DC0-F060-EEA8A3209309}"/>
              </a:ext>
            </a:extLst>
          </p:cNvPr>
          <p:cNvSpPr/>
          <p:nvPr/>
        </p:nvSpPr>
        <p:spPr>
          <a:xfrm>
            <a:off x="1006710" y="4794595"/>
            <a:ext cx="320040" cy="320040"/>
          </a:xfrm>
          <a:prstGeom prst="ellipse">
            <a:avLst/>
          </a:prstGeom>
          <a:solidFill>
            <a:srgbClr val="D56E48"/>
          </a:solidFill>
          <a:ln/>
        </p:spPr>
        <p:txBody>
          <a:bodyPr/>
          <a:lstStyle/>
          <a:p>
            <a:endParaRPr lang="en-CA">
              <a:latin typeface="Montserrat" panose="00000500000000000000" pitchFamily="2" charset="0"/>
            </a:endParaRPr>
          </a:p>
        </p:txBody>
      </p:sp>
      <p:sp>
        <p:nvSpPr>
          <p:cNvPr id="36" name="Text 21">
            <a:extLst>
              <a:ext uri="{FF2B5EF4-FFF2-40B4-BE49-F238E27FC236}">
                <a16:creationId xmlns:a16="http://schemas.microsoft.com/office/drawing/2014/main" id="{A0635985-0C25-D470-503C-1352C2B9FF91}"/>
              </a:ext>
            </a:extLst>
          </p:cNvPr>
          <p:cNvSpPr/>
          <p:nvPr/>
        </p:nvSpPr>
        <p:spPr>
          <a:xfrm>
            <a:off x="1006710" y="4794595"/>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anose="00000500000000000000" pitchFamily="2" charset="0"/>
                <a:ea typeface="Calibri" pitchFamily="34" charset="-122"/>
                <a:cs typeface="Calibri" pitchFamily="34" charset="-120"/>
              </a:rPr>
              <a:t>P</a:t>
            </a:r>
            <a:endParaRPr lang="en-US" sz="1400" dirty="0">
              <a:latin typeface="Montserrat" panose="00000500000000000000" pitchFamily="2" charset="0"/>
            </a:endParaRPr>
          </a:p>
        </p:txBody>
      </p:sp>
      <p:sp>
        <p:nvSpPr>
          <p:cNvPr id="37" name="Text 22">
            <a:extLst>
              <a:ext uri="{FF2B5EF4-FFF2-40B4-BE49-F238E27FC236}">
                <a16:creationId xmlns:a16="http://schemas.microsoft.com/office/drawing/2014/main" id="{AA882652-5CDB-999B-C66D-26680358D096}"/>
              </a:ext>
            </a:extLst>
          </p:cNvPr>
          <p:cNvSpPr/>
          <p:nvPr/>
        </p:nvSpPr>
        <p:spPr>
          <a:xfrm>
            <a:off x="1399902" y="4794595"/>
            <a:ext cx="1371600" cy="32004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Planning</a:t>
            </a:r>
            <a:endParaRPr lang="en-US" sz="1600" dirty="0">
              <a:latin typeface="Montserrat" panose="00000500000000000000" pitchFamily="2" charset="0"/>
            </a:endParaRPr>
          </a:p>
        </p:txBody>
      </p:sp>
      <p:sp>
        <p:nvSpPr>
          <p:cNvPr id="38" name="Text 23">
            <a:extLst>
              <a:ext uri="{FF2B5EF4-FFF2-40B4-BE49-F238E27FC236}">
                <a16:creationId xmlns:a16="http://schemas.microsoft.com/office/drawing/2014/main" id="{2C6D0753-D500-BEE4-120B-1F9C796EC034}"/>
              </a:ext>
            </a:extLst>
          </p:cNvPr>
          <p:cNvSpPr/>
          <p:nvPr/>
        </p:nvSpPr>
        <p:spPr>
          <a:xfrm>
            <a:off x="1006710" y="5206075"/>
            <a:ext cx="1792224" cy="914400"/>
          </a:xfrm>
          <a:prstGeom prst="rect">
            <a:avLst/>
          </a:prstGeom>
          <a:noFill/>
          <a:ln/>
        </p:spPr>
        <p:txBody>
          <a:bodyPr wrap="square" lIns="0" tIns="0" rIns="0" bIns="0" rtlCol="0" anchor="t"/>
          <a:lstStyle/>
          <a:p>
            <a:pPr marL="0" indent="0">
              <a:buNone/>
            </a:pPr>
            <a:r>
              <a:rPr lang="en-US" sz="1050" dirty="0">
                <a:solidFill>
                  <a:srgbClr val="334155"/>
                </a:solidFill>
                <a:latin typeface="Montserrat" panose="00000500000000000000" pitchFamily="2" charset="0"/>
                <a:ea typeface="Calibri" pitchFamily="34" charset="-122"/>
                <a:cs typeface="Calibri" pitchFamily="34" charset="-120"/>
              </a:rPr>
              <a:t>Breaks goals into sub-tasks, decides what to do next. Uses ReAct loops, chain-of-thought, and self-reflection.</a:t>
            </a:r>
            <a:endParaRPr lang="en-US" sz="1050" dirty="0">
              <a:latin typeface="Montserrat" panose="00000500000000000000" pitchFamily="2" charset="0"/>
            </a:endParaRPr>
          </a:p>
        </p:txBody>
      </p:sp>
      <p:sp>
        <p:nvSpPr>
          <p:cNvPr id="39" name="Shape 24">
            <a:extLst>
              <a:ext uri="{FF2B5EF4-FFF2-40B4-BE49-F238E27FC236}">
                <a16:creationId xmlns:a16="http://schemas.microsoft.com/office/drawing/2014/main" id="{84962A1D-743D-F0D4-6163-0C4A054F9922}"/>
              </a:ext>
            </a:extLst>
          </p:cNvPr>
          <p:cNvSpPr/>
          <p:nvPr/>
        </p:nvSpPr>
        <p:spPr>
          <a:xfrm>
            <a:off x="3633216" y="4657435"/>
            <a:ext cx="201168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41" name="Shape 26">
            <a:extLst>
              <a:ext uri="{FF2B5EF4-FFF2-40B4-BE49-F238E27FC236}">
                <a16:creationId xmlns:a16="http://schemas.microsoft.com/office/drawing/2014/main" id="{F1558A52-EFB8-3ADD-529F-2BBCE0883581}"/>
              </a:ext>
            </a:extLst>
          </p:cNvPr>
          <p:cNvSpPr/>
          <p:nvPr/>
        </p:nvSpPr>
        <p:spPr>
          <a:xfrm>
            <a:off x="3742944" y="4794595"/>
            <a:ext cx="320040" cy="320040"/>
          </a:xfrm>
          <a:prstGeom prst="ellipse">
            <a:avLst/>
          </a:prstGeom>
          <a:solidFill>
            <a:schemeClr val="bg1">
              <a:lumMod val="65000"/>
            </a:schemeClr>
          </a:solidFill>
          <a:ln/>
        </p:spPr>
        <p:txBody>
          <a:bodyPr/>
          <a:lstStyle/>
          <a:p>
            <a:endParaRPr lang="en-CA">
              <a:latin typeface="Montserrat" panose="00000500000000000000" pitchFamily="2" charset="0"/>
            </a:endParaRPr>
          </a:p>
        </p:txBody>
      </p:sp>
      <p:sp>
        <p:nvSpPr>
          <p:cNvPr id="42" name="Text 27">
            <a:extLst>
              <a:ext uri="{FF2B5EF4-FFF2-40B4-BE49-F238E27FC236}">
                <a16:creationId xmlns:a16="http://schemas.microsoft.com/office/drawing/2014/main" id="{F56DE287-A6FA-A0BF-F668-A49918B7E46E}"/>
              </a:ext>
            </a:extLst>
          </p:cNvPr>
          <p:cNvSpPr/>
          <p:nvPr/>
        </p:nvSpPr>
        <p:spPr>
          <a:xfrm>
            <a:off x="3742944" y="4794595"/>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anose="00000500000000000000" pitchFamily="2" charset="0"/>
                <a:ea typeface="Calibri" pitchFamily="34" charset="-122"/>
                <a:cs typeface="Calibri" pitchFamily="34" charset="-120"/>
              </a:rPr>
              <a:t>T</a:t>
            </a:r>
            <a:endParaRPr lang="en-US" sz="1400" dirty="0">
              <a:latin typeface="Montserrat" panose="00000500000000000000" pitchFamily="2" charset="0"/>
            </a:endParaRPr>
          </a:p>
        </p:txBody>
      </p:sp>
      <p:sp>
        <p:nvSpPr>
          <p:cNvPr id="43" name="Text 28">
            <a:extLst>
              <a:ext uri="{FF2B5EF4-FFF2-40B4-BE49-F238E27FC236}">
                <a16:creationId xmlns:a16="http://schemas.microsoft.com/office/drawing/2014/main" id="{60F056C2-A631-AE73-30A9-0B26CCB04BED}"/>
              </a:ext>
            </a:extLst>
          </p:cNvPr>
          <p:cNvSpPr/>
          <p:nvPr/>
        </p:nvSpPr>
        <p:spPr>
          <a:xfrm>
            <a:off x="4136136" y="4794595"/>
            <a:ext cx="1371600" cy="32004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Tools</a:t>
            </a:r>
            <a:endParaRPr lang="en-US" sz="1600" dirty="0">
              <a:latin typeface="Montserrat" panose="00000500000000000000" pitchFamily="2" charset="0"/>
            </a:endParaRPr>
          </a:p>
        </p:txBody>
      </p:sp>
      <p:sp>
        <p:nvSpPr>
          <p:cNvPr id="44" name="Text 29">
            <a:extLst>
              <a:ext uri="{FF2B5EF4-FFF2-40B4-BE49-F238E27FC236}">
                <a16:creationId xmlns:a16="http://schemas.microsoft.com/office/drawing/2014/main" id="{0D5585D9-C90E-59DC-538B-DE2B14203105}"/>
              </a:ext>
            </a:extLst>
          </p:cNvPr>
          <p:cNvSpPr/>
          <p:nvPr/>
        </p:nvSpPr>
        <p:spPr>
          <a:xfrm>
            <a:off x="3742944" y="5206075"/>
            <a:ext cx="1792224" cy="914400"/>
          </a:xfrm>
          <a:prstGeom prst="rect">
            <a:avLst/>
          </a:prstGeom>
          <a:noFill/>
          <a:ln/>
        </p:spPr>
        <p:txBody>
          <a:bodyPr wrap="square" lIns="0" tIns="0" rIns="0" bIns="0" rtlCol="0" anchor="t"/>
          <a:lstStyle/>
          <a:p>
            <a:pPr marL="0" indent="0">
              <a:buNone/>
            </a:pPr>
            <a:r>
              <a:rPr lang="en-US" sz="1050" dirty="0">
                <a:solidFill>
                  <a:srgbClr val="334155"/>
                </a:solidFill>
                <a:latin typeface="Montserrat" panose="00000500000000000000" pitchFamily="2" charset="0"/>
                <a:ea typeface="Calibri" pitchFamily="34" charset="-122"/>
                <a:cs typeface="Calibri" pitchFamily="34" charset="-120"/>
              </a:rPr>
              <a:t>Interacts with the world: APIs, code execution, web search, file I/O, databases, and MCP servers.</a:t>
            </a:r>
            <a:endParaRPr lang="en-US" sz="1050" dirty="0">
              <a:latin typeface="Montserrat" panose="00000500000000000000" pitchFamily="2" charset="0"/>
            </a:endParaRPr>
          </a:p>
        </p:txBody>
      </p:sp>
      <p:sp>
        <p:nvSpPr>
          <p:cNvPr id="45" name="Shape 30">
            <a:extLst>
              <a:ext uri="{FF2B5EF4-FFF2-40B4-BE49-F238E27FC236}">
                <a16:creationId xmlns:a16="http://schemas.microsoft.com/office/drawing/2014/main" id="{469B095A-65CC-84DA-769D-82FF5D5DA4D7}"/>
              </a:ext>
            </a:extLst>
          </p:cNvPr>
          <p:cNvSpPr/>
          <p:nvPr/>
        </p:nvSpPr>
        <p:spPr>
          <a:xfrm>
            <a:off x="6502079" y="4657435"/>
            <a:ext cx="201168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47" name="Shape 32">
            <a:extLst>
              <a:ext uri="{FF2B5EF4-FFF2-40B4-BE49-F238E27FC236}">
                <a16:creationId xmlns:a16="http://schemas.microsoft.com/office/drawing/2014/main" id="{44209DA9-F544-77CB-2F10-808AB4971D5A}"/>
              </a:ext>
            </a:extLst>
          </p:cNvPr>
          <p:cNvSpPr/>
          <p:nvPr/>
        </p:nvSpPr>
        <p:spPr>
          <a:xfrm>
            <a:off x="6611807" y="4794595"/>
            <a:ext cx="320040" cy="320040"/>
          </a:xfrm>
          <a:prstGeom prst="ellipse">
            <a:avLst/>
          </a:prstGeom>
          <a:solidFill>
            <a:srgbClr val="1BBFD1"/>
          </a:solidFill>
          <a:ln/>
        </p:spPr>
        <p:txBody>
          <a:bodyPr/>
          <a:lstStyle/>
          <a:p>
            <a:endParaRPr lang="en-CA">
              <a:latin typeface="Montserrat" panose="00000500000000000000" pitchFamily="2" charset="0"/>
            </a:endParaRPr>
          </a:p>
        </p:txBody>
      </p:sp>
      <p:sp>
        <p:nvSpPr>
          <p:cNvPr id="48" name="Text 33">
            <a:extLst>
              <a:ext uri="{FF2B5EF4-FFF2-40B4-BE49-F238E27FC236}">
                <a16:creationId xmlns:a16="http://schemas.microsoft.com/office/drawing/2014/main" id="{06B44BFC-63F7-9047-D6FB-8F494F08D852}"/>
              </a:ext>
            </a:extLst>
          </p:cNvPr>
          <p:cNvSpPr/>
          <p:nvPr/>
        </p:nvSpPr>
        <p:spPr>
          <a:xfrm>
            <a:off x="6611807" y="4794595"/>
            <a:ext cx="32004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panose="00000500000000000000" pitchFamily="2" charset="0"/>
                <a:ea typeface="Calibri" pitchFamily="34" charset="-122"/>
                <a:cs typeface="Calibri" pitchFamily="34" charset="-120"/>
              </a:rPr>
              <a:t>M</a:t>
            </a:r>
            <a:endParaRPr lang="en-US" sz="1400" dirty="0">
              <a:latin typeface="Montserrat" panose="00000500000000000000" pitchFamily="2" charset="0"/>
            </a:endParaRPr>
          </a:p>
        </p:txBody>
      </p:sp>
      <p:sp>
        <p:nvSpPr>
          <p:cNvPr id="49" name="Text 34">
            <a:extLst>
              <a:ext uri="{FF2B5EF4-FFF2-40B4-BE49-F238E27FC236}">
                <a16:creationId xmlns:a16="http://schemas.microsoft.com/office/drawing/2014/main" id="{671432B2-4874-D581-8B17-BFDB48B94DA6}"/>
              </a:ext>
            </a:extLst>
          </p:cNvPr>
          <p:cNvSpPr/>
          <p:nvPr/>
        </p:nvSpPr>
        <p:spPr>
          <a:xfrm>
            <a:off x="7004999" y="4794595"/>
            <a:ext cx="1371600" cy="32004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Memory</a:t>
            </a:r>
            <a:endParaRPr lang="en-US" sz="1600" dirty="0">
              <a:latin typeface="Montserrat" panose="00000500000000000000" pitchFamily="2" charset="0"/>
            </a:endParaRPr>
          </a:p>
        </p:txBody>
      </p:sp>
      <p:sp>
        <p:nvSpPr>
          <p:cNvPr id="50" name="Text 35">
            <a:extLst>
              <a:ext uri="{FF2B5EF4-FFF2-40B4-BE49-F238E27FC236}">
                <a16:creationId xmlns:a16="http://schemas.microsoft.com/office/drawing/2014/main" id="{B1890FBA-EBAF-B68B-4914-FC166C68366F}"/>
              </a:ext>
            </a:extLst>
          </p:cNvPr>
          <p:cNvSpPr/>
          <p:nvPr/>
        </p:nvSpPr>
        <p:spPr>
          <a:xfrm>
            <a:off x="6611807" y="5206075"/>
            <a:ext cx="1792224" cy="914400"/>
          </a:xfrm>
          <a:prstGeom prst="rect">
            <a:avLst/>
          </a:prstGeom>
          <a:noFill/>
          <a:ln/>
        </p:spPr>
        <p:txBody>
          <a:bodyPr wrap="square" lIns="0" tIns="0" rIns="0" bIns="0" rtlCol="0" anchor="t"/>
          <a:lstStyle/>
          <a:p>
            <a:pPr marL="0" indent="0">
              <a:buNone/>
            </a:pPr>
            <a:r>
              <a:rPr lang="en-US" sz="1050" dirty="0">
                <a:solidFill>
                  <a:srgbClr val="334155"/>
                </a:solidFill>
                <a:latin typeface="Montserrat" panose="00000500000000000000" pitchFamily="2" charset="0"/>
                <a:ea typeface="Calibri" pitchFamily="34" charset="-122"/>
                <a:cs typeface="Calibri" pitchFamily="34" charset="-120"/>
              </a:rPr>
              <a:t>Short-term (conversation context) and long-term (vector DB, embeddings) to retain and recall information.</a:t>
            </a:r>
            <a:endParaRPr lang="en-US" sz="1050" dirty="0">
              <a:latin typeface="Montserrat" panose="00000500000000000000" pitchFamily="2" charset="0"/>
            </a:endParaRPr>
          </a:p>
        </p:txBody>
      </p:sp>
      <p:sp>
        <p:nvSpPr>
          <p:cNvPr id="51" name="Shape 36">
            <a:extLst>
              <a:ext uri="{FF2B5EF4-FFF2-40B4-BE49-F238E27FC236}">
                <a16:creationId xmlns:a16="http://schemas.microsoft.com/office/drawing/2014/main" id="{0AF922D9-665A-13E8-8AA4-0D9C921D9572}"/>
              </a:ext>
            </a:extLst>
          </p:cNvPr>
          <p:cNvSpPr/>
          <p:nvPr/>
        </p:nvSpPr>
        <p:spPr>
          <a:xfrm>
            <a:off x="9199559" y="4657435"/>
            <a:ext cx="201168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53" name="Shape 38">
            <a:extLst>
              <a:ext uri="{FF2B5EF4-FFF2-40B4-BE49-F238E27FC236}">
                <a16:creationId xmlns:a16="http://schemas.microsoft.com/office/drawing/2014/main" id="{645952C3-EE21-8975-49C2-217DCE9BC324}"/>
              </a:ext>
            </a:extLst>
          </p:cNvPr>
          <p:cNvSpPr/>
          <p:nvPr/>
        </p:nvSpPr>
        <p:spPr>
          <a:xfrm>
            <a:off x="9309287" y="4794595"/>
            <a:ext cx="320040" cy="320040"/>
          </a:xfrm>
          <a:prstGeom prst="ellipse">
            <a:avLst/>
          </a:prstGeom>
          <a:solidFill>
            <a:srgbClr val="10B981"/>
          </a:solidFill>
          <a:ln/>
        </p:spPr>
        <p:txBody>
          <a:bodyPr/>
          <a:lstStyle/>
          <a:p>
            <a:endParaRPr lang="en-CA">
              <a:latin typeface="Montserrat" panose="00000500000000000000" pitchFamily="2" charset="0"/>
            </a:endParaRPr>
          </a:p>
        </p:txBody>
      </p:sp>
      <p:sp>
        <p:nvSpPr>
          <p:cNvPr id="54" name="Text 39">
            <a:extLst>
              <a:ext uri="{FF2B5EF4-FFF2-40B4-BE49-F238E27FC236}">
                <a16:creationId xmlns:a16="http://schemas.microsoft.com/office/drawing/2014/main" id="{D32DD381-7602-70E8-0D56-8756318D8107}"/>
              </a:ext>
            </a:extLst>
          </p:cNvPr>
          <p:cNvSpPr/>
          <p:nvPr/>
        </p:nvSpPr>
        <p:spPr>
          <a:xfrm>
            <a:off x="9309287" y="4794595"/>
            <a:ext cx="320040" cy="320040"/>
          </a:xfrm>
          <a:prstGeom prst="rect">
            <a:avLst/>
          </a:prstGeom>
          <a:solidFill>
            <a:srgbClr val="0C1752"/>
          </a:solidFill>
          <a:ln/>
        </p:spPr>
        <p:txBody>
          <a:bodyPr wrap="square" lIns="0" tIns="0" rIns="0" bIns="0" rtlCol="0" anchor="ctr"/>
          <a:lstStyle/>
          <a:p>
            <a:pPr marL="0" indent="0" algn="ctr">
              <a:buNone/>
            </a:pPr>
            <a:r>
              <a:rPr lang="en-US" sz="1400" b="1" dirty="0">
                <a:solidFill>
                  <a:srgbClr val="FFFFFF"/>
                </a:solidFill>
                <a:latin typeface="Montserrat" panose="00000500000000000000" pitchFamily="2" charset="0"/>
                <a:ea typeface="Calibri" pitchFamily="34" charset="-122"/>
                <a:cs typeface="Calibri" pitchFamily="34" charset="-120"/>
              </a:rPr>
              <a:t>O</a:t>
            </a:r>
            <a:endParaRPr lang="en-US" sz="1400" dirty="0">
              <a:latin typeface="Montserrat" panose="00000500000000000000" pitchFamily="2" charset="0"/>
            </a:endParaRPr>
          </a:p>
        </p:txBody>
      </p:sp>
      <p:sp>
        <p:nvSpPr>
          <p:cNvPr id="55" name="Text 40">
            <a:extLst>
              <a:ext uri="{FF2B5EF4-FFF2-40B4-BE49-F238E27FC236}">
                <a16:creationId xmlns:a16="http://schemas.microsoft.com/office/drawing/2014/main" id="{25E14D3B-B785-DC73-1305-D9D8CCA9FD07}"/>
              </a:ext>
            </a:extLst>
          </p:cNvPr>
          <p:cNvSpPr/>
          <p:nvPr/>
        </p:nvSpPr>
        <p:spPr>
          <a:xfrm>
            <a:off x="9702479" y="4794595"/>
            <a:ext cx="1371600" cy="32004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Observation</a:t>
            </a:r>
            <a:endParaRPr lang="en-US" sz="1600" dirty="0">
              <a:latin typeface="Montserrat" panose="00000500000000000000" pitchFamily="2" charset="0"/>
            </a:endParaRPr>
          </a:p>
        </p:txBody>
      </p:sp>
      <p:sp>
        <p:nvSpPr>
          <p:cNvPr id="56" name="Text 41">
            <a:extLst>
              <a:ext uri="{FF2B5EF4-FFF2-40B4-BE49-F238E27FC236}">
                <a16:creationId xmlns:a16="http://schemas.microsoft.com/office/drawing/2014/main" id="{A26538F3-A09A-DEB3-4360-CE6F4F05A738}"/>
              </a:ext>
            </a:extLst>
          </p:cNvPr>
          <p:cNvSpPr/>
          <p:nvPr/>
        </p:nvSpPr>
        <p:spPr>
          <a:xfrm>
            <a:off x="9309287" y="5206075"/>
            <a:ext cx="1792224" cy="914400"/>
          </a:xfrm>
          <a:prstGeom prst="rect">
            <a:avLst/>
          </a:prstGeom>
          <a:noFill/>
          <a:ln/>
        </p:spPr>
        <p:txBody>
          <a:bodyPr wrap="square" lIns="0" tIns="0" rIns="0" bIns="0" rtlCol="0" anchor="t"/>
          <a:lstStyle/>
          <a:p>
            <a:pPr marL="0" indent="0">
              <a:buNone/>
            </a:pPr>
            <a:r>
              <a:rPr lang="en-US" sz="1050" dirty="0">
                <a:solidFill>
                  <a:srgbClr val="334155"/>
                </a:solidFill>
                <a:latin typeface="Montserrat" panose="00000500000000000000" pitchFamily="2" charset="0"/>
                <a:ea typeface="Calibri" pitchFamily="34" charset="-122"/>
                <a:cs typeface="Calibri" pitchFamily="34" charset="-120"/>
              </a:rPr>
              <a:t>Interprets tool results and environment feedback to evaluate progress and decide next actions.</a:t>
            </a:r>
            <a:endParaRPr lang="en-US" sz="1050" dirty="0">
              <a:latin typeface="Montserrat" panose="00000500000000000000" pitchFamily="2" charset="0"/>
            </a:endParaRPr>
          </a:p>
        </p:txBody>
      </p:sp>
      <p:cxnSp>
        <p:nvCxnSpPr>
          <p:cNvPr id="62" name="Straight Connector 61">
            <a:extLst>
              <a:ext uri="{FF2B5EF4-FFF2-40B4-BE49-F238E27FC236}">
                <a16:creationId xmlns:a16="http://schemas.microsoft.com/office/drawing/2014/main" id="{2DC4E157-BF60-1904-A52D-23422696D763}"/>
              </a:ext>
            </a:extLst>
          </p:cNvPr>
          <p:cNvCxnSpPr>
            <a:stCxn id="14" idx="3"/>
            <a:endCxn id="4" idx="1"/>
          </p:cNvCxnSpPr>
          <p:nvPr/>
        </p:nvCxnSpPr>
        <p:spPr>
          <a:xfrm>
            <a:off x="3322468" y="1925593"/>
            <a:ext cx="1724040" cy="323897"/>
          </a:xfrm>
          <a:prstGeom prst="line">
            <a:avLst/>
          </a:prstGeom>
          <a:ln w="28575">
            <a:solidFill>
              <a:srgbClr val="0C1752"/>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55A31DC2-0385-4EE3-03AA-C79898AF8001}"/>
              </a:ext>
            </a:extLst>
          </p:cNvPr>
          <p:cNvCxnSpPr>
            <a:cxnSpLocks/>
            <a:stCxn id="27" idx="3"/>
            <a:endCxn id="4" idx="3"/>
          </p:cNvCxnSpPr>
          <p:nvPr/>
        </p:nvCxnSpPr>
        <p:spPr>
          <a:xfrm flipV="1">
            <a:off x="3399198" y="3154700"/>
            <a:ext cx="1647310" cy="537424"/>
          </a:xfrm>
          <a:prstGeom prst="line">
            <a:avLst/>
          </a:prstGeom>
          <a:ln w="28575">
            <a:solidFill>
              <a:srgbClr val="0C1752"/>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3F13B53-D85E-CB99-A57A-48CB7DE02ADD}"/>
              </a:ext>
            </a:extLst>
          </p:cNvPr>
          <p:cNvCxnSpPr>
            <a:cxnSpLocks/>
            <a:stCxn id="4" idx="7"/>
            <a:endCxn id="24" idx="1"/>
          </p:cNvCxnSpPr>
          <p:nvPr/>
        </p:nvCxnSpPr>
        <p:spPr>
          <a:xfrm flipV="1">
            <a:off x="6921586" y="1954452"/>
            <a:ext cx="1424405" cy="295038"/>
          </a:xfrm>
          <a:prstGeom prst="line">
            <a:avLst/>
          </a:prstGeom>
          <a:ln w="28575">
            <a:solidFill>
              <a:srgbClr val="0C1752"/>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7839FD5-C644-18DC-9A98-EA92636591EE}"/>
              </a:ext>
            </a:extLst>
          </p:cNvPr>
          <p:cNvCxnSpPr>
            <a:cxnSpLocks/>
            <a:stCxn id="4" idx="5"/>
          </p:cNvCxnSpPr>
          <p:nvPr/>
        </p:nvCxnSpPr>
        <p:spPr>
          <a:xfrm>
            <a:off x="6921586" y="3154700"/>
            <a:ext cx="1409293" cy="551745"/>
          </a:xfrm>
          <a:prstGeom prst="line">
            <a:avLst/>
          </a:prstGeom>
          <a:ln w="28575">
            <a:solidFill>
              <a:srgbClr val="0C175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515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500"/>
                                        <p:tgtEl>
                                          <p:spTgt spid="59"/>
                                        </p:tgtEl>
                                      </p:cBhvr>
                                    </p:animEffect>
                                  </p:childTnLst>
                                </p:cTn>
                              </p:par>
                              <p:par>
                                <p:cTn id="16" presetID="10" presetClass="entr" presetSubtype="0" fill="hold" nodeType="with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fade">
                                      <p:cBhvr>
                                        <p:cTn id="18" dur="500"/>
                                        <p:tgtEl>
                                          <p:spTgt spid="6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fade">
                                      <p:cBhvr>
                                        <p:cTn id="21" dur="500"/>
                                        <p:tgtEl>
                                          <p:spTgt spid="3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fade">
                                      <p:cBhvr>
                                        <p:cTn id="24" dur="500"/>
                                        <p:tgtEl>
                                          <p:spTgt spid="3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fade">
                                      <p:cBhvr>
                                        <p:cTn id="30" dur="500"/>
                                        <p:tgtEl>
                                          <p:spTgt spid="3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fade">
                                      <p:cBhvr>
                                        <p:cTn id="33" dur="500"/>
                                        <p:tgtEl>
                                          <p:spTgt spid="3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fade">
                                      <p:cBhvr>
                                        <p:cTn id="38" dur="500"/>
                                        <p:tgtEl>
                                          <p:spTgt spid="58"/>
                                        </p:tgtEl>
                                      </p:cBhvr>
                                    </p:animEffect>
                                  </p:childTnLst>
                                </p:cTn>
                              </p:par>
                              <p:par>
                                <p:cTn id="39" presetID="10" presetClass="entr" presetSubtype="0" fill="hold" nodeType="withEffect">
                                  <p:stCondLst>
                                    <p:cond delay="0"/>
                                  </p:stCondLst>
                                  <p:childTnLst>
                                    <p:set>
                                      <p:cBhvr>
                                        <p:cTn id="40" dur="1" fill="hold">
                                          <p:stCondLst>
                                            <p:cond delay="0"/>
                                          </p:stCondLst>
                                        </p:cTn>
                                        <p:tgtEl>
                                          <p:spTgt spid="66"/>
                                        </p:tgtEl>
                                        <p:attrNameLst>
                                          <p:attrName>style.visibility</p:attrName>
                                        </p:attrNameLst>
                                      </p:cBhvr>
                                      <p:to>
                                        <p:strVal val="visible"/>
                                      </p:to>
                                    </p:set>
                                    <p:animEffect transition="in" filter="fade">
                                      <p:cBhvr>
                                        <p:cTn id="41" dur="500"/>
                                        <p:tgtEl>
                                          <p:spTgt spid="6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500"/>
                                        <p:tgtEl>
                                          <p:spTgt spid="4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fade">
                                      <p:cBhvr>
                                        <p:cTn id="47" dur="500"/>
                                        <p:tgtEl>
                                          <p:spTgt spid="4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fade">
                                      <p:cBhvr>
                                        <p:cTn id="50" dur="500"/>
                                        <p:tgtEl>
                                          <p:spTgt spid="4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500"/>
                                        <p:tgtEl>
                                          <p:spTgt spid="3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500"/>
                                        <p:tgtEl>
                                          <p:spTgt spid="4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500"/>
                                        <p:tgtEl>
                                          <p:spTgt spid="4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fade">
                                      <p:cBhvr>
                                        <p:cTn id="67" dur="500"/>
                                        <p:tgtEl>
                                          <p:spTgt spid="4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50"/>
                                        </p:tgtEl>
                                        <p:attrNameLst>
                                          <p:attrName>style.visibility</p:attrName>
                                        </p:attrNameLst>
                                      </p:cBhvr>
                                      <p:to>
                                        <p:strVal val="visible"/>
                                      </p:to>
                                    </p:set>
                                    <p:animEffect transition="in" filter="fade">
                                      <p:cBhvr>
                                        <p:cTn id="70" dur="500"/>
                                        <p:tgtEl>
                                          <p:spTgt spid="50"/>
                                        </p:tgtEl>
                                      </p:cBhvr>
                                    </p:animEffect>
                                  </p:childTnLst>
                                </p:cTn>
                              </p:par>
                              <p:par>
                                <p:cTn id="71" presetID="10" presetClass="entr" presetSubtype="0" fill="hold" nodeType="withEffect">
                                  <p:stCondLst>
                                    <p:cond delay="0"/>
                                  </p:stCondLst>
                                  <p:childTnLst>
                                    <p:set>
                                      <p:cBhvr>
                                        <p:cTn id="72" dur="1" fill="hold">
                                          <p:stCondLst>
                                            <p:cond delay="0"/>
                                          </p:stCondLst>
                                        </p:cTn>
                                        <p:tgtEl>
                                          <p:spTgt spid="60"/>
                                        </p:tgtEl>
                                        <p:attrNameLst>
                                          <p:attrName>style.visibility</p:attrName>
                                        </p:attrNameLst>
                                      </p:cBhvr>
                                      <p:to>
                                        <p:strVal val="visible"/>
                                      </p:to>
                                    </p:set>
                                    <p:animEffect transition="in" filter="fade">
                                      <p:cBhvr>
                                        <p:cTn id="73" dur="500"/>
                                        <p:tgtEl>
                                          <p:spTgt spid="60"/>
                                        </p:tgtEl>
                                      </p:cBhvr>
                                    </p:animEffect>
                                  </p:childTnLst>
                                </p:cTn>
                              </p:par>
                              <p:par>
                                <p:cTn id="74" presetID="10" presetClass="entr" presetSubtype="0" fill="hold" nodeType="withEffect">
                                  <p:stCondLst>
                                    <p:cond delay="0"/>
                                  </p:stCondLst>
                                  <p:childTnLst>
                                    <p:set>
                                      <p:cBhvr>
                                        <p:cTn id="75" dur="1" fill="hold">
                                          <p:stCondLst>
                                            <p:cond delay="0"/>
                                          </p:stCondLst>
                                        </p:cTn>
                                        <p:tgtEl>
                                          <p:spTgt spid="63"/>
                                        </p:tgtEl>
                                        <p:attrNameLst>
                                          <p:attrName>style.visibility</p:attrName>
                                        </p:attrNameLst>
                                      </p:cBhvr>
                                      <p:to>
                                        <p:strVal val="visible"/>
                                      </p:to>
                                    </p:set>
                                    <p:animEffect transition="in" filter="fade">
                                      <p:cBhvr>
                                        <p:cTn id="76" dur="500"/>
                                        <p:tgtEl>
                                          <p:spTgt spid="63"/>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fade">
                                      <p:cBhvr>
                                        <p:cTn id="81" dur="500"/>
                                        <p:tgtEl>
                                          <p:spTgt spid="5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3"/>
                                        </p:tgtEl>
                                        <p:attrNameLst>
                                          <p:attrName>style.visibility</p:attrName>
                                        </p:attrNameLst>
                                      </p:cBhvr>
                                      <p:to>
                                        <p:strVal val="visible"/>
                                      </p:to>
                                    </p:set>
                                    <p:animEffect transition="in" filter="fade">
                                      <p:cBhvr>
                                        <p:cTn id="84" dur="500"/>
                                        <p:tgtEl>
                                          <p:spTgt spid="5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54"/>
                                        </p:tgtEl>
                                        <p:attrNameLst>
                                          <p:attrName>style.visibility</p:attrName>
                                        </p:attrNameLst>
                                      </p:cBhvr>
                                      <p:to>
                                        <p:strVal val="visible"/>
                                      </p:to>
                                    </p:set>
                                    <p:animEffect transition="in" filter="fade">
                                      <p:cBhvr>
                                        <p:cTn id="87" dur="500"/>
                                        <p:tgtEl>
                                          <p:spTgt spid="5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5"/>
                                        </p:tgtEl>
                                        <p:attrNameLst>
                                          <p:attrName>style.visibility</p:attrName>
                                        </p:attrNameLst>
                                      </p:cBhvr>
                                      <p:to>
                                        <p:strVal val="visible"/>
                                      </p:to>
                                    </p:set>
                                    <p:animEffect transition="in" filter="fade">
                                      <p:cBhvr>
                                        <p:cTn id="90" dur="500"/>
                                        <p:tgtEl>
                                          <p:spTgt spid="5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56"/>
                                        </p:tgtEl>
                                        <p:attrNameLst>
                                          <p:attrName>style.visibility</p:attrName>
                                        </p:attrNameLst>
                                      </p:cBhvr>
                                      <p:to>
                                        <p:strVal val="visible"/>
                                      </p:to>
                                    </p:set>
                                    <p:animEffect transition="in" filter="fade">
                                      <p:cBhvr>
                                        <p:cTn id="93" dur="500"/>
                                        <p:tgtEl>
                                          <p:spTgt spid="56"/>
                                        </p:tgtEl>
                                      </p:cBhvr>
                                    </p:animEffect>
                                  </p:childTnLst>
                                </p:cTn>
                              </p:par>
                              <p:par>
                                <p:cTn id="94" presetID="10" presetClass="entr" presetSubtype="0" fill="hold" nodeType="withEffect">
                                  <p:stCondLst>
                                    <p:cond delay="0"/>
                                  </p:stCondLst>
                                  <p:childTnLst>
                                    <p:set>
                                      <p:cBhvr>
                                        <p:cTn id="95" dur="1" fill="hold">
                                          <p:stCondLst>
                                            <p:cond delay="0"/>
                                          </p:stCondLst>
                                        </p:cTn>
                                        <p:tgtEl>
                                          <p:spTgt spid="69"/>
                                        </p:tgtEl>
                                        <p:attrNameLst>
                                          <p:attrName>style.visibility</p:attrName>
                                        </p:attrNameLst>
                                      </p:cBhvr>
                                      <p:to>
                                        <p:strVal val="visible"/>
                                      </p:to>
                                    </p:set>
                                    <p:animEffect transition="in" filter="fade">
                                      <p:cBhvr>
                                        <p:cTn id="96" dur="500"/>
                                        <p:tgtEl>
                                          <p:spTgt spid="69"/>
                                        </p:tgtEl>
                                      </p:cBhvr>
                                    </p:animEffect>
                                  </p:childTnLst>
                                </p:cTn>
                              </p:par>
                              <p:par>
                                <p:cTn id="97" presetID="10" presetClass="entr" presetSubtype="0" fill="hold" nodeType="withEffect">
                                  <p:stCondLst>
                                    <p:cond delay="0"/>
                                  </p:stCondLst>
                                  <p:childTnLst>
                                    <p:set>
                                      <p:cBhvr>
                                        <p:cTn id="98" dur="1" fill="hold">
                                          <p:stCondLst>
                                            <p:cond delay="0"/>
                                          </p:stCondLst>
                                        </p:cTn>
                                        <p:tgtEl>
                                          <p:spTgt spid="57"/>
                                        </p:tgtEl>
                                        <p:attrNameLst>
                                          <p:attrName>style.visibility</p:attrName>
                                        </p:attrNameLst>
                                      </p:cBhvr>
                                      <p:to>
                                        <p:strVal val="visible"/>
                                      </p:to>
                                    </p:set>
                                    <p:animEffect transition="in" filter="fade">
                                      <p:cBhvr>
                                        <p:cTn id="9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33" grpId="0" animBg="1"/>
      <p:bldP spid="35" grpId="0" animBg="1"/>
      <p:bldP spid="36" grpId="0" animBg="1"/>
      <p:bldP spid="37" grpId="0" animBg="1"/>
      <p:bldP spid="38" grpId="0" animBg="1"/>
      <p:bldP spid="39" grpId="0" animBg="1"/>
      <p:bldP spid="41" grpId="0" animBg="1"/>
      <p:bldP spid="43" grpId="0" animBg="1"/>
      <p:bldP spid="44" grpId="0" animBg="1"/>
      <p:bldP spid="45" grpId="0" animBg="1"/>
      <p:bldP spid="47" grpId="0" animBg="1"/>
      <p:bldP spid="48" grpId="0" animBg="1"/>
      <p:bldP spid="49" grpId="0" animBg="1"/>
      <p:bldP spid="50" grpId="0" animBg="1"/>
      <p:bldP spid="51" grpId="0" animBg="1"/>
      <p:bldP spid="53" grpId="0" animBg="1"/>
      <p:bldP spid="54" grpId="0" animBg="1"/>
      <p:bldP spid="55" grpId="0" animBg="1"/>
      <p:bldP spid="5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377B02F6-B695-5B1A-DB6E-287B86DECA38}"/>
            </a:ext>
          </a:extLst>
        </p:cNvPr>
        <p:cNvGrpSpPr/>
        <p:nvPr/>
      </p:nvGrpSpPr>
      <p:grpSpPr>
        <a:xfrm>
          <a:off x="0" y="0"/>
          <a:ext cx="0" cy="0"/>
          <a:chOff x="0" y="0"/>
          <a:chExt cx="0" cy="0"/>
        </a:xfrm>
      </p:grpSpPr>
      <p:pic>
        <p:nvPicPr>
          <p:cNvPr id="112" name="Google Shape;112;p5">
            <a:extLst>
              <a:ext uri="{FF2B5EF4-FFF2-40B4-BE49-F238E27FC236}">
                <a16:creationId xmlns:a16="http://schemas.microsoft.com/office/drawing/2014/main" id="{EF804895-64CA-C710-6B1A-FB5AEF0ECE02}"/>
              </a:ext>
            </a:extLst>
          </p:cNvPr>
          <p:cNvPicPr preferRelativeResize="0"/>
          <p:nvPr/>
        </p:nvPicPr>
        <p:blipFill rotWithShape="1">
          <a:blip r:embed="rId3">
            <a:alphaModFix/>
          </a:blip>
          <a:srcRect/>
          <a:stretch/>
        </p:blipFill>
        <p:spPr>
          <a:xfrm>
            <a:off x="-8703" y="-19050"/>
            <a:ext cx="12224773" cy="6858000"/>
          </a:xfrm>
          <a:prstGeom prst="rect">
            <a:avLst/>
          </a:prstGeom>
          <a:noFill/>
          <a:ln>
            <a:noFill/>
          </a:ln>
        </p:spPr>
      </p:pic>
      <p:pic>
        <p:nvPicPr>
          <p:cNvPr id="113" name="Google Shape;113;p5">
            <a:extLst>
              <a:ext uri="{FF2B5EF4-FFF2-40B4-BE49-F238E27FC236}">
                <a16:creationId xmlns:a16="http://schemas.microsoft.com/office/drawing/2014/main" id="{876071BD-8479-9A9A-246B-80E1DAD63FC6}"/>
              </a:ext>
            </a:extLst>
          </p:cNvPr>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114" name="Google Shape;114;p5">
            <a:extLst>
              <a:ext uri="{FF2B5EF4-FFF2-40B4-BE49-F238E27FC236}">
                <a16:creationId xmlns:a16="http://schemas.microsoft.com/office/drawing/2014/main" id="{22748258-4060-A1E3-B8A4-38FB2FA1E5DB}"/>
              </a:ext>
            </a:extLst>
          </p:cNvPr>
          <p:cNvSpPr/>
          <p:nvPr/>
        </p:nvSpPr>
        <p:spPr>
          <a:xfrm>
            <a:off x="154722" y="90489"/>
            <a:ext cx="9827492"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sym typeface="Montserrat"/>
              </a:rPr>
              <a:t>Weather Agent Walkthrough – Part 1</a:t>
            </a:r>
            <a:endParaRPr dirty="0"/>
          </a:p>
        </p:txBody>
      </p:sp>
      <p:sp>
        <p:nvSpPr>
          <p:cNvPr id="115" name="Google Shape;115;p5">
            <a:extLst>
              <a:ext uri="{FF2B5EF4-FFF2-40B4-BE49-F238E27FC236}">
                <a16:creationId xmlns:a16="http://schemas.microsoft.com/office/drawing/2014/main" id="{EE957838-6555-D009-4503-EF094E67DE47}"/>
              </a:ext>
            </a:extLst>
          </p:cNvPr>
          <p:cNvSpPr txBox="1"/>
          <p:nvPr/>
        </p:nvSpPr>
        <p:spPr>
          <a:xfrm rot="5400000">
            <a:off x="9518305" y="3536959"/>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dirty="0">
                <a:solidFill>
                  <a:schemeClr val="accent3"/>
                </a:solidFill>
                <a:latin typeface="Calibri"/>
                <a:ea typeface="Calibri"/>
                <a:cs typeface="Calibri"/>
                <a:sym typeface="Calibri"/>
              </a:rPr>
              <a:t>© All rights reserved for Dr. Ryan Ahmed @Stemplicity Inc. </a:t>
            </a:r>
            <a:endParaRPr dirty="0"/>
          </a:p>
        </p:txBody>
      </p:sp>
      <p:sp>
        <p:nvSpPr>
          <p:cNvPr id="36" name="Rectangle: Rounded Corners 35">
            <a:extLst>
              <a:ext uri="{FF2B5EF4-FFF2-40B4-BE49-F238E27FC236}">
                <a16:creationId xmlns:a16="http://schemas.microsoft.com/office/drawing/2014/main" id="{58780E43-461C-AA78-9B25-C4C9C3766565}"/>
              </a:ext>
            </a:extLst>
          </p:cNvPr>
          <p:cNvSpPr/>
          <p:nvPr/>
        </p:nvSpPr>
        <p:spPr>
          <a:xfrm>
            <a:off x="5258882" y="3903275"/>
            <a:ext cx="2452050" cy="1126585"/>
          </a:xfrm>
          <a:prstGeom prst="roundRect">
            <a:avLst/>
          </a:prstGeom>
          <a:solidFill>
            <a:srgbClr val="0C1752"/>
          </a:solidFill>
          <a:ln>
            <a:solidFill>
              <a:srgbClr val="0C17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Montserrat" panose="00000500000000000000" pitchFamily="2" charset="0"/>
              </a:rPr>
              <a:t>Agent</a:t>
            </a:r>
          </a:p>
        </p:txBody>
      </p:sp>
      <p:sp>
        <p:nvSpPr>
          <p:cNvPr id="37" name="Rectangle: Rounded Corners 36">
            <a:extLst>
              <a:ext uri="{FF2B5EF4-FFF2-40B4-BE49-F238E27FC236}">
                <a16:creationId xmlns:a16="http://schemas.microsoft.com/office/drawing/2014/main" id="{3B231781-E671-B83F-295C-E2189EA63FBF}"/>
              </a:ext>
            </a:extLst>
          </p:cNvPr>
          <p:cNvSpPr/>
          <p:nvPr/>
        </p:nvSpPr>
        <p:spPr>
          <a:xfrm>
            <a:off x="9474632" y="3903274"/>
            <a:ext cx="2452050" cy="1126585"/>
          </a:xfrm>
          <a:prstGeom prst="roundRect">
            <a:avLst/>
          </a:prstGeom>
          <a:solidFill>
            <a:srgbClr val="D56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Montserrat" panose="00000500000000000000" pitchFamily="2" charset="0"/>
              </a:rPr>
              <a:t>LLM</a:t>
            </a:r>
          </a:p>
        </p:txBody>
      </p:sp>
      <p:sp>
        <p:nvSpPr>
          <p:cNvPr id="45" name="Rectangle: Rounded Corners 44">
            <a:extLst>
              <a:ext uri="{FF2B5EF4-FFF2-40B4-BE49-F238E27FC236}">
                <a16:creationId xmlns:a16="http://schemas.microsoft.com/office/drawing/2014/main" id="{C276771C-5C04-FD39-42B6-7F51AB079D5C}"/>
              </a:ext>
            </a:extLst>
          </p:cNvPr>
          <p:cNvSpPr/>
          <p:nvPr/>
        </p:nvSpPr>
        <p:spPr>
          <a:xfrm>
            <a:off x="5258882" y="1570375"/>
            <a:ext cx="2452050" cy="1126585"/>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Montserrat" panose="00000500000000000000" pitchFamily="2" charset="0"/>
              </a:rPr>
              <a:t>System Prompt</a:t>
            </a:r>
          </a:p>
        </p:txBody>
      </p:sp>
      <p:sp>
        <p:nvSpPr>
          <p:cNvPr id="46" name="Rectangle: Rounded Corners 45">
            <a:extLst>
              <a:ext uri="{FF2B5EF4-FFF2-40B4-BE49-F238E27FC236}">
                <a16:creationId xmlns:a16="http://schemas.microsoft.com/office/drawing/2014/main" id="{C54A5370-B35D-01E2-B81E-10E12147F8C2}"/>
              </a:ext>
            </a:extLst>
          </p:cNvPr>
          <p:cNvSpPr/>
          <p:nvPr/>
        </p:nvSpPr>
        <p:spPr>
          <a:xfrm>
            <a:off x="8458200" y="5541107"/>
            <a:ext cx="2452050" cy="1126585"/>
          </a:xfrm>
          <a:prstGeom prst="roundRect">
            <a:avLst/>
          </a:prstGeom>
          <a:solidFill>
            <a:srgbClr val="1BB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Montserrat" panose="00000500000000000000" pitchFamily="2" charset="0"/>
              </a:rPr>
              <a:t>Memory</a:t>
            </a:r>
          </a:p>
        </p:txBody>
      </p:sp>
      <p:cxnSp>
        <p:nvCxnSpPr>
          <p:cNvPr id="55" name="Straight Arrow Connector 54">
            <a:extLst>
              <a:ext uri="{FF2B5EF4-FFF2-40B4-BE49-F238E27FC236}">
                <a16:creationId xmlns:a16="http://schemas.microsoft.com/office/drawing/2014/main" id="{22A6427F-71A2-840C-C17D-EEA30F796421}"/>
              </a:ext>
            </a:extLst>
          </p:cNvPr>
          <p:cNvCxnSpPr>
            <a:cxnSpLocks/>
          </p:cNvCxnSpPr>
          <p:nvPr/>
        </p:nvCxnSpPr>
        <p:spPr>
          <a:xfrm>
            <a:off x="7805690" y="4358124"/>
            <a:ext cx="1668942" cy="0"/>
          </a:xfrm>
          <a:prstGeom prst="straightConnector1">
            <a:avLst/>
          </a:prstGeom>
          <a:ln w="38100">
            <a:solidFill>
              <a:srgbClr val="0C1752"/>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66BC6F31-7A51-9AA9-13AF-2F82E89D1A2C}"/>
              </a:ext>
            </a:extLst>
          </p:cNvPr>
          <p:cNvSpPr txBox="1"/>
          <p:nvPr/>
        </p:nvSpPr>
        <p:spPr>
          <a:xfrm>
            <a:off x="1663312" y="3515847"/>
            <a:ext cx="3379451" cy="646331"/>
          </a:xfrm>
          <a:prstGeom prst="rect">
            <a:avLst/>
          </a:prstGeom>
          <a:noFill/>
        </p:spPr>
        <p:txBody>
          <a:bodyPr wrap="none" rtlCol="0">
            <a:spAutoFit/>
          </a:bodyPr>
          <a:lstStyle/>
          <a:p>
            <a:r>
              <a:rPr lang="en-CA" b="1" dirty="0">
                <a:solidFill>
                  <a:srgbClr val="0C1752"/>
                </a:solidFill>
                <a:latin typeface="Montserrat" panose="00000500000000000000" pitchFamily="2" charset="0"/>
              </a:rPr>
              <a:t>User Prompt</a:t>
            </a:r>
          </a:p>
          <a:p>
            <a:r>
              <a:rPr lang="en-CA" dirty="0">
                <a:solidFill>
                  <a:srgbClr val="0C1752"/>
                </a:solidFill>
                <a:latin typeface="Montserrat" panose="00000500000000000000" pitchFamily="2" charset="0"/>
              </a:rPr>
              <a:t>What is the weather today?</a:t>
            </a:r>
          </a:p>
        </p:txBody>
      </p:sp>
      <p:pic>
        <p:nvPicPr>
          <p:cNvPr id="60" name="Picture 59">
            <a:extLst>
              <a:ext uri="{FF2B5EF4-FFF2-40B4-BE49-F238E27FC236}">
                <a16:creationId xmlns:a16="http://schemas.microsoft.com/office/drawing/2014/main" id="{93287B9E-90C9-1955-ECD2-419EF666E514}"/>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343760" y="3706236"/>
            <a:ext cx="1494520" cy="1494520"/>
          </a:xfrm>
          <a:prstGeom prst="rect">
            <a:avLst/>
          </a:prstGeom>
        </p:spPr>
      </p:pic>
      <p:cxnSp>
        <p:nvCxnSpPr>
          <p:cNvPr id="61" name="Straight Arrow Connector 60">
            <a:extLst>
              <a:ext uri="{FF2B5EF4-FFF2-40B4-BE49-F238E27FC236}">
                <a16:creationId xmlns:a16="http://schemas.microsoft.com/office/drawing/2014/main" id="{10BEAB51-3837-2AD1-0359-90072C63DDE0}"/>
              </a:ext>
            </a:extLst>
          </p:cNvPr>
          <p:cNvCxnSpPr>
            <a:cxnSpLocks/>
            <a:stCxn id="45" idx="2"/>
            <a:endCxn id="36" idx="0"/>
          </p:cNvCxnSpPr>
          <p:nvPr/>
        </p:nvCxnSpPr>
        <p:spPr>
          <a:xfrm>
            <a:off x="6484907" y="2696960"/>
            <a:ext cx="0" cy="1206315"/>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D0C1447-E4D6-CBCD-57E4-4109EB3E4B4F}"/>
              </a:ext>
            </a:extLst>
          </p:cNvPr>
          <p:cNvSpPr txBox="1"/>
          <p:nvPr/>
        </p:nvSpPr>
        <p:spPr>
          <a:xfrm>
            <a:off x="4970149" y="2969118"/>
            <a:ext cx="1620957" cy="369332"/>
          </a:xfrm>
          <a:prstGeom prst="rect">
            <a:avLst/>
          </a:prstGeom>
          <a:noFill/>
        </p:spPr>
        <p:txBody>
          <a:bodyPr wrap="none" rtlCol="0">
            <a:spAutoFit/>
          </a:bodyPr>
          <a:lstStyle/>
          <a:p>
            <a:r>
              <a:rPr lang="en-CA" dirty="0">
                <a:latin typeface="Montserrat" panose="00000500000000000000" pitchFamily="2" charset="0"/>
              </a:rPr>
              <a:t>Instructions</a:t>
            </a:r>
          </a:p>
        </p:txBody>
      </p:sp>
      <p:cxnSp>
        <p:nvCxnSpPr>
          <p:cNvPr id="66" name="Straight Arrow Connector 65">
            <a:extLst>
              <a:ext uri="{FF2B5EF4-FFF2-40B4-BE49-F238E27FC236}">
                <a16:creationId xmlns:a16="http://schemas.microsoft.com/office/drawing/2014/main" id="{514B77F8-13AF-82E1-80CD-2C2AA35200F9}"/>
              </a:ext>
            </a:extLst>
          </p:cNvPr>
          <p:cNvCxnSpPr>
            <a:cxnSpLocks/>
          </p:cNvCxnSpPr>
          <p:nvPr/>
        </p:nvCxnSpPr>
        <p:spPr>
          <a:xfrm flipH="1">
            <a:off x="1590698" y="4642621"/>
            <a:ext cx="3581444"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8A78F077-AEAD-28FF-E7AC-4C6DDB909BE9}"/>
              </a:ext>
            </a:extLst>
          </p:cNvPr>
          <p:cNvSpPr txBox="1"/>
          <p:nvPr/>
        </p:nvSpPr>
        <p:spPr>
          <a:xfrm>
            <a:off x="7805690" y="1394830"/>
            <a:ext cx="4120992" cy="1815882"/>
          </a:xfrm>
          <a:prstGeom prst="rect">
            <a:avLst/>
          </a:prstGeom>
          <a:noFill/>
        </p:spPr>
        <p:txBody>
          <a:bodyPr wrap="square">
            <a:spAutoFit/>
          </a:bodyPr>
          <a:lstStyle/>
          <a:p>
            <a:pPr>
              <a:buNone/>
            </a:pPr>
            <a:r>
              <a:rPr lang="en-US" sz="1400" b="1" dirty="0">
                <a:latin typeface="Montserrat" panose="00000500000000000000" pitchFamily="2" charset="0"/>
              </a:rPr>
              <a:t>Context</a:t>
            </a:r>
          </a:p>
          <a:p>
            <a:pPr>
              <a:buNone/>
            </a:pPr>
            <a:r>
              <a:rPr lang="en-US" sz="1400" dirty="0">
                <a:latin typeface="Montserrat" panose="00000500000000000000" pitchFamily="2" charset="0"/>
              </a:rPr>
              <a:t>You are an assistant that helps users with questions about weather.</a:t>
            </a:r>
          </a:p>
          <a:p>
            <a:pPr>
              <a:buNone/>
            </a:pPr>
            <a:endParaRPr lang="en-US" sz="1400" dirty="0">
              <a:latin typeface="Montserrat" panose="00000500000000000000" pitchFamily="2" charset="0"/>
            </a:endParaRPr>
          </a:p>
          <a:p>
            <a:pPr>
              <a:buNone/>
            </a:pPr>
            <a:r>
              <a:rPr lang="en-US" sz="1400" b="1" dirty="0">
                <a:latin typeface="Montserrat" panose="00000500000000000000" pitchFamily="2" charset="0"/>
              </a:rPr>
              <a:t>Instruction</a:t>
            </a:r>
          </a:p>
          <a:p>
            <a:r>
              <a:rPr lang="en-US" sz="1400" dirty="0">
                <a:latin typeface="Montserrat" panose="00000500000000000000" pitchFamily="2" charset="0"/>
              </a:rPr>
              <a:t>If the user asks about weather, use the Weather tool. Ask the user for additional details if the request is unclear.</a:t>
            </a:r>
          </a:p>
        </p:txBody>
      </p:sp>
      <p:cxnSp>
        <p:nvCxnSpPr>
          <p:cNvPr id="77" name="Straight Arrow Connector 76">
            <a:extLst>
              <a:ext uri="{FF2B5EF4-FFF2-40B4-BE49-F238E27FC236}">
                <a16:creationId xmlns:a16="http://schemas.microsoft.com/office/drawing/2014/main" id="{6A63FE1D-24D8-F395-0800-7BB1DFFF969B}"/>
              </a:ext>
            </a:extLst>
          </p:cNvPr>
          <p:cNvCxnSpPr>
            <a:cxnSpLocks/>
          </p:cNvCxnSpPr>
          <p:nvPr/>
        </p:nvCxnSpPr>
        <p:spPr>
          <a:xfrm>
            <a:off x="1631795" y="4374451"/>
            <a:ext cx="3540347"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A5C843A2-D551-0B00-A614-C7C058AE9CEE}"/>
              </a:ext>
            </a:extLst>
          </p:cNvPr>
          <p:cNvSpPr txBox="1"/>
          <p:nvPr/>
        </p:nvSpPr>
        <p:spPr>
          <a:xfrm>
            <a:off x="7919295" y="3580109"/>
            <a:ext cx="1415772" cy="646331"/>
          </a:xfrm>
          <a:prstGeom prst="rect">
            <a:avLst/>
          </a:prstGeom>
          <a:noFill/>
        </p:spPr>
        <p:txBody>
          <a:bodyPr wrap="none" rtlCol="0">
            <a:spAutoFit/>
          </a:bodyPr>
          <a:lstStyle/>
          <a:p>
            <a:r>
              <a:rPr lang="en-CA" dirty="0">
                <a:solidFill>
                  <a:srgbClr val="0C1752"/>
                </a:solidFill>
                <a:latin typeface="Montserrat" panose="00000500000000000000" pitchFamily="2" charset="0"/>
              </a:rPr>
              <a:t>Planning/</a:t>
            </a:r>
          </a:p>
          <a:p>
            <a:r>
              <a:rPr lang="en-CA" dirty="0">
                <a:solidFill>
                  <a:srgbClr val="0C1752"/>
                </a:solidFill>
                <a:latin typeface="Montserrat" panose="00000500000000000000" pitchFamily="2" charset="0"/>
              </a:rPr>
              <a:t>Reasoning</a:t>
            </a:r>
          </a:p>
        </p:txBody>
      </p:sp>
      <p:sp>
        <p:nvSpPr>
          <p:cNvPr id="83" name="TextBox 82">
            <a:extLst>
              <a:ext uri="{FF2B5EF4-FFF2-40B4-BE49-F238E27FC236}">
                <a16:creationId xmlns:a16="http://schemas.microsoft.com/office/drawing/2014/main" id="{873ABA73-389F-B39C-37B8-F25A0A654790}"/>
              </a:ext>
            </a:extLst>
          </p:cNvPr>
          <p:cNvSpPr txBox="1"/>
          <p:nvPr/>
        </p:nvSpPr>
        <p:spPr>
          <a:xfrm>
            <a:off x="1896466" y="4706693"/>
            <a:ext cx="2297424" cy="646331"/>
          </a:xfrm>
          <a:prstGeom prst="rect">
            <a:avLst/>
          </a:prstGeom>
          <a:noFill/>
        </p:spPr>
        <p:txBody>
          <a:bodyPr wrap="none" rtlCol="0">
            <a:spAutoFit/>
          </a:bodyPr>
          <a:lstStyle/>
          <a:p>
            <a:r>
              <a:rPr lang="en-CA" b="1" dirty="0">
                <a:solidFill>
                  <a:srgbClr val="0C1752"/>
                </a:solidFill>
                <a:latin typeface="Montserrat" panose="00000500000000000000" pitchFamily="2" charset="0"/>
              </a:rPr>
              <a:t>Agent Response: </a:t>
            </a:r>
          </a:p>
          <a:p>
            <a:r>
              <a:rPr lang="en-CA" dirty="0">
                <a:solidFill>
                  <a:srgbClr val="0C1752"/>
                </a:solidFill>
                <a:latin typeface="Montserrat" panose="00000500000000000000" pitchFamily="2" charset="0"/>
              </a:rPr>
              <a:t>What is the city?</a:t>
            </a:r>
          </a:p>
        </p:txBody>
      </p:sp>
      <p:cxnSp>
        <p:nvCxnSpPr>
          <p:cNvPr id="84" name="Straight Arrow Connector 83">
            <a:extLst>
              <a:ext uri="{FF2B5EF4-FFF2-40B4-BE49-F238E27FC236}">
                <a16:creationId xmlns:a16="http://schemas.microsoft.com/office/drawing/2014/main" id="{751C3B11-54B6-595B-61AD-226EF9F2CDF3}"/>
              </a:ext>
            </a:extLst>
          </p:cNvPr>
          <p:cNvCxnSpPr>
            <a:cxnSpLocks/>
          </p:cNvCxnSpPr>
          <p:nvPr/>
        </p:nvCxnSpPr>
        <p:spPr>
          <a:xfrm>
            <a:off x="7493056" y="5113645"/>
            <a:ext cx="965144" cy="636015"/>
          </a:xfrm>
          <a:prstGeom prst="straightConnector1">
            <a:avLst/>
          </a:prstGeom>
          <a:ln w="38100">
            <a:solidFill>
              <a:srgbClr val="0C175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1FFCED8B-6B47-E004-B454-43A19B9C7FEF}"/>
              </a:ext>
            </a:extLst>
          </p:cNvPr>
          <p:cNvSpPr txBox="1"/>
          <p:nvPr/>
        </p:nvSpPr>
        <p:spPr>
          <a:xfrm>
            <a:off x="7927051" y="4846006"/>
            <a:ext cx="1202573" cy="646331"/>
          </a:xfrm>
          <a:prstGeom prst="rect">
            <a:avLst/>
          </a:prstGeom>
          <a:noFill/>
        </p:spPr>
        <p:txBody>
          <a:bodyPr wrap="none" rtlCol="0">
            <a:spAutoFit/>
          </a:bodyPr>
          <a:lstStyle/>
          <a:p>
            <a:r>
              <a:rPr lang="en-CA" dirty="0">
                <a:solidFill>
                  <a:srgbClr val="0C1752"/>
                </a:solidFill>
                <a:latin typeface="Montserrat" panose="00000500000000000000" pitchFamily="2" charset="0"/>
              </a:rPr>
              <a:t>Storage/</a:t>
            </a:r>
          </a:p>
          <a:p>
            <a:r>
              <a:rPr lang="en-CA" dirty="0">
                <a:solidFill>
                  <a:srgbClr val="0C1752"/>
                </a:solidFill>
                <a:latin typeface="Montserrat" panose="00000500000000000000" pitchFamily="2" charset="0"/>
              </a:rPr>
              <a:t>Retrieval</a:t>
            </a:r>
          </a:p>
        </p:txBody>
      </p:sp>
      <p:sp>
        <p:nvSpPr>
          <p:cNvPr id="95" name="Text 8">
            <a:extLst>
              <a:ext uri="{FF2B5EF4-FFF2-40B4-BE49-F238E27FC236}">
                <a16:creationId xmlns:a16="http://schemas.microsoft.com/office/drawing/2014/main" id="{5DF3DD1B-D70C-B493-59E2-52E520F3A5E7}"/>
              </a:ext>
            </a:extLst>
          </p:cNvPr>
          <p:cNvSpPr/>
          <p:nvPr/>
        </p:nvSpPr>
        <p:spPr>
          <a:xfrm>
            <a:off x="3611030" y="992078"/>
            <a:ext cx="82296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Montserrat" panose="00000500000000000000" pitchFamily="2" charset="0"/>
                <a:ea typeface="Calibri" pitchFamily="34" charset="-122"/>
                <a:cs typeface="Calibri" pitchFamily="34" charset="-120"/>
              </a:rPr>
              <a:t>User</a:t>
            </a:r>
            <a:endParaRPr lang="en-US" sz="1100" dirty="0">
              <a:latin typeface="Montserrat" panose="00000500000000000000" pitchFamily="2" charset="0"/>
            </a:endParaRPr>
          </a:p>
        </p:txBody>
      </p:sp>
      <p:sp>
        <p:nvSpPr>
          <p:cNvPr id="96" name="Shape 33">
            <a:extLst>
              <a:ext uri="{FF2B5EF4-FFF2-40B4-BE49-F238E27FC236}">
                <a16:creationId xmlns:a16="http://schemas.microsoft.com/office/drawing/2014/main" id="{070008AE-F442-BE8F-2A95-6283F921D13F}"/>
              </a:ext>
            </a:extLst>
          </p:cNvPr>
          <p:cNvSpPr/>
          <p:nvPr/>
        </p:nvSpPr>
        <p:spPr>
          <a:xfrm>
            <a:off x="182030" y="626318"/>
            <a:ext cx="4011860" cy="29260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latin typeface="Montserrat" panose="00000500000000000000" pitchFamily="2" charset="0"/>
            </a:endParaRPr>
          </a:p>
        </p:txBody>
      </p:sp>
      <p:sp>
        <p:nvSpPr>
          <p:cNvPr id="97" name="Shape 34">
            <a:extLst>
              <a:ext uri="{FF2B5EF4-FFF2-40B4-BE49-F238E27FC236}">
                <a16:creationId xmlns:a16="http://schemas.microsoft.com/office/drawing/2014/main" id="{70DF9206-8B38-D07C-981C-0B22AC5BE4DD}"/>
              </a:ext>
            </a:extLst>
          </p:cNvPr>
          <p:cNvSpPr/>
          <p:nvPr/>
        </p:nvSpPr>
        <p:spPr>
          <a:xfrm>
            <a:off x="182029" y="626318"/>
            <a:ext cx="4011859" cy="365760"/>
          </a:xfrm>
          <a:prstGeom prst="rect">
            <a:avLst/>
          </a:prstGeom>
          <a:solidFill>
            <a:srgbClr val="0C1752"/>
          </a:solidFill>
          <a:ln/>
        </p:spPr>
        <p:txBody>
          <a:bodyPr/>
          <a:lstStyle/>
          <a:p>
            <a:endParaRPr lang="en-CA">
              <a:latin typeface="Montserrat" panose="00000500000000000000" pitchFamily="2" charset="0"/>
            </a:endParaRPr>
          </a:p>
        </p:txBody>
      </p:sp>
      <p:sp>
        <p:nvSpPr>
          <p:cNvPr id="98" name="Text 35">
            <a:extLst>
              <a:ext uri="{FF2B5EF4-FFF2-40B4-BE49-F238E27FC236}">
                <a16:creationId xmlns:a16="http://schemas.microsoft.com/office/drawing/2014/main" id="{CC140854-A40E-31C0-3DA1-0BE5580EC54B}"/>
              </a:ext>
            </a:extLst>
          </p:cNvPr>
          <p:cNvSpPr/>
          <p:nvPr/>
        </p:nvSpPr>
        <p:spPr>
          <a:xfrm>
            <a:off x="319190" y="626318"/>
            <a:ext cx="2743200" cy="365760"/>
          </a:xfrm>
          <a:prstGeom prst="rect">
            <a:avLst/>
          </a:prstGeom>
          <a:noFill/>
          <a:ln/>
        </p:spPr>
        <p:txBody>
          <a:bodyPr wrap="square" lIns="0" tIns="0" rIns="0" bIns="0" rtlCol="0" anchor="ctr"/>
          <a:lstStyle/>
          <a:p>
            <a:pPr marL="0" indent="0">
              <a:buNone/>
            </a:pPr>
            <a:r>
              <a:rPr lang="en-US" sz="1200" b="1" dirty="0">
                <a:solidFill>
                  <a:srgbClr val="FFFFFF"/>
                </a:solidFill>
                <a:latin typeface="Montserrat" panose="00000500000000000000" pitchFamily="2" charset="0"/>
                <a:ea typeface="Calibri" pitchFamily="34" charset="-122"/>
                <a:cs typeface="Calibri" pitchFamily="34" charset="-120"/>
              </a:rPr>
              <a:t>Agent Reasoning</a:t>
            </a:r>
            <a:endParaRPr lang="en-US" sz="1200" dirty="0">
              <a:latin typeface="Montserrat" panose="00000500000000000000" pitchFamily="2" charset="0"/>
            </a:endParaRPr>
          </a:p>
        </p:txBody>
      </p:sp>
      <p:sp>
        <p:nvSpPr>
          <p:cNvPr id="99" name="Shape 36">
            <a:extLst>
              <a:ext uri="{FF2B5EF4-FFF2-40B4-BE49-F238E27FC236}">
                <a16:creationId xmlns:a16="http://schemas.microsoft.com/office/drawing/2014/main" id="{F5A925C2-3808-9DD7-2DB6-5798E112F618}"/>
              </a:ext>
            </a:extLst>
          </p:cNvPr>
          <p:cNvSpPr/>
          <p:nvPr/>
        </p:nvSpPr>
        <p:spPr>
          <a:xfrm>
            <a:off x="319190" y="1174958"/>
            <a:ext cx="182880" cy="182880"/>
          </a:xfrm>
          <a:prstGeom prst="ellipse">
            <a:avLst/>
          </a:prstGeom>
          <a:solidFill>
            <a:srgbClr val="0891B2"/>
          </a:solidFill>
          <a:ln/>
        </p:spPr>
        <p:txBody>
          <a:bodyPr/>
          <a:lstStyle/>
          <a:p>
            <a:endParaRPr lang="en-CA">
              <a:latin typeface="Montserrat" panose="00000500000000000000" pitchFamily="2" charset="0"/>
            </a:endParaRPr>
          </a:p>
        </p:txBody>
      </p:sp>
      <p:sp>
        <p:nvSpPr>
          <p:cNvPr id="100" name="Text 37">
            <a:extLst>
              <a:ext uri="{FF2B5EF4-FFF2-40B4-BE49-F238E27FC236}">
                <a16:creationId xmlns:a16="http://schemas.microsoft.com/office/drawing/2014/main" id="{ECBDCD64-B15E-97A3-FF5F-7BFF87636F3C}"/>
              </a:ext>
            </a:extLst>
          </p:cNvPr>
          <p:cNvSpPr/>
          <p:nvPr/>
        </p:nvSpPr>
        <p:spPr>
          <a:xfrm>
            <a:off x="593510" y="1129238"/>
            <a:ext cx="1371600" cy="274320"/>
          </a:xfrm>
          <a:prstGeom prst="rect">
            <a:avLst/>
          </a:prstGeom>
          <a:noFill/>
          <a:ln/>
        </p:spPr>
        <p:txBody>
          <a:bodyPr wrap="square" lIns="0" tIns="0" rIns="0" bIns="0" rtlCol="0" anchor="ctr"/>
          <a:lstStyle/>
          <a:p>
            <a:pPr marL="0" indent="0">
              <a:buNone/>
            </a:pPr>
            <a:r>
              <a:rPr lang="en-US" sz="1100" b="1" dirty="0">
                <a:solidFill>
                  <a:srgbClr val="0891B2"/>
                </a:solidFill>
                <a:latin typeface="Montserrat" panose="00000500000000000000" pitchFamily="2" charset="0"/>
                <a:ea typeface="Consolas" pitchFamily="34" charset="-122"/>
                <a:cs typeface="Consolas" pitchFamily="34" charset="-120"/>
              </a:rPr>
              <a:t>Parse Intent:</a:t>
            </a:r>
            <a:endParaRPr lang="en-US" sz="1100" dirty="0">
              <a:latin typeface="Montserrat" panose="00000500000000000000" pitchFamily="2" charset="0"/>
            </a:endParaRPr>
          </a:p>
        </p:txBody>
      </p:sp>
      <p:sp>
        <p:nvSpPr>
          <p:cNvPr id="101" name="Text 38">
            <a:extLst>
              <a:ext uri="{FF2B5EF4-FFF2-40B4-BE49-F238E27FC236}">
                <a16:creationId xmlns:a16="http://schemas.microsoft.com/office/drawing/2014/main" id="{C7190D4C-2D07-8FAF-E686-B7CECC27C6C8}"/>
              </a:ext>
            </a:extLst>
          </p:cNvPr>
          <p:cNvSpPr/>
          <p:nvPr/>
        </p:nvSpPr>
        <p:spPr>
          <a:xfrm>
            <a:off x="593510" y="1385270"/>
            <a:ext cx="3931920" cy="256032"/>
          </a:xfrm>
          <a:prstGeom prst="rect">
            <a:avLst/>
          </a:prstGeom>
          <a:noFill/>
          <a:ln/>
        </p:spPr>
        <p:txBody>
          <a:bodyPr wrap="square" lIns="0" tIns="0" rIns="0" bIns="0" rtlCol="0" anchor="ctr"/>
          <a:lstStyle/>
          <a:p>
            <a:pPr marL="0" indent="0">
              <a:buNone/>
            </a:pPr>
            <a:r>
              <a:rPr lang="en-US" sz="1100" dirty="0">
                <a:solidFill>
                  <a:srgbClr val="334155"/>
                </a:solidFill>
                <a:latin typeface="Montserrat" panose="00000500000000000000" pitchFamily="2" charset="0"/>
                <a:ea typeface="Calibri" pitchFamily="34" charset="-122"/>
                <a:cs typeface="Calibri" pitchFamily="34" charset="-120"/>
              </a:rPr>
              <a:t>User wants weather info</a:t>
            </a:r>
            <a:endParaRPr lang="en-US" sz="1100" dirty="0">
              <a:latin typeface="Montserrat" panose="00000500000000000000" pitchFamily="2" charset="0"/>
            </a:endParaRPr>
          </a:p>
        </p:txBody>
      </p:sp>
      <p:sp>
        <p:nvSpPr>
          <p:cNvPr id="102" name="Shape 39">
            <a:extLst>
              <a:ext uri="{FF2B5EF4-FFF2-40B4-BE49-F238E27FC236}">
                <a16:creationId xmlns:a16="http://schemas.microsoft.com/office/drawing/2014/main" id="{3FD7C68C-6B64-6DBE-F032-06928B0EB56B}"/>
              </a:ext>
            </a:extLst>
          </p:cNvPr>
          <p:cNvSpPr/>
          <p:nvPr/>
        </p:nvSpPr>
        <p:spPr>
          <a:xfrm>
            <a:off x="319190" y="1741886"/>
            <a:ext cx="182880" cy="182880"/>
          </a:xfrm>
          <a:prstGeom prst="ellipse">
            <a:avLst/>
          </a:prstGeom>
          <a:solidFill>
            <a:srgbClr val="8B5CF6"/>
          </a:solidFill>
          <a:ln/>
        </p:spPr>
        <p:txBody>
          <a:bodyPr/>
          <a:lstStyle/>
          <a:p>
            <a:endParaRPr lang="en-CA">
              <a:latin typeface="Montserrat" panose="00000500000000000000" pitchFamily="2" charset="0"/>
            </a:endParaRPr>
          </a:p>
        </p:txBody>
      </p:sp>
      <p:sp>
        <p:nvSpPr>
          <p:cNvPr id="103" name="Text 40">
            <a:extLst>
              <a:ext uri="{FF2B5EF4-FFF2-40B4-BE49-F238E27FC236}">
                <a16:creationId xmlns:a16="http://schemas.microsoft.com/office/drawing/2014/main" id="{850C429D-48B5-38BF-F47E-A69B65FD3666}"/>
              </a:ext>
            </a:extLst>
          </p:cNvPr>
          <p:cNvSpPr/>
          <p:nvPr/>
        </p:nvSpPr>
        <p:spPr>
          <a:xfrm>
            <a:off x="593510" y="1696166"/>
            <a:ext cx="1371600" cy="274320"/>
          </a:xfrm>
          <a:prstGeom prst="rect">
            <a:avLst/>
          </a:prstGeom>
          <a:noFill/>
          <a:ln/>
        </p:spPr>
        <p:txBody>
          <a:bodyPr wrap="square" lIns="0" tIns="0" rIns="0" bIns="0" rtlCol="0" anchor="ctr"/>
          <a:lstStyle/>
          <a:p>
            <a:pPr marL="0" indent="0">
              <a:buNone/>
            </a:pPr>
            <a:r>
              <a:rPr lang="en-US" sz="1100" b="1" dirty="0">
                <a:solidFill>
                  <a:srgbClr val="8B5CF6"/>
                </a:solidFill>
                <a:latin typeface="Montserrat" panose="00000500000000000000" pitchFamily="2" charset="0"/>
                <a:ea typeface="Consolas" pitchFamily="34" charset="-122"/>
                <a:cs typeface="Consolas" pitchFamily="34" charset="-120"/>
              </a:rPr>
              <a:t>Check Memory:</a:t>
            </a:r>
            <a:endParaRPr lang="en-US" sz="1100" dirty="0">
              <a:latin typeface="Montserrat" panose="00000500000000000000" pitchFamily="2" charset="0"/>
            </a:endParaRPr>
          </a:p>
        </p:txBody>
      </p:sp>
      <p:sp>
        <p:nvSpPr>
          <p:cNvPr id="104" name="Text 41">
            <a:extLst>
              <a:ext uri="{FF2B5EF4-FFF2-40B4-BE49-F238E27FC236}">
                <a16:creationId xmlns:a16="http://schemas.microsoft.com/office/drawing/2014/main" id="{31A95235-7539-7FE3-8BF7-69949C9D0B97}"/>
              </a:ext>
            </a:extLst>
          </p:cNvPr>
          <p:cNvSpPr/>
          <p:nvPr/>
        </p:nvSpPr>
        <p:spPr>
          <a:xfrm>
            <a:off x="593510" y="1952198"/>
            <a:ext cx="3931920" cy="256032"/>
          </a:xfrm>
          <a:prstGeom prst="rect">
            <a:avLst/>
          </a:prstGeom>
          <a:noFill/>
          <a:ln/>
        </p:spPr>
        <p:txBody>
          <a:bodyPr wrap="square" lIns="0" tIns="0" rIns="0" bIns="0" rtlCol="0" anchor="ctr"/>
          <a:lstStyle/>
          <a:p>
            <a:pPr marL="0" indent="0">
              <a:buNone/>
            </a:pPr>
            <a:r>
              <a:rPr lang="en-US" sz="1100" dirty="0">
                <a:solidFill>
                  <a:srgbClr val="334155"/>
                </a:solidFill>
                <a:latin typeface="Montserrat" panose="00000500000000000000" pitchFamily="2" charset="0"/>
                <a:ea typeface="Calibri" pitchFamily="34" charset="-122"/>
                <a:cs typeface="Calibri" pitchFamily="34" charset="-120"/>
              </a:rPr>
              <a:t>No city preference stored</a:t>
            </a:r>
            <a:endParaRPr lang="en-US" sz="1100" dirty="0">
              <a:latin typeface="Montserrat" panose="00000500000000000000" pitchFamily="2" charset="0"/>
            </a:endParaRPr>
          </a:p>
        </p:txBody>
      </p:sp>
      <p:sp>
        <p:nvSpPr>
          <p:cNvPr id="105" name="Shape 42">
            <a:extLst>
              <a:ext uri="{FF2B5EF4-FFF2-40B4-BE49-F238E27FC236}">
                <a16:creationId xmlns:a16="http://schemas.microsoft.com/office/drawing/2014/main" id="{10079827-DB29-A473-E3EA-093B799BB0FF}"/>
              </a:ext>
            </a:extLst>
          </p:cNvPr>
          <p:cNvSpPr/>
          <p:nvPr/>
        </p:nvSpPr>
        <p:spPr>
          <a:xfrm>
            <a:off x="319190" y="2308814"/>
            <a:ext cx="182880" cy="182880"/>
          </a:xfrm>
          <a:prstGeom prst="ellipse">
            <a:avLst/>
          </a:prstGeom>
          <a:solidFill>
            <a:srgbClr val="EF4444"/>
          </a:solidFill>
          <a:ln/>
        </p:spPr>
        <p:txBody>
          <a:bodyPr/>
          <a:lstStyle/>
          <a:p>
            <a:endParaRPr lang="en-CA">
              <a:latin typeface="Montserrat" panose="00000500000000000000" pitchFamily="2" charset="0"/>
            </a:endParaRPr>
          </a:p>
        </p:txBody>
      </p:sp>
      <p:sp>
        <p:nvSpPr>
          <p:cNvPr id="106" name="Text 43">
            <a:extLst>
              <a:ext uri="{FF2B5EF4-FFF2-40B4-BE49-F238E27FC236}">
                <a16:creationId xmlns:a16="http://schemas.microsoft.com/office/drawing/2014/main" id="{1CE7A65F-1630-5AB1-A046-97B11130B0C7}"/>
              </a:ext>
            </a:extLst>
          </p:cNvPr>
          <p:cNvSpPr/>
          <p:nvPr/>
        </p:nvSpPr>
        <p:spPr>
          <a:xfrm>
            <a:off x="593510" y="2263094"/>
            <a:ext cx="1371600" cy="274320"/>
          </a:xfrm>
          <a:prstGeom prst="rect">
            <a:avLst/>
          </a:prstGeom>
          <a:noFill/>
          <a:ln/>
        </p:spPr>
        <p:txBody>
          <a:bodyPr wrap="square" lIns="0" tIns="0" rIns="0" bIns="0" rtlCol="0" anchor="ctr"/>
          <a:lstStyle/>
          <a:p>
            <a:pPr marL="0" indent="0">
              <a:buNone/>
            </a:pPr>
            <a:r>
              <a:rPr lang="en-US" sz="1100" b="1" dirty="0">
                <a:solidFill>
                  <a:srgbClr val="EF4444"/>
                </a:solidFill>
                <a:latin typeface="Montserrat" panose="00000500000000000000" pitchFamily="2" charset="0"/>
                <a:ea typeface="Consolas" pitchFamily="34" charset="-122"/>
                <a:cs typeface="Consolas" pitchFamily="34" charset="-120"/>
              </a:rPr>
              <a:t>Identify Gap:</a:t>
            </a:r>
            <a:endParaRPr lang="en-US" sz="1100" dirty="0">
              <a:latin typeface="Montserrat" panose="00000500000000000000" pitchFamily="2" charset="0"/>
            </a:endParaRPr>
          </a:p>
        </p:txBody>
      </p:sp>
      <p:sp>
        <p:nvSpPr>
          <p:cNvPr id="107" name="Text 44">
            <a:extLst>
              <a:ext uri="{FF2B5EF4-FFF2-40B4-BE49-F238E27FC236}">
                <a16:creationId xmlns:a16="http://schemas.microsoft.com/office/drawing/2014/main" id="{7A7DA22A-D031-22C3-C55D-7F7E2715AE96}"/>
              </a:ext>
            </a:extLst>
          </p:cNvPr>
          <p:cNvSpPr/>
          <p:nvPr/>
        </p:nvSpPr>
        <p:spPr>
          <a:xfrm>
            <a:off x="593510" y="2519126"/>
            <a:ext cx="3931920" cy="256032"/>
          </a:xfrm>
          <a:prstGeom prst="rect">
            <a:avLst/>
          </a:prstGeom>
          <a:noFill/>
          <a:ln/>
        </p:spPr>
        <p:txBody>
          <a:bodyPr wrap="square" lIns="0" tIns="0" rIns="0" bIns="0" rtlCol="0" anchor="ctr"/>
          <a:lstStyle/>
          <a:p>
            <a:pPr marL="0" indent="0">
              <a:buNone/>
            </a:pPr>
            <a:r>
              <a:rPr lang="en-US" sz="1100" dirty="0">
                <a:solidFill>
                  <a:srgbClr val="334155"/>
                </a:solidFill>
                <a:latin typeface="Montserrat" panose="00000500000000000000" pitchFamily="2" charset="0"/>
                <a:ea typeface="Calibri" pitchFamily="34" charset="-122"/>
                <a:cs typeface="Calibri" pitchFamily="34" charset="-120"/>
              </a:rPr>
              <a:t>Need a city to call API</a:t>
            </a:r>
            <a:endParaRPr lang="en-US" sz="1100" dirty="0">
              <a:latin typeface="Montserrat" panose="00000500000000000000" pitchFamily="2" charset="0"/>
            </a:endParaRPr>
          </a:p>
        </p:txBody>
      </p:sp>
      <p:sp>
        <p:nvSpPr>
          <p:cNvPr id="108" name="Shape 45">
            <a:extLst>
              <a:ext uri="{FF2B5EF4-FFF2-40B4-BE49-F238E27FC236}">
                <a16:creationId xmlns:a16="http://schemas.microsoft.com/office/drawing/2014/main" id="{571A92F1-8078-292C-E7F3-75572BA94BD2}"/>
              </a:ext>
            </a:extLst>
          </p:cNvPr>
          <p:cNvSpPr/>
          <p:nvPr/>
        </p:nvSpPr>
        <p:spPr>
          <a:xfrm>
            <a:off x="319190" y="2875742"/>
            <a:ext cx="182880" cy="182880"/>
          </a:xfrm>
          <a:prstGeom prst="ellipse">
            <a:avLst/>
          </a:prstGeom>
          <a:solidFill>
            <a:srgbClr val="10B981"/>
          </a:solidFill>
          <a:ln/>
        </p:spPr>
        <p:txBody>
          <a:bodyPr/>
          <a:lstStyle/>
          <a:p>
            <a:endParaRPr lang="en-CA">
              <a:latin typeface="Montserrat" panose="00000500000000000000" pitchFamily="2" charset="0"/>
            </a:endParaRPr>
          </a:p>
        </p:txBody>
      </p:sp>
      <p:sp>
        <p:nvSpPr>
          <p:cNvPr id="109" name="Text 46">
            <a:extLst>
              <a:ext uri="{FF2B5EF4-FFF2-40B4-BE49-F238E27FC236}">
                <a16:creationId xmlns:a16="http://schemas.microsoft.com/office/drawing/2014/main" id="{9C8C74F6-D86E-39D1-0E9E-A8F8A563312B}"/>
              </a:ext>
            </a:extLst>
          </p:cNvPr>
          <p:cNvSpPr/>
          <p:nvPr/>
        </p:nvSpPr>
        <p:spPr>
          <a:xfrm>
            <a:off x="593510" y="2830022"/>
            <a:ext cx="1371600" cy="274320"/>
          </a:xfrm>
          <a:prstGeom prst="rect">
            <a:avLst/>
          </a:prstGeom>
          <a:noFill/>
          <a:ln/>
        </p:spPr>
        <p:txBody>
          <a:bodyPr wrap="square" lIns="0" tIns="0" rIns="0" bIns="0" rtlCol="0" anchor="ctr"/>
          <a:lstStyle/>
          <a:p>
            <a:pPr marL="0" indent="0">
              <a:buNone/>
            </a:pPr>
            <a:r>
              <a:rPr lang="en-US" sz="1100" b="1" dirty="0">
                <a:solidFill>
                  <a:srgbClr val="10B981"/>
                </a:solidFill>
                <a:latin typeface="Montserrat" panose="00000500000000000000" pitchFamily="2" charset="0"/>
                <a:ea typeface="Consolas" pitchFamily="34" charset="-122"/>
                <a:cs typeface="Consolas" pitchFamily="34" charset="-120"/>
              </a:rPr>
              <a:t>Plan:</a:t>
            </a:r>
            <a:endParaRPr lang="en-US" sz="1100" dirty="0">
              <a:latin typeface="Montserrat" panose="00000500000000000000" pitchFamily="2" charset="0"/>
            </a:endParaRPr>
          </a:p>
        </p:txBody>
      </p:sp>
      <p:sp>
        <p:nvSpPr>
          <p:cNvPr id="110" name="Text 47">
            <a:extLst>
              <a:ext uri="{FF2B5EF4-FFF2-40B4-BE49-F238E27FC236}">
                <a16:creationId xmlns:a16="http://schemas.microsoft.com/office/drawing/2014/main" id="{C71D3D97-474E-4FC9-2FE0-ADEDE400DE85}"/>
              </a:ext>
            </a:extLst>
          </p:cNvPr>
          <p:cNvSpPr/>
          <p:nvPr/>
        </p:nvSpPr>
        <p:spPr>
          <a:xfrm>
            <a:off x="593510" y="3086054"/>
            <a:ext cx="3931920" cy="256032"/>
          </a:xfrm>
          <a:prstGeom prst="rect">
            <a:avLst/>
          </a:prstGeom>
          <a:noFill/>
          <a:ln/>
        </p:spPr>
        <p:txBody>
          <a:bodyPr wrap="square" lIns="0" tIns="0" rIns="0" bIns="0" rtlCol="0" anchor="ctr"/>
          <a:lstStyle/>
          <a:p>
            <a:pPr marL="0" indent="0">
              <a:buNone/>
            </a:pPr>
            <a:r>
              <a:rPr lang="en-US" sz="1100" dirty="0">
                <a:solidFill>
                  <a:srgbClr val="334155"/>
                </a:solidFill>
                <a:latin typeface="Montserrat" panose="00000500000000000000" pitchFamily="2" charset="0"/>
                <a:ea typeface="Calibri" pitchFamily="34" charset="-122"/>
                <a:cs typeface="Calibri" pitchFamily="34" charset="-120"/>
              </a:rPr>
              <a:t>Ask user for city first, then call weather API</a:t>
            </a:r>
            <a:endParaRPr lang="en-US" sz="1100" dirty="0">
              <a:latin typeface="Montserrat" panose="00000500000000000000" pitchFamily="2" charset="0"/>
            </a:endParaRPr>
          </a:p>
        </p:txBody>
      </p:sp>
    </p:spTree>
    <p:extLst>
      <p:ext uri="{BB962C8B-B14F-4D97-AF65-F5344CB8AC3E}">
        <p14:creationId xmlns:p14="http://schemas.microsoft.com/office/powerpoint/2010/main" val="864829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fade">
                                      <p:cBhvr>
                                        <p:cTn id="12" dur="500"/>
                                        <p:tgtEl>
                                          <p:spTgt spid="62"/>
                                        </p:tgtEl>
                                      </p:cBhvr>
                                    </p:animEffect>
                                  </p:childTnLst>
                                </p:cTn>
                              </p:par>
                              <p:par>
                                <p:cTn id="13" presetID="10" presetClass="entr" presetSubtype="0"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fade">
                                      <p:cBhvr>
                                        <p:cTn id="15" dur="500"/>
                                        <p:tgtEl>
                                          <p:spTgt spid="6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500"/>
                                        <p:tgtEl>
                                          <p:spTgt spid="4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6"/>
                                        </p:tgtEl>
                                        <p:attrNameLst>
                                          <p:attrName>style.visibility</p:attrName>
                                        </p:attrNameLst>
                                      </p:cBhvr>
                                      <p:to>
                                        <p:strVal val="visible"/>
                                      </p:to>
                                    </p:set>
                                    <p:animEffect transition="in" filter="fade">
                                      <p:cBhvr>
                                        <p:cTn id="21" dur="500"/>
                                        <p:tgtEl>
                                          <p:spTgt spid="7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0"/>
                                        </p:tgtEl>
                                        <p:attrNameLst>
                                          <p:attrName>style.visibility</p:attrName>
                                        </p:attrNameLst>
                                      </p:cBhvr>
                                      <p:to>
                                        <p:strVal val="visible"/>
                                      </p:to>
                                    </p:set>
                                    <p:animEffect transition="in" filter="fade">
                                      <p:cBhvr>
                                        <p:cTn id="26" dur="500"/>
                                        <p:tgtEl>
                                          <p:spTgt spid="60"/>
                                        </p:tgtEl>
                                      </p:cBhvr>
                                    </p:animEffect>
                                  </p:childTnLst>
                                </p:cTn>
                              </p:par>
                              <p:par>
                                <p:cTn id="27" presetID="10" presetClass="entr" presetSubtype="0" fill="hold"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fade">
                                      <p:cBhvr>
                                        <p:cTn id="29" dur="500"/>
                                        <p:tgtEl>
                                          <p:spTgt spid="7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500"/>
                                        <p:tgtEl>
                                          <p:spTgt spid="5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8"/>
                                        </p:tgtEl>
                                        <p:attrNameLst>
                                          <p:attrName>style.visibility</p:attrName>
                                        </p:attrNameLst>
                                      </p:cBhvr>
                                      <p:to>
                                        <p:strVal val="visible"/>
                                      </p:to>
                                    </p:set>
                                    <p:animEffect transition="in" filter="fade">
                                      <p:cBhvr>
                                        <p:cTn id="40" dur="500"/>
                                        <p:tgtEl>
                                          <p:spTgt spid="9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7"/>
                                        </p:tgtEl>
                                        <p:attrNameLst>
                                          <p:attrName>style.visibility</p:attrName>
                                        </p:attrNameLst>
                                      </p:cBhvr>
                                      <p:to>
                                        <p:strVal val="visible"/>
                                      </p:to>
                                    </p:set>
                                    <p:animEffect transition="in" filter="fade">
                                      <p:cBhvr>
                                        <p:cTn id="43" dur="500"/>
                                        <p:tgtEl>
                                          <p:spTgt spid="9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96"/>
                                        </p:tgtEl>
                                        <p:attrNameLst>
                                          <p:attrName>style.visibility</p:attrName>
                                        </p:attrNameLst>
                                      </p:cBhvr>
                                      <p:to>
                                        <p:strVal val="visible"/>
                                      </p:to>
                                    </p:set>
                                    <p:animEffect transition="in" filter="fade">
                                      <p:cBhvr>
                                        <p:cTn id="46" dur="500"/>
                                        <p:tgtEl>
                                          <p:spTgt spid="9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fade">
                                      <p:cBhvr>
                                        <p:cTn id="49" dur="500"/>
                                        <p:tgtEl>
                                          <p:spTgt spid="8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500"/>
                                        <p:tgtEl>
                                          <p:spTgt spid="3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99"/>
                                        </p:tgtEl>
                                        <p:attrNameLst>
                                          <p:attrName>style.visibility</p:attrName>
                                        </p:attrNameLst>
                                      </p:cBhvr>
                                      <p:to>
                                        <p:strVal val="visible"/>
                                      </p:to>
                                    </p:set>
                                    <p:animEffect transition="in" filter="fade">
                                      <p:cBhvr>
                                        <p:cTn id="55" dur="500"/>
                                        <p:tgtEl>
                                          <p:spTgt spid="9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00"/>
                                        </p:tgtEl>
                                        <p:attrNameLst>
                                          <p:attrName>style.visibility</p:attrName>
                                        </p:attrNameLst>
                                      </p:cBhvr>
                                      <p:to>
                                        <p:strVal val="visible"/>
                                      </p:to>
                                    </p:set>
                                    <p:animEffect transition="in" filter="fade">
                                      <p:cBhvr>
                                        <p:cTn id="58" dur="500"/>
                                        <p:tgtEl>
                                          <p:spTgt spid="10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01"/>
                                        </p:tgtEl>
                                        <p:attrNameLst>
                                          <p:attrName>style.visibility</p:attrName>
                                        </p:attrNameLst>
                                      </p:cBhvr>
                                      <p:to>
                                        <p:strVal val="visible"/>
                                      </p:to>
                                    </p:set>
                                    <p:animEffect transition="in" filter="fade">
                                      <p:cBhvr>
                                        <p:cTn id="61" dur="500"/>
                                        <p:tgtEl>
                                          <p:spTgt spid="10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85"/>
                                        </p:tgtEl>
                                        <p:attrNameLst>
                                          <p:attrName>style.visibility</p:attrName>
                                        </p:attrNameLst>
                                      </p:cBhvr>
                                      <p:to>
                                        <p:strVal val="visible"/>
                                      </p:to>
                                    </p:set>
                                    <p:animEffect transition="in" filter="fade">
                                      <p:cBhvr>
                                        <p:cTn id="66" dur="500"/>
                                        <p:tgtEl>
                                          <p:spTgt spid="85"/>
                                        </p:tgtEl>
                                      </p:cBhvr>
                                    </p:animEffect>
                                  </p:childTnLst>
                                </p:cTn>
                              </p:par>
                              <p:par>
                                <p:cTn id="67" presetID="10" presetClass="entr" presetSubtype="0" fill="hold" nodeType="withEffect">
                                  <p:stCondLst>
                                    <p:cond delay="0"/>
                                  </p:stCondLst>
                                  <p:childTnLst>
                                    <p:set>
                                      <p:cBhvr>
                                        <p:cTn id="68" dur="1" fill="hold">
                                          <p:stCondLst>
                                            <p:cond delay="0"/>
                                          </p:stCondLst>
                                        </p:cTn>
                                        <p:tgtEl>
                                          <p:spTgt spid="84"/>
                                        </p:tgtEl>
                                        <p:attrNameLst>
                                          <p:attrName>style.visibility</p:attrName>
                                        </p:attrNameLst>
                                      </p:cBhvr>
                                      <p:to>
                                        <p:strVal val="visible"/>
                                      </p:to>
                                    </p:set>
                                    <p:animEffect transition="in" filter="fade">
                                      <p:cBhvr>
                                        <p:cTn id="69" dur="500"/>
                                        <p:tgtEl>
                                          <p:spTgt spid="8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fade">
                                      <p:cBhvr>
                                        <p:cTn id="72" dur="500"/>
                                        <p:tgtEl>
                                          <p:spTgt spid="4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02"/>
                                        </p:tgtEl>
                                        <p:attrNameLst>
                                          <p:attrName>style.visibility</p:attrName>
                                        </p:attrNameLst>
                                      </p:cBhvr>
                                      <p:to>
                                        <p:strVal val="visible"/>
                                      </p:to>
                                    </p:set>
                                    <p:animEffect transition="in" filter="fade">
                                      <p:cBhvr>
                                        <p:cTn id="75" dur="500"/>
                                        <p:tgtEl>
                                          <p:spTgt spid="10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03"/>
                                        </p:tgtEl>
                                        <p:attrNameLst>
                                          <p:attrName>style.visibility</p:attrName>
                                        </p:attrNameLst>
                                      </p:cBhvr>
                                      <p:to>
                                        <p:strVal val="visible"/>
                                      </p:to>
                                    </p:set>
                                    <p:animEffect transition="in" filter="fade">
                                      <p:cBhvr>
                                        <p:cTn id="78" dur="500"/>
                                        <p:tgtEl>
                                          <p:spTgt spid="10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104"/>
                                        </p:tgtEl>
                                        <p:attrNameLst>
                                          <p:attrName>style.visibility</p:attrName>
                                        </p:attrNameLst>
                                      </p:cBhvr>
                                      <p:to>
                                        <p:strVal val="visible"/>
                                      </p:to>
                                    </p:set>
                                    <p:animEffect transition="in" filter="fade">
                                      <p:cBhvr>
                                        <p:cTn id="81" dur="500"/>
                                        <p:tgtEl>
                                          <p:spTgt spid="104"/>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105"/>
                                        </p:tgtEl>
                                        <p:attrNameLst>
                                          <p:attrName>style.visibility</p:attrName>
                                        </p:attrNameLst>
                                      </p:cBhvr>
                                      <p:to>
                                        <p:strVal val="visible"/>
                                      </p:to>
                                    </p:set>
                                    <p:animEffect transition="in" filter="fade">
                                      <p:cBhvr>
                                        <p:cTn id="86" dur="500"/>
                                        <p:tgtEl>
                                          <p:spTgt spid="10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06"/>
                                        </p:tgtEl>
                                        <p:attrNameLst>
                                          <p:attrName>style.visibility</p:attrName>
                                        </p:attrNameLst>
                                      </p:cBhvr>
                                      <p:to>
                                        <p:strVal val="visible"/>
                                      </p:to>
                                    </p:set>
                                    <p:animEffect transition="in" filter="fade">
                                      <p:cBhvr>
                                        <p:cTn id="89" dur="500"/>
                                        <p:tgtEl>
                                          <p:spTgt spid="10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07"/>
                                        </p:tgtEl>
                                        <p:attrNameLst>
                                          <p:attrName>style.visibility</p:attrName>
                                        </p:attrNameLst>
                                      </p:cBhvr>
                                      <p:to>
                                        <p:strVal val="visible"/>
                                      </p:to>
                                    </p:set>
                                    <p:animEffect transition="in" filter="fade">
                                      <p:cBhvr>
                                        <p:cTn id="92" dur="500"/>
                                        <p:tgtEl>
                                          <p:spTgt spid="107"/>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108"/>
                                        </p:tgtEl>
                                        <p:attrNameLst>
                                          <p:attrName>style.visibility</p:attrName>
                                        </p:attrNameLst>
                                      </p:cBhvr>
                                      <p:to>
                                        <p:strVal val="visible"/>
                                      </p:to>
                                    </p:set>
                                    <p:animEffect transition="in" filter="fade">
                                      <p:cBhvr>
                                        <p:cTn id="97" dur="500"/>
                                        <p:tgtEl>
                                          <p:spTgt spid="108"/>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09"/>
                                        </p:tgtEl>
                                        <p:attrNameLst>
                                          <p:attrName>style.visibility</p:attrName>
                                        </p:attrNameLst>
                                      </p:cBhvr>
                                      <p:to>
                                        <p:strVal val="visible"/>
                                      </p:to>
                                    </p:set>
                                    <p:animEffect transition="in" filter="fade">
                                      <p:cBhvr>
                                        <p:cTn id="100" dur="500"/>
                                        <p:tgtEl>
                                          <p:spTgt spid="109"/>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10"/>
                                        </p:tgtEl>
                                        <p:attrNameLst>
                                          <p:attrName>style.visibility</p:attrName>
                                        </p:attrNameLst>
                                      </p:cBhvr>
                                      <p:to>
                                        <p:strVal val="visible"/>
                                      </p:to>
                                    </p:set>
                                    <p:animEffect transition="in" filter="fade">
                                      <p:cBhvr>
                                        <p:cTn id="103" dur="500"/>
                                        <p:tgtEl>
                                          <p:spTgt spid="110"/>
                                        </p:tgtEl>
                                      </p:cBhvr>
                                    </p:animEffect>
                                  </p:childTnLst>
                                </p:cTn>
                              </p:par>
                              <p:par>
                                <p:cTn id="104" presetID="10" presetClass="entr" presetSubtype="0" fill="hold" nodeType="withEffect">
                                  <p:stCondLst>
                                    <p:cond delay="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500"/>
                                        <p:tgtEl>
                                          <p:spTgt spid="66"/>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83"/>
                                        </p:tgtEl>
                                        <p:attrNameLst>
                                          <p:attrName>style.visibility</p:attrName>
                                        </p:attrNameLst>
                                      </p:cBhvr>
                                      <p:to>
                                        <p:strVal val="visible"/>
                                      </p:to>
                                    </p:set>
                                    <p:animEffect transition="in" filter="fade">
                                      <p:cBhvr>
                                        <p:cTn id="109"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45" grpId="0" animBg="1"/>
      <p:bldP spid="46" grpId="0" animBg="1"/>
      <p:bldP spid="56" grpId="0"/>
      <p:bldP spid="62" grpId="0"/>
      <p:bldP spid="76" grpId="0"/>
      <p:bldP spid="81" grpId="0"/>
      <p:bldP spid="83" grpId="0"/>
      <p:bldP spid="85" grpId="0"/>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18ECA6A-8AF9-0C40-47C1-B0B881AED827}"/>
            </a:ext>
          </a:extLst>
        </p:cNvPr>
        <p:cNvGrpSpPr/>
        <p:nvPr/>
      </p:nvGrpSpPr>
      <p:grpSpPr>
        <a:xfrm>
          <a:off x="0" y="0"/>
          <a:ext cx="0" cy="0"/>
          <a:chOff x="0" y="0"/>
          <a:chExt cx="0" cy="0"/>
        </a:xfrm>
      </p:grpSpPr>
      <p:pic>
        <p:nvPicPr>
          <p:cNvPr id="112" name="Google Shape;112;p5">
            <a:extLst>
              <a:ext uri="{FF2B5EF4-FFF2-40B4-BE49-F238E27FC236}">
                <a16:creationId xmlns:a16="http://schemas.microsoft.com/office/drawing/2014/main" id="{1979101A-4777-B57A-1BC8-09940A5DAB75}"/>
              </a:ext>
            </a:extLst>
          </p:cNvPr>
          <p:cNvPicPr preferRelativeResize="0"/>
          <p:nvPr/>
        </p:nvPicPr>
        <p:blipFill rotWithShape="1">
          <a:blip r:embed="rId3">
            <a:alphaModFix/>
          </a:blip>
          <a:srcRect/>
          <a:stretch/>
        </p:blipFill>
        <p:spPr>
          <a:xfrm>
            <a:off x="-8703" y="-19050"/>
            <a:ext cx="12224773" cy="6858000"/>
          </a:xfrm>
          <a:prstGeom prst="rect">
            <a:avLst/>
          </a:prstGeom>
          <a:noFill/>
          <a:ln>
            <a:noFill/>
          </a:ln>
        </p:spPr>
      </p:pic>
      <p:pic>
        <p:nvPicPr>
          <p:cNvPr id="113" name="Google Shape;113;p5">
            <a:extLst>
              <a:ext uri="{FF2B5EF4-FFF2-40B4-BE49-F238E27FC236}">
                <a16:creationId xmlns:a16="http://schemas.microsoft.com/office/drawing/2014/main" id="{75B58039-E287-2894-4099-DD9D47173BC9}"/>
              </a:ext>
            </a:extLst>
          </p:cNvPr>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114" name="Google Shape;114;p5">
            <a:extLst>
              <a:ext uri="{FF2B5EF4-FFF2-40B4-BE49-F238E27FC236}">
                <a16:creationId xmlns:a16="http://schemas.microsoft.com/office/drawing/2014/main" id="{0CEE1D4A-1027-3249-25D6-5508CF8BB732}"/>
              </a:ext>
            </a:extLst>
          </p:cNvPr>
          <p:cNvSpPr/>
          <p:nvPr/>
        </p:nvSpPr>
        <p:spPr>
          <a:xfrm>
            <a:off x="154722" y="90489"/>
            <a:ext cx="9827492"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sym typeface="Montserrat"/>
              </a:rPr>
              <a:t>Weather Agent Walkthrough – Part 2</a:t>
            </a:r>
            <a:endParaRPr dirty="0"/>
          </a:p>
        </p:txBody>
      </p:sp>
      <p:sp>
        <p:nvSpPr>
          <p:cNvPr id="115" name="Google Shape;115;p5">
            <a:extLst>
              <a:ext uri="{FF2B5EF4-FFF2-40B4-BE49-F238E27FC236}">
                <a16:creationId xmlns:a16="http://schemas.microsoft.com/office/drawing/2014/main" id="{CF92F23E-98B6-EEE3-4C27-BDCE8D72B65E}"/>
              </a:ext>
            </a:extLst>
          </p:cNvPr>
          <p:cNvSpPr txBox="1"/>
          <p:nvPr/>
        </p:nvSpPr>
        <p:spPr>
          <a:xfrm rot="5400000">
            <a:off x="9539071" y="3704940"/>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sp>
        <p:nvSpPr>
          <p:cNvPr id="36" name="Rectangle: Rounded Corners 35">
            <a:extLst>
              <a:ext uri="{FF2B5EF4-FFF2-40B4-BE49-F238E27FC236}">
                <a16:creationId xmlns:a16="http://schemas.microsoft.com/office/drawing/2014/main" id="{D915F1D7-C2DC-D342-63AC-7E478C57BE30}"/>
              </a:ext>
            </a:extLst>
          </p:cNvPr>
          <p:cNvSpPr/>
          <p:nvPr/>
        </p:nvSpPr>
        <p:spPr>
          <a:xfrm>
            <a:off x="4905131" y="3583574"/>
            <a:ext cx="2452050" cy="1126585"/>
          </a:xfrm>
          <a:prstGeom prst="roundRect">
            <a:avLst/>
          </a:prstGeom>
          <a:solidFill>
            <a:srgbClr val="0C1752"/>
          </a:solidFill>
          <a:ln>
            <a:solidFill>
              <a:srgbClr val="0C175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Montserrat" panose="00000500000000000000" pitchFamily="2" charset="0"/>
              </a:rPr>
              <a:t>Agent</a:t>
            </a:r>
          </a:p>
        </p:txBody>
      </p:sp>
      <p:sp>
        <p:nvSpPr>
          <p:cNvPr id="37" name="Rectangle: Rounded Corners 36">
            <a:extLst>
              <a:ext uri="{FF2B5EF4-FFF2-40B4-BE49-F238E27FC236}">
                <a16:creationId xmlns:a16="http://schemas.microsoft.com/office/drawing/2014/main" id="{CD18AA16-19DD-D025-C376-075B62C7A108}"/>
              </a:ext>
            </a:extLst>
          </p:cNvPr>
          <p:cNvSpPr/>
          <p:nvPr/>
        </p:nvSpPr>
        <p:spPr>
          <a:xfrm>
            <a:off x="9120881" y="3583573"/>
            <a:ext cx="2452050" cy="1126585"/>
          </a:xfrm>
          <a:prstGeom prst="roundRect">
            <a:avLst/>
          </a:prstGeom>
          <a:solidFill>
            <a:srgbClr val="D56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Montserrat" panose="00000500000000000000" pitchFamily="2" charset="0"/>
              </a:rPr>
              <a:t>LLM</a:t>
            </a:r>
          </a:p>
        </p:txBody>
      </p:sp>
      <p:sp>
        <p:nvSpPr>
          <p:cNvPr id="45" name="Rectangle: Rounded Corners 44">
            <a:extLst>
              <a:ext uri="{FF2B5EF4-FFF2-40B4-BE49-F238E27FC236}">
                <a16:creationId xmlns:a16="http://schemas.microsoft.com/office/drawing/2014/main" id="{E99D48FF-1091-F75A-0D53-B38936E55552}"/>
              </a:ext>
            </a:extLst>
          </p:cNvPr>
          <p:cNvSpPr/>
          <p:nvPr/>
        </p:nvSpPr>
        <p:spPr>
          <a:xfrm>
            <a:off x="4905131" y="1250674"/>
            <a:ext cx="2452050" cy="1126585"/>
          </a:xfrm>
          <a:prstGeom prst="round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Montserrat" panose="00000500000000000000" pitchFamily="2" charset="0"/>
              </a:rPr>
              <a:t>System Prompt</a:t>
            </a:r>
          </a:p>
        </p:txBody>
      </p:sp>
      <p:sp>
        <p:nvSpPr>
          <p:cNvPr id="46" name="Rectangle: Rounded Corners 45">
            <a:extLst>
              <a:ext uri="{FF2B5EF4-FFF2-40B4-BE49-F238E27FC236}">
                <a16:creationId xmlns:a16="http://schemas.microsoft.com/office/drawing/2014/main" id="{A069D3FF-0807-084F-54F3-37136F238695}"/>
              </a:ext>
            </a:extLst>
          </p:cNvPr>
          <p:cNvSpPr/>
          <p:nvPr/>
        </p:nvSpPr>
        <p:spPr>
          <a:xfrm>
            <a:off x="7530164" y="5607326"/>
            <a:ext cx="2452050" cy="1126585"/>
          </a:xfrm>
          <a:prstGeom prst="roundRect">
            <a:avLst/>
          </a:prstGeom>
          <a:solidFill>
            <a:srgbClr val="1BB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Montserrat" panose="00000500000000000000" pitchFamily="2" charset="0"/>
              </a:rPr>
              <a:t>Memory</a:t>
            </a:r>
          </a:p>
        </p:txBody>
      </p:sp>
      <p:sp>
        <p:nvSpPr>
          <p:cNvPr id="49" name="Rectangle: Rounded Corners 48">
            <a:extLst>
              <a:ext uri="{FF2B5EF4-FFF2-40B4-BE49-F238E27FC236}">
                <a16:creationId xmlns:a16="http://schemas.microsoft.com/office/drawing/2014/main" id="{3C26CF0E-1C04-771D-C0D6-89BC0B734A88}"/>
              </a:ext>
            </a:extLst>
          </p:cNvPr>
          <p:cNvSpPr/>
          <p:nvPr/>
        </p:nvSpPr>
        <p:spPr>
          <a:xfrm>
            <a:off x="2743192" y="5612419"/>
            <a:ext cx="2452050" cy="1126585"/>
          </a:xfrm>
          <a:prstGeom prst="round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Montserrat" panose="00000500000000000000" pitchFamily="2" charset="0"/>
              </a:rPr>
              <a:t>Tools</a:t>
            </a:r>
          </a:p>
        </p:txBody>
      </p:sp>
      <p:cxnSp>
        <p:nvCxnSpPr>
          <p:cNvPr id="55" name="Straight Arrow Connector 54">
            <a:extLst>
              <a:ext uri="{FF2B5EF4-FFF2-40B4-BE49-F238E27FC236}">
                <a16:creationId xmlns:a16="http://schemas.microsoft.com/office/drawing/2014/main" id="{F752C993-9317-C9A5-B96A-D06D29331877}"/>
              </a:ext>
            </a:extLst>
          </p:cNvPr>
          <p:cNvCxnSpPr>
            <a:cxnSpLocks/>
          </p:cNvCxnSpPr>
          <p:nvPr/>
        </p:nvCxnSpPr>
        <p:spPr>
          <a:xfrm>
            <a:off x="7451939" y="4038423"/>
            <a:ext cx="1668942" cy="0"/>
          </a:xfrm>
          <a:prstGeom prst="straightConnector1">
            <a:avLst/>
          </a:prstGeom>
          <a:ln w="38100">
            <a:solidFill>
              <a:srgbClr val="0C1752"/>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EB75849-11E8-0E89-86B1-38D389410592}"/>
              </a:ext>
            </a:extLst>
          </p:cNvPr>
          <p:cNvSpPr txBox="1"/>
          <p:nvPr/>
        </p:nvSpPr>
        <p:spPr>
          <a:xfrm>
            <a:off x="1443765" y="3022739"/>
            <a:ext cx="1718740" cy="646331"/>
          </a:xfrm>
          <a:prstGeom prst="rect">
            <a:avLst/>
          </a:prstGeom>
          <a:noFill/>
        </p:spPr>
        <p:txBody>
          <a:bodyPr wrap="none" rtlCol="0">
            <a:spAutoFit/>
          </a:bodyPr>
          <a:lstStyle/>
          <a:p>
            <a:r>
              <a:rPr lang="en-CA" b="1" dirty="0">
                <a:solidFill>
                  <a:srgbClr val="0C1752"/>
                </a:solidFill>
                <a:latin typeface="Montserrat" panose="00000500000000000000" pitchFamily="2" charset="0"/>
              </a:rPr>
              <a:t>User Prompt</a:t>
            </a:r>
          </a:p>
          <a:p>
            <a:r>
              <a:rPr lang="en-CA" dirty="0">
                <a:solidFill>
                  <a:srgbClr val="0C1752"/>
                </a:solidFill>
                <a:latin typeface="Montserrat" panose="00000500000000000000" pitchFamily="2" charset="0"/>
              </a:rPr>
              <a:t>Toronto</a:t>
            </a:r>
          </a:p>
        </p:txBody>
      </p:sp>
      <p:pic>
        <p:nvPicPr>
          <p:cNvPr id="60" name="Picture 59">
            <a:extLst>
              <a:ext uri="{FF2B5EF4-FFF2-40B4-BE49-F238E27FC236}">
                <a16:creationId xmlns:a16="http://schemas.microsoft.com/office/drawing/2014/main" id="{6AC7E345-E45A-F198-E813-4EE478003F14}"/>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9991" y="3386535"/>
            <a:ext cx="1494520" cy="1494520"/>
          </a:xfrm>
          <a:prstGeom prst="rect">
            <a:avLst/>
          </a:prstGeom>
        </p:spPr>
      </p:pic>
      <p:cxnSp>
        <p:nvCxnSpPr>
          <p:cNvPr id="61" name="Straight Arrow Connector 60">
            <a:extLst>
              <a:ext uri="{FF2B5EF4-FFF2-40B4-BE49-F238E27FC236}">
                <a16:creationId xmlns:a16="http://schemas.microsoft.com/office/drawing/2014/main" id="{CCBBD6FE-550D-90F4-B25A-7DA24BAF012A}"/>
              </a:ext>
            </a:extLst>
          </p:cNvPr>
          <p:cNvCxnSpPr>
            <a:cxnSpLocks/>
            <a:stCxn id="45" idx="2"/>
            <a:endCxn id="36" idx="0"/>
          </p:cNvCxnSpPr>
          <p:nvPr/>
        </p:nvCxnSpPr>
        <p:spPr>
          <a:xfrm>
            <a:off x="6131156" y="2377259"/>
            <a:ext cx="0" cy="1206315"/>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A6062305-9A26-A80F-8A6A-8EC65999BAEB}"/>
              </a:ext>
            </a:extLst>
          </p:cNvPr>
          <p:cNvSpPr txBox="1"/>
          <p:nvPr/>
        </p:nvSpPr>
        <p:spPr>
          <a:xfrm>
            <a:off x="4579652" y="2858268"/>
            <a:ext cx="1620957" cy="369332"/>
          </a:xfrm>
          <a:prstGeom prst="rect">
            <a:avLst/>
          </a:prstGeom>
          <a:noFill/>
        </p:spPr>
        <p:txBody>
          <a:bodyPr wrap="none" rtlCol="0">
            <a:spAutoFit/>
          </a:bodyPr>
          <a:lstStyle/>
          <a:p>
            <a:r>
              <a:rPr lang="en-CA" dirty="0">
                <a:latin typeface="Montserrat" panose="00000500000000000000" pitchFamily="2" charset="0"/>
              </a:rPr>
              <a:t>Instructions</a:t>
            </a:r>
          </a:p>
        </p:txBody>
      </p:sp>
      <p:cxnSp>
        <p:nvCxnSpPr>
          <p:cNvPr id="66" name="Straight Arrow Connector 65">
            <a:extLst>
              <a:ext uri="{FF2B5EF4-FFF2-40B4-BE49-F238E27FC236}">
                <a16:creationId xmlns:a16="http://schemas.microsoft.com/office/drawing/2014/main" id="{09046AB9-2396-83C6-FD26-C11B41303E5A}"/>
              </a:ext>
            </a:extLst>
          </p:cNvPr>
          <p:cNvCxnSpPr>
            <a:cxnSpLocks/>
          </p:cNvCxnSpPr>
          <p:nvPr/>
        </p:nvCxnSpPr>
        <p:spPr>
          <a:xfrm flipH="1">
            <a:off x="1236947" y="4322920"/>
            <a:ext cx="3581444"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9EAE6C89-4FA3-BD0D-F228-2100ECE42308}"/>
              </a:ext>
            </a:extLst>
          </p:cNvPr>
          <p:cNvSpPr txBox="1"/>
          <p:nvPr/>
        </p:nvSpPr>
        <p:spPr>
          <a:xfrm>
            <a:off x="7451939" y="1075129"/>
            <a:ext cx="4120992" cy="1815882"/>
          </a:xfrm>
          <a:prstGeom prst="rect">
            <a:avLst/>
          </a:prstGeom>
          <a:noFill/>
        </p:spPr>
        <p:txBody>
          <a:bodyPr wrap="square">
            <a:spAutoFit/>
          </a:bodyPr>
          <a:lstStyle/>
          <a:p>
            <a:pPr>
              <a:buNone/>
            </a:pPr>
            <a:r>
              <a:rPr lang="en-US" sz="1400" b="1" dirty="0">
                <a:latin typeface="Montserrat" panose="00000500000000000000" pitchFamily="2" charset="0"/>
              </a:rPr>
              <a:t>Context</a:t>
            </a:r>
          </a:p>
          <a:p>
            <a:pPr>
              <a:buNone/>
            </a:pPr>
            <a:r>
              <a:rPr lang="en-US" sz="1400" dirty="0">
                <a:latin typeface="Montserrat" panose="00000500000000000000" pitchFamily="2" charset="0"/>
              </a:rPr>
              <a:t>You are an assistant that helps users with questions about weather.</a:t>
            </a:r>
          </a:p>
          <a:p>
            <a:pPr>
              <a:buNone/>
            </a:pPr>
            <a:endParaRPr lang="en-US" sz="1400" dirty="0">
              <a:latin typeface="Montserrat" panose="00000500000000000000" pitchFamily="2" charset="0"/>
            </a:endParaRPr>
          </a:p>
          <a:p>
            <a:pPr>
              <a:buNone/>
            </a:pPr>
            <a:r>
              <a:rPr lang="en-US" sz="1400" b="1" dirty="0">
                <a:latin typeface="Montserrat" panose="00000500000000000000" pitchFamily="2" charset="0"/>
              </a:rPr>
              <a:t>Instruction</a:t>
            </a:r>
          </a:p>
          <a:p>
            <a:r>
              <a:rPr lang="en-US" sz="1400" dirty="0">
                <a:latin typeface="Montserrat" panose="00000500000000000000" pitchFamily="2" charset="0"/>
              </a:rPr>
              <a:t>If the user asks about weather, use the Weather tool. Ask the user for additional details if the request is unclear.</a:t>
            </a:r>
          </a:p>
        </p:txBody>
      </p:sp>
      <p:cxnSp>
        <p:nvCxnSpPr>
          <p:cNvPr id="77" name="Straight Arrow Connector 76">
            <a:extLst>
              <a:ext uri="{FF2B5EF4-FFF2-40B4-BE49-F238E27FC236}">
                <a16:creationId xmlns:a16="http://schemas.microsoft.com/office/drawing/2014/main" id="{FF56DB7A-FA4A-6965-A28E-5A5E036CDDD8}"/>
              </a:ext>
            </a:extLst>
          </p:cNvPr>
          <p:cNvCxnSpPr>
            <a:cxnSpLocks/>
          </p:cNvCxnSpPr>
          <p:nvPr/>
        </p:nvCxnSpPr>
        <p:spPr>
          <a:xfrm>
            <a:off x="1250941" y="3770451"/>
            <a:ext cx="3540347" cy="0"/>
          </a:xfrm>
          <a:prstGeom prst="straightConnector1">
            <a:avLst/>
          </a:prstGeom>
          <a:ln w="38100">
            <a:solidFill>
              <a:srgbClr val="0C1752"/>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322D9A89-B85D-DE88-A74C-133EE58CB6D2}"/>
              </a:ext>
            </a:extLst>
          </p:cNvPr>
          <p:cNvSpPr txBox="1"/>
          <p:nvPr/>
        </p:nvSpPr>
        <p:spPr>
          <a:xfrm>
            <a:off x="7565544" y="3260408"/>
            <a:ext cx="1415772" cy="646331"/>
          </a:xfrm>
          <a:prstGeom prst="rect">
            <a:avLst/>
          </a:prstGeom>
          <a:noFill/>
        </p:spPr>
        <p:txBody>
          <a:bodyPr wrap="none" rtlCol="0">
            <a:spAutoFit/>
          </a:bodyPr>
          <a:lstStyle/>
          <a:p>
            <a:r>
              <a:rPr lang="en-CA" dirty="0">
                <a:solidFill>
                  <a:srgbClr val="0C1752"/>
                </a:solidFill>
                <a:latin typeface="Montserrat" panose="00000500000000000000" pitchFamily="2" charset="0"/>
              </a:rPr>
              <a:t>Planning/</a:t>
            </a:r>
          </a:p>
          <a:p>
            <a:r>
              <a:rPr lang="en-CA" dirty="0">
                <a:solidFill>
                  <a:srgbClr val="0C1752"/>
                </a:solidFill>
                <a:latin typeface="Montserrat" panose="00000500000000000000" pitchFamily="2" charset="0"/>
              </a:rPr>
              <a:t>Reasoning</a:t>
            </a:r>
          </a:p>
        </p:txBody>
      </p:sp>
      <p:sp>
        <p:nvSpPr>
          <p:cNvPr id="83" name="TextBox 82">
            <a:extLst>
              <a:ext uri="{FF2B5EF4-FFF2-40B4-BE49-F238E27FC236}">
                <a16:creationId xmlns:a16="http://schemas.microsoft.com/office/drawing/2014/main" id="{397E1EF5-E52A-BBF0-48F9-7A1FE34536CC}"/>
              </a:ext>
            </a:extLst>
          </p:cNvPr>
          <p:cNvSpPr txBox="1"/>
          <p:nvPr/>
        </p:nvSpPr>
        <p:spPr>
          <a:xfrm>
            <a:off x="1308089" y="4322920"/>
            <a:ext cx="3073682" cy="954107"/>
          </a:xfrm>
          <a:prstGeom prst="rect">
            <a:avLst/>
          </a:prstGeom>
          <a:noFill/>
        </p:spPr>
        <p:txBody>
          <a:bodyPr wrap="square" rtlCol="0">
            <a:spAutoFit/>
          </a:bodyPr>
          <a:lstStyle/>
          <a:p>
            <a:r>
              <a:rPr lang="en-CA" b="1" dirty="0">
                <a:solidFill>
                  <a:srgbClr val="0C1752"/>
                </a:solidFill>
                <a:latin typeface="Montserrat" panose="00000500000000000000" pitchFamily="2" charset="0"/>
              </a:rPr>
              <a:t>Agent Response: </a:t>
            </a:r>
          </a:p>
          <a:p>
            <a:r>
              <a:rPr lang="en-US" sz="2000" b="1" dirty="0">
                <a:solidFill>
                  <a:srgbClr val="0C1752"/>
                </a:solidFill>
                <a:latin typeface="Calibri" pitchFamily="34" charset="0"/>
                <a:ea typeface="Calibri" pitchFamily="34" charset="-122"/>
                <a:cs typeface="Calibri" pitchFamily="34" charset="-120"/>
              </a:rPr>
              <a:t>"Weather for Toronto :</a:t>
            </a:r>
            <a:endParaRPr lang="en-US" sz="2000" dirty="0">
              <a:solidFill>
                <a:srgbClr val="0C1752"/>
              </a:solidFill>
            </a:endParaRPr>
          </a:p>
          <a:p>
            <a:r>
              <a:rPr lang="en-US" dirty="0">
                <a:solidFill>
                  <a:srgbClr val="0C1752"/>
                </a:solidFill>
                <a:latin typeface="Calibri" pitchFamily="34" charset="0"/>
                <a:ea typeface="Calibri" pitchFamily="34" charset="-122"/>
                <a:cs typeface="Calibri" pitchFamily="34" charset="-120"/>
              </a:rPr>
              <a:t>-5°C, light snow, Bundle up!"</a:t>
            </a:r>
            <a:endParaRPr lang="en-US" sz="2000" dirty="0">
              <a:solidFill>
                <a:srgbClr val="0C1752"/>
              </a:solidFill>
            </a:endParaRPr>
          </a:p>
        </p:txBody>
      </p:sp>
      <p:cxnSp>
        <p:nvCxnSpPr>
          <p:cNvPr id="84" name="Straight Arrow Connector 83">
            <a:extLst>
              <a:ext uri="{FF2B5EF4-FFF2-40B4-BE49-F238E27FC236}">
                <a16:creationId xmlns:a16="http://schemas.microsoft.com/office/drawing/2014/main" id="{7E1C5297-307A-8BCD-EF8C-0077626FF1BF}"/>
              </a:ext>
            </a:extLst>
          </p:cNvPr>
          <p:cNvCxnSpPr>
            <a:cxnSpLocks/>
          </p:cNvCxnSpPr>
          <p:nvPr/>
        </p:nvCxnSpPr>
        <p:spPr>
          <a:xfrm>
            <a:off x="7139305" y="4793944"/>
            <a:ext cx="1356573" cy="802498"/>
          </a:xfrm>
          <a:prstGeom prst="straightConnector1">
            <a:avLst/>
          </a:prstGeom>
          <a:ln w="38100">
            <a:solidFill>
              <a:srgbClr val="0C175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2E833CD3-1688-6C24-A583-801C6EDFB6F1}"/>
              </a:ext>
            </a:extLst>
          </p:cNvPr>
          <p:cNvSpPr txBox="1"/>
          <p:nvPr/>
        </p:nvSpPr>
        <p:spPr>
          <a:xfrm>
            <a:off x="7894592" y="4690493"/>
            <a:ext cx="1202573" cy="646331"/>
          </a:xfrm>
          <a:prstGeom prst="rect">
            <a:avLst/>
          </a:prstGeom>
          <a:noFill/>
        </p:spPr>
        <p:txBody>
          <a:bodyPr wrap="none" rtlCol="0">
            <a:spAutoFit/>
          </a:bodyPr>
          <a:lstStyle/>
          <a:p>
            <a:r>
              <a:rPr lang="en-CA" dirty="0">
                <a:solidFill>
                  <a:srgbClr val="0C1752"/>
                </a:solidFill>
                <a:latin typeface="Montserrat" panose="00000500000000000000" pitchFamily="2" charset="0"/>
              </a:rPr>
              <a:t>Storage/</a:t>
            </a:r>
          </a:p>
          <a:p>
            <a:r>
              <a:rPr lang="en-CA" dirty="0">
                <a:solidFill>
                  <a:srgbClr val="0C1752"/>
                </a:solidFill>
                <a:latin typeface="Montserrat" panose="00000500000000000000" pitchFamily="2" charset="0"/>
              </a:rPr>
              <a:t>Retrieval</a:t>
            </a:r>
          </a:p>
        </p:txBody>
      </p:sp>
      <p:cxnSp>
        <p:nvCxnSpPr>
          <p:cNvPr id="88" name="Straight Arrow Connector 87">
            <a:extLst>
              <a:ext uri="{FF2B5EF4-FFF2-40B4-BE49-F238E27FC236}">
                <a16:creationId xmlns:a16="http://schemas.microsoft.com/office/drawing/2014/main" id="{56245869-76ED-D821-7896-FA715C44BCF9}"/>
              </a:ext>
            </a:extLst>
          </p:cNvPr>
          <p:cNvCxnSpPr>
            <a:cxnSpLocks/>
          </p:cNvCxnSpPr>
          <p:nvPr/>
        </p:nvCxnSpPr>
        <p:spPr>
          <a:xfrm flipH="1">
            <a:off x="4103593" y="4860716"/>
            <a:ext cx="948244" cy="746610"/>
          </a:xfrm>
          <a:prstGeom prst="straightConnector1">
            <a:avLst/>
          </a:prstGeom>
          <a:ln w="38100">
            <a:solidFill>
              <a:srgbClr val="0C175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C9CC2018-B126-68BC-E23C-382D1C37D6D3}"/>
              </a:ext>
            </a:extLst>
          </p:cNvPr>
          <p:cNvSpPr txBox="1"/>
          <p:nvPr/>
        </p:nvSpPr>
        <p:spPr>
          <a:xfrm>
            <a:off x="4616398" y="5122564"/>
            <a:ext cx="1157689" cy="369332"/>
          </a:xfrm>
          <a:prstGeom prst="rect">
            <a:avLst/>
          </a:prstGeom>
          <a:noFill/>
        </p:spPr>
        <p:txBody>
          <a:bodyPr wrap="none" rtlCol="0">
            <a:spAutoFit/>
          </a:bodyPr>
          <a:lstStyle/>
          <a:p>
            <a:r>
              <a:rPr lang="en-CA" dirty="0">
                <a:solidFill>
                  <a:srgbClr val="0C1752"/>
                </a:solidFill>
                <a:latin typeface="Montserrat" panose="00000500000000000000" pitchFamily="2" charset="0"/>
              </a:rPr>
              <a:t>Call Tool</a:t>
            </a:r>
          </a:p>
        </p:txBody>
      </p:sp>
      <p:sp>
        <p:nvSpPr>
          <p:cNvPr id="2" name="Shape 44">
            <a:extLst>
              <a:ext uri="{FF2B5EF4-FFF2-40B4-BE49-F238E27FC236}">
                <a16:creationId xmlns:a16="http://schemas.microsoft.com/office/drawing/2014/main" id="{2438F09C-FE73-0418-3673-D5F30094F3D3}"/>
              </a:ext>
            </a:extLst>
          </p:cNvPr>
          <p:cNvSpPr/>
          <p:nvPr/>
        </p:nvSpPr>
        <p:spPr>
          <a:xfrm>
            <a:off x="85396" y="653073"/>
            <a:ext cx="4572000" cy="478136"/>
          </a:xfrm>
          <a:prstGeom prst="rect">
            <a:avLst/>
          </a:prstGeom>
          <a:solidFill>
            <a:srgbClr val="F3E8FF"/>
          </a:solidFill>
          <a:ln/>
          <a:effectLst>
            <a:outerShdw blurRad="76200" dist="25400" dir="8100000" algn="bl" rotWithShape="0">
              <a:srgbClr val="000000">
                <a:alpha val="10000"/>
              </a:srgbClr>
            </a:outerShdw>
          </a:effectLst>
        </p:spPr>
        <p:txBody>
          <a:bodyPr/>
          <a:lstStyle/>
          <a:p>
            <a:endParaRPr lang="en-CA"/>
          </a:p>
        </p:txBody>
      </p:sp>
      <p:sp>
        <p:nvSpPr>
          <p:cNvPr id="3" name="Shape 45">
            <a:extLst>
              <a:ext uri="{FF2B5EF4-FFF2-40B4-BE49-F238E27FC236}">
                <a16:creationId xmlns:a16="http://schemas.microsoft.com/office/drawing/2014/main" id="{7695CE60-A2CD-97CD-9746-6DFC7DE52F9A}"/>
              </a:ext>
            </a:extLst>
          </p:cNvPr>
          <p:cNvSpPr/>
          <p:nvPr/>
        </p:nvSpPr>
        <p:spPr>
          <a:xfrm>
            <a:off x="85396" y="653073"/>
            <a:ext cx="79092" cy="524038"/>
          </a:xfrm>
          <a:prstGeom prst="rect">
            <a:avLst/>
          </a:prstGeom>
          <a:solidFill>
            <a:srgbClr val="8B5CF6"/>
          </a:solidFill>
          <a:ln/>
        </p:spPr>
        <p:txBody>
          <a:bodyPr/>
          <a:lstStyle/>
          <a:p>
            <a:endParaRPr lang="en-CA"/>
          </a:p>
        </p:txBody>
      </p:sp>
      <p:sp>
        <p:nvSpPr>
          <p:cNvPr id="4" name="Text 46">
            <a:extLst>
              <a:ext uri="{FF2B5EF4-FFF2-40B4-BE49-F238E27FC236}">
                <a16:creationId xmlns:a16="http://schemas.microsoft.com/office/drawing/2014/main" id="{9567E80A-023B-B3C9-5BE0-F0BFBDB1DF03}"/>
              </a:ext>
            </a:extLst>
          </p:cNvPr>
          <p:cNvSpPr/>
          <p:nvPr/>
        </p:nvSpPr>
        <p:spPr>
          <a:xfrm>
            <a:off x="268276" y="653073"/>
            <a:ext cx="1371600" cy="320040"/>
          </a:xfrm>
          <a:prstGeom prst="rect">
            <a:avLst/>
          </a:prstGeom>
          <a:noFill/>
          <a:ln/>
        </p:spPr>
        <p:txBody>
          <a:bodyPr wrap="square" lIns="0" tIns="0" rIns="0" bIns="0" rtlCol="0" anchor="ctr"/>
          <a:lstStyle/>
          <a:p>
            <a:pPr marL="0" indent="0">
              <a:buNone/>
            </a:pPr>
            <a:r>
              <a:rPr lang="en-US" sz="1000" b="1" dirty="0">
                <a:solidFill>
                  <a:srgbClr val="8B5CF6"/>
                </a:solidFill>
                <a:latin typeface="Calibri" pitchFamily="34" charset="0"/>
                <a:ea typeface="Calibri" pitchFamily="34" charset="-122"/>
                <a:cs typeface="Calibri" pitchFamily="34" charset="-120"/>
              </a:rPr>
              <a:t>Memory Updated:</a:t>
            </a:r>
            <a:endParaRPr lang="en-US" sz="1000" dirty="0"/>
          </a:p>
        </p:txBody>
      </p:sp>
      <p:sp>
        <p:nvSpPr>
          <p:cNvPr id="5" name="Text 47">
            <a:extLst>
              <a:ext uri="{FF2B5EF4-FFF2-40B4-BE49-F238E27FC236}">
                <a16:creationId xmlns:a16="http://schemas.microsoft.com/office/drawing/2014/main" id="{E2037611-6949-448A-68E8-C25EA26BB31D}"/>
              </a:ext>
            </a:extLst>
          </p:cNvPr>
          <p:cNvSpPr/>
          <p:nvPr/>
        </p:nvSpPr>
        <p:spPr>
          <a:xfrm>
            <a:off x="209837" y="829350"/>
            <a:ext cx="4206240" cy="274320"/>
          </a:xfrm>
          <a:prstGeom prst="rect">
            <a:avLst/>
          </a:prstGeom>
          <a:noFill/>
          <a:ln/>
        </p:spPr>
        <p:txBody>
          <a:bodyPr wrap="square" lIns="0" tIns="0" rIns="0" bIns="0"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 user_city: "Toronto" }</a:t>
            </a:r>
            <a:endParaRPr lang="en-US" sz="1100" dirty="0"/>
          </a:p>
        </p:txBody>
      </p:sp>
      <p:sp>
        <p:nvSpPr>
          <p:cNvPr id="7" name="Text 8">
            <a:extLst>
              <a:ext uri="{FF2B5EF4-FFF2-40B4-BE49-F238E27FC236}">
                <a16:creationId xmlns:a16="http://schemas.microsoft.com/office/drawing/2014/main" id="{E46E6398-DECA-4B3F-04E9-C6B45EFE786A}"/>
              </a:ext>
            </a:extLst>
          </p:cNvPr>
          <p:cNvSpPr/>
          <p:nvPr/>
        </p:nvSpPr>
        <p:spPr>
          <a:xfrm>
            <a:off x="3591593" y="3010094"/>
            <a:ext cx="822960"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User</a:t>
            </a:r>
            <a:endParaRPr lang="en-US" sz="1100" dirty="0"/>
          </a:p>
        </p:txBody>
      </p:sp>
      <p:sp>
        <p:nvSpPr>
          <p:cNvPr id="8" name="Shape 29">
            <a:extLst>
              <a:ext uri="{FF2B5EF4-FFF2-40B4-BE49-F238E27FC236}">
                <a16:creationId xmlns:a16="http://schemas.microsoft.com/office/drawing/2014/main" id="{8665E77E-142E-D32B-FAF9-4E9CADF26BEC}"/>
              </a:ext>
            </a:extLst>
          </p:cNvPr>
          <p:cNvSpPr/>
          <p:nvPr/>
        </p:nvSpPr>
        <p:spPr>
          <a:xfrm>
            <a:off x="83714" y="1355084"/>
            <a:ext cx="4572000" cy="319427"/>
          </a:xfrm>
          <a:prstGeom prst="rect">
            <a:avLst/>
          </a:prstGeom>
          <a:solidFill>
            <a:srgbClr val="FFF8ED"/>
          </a:solidFill>
          <a:ln/>
          <a:effectLst>
            <a:outerShdw blurRad="76200" dist="25400" dir="8100000" algn="bl" rotWithShape="0">
              <a:srgbClr val="000000">
                <a:alpha val="10000"/>
              </a:srgbClr>
            </a:outerShdw>
          </a:effectLst>
        </p:spPr>
        <p:txBody>
          <a:bodyPr/>
          <a:lstStyle/>
          <a:p>
            <a:endParaRPr lang="en-CA" dirty="0"/>
          </a:p>
        </p:txBody>
      </p:sp>
      <p:sp>
        <p:nvSpPr>
          <p:cNvPr id="9" name="Shape 30">
            <a:extLst>
              <a:ext uri="{FF2B5EF4-FFF2-40B4-BE49-F238E27FC236}">
                <a16:creationId xmlns:a16="http://schemas.microsoft.com/office/drawing/2014/main" id="{0F1C412E-2AE8-31A8-4283-858EE07440A5}"/>
              </a:ext>
            </a:extLst>
          </p:cNvPr>
          <p:cNvSpPr/>
          <p:nvPr/>
        </p:nvSpPr>
        <p:spPr>
          <a:xfrm>
            <a:off x="83714" y="1355084"/>
            <a:ext cx="79092" cy="319427"/>
          </a:xfrm>
          <a:prstGeom prst="rect">
            <a:avLst/>
          </a:prstGeom>
          <a:solidFill>
            <a:srgbClr val="F59E0B"/>
          </a:solidFill>
          <a:ln/>
        </p:spPr>
        <p:txBody>
          <a:bodyPr/>
          <a:lstStyle/>
          <a:p>
            <a:endParaRPr lang="en-CA"/>
          </a:p>
        </p:txBody>
      </p:sp>
      <p:sp>
        <p:nvSpPr>
          <p:cNvPr id="10" name="Text 31">
            <a:extLst>
              <a:ext uri="{FF2B5EF4-FFF2-40B4-BE49-F238E27FC236}">
                <a16:creationId xmlns:a16="http://schemas.microsoft.com/office/drawing/2014/main" id="{0AF22048-F8E3-CC21-6C1D-65AB34377467}"/>
              </a:ext>
            </a:extLst>
          </p:cNvPr>
          <p:cNvSpPr/>
          <p:nvPr/>
        </p:nvSpPr>
        <p:spPr>
          <a:xfrm>
            <a:off x="230018" y="1277222"/>
            <a:ext cx="822960" cy="457200"/>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Tool Call:</a:t>
            </a:r>
            <a:endParaRPr lang="en-US" sz="1000" dirty="0"/>
          </a:p>
        </p:txBody>
      </p:sp>
      <p:sp>
        <p:nvSpPr>
          <p:cNvPr id="11" name="Text 32">
            <a:extLst>
              <a:ext uri="{FF2B5EF4-FFF2-40B4-BE49-F238E27FC236}">
                <a16:creationId xmlns:a16="http://schemas.microsoft.com/office/drawing/2014/main" id="{33B35689-51DE-430C-2557-0469994C5F6B}"/>
              </a:ext>
            </a:extLst>
          </p:cNvPr>
          <p:cNvSpPr/>
          <p:nvPr/>
        </p:nvSpPr>
        <p:spPr>
          <a:xfrm>
            <a:off x="833945" y="1259485"/>
            <a:ext cx="3383280" cy="457200"/>
          </a:xfrm>
          <a:prstGeom prst="rect">
            <a:avLst/>
          </a:prstGeom>
          <a:noFill/>
          <a:ln/>
        </p:spPr>
        <p:txBody>
          <a:bodyPr wrap="square" lIns="0" tIns="0" rIns="0" bIns="0"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get_weather("Toronto", "today")</a:t>
            </a:r>
            <a:endParaRPr lang="en-US" sz="1100" dirty="0"/>
          </a:p>
        </p:txBody>
      </p:sp>
      <p:sp>
        <p:nvSpPr>
          <p:cNvPr id="12" name="Shape 33">
            <a:extLst>
              <a:ext uri="{FF2B5EF4-FFF2-40B4-BE49-F238E27FC236}">
                <a16:creationId xmlns:a16="http://schemas.microsoft.com/office/drawing/2014/main" id="{F513ED8D-27A8-91B2-7F95-7B21D99F41B4}"/>
              </a:ext>
            </a:extLst>
          </p:cNvPr>
          <p:cNvSpPr/>
          <p:nvPr/>
        </p:nvSpPr>
        <p:spPr>
          <a:xfrm>
            <a:off x="103340" y="2114921"/>
            <a:ext cx="4572000" cy="874726"/>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a:p>
        </p:txBody>
      </p:sp>
      <p:sp>
        <p:nvSpPr>
          <p:cNvPr id="13" name="Shape 34">
            <a:extLst>
              <a:ext uri="{FF2B5EF4-FFF2-40B4-BE49-F238E27FC236}">
                <a16:creationId xmlns:a16="http://schemas.microsoft.com/office/drawing/2014/main" id="{66CB9749-AC78-A43B-87F1-94046103C038}"/>
              </a:ext>
            </a:extLst>
          </p:cNvPr>
          <p:cNvSpPr/>
          <p:nvPr/>
        </p:nvSpPr>
        <p:spPr>
          <a:xfrm>
            <a:off x="83714" y="1674511"/>
            <a:ext cx="4572000" cy="347472"/>
          </a:xfrm>
          <a:prstGeom prst="rect">
            <a:avLst/>
          </a:prstGeom>
          <a:solidFill>
            <a:srgbClr val="10B981"/>
          </a:solidFill>
          <a:ln/>
        </p:spPr>
        <p:txBody>
          <a:bodyPr/>
          <a:lstStyle/>
          <a:p>
            <a:endParaRPr lang="en-CA"/>
          </a:p>
        </p:txBody>
      </p:sp>
      <p:sp>
        <p:nvSpPr>
          <p:cNvPr id="14" name="Text 35">
            <a:extLst>
              <a:ext uri="{FF2B5EF4-FFF2-40B4-BE49-F238E27FC236}">
                <a16:creationId xmlns:a16="http://schemas.microsoft.com/office/drawing/2014/main" id="{DE8B3938-9086-3BAF-DF4B-8A89E1AB98CC}"/>
              </a:ext>
            </a:extLst>
          </p:cNvPr>
          <p:cNvSpPr/>
          <p:nvPr/>
        </p:nvSpPr>
        <p:spPr>
          <a:xfrm>
            <a:off x="149804" y="1674511"/>
            <a:ext cx="274320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API Response</a:t>
            </a:r>
            <a:endParaRPr lang="en-US" sz="1100" dirty="0"/>
          </a:p>
        </p:txBody>
      </p:sp>
      <p:sp>
        <p:nvSpPr>
          <p:cNvPr id="15" name="Text 36">
            <a:extLst>
              <a:ext uri="{FF2B5EF4-FFF2-40B4-BE49-F238E27FC236}">
                <a16:creationId xmlns:a16="http://schemas.microsoft.com/office/drawing/2014/main" id="{BC56812E-041B-2DB0-7462-74AE1E3D813F}"/>
              </a:ext>
            </a:extLst>
          </p:cNvPr>
          <p:cNvSpPr/>
          <p:nvPr/>
        </p:nvSpPr>
        <p:spPr>
          <a:xfrm>
            <a:off x="194010" y="1509386"/>
            <a:ext cx="4297680" cy="2011680"/>
          </a:xfrm>
          <a:prstGeom prst="rect">
            <a:avLst/>
          </a:prstGeom>
          <a:noFill/>
          <a:ln/>
        </p:spPr>
        <p:txBody>
          <a:bodyPr wrap="square" lIns="0" tIns="0" rIns="0" bIns="0"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  "city": "Toronto, ON",</a:t>
            </a:r>
            <a:endParaRPr lang="en-US" sz="1100" dirty="0"/>
          </a:p>
          <a:p>
            <a:pPr marL="0" indent="0">
              <a:buNone/>
            </a:pPr>
            <a:r>
              <a:rPr lang="en-US" sz="1100" dirty="0">
                <a:solidFill>
                  <a:srgbClr val="0891B2"/>
                </a:solidFill>
                <a:latin typeface="Consolas" pitchFamily="34" charset="0"/>
                <a:ea typeface="Consolas" pitchFamily="34" charset="-122"/>
                <a:cs typeface="Consolas" pitchFamily="34" charset="-120"/>
              </a:rPr>
              <a:t>  "temp": "-5°C",</a:t>
            </a:r>
            <a:endParaRPr lang="en-US" sz="1100" dirty="0"/>
          </a:p>
          <a:p>
            <a:pPr marL="0" indent="0">
              <a:buNone/>
            </a:pPr>
            <a:r>
              <a:rPr lang="en-US" sz="1100" dirty="0">
                <a:solidFill>
                  <a:srgbClr val="0891B2"/>
                </a:solidFill>
                <a:latin typeface="Consolas" pitchFamily="34" charset="0"/>
                <a:ea typeface="Consolas" pitchFamily="34" charset="-122"/>
                <a:cs typeface="Consolas" pitchFamily="34" charset="-120"/>
              </a:rPr>
              <a:t>  "condition": "Light Snow",</a:t>
            </a:r>
            <a:endParaRPr lang="en-US" sz="1100" dirty="0"/>
          </a:p>
          <a:p>
            <a:pPr marL="0" indent="0">
              <a:buNone/>
            </a:pPr>
            <a:r>
              <a:rPr lang="en-US" sz="1100" dirty="0">
                <a:solidFill>
                  <a:srgbClr val="334155"/>
                </a:solidFill>
                <a:latin typeface="Consolas" pitchFamily="34" charset="0"/>
                <a:ea typeface="Consolas" pitchFamily="34" charset="-122"/>
                <a:cs typeface="Consolas" pitchFamily="34" charset="-120"/>
              </a:rPr>
              <a:t>}</a:t>
            </a:r>
            <a:endParaRPr lang="en-US" sz="1100" dirty="0"/>
          </a:p>
        </p:txBody>
      </p:sp>
    </p:spTree>
    <p:extLst>
      <p:ext uri="{BB962C8B-B14F-4D97-AF65-F5344CB8AC3E}">
        <p14:creationId xmlns:p14="http://schemas.microsoft.com/office/powerpoint/2010/main" val="1930215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500"/>
                                        <p:tgtEl>
                                          <p:spTgt spid="62"/>
                                        </p:tgtEl>
                                      </p:cBhvr>
                                    </p:animEffect>
                                  </p:childTnLst>
                                </p:cTn>
                              </p:par>
                              <p:par>
                                <p:cTn id="11" presetID="10" presetClass="entr" presetSubtype="0" fill="hold" nodeType="with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500"/>
                                        <p:tgtEl>
                                          <p:spTgt spid="6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500"/>
                                        <p:tgtEl>
                                          <p:spTgt spid="4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6"/>
                                        </p:tgtEl>
                                        <p:attrNameLst>
                                          <p:attrName>style.visibility</p:attrName>
                                        </p:attrNameLst>
                                      </p:cBhvr>
                                      <p:to>
                                        <p:strVal val="visible"/>
                                      </p:to>
                                    </p:set>
                                    <p:animEffect transition="in" filter="fade">
                                      <p:cBhvr>
                                        <p:cTn id="19" dur="500"/>
                                        <p:tgtEl>
                                          <p:spTgt spid="76"/>
                                        </p:tgtEl>
                                      </p:cBhvr>
                                    </p:animEffect>
                                  </p:childTnLst>
                                </p:cTn>
                              </p:par>
                              <p:par>
                                <p:cTn id="20" presetID="10"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fade">
                                      <p:cBhvr>
                                        <p:cTn id="22" dur="500"/>
                                        <p:tgtEl>
                                          <p:spTgt spid="5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1"/>
                                        </p:tgtEl>
                                        <p:attrNameLst>
                                          <p:attrName>style.visibility</p:attrName>
                                        </p:attrNameLst>
                                      </p:cBhvr>
                                      <p:to>
                                        <p:strVal val="visible"/>
                                      </p:to>
                                    </p:set>
                                    <p:animEffect transition="in" filter="fade">
                                      <p:cBhvr>
                                        <p:cTn id="25" dur="500"/>
                                        <p:tgtEl>
                                          <p:spTgt spid="8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500"/>
                                        <p:tgtEl>
                                          <p:spTgt spid="3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fade">
                                      <p:cBhvr>
                                        <p:cTn id="33" dur="500"/>
                                        <p:tgtEl>
                                          <p:spTgt spid="6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6"/>
                                        </p:tgtEl>
                                        <p:attrNameLst>
                                          <p:attrName>style.visibility</p:attrName>
                                        </p:attrNameLst>
                                      </p:cBhvr>
                                      <p:to>
                                        <p:strVal val="visible"/>
                                      </p:to>
                                    </p:set>
                                    <p:animEffect transition="in" filter="fade">
                                      <p:cBhvr>
                                        <p:cTn id="38" dur="500"/>
                                        <p:tgtEl>
                                          <p:spTgt spid="56"/>
                                        </p:tgtEl>
                                      </p:cBhvr>
                                    </p:animEffect>
                                  </p:childTnLst>
                                </p:cTn>
                              </p:par>
                              <p:par>
                                <p:cTn id="39" presetID="10" presetClass="entr" presetSubtype="0" fill="hold" nodeType="with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500"/>
                                        <p:tgtEl>
                                          <p:spTgt spid="7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84"/>
                                        </p:tgtEl>
                                        <p:attrNameLst>
                                          <p:attrName>style.visibility</p:attrName>
                                        </p:attrNameLst>
                                      </p:cBhvr>
                                      <p:to>
                                        <p:strVal val="visible"/>
                                      </p:to>
                                    </p:set>
                                    <p:animEffect transition="in" filter="fade">
                                      <p:cBhvr>
                                        <p:cTn id="46" dur="500"/>
                                        <p:tgtEl>
                                          <p:spTgt spid="8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85"/>
                                        </p:tgtEl>
                                        <p:attrNameLst>
                                          <p:attrName>style.visibility</p:attrName>
                                        </p:attrNameLst>
                                      </p:cBhvr>
                                      <p:to>
                                        <p:strVal val="visible"/>
                                      </p:to>
                                    </p:set>
                                    <p:animEffect transition="in" filter="fade">
                                      <p:cBhvr>
                                        <p:cTn id="49" dur="500"/>
                                        <p:tgtEl>
                                          <p:spTgt spid="8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500"/>
                                        <p:tgtEl>
                                          <p:spTgt spid="4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fade">
                                      <p:cBhvr>
                                        <p:cTn id="55" dur="500"/>
                                        <p:tgtEl>
                                          <p:spTgt spid="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fade">
                                      <p:cBhvr>
                                        <p:cTn id="58" dur="500"/>
                                        <p:tgtEl>
                                          <p:spTgt spid="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500"/>
                                        <p:tgtEl>
                                          <p:spTgt spid="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fade">
                                      <p:cBhvr>
                                        <p:cTn id="64" dur="500"/>
                                        <p:tgtEl>
                                          <p:spTgt spid="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89"/>
                                        </p:tgtEl>
                                        <p:attrNameLst>
                                          <p:attrName>style.visibility</p:attrName>
                                        </p:attrNameLst>
                                      </p:cBhvr>
                                      <p:to>
                                        <p:strVal val="visible"/>
                                      </p:to>
                                    </p:set>
                                    <p:animEffect transition="in" filter="fade">
                                      <p:cBhvr>
                                        <p:cTn id="69" dur="500"/>
                                        <p:tgtEl>
                                          <p:spTgt spid="89"/>
                                        </p:tgtEl>
                                      </p:cBhvr>
                                    </p:animEffect>
                                  </p:childTnLst>
                                </p:cTn>
                              </p:par>
                              <p:par>
                                <p:cTn id="70" presetID="10" presetClass="entr" presetSubtype="0" fill="hold" nodeType="withEffect">
                                  <p:stCondLst>
                                    <p:cond delay="0"/>
                                  </p:stCondLst>
                                  <p:childTnLst>
                                    <p:set>
                                      <p:cBhvr>
                                        <p:cTn id="71" dur="1" fill="hold">
                                          <p:stCondLst>
                                            <p:cond delay="0"/>
                                          </p:stCondLst>
                                        </p:cTn>
                                        <p:tgtEl>
                                          <p:spTgt spid="88"/>
                                        </p:tgtEl>
                                        <p:attrNameLst>
                                          <p:attrName>style.visibility</p:attrName>
                                        </p:attrNameLst>
                                      </p:cBhvr>
                                      <p:to>
                                        <p:strVal val="visible"/>
                                      </p:to>
                                    </p:set>
                                    <p:animEffect transition="in" filter="fade">
                                      <p:cBhvr>
                                        <p:cTn id="72" dur="500"/>
                                        <p:tgtEl>
                                          <p:spTgt spid="8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fade">
                                      <p:cBhvr>
                                        <p:cTn id="75" dur="500"/>
                                        <p:tgtEl>
                                          <p:spTgt spid="4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8"/>
                                        </p:tgtEl>
                                        <p:attrNameLst>
                                          <p:attrName>style.visibility</p:attrName>
                                        </p:attrNameLst>
                                      </p:cBhvr>
                                      <p:to>
                                        <p:strVal val="visible"/>
                                      </p:to>
                                    </p:set>
                                    <p:animEffect transition="in" filter="fade">
                                      <p:cBhvr>
                                        <p:cTn id="78" dur="500"/>
                                        <p:tgtEl>
                                          <p:spTgt spid="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9"/>
                                        </p:tgtEl>
                                        <p:attrNameLst>
                                          <p:attrName>style.visibility</p:attrName>
                                        </p:attrNameLst>
                                      </p:cBhvr>
                                      <p:to>
                                        <p:strVal val="visible"/>
                                      </p:to>
                                    </p:set>
                                    <p:animEffect transition="in" filter="fade">
                                      <p:cBhvr>
                                        <p:cTn id="81" dur="500"/>
                                        <p:tgtEl>
                                          <p:spTgt spid="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0"/>
                                        </p:tgtEl>
                                        <p:attrNameLst>
                                          <p:attrName>style.visibility</p:attrName>
                                        </p:attrNameLst>
                                      </p:cBhvr>
                                      <p:to>
                                        <p:strVal val="visible"/>
                                      </p:to>
                                    </p:set>
                                    <p:animEffect transition="in" filter="fade">
                                      <p:cBhvr>
                                        <p:cTn id="84" dur="500"/>
                                        <p:tgtEl>
                                          <p:spTgt spid="1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fade">
                                      <p:cBhvr>
                                        <p:cTn id="87" dur="500"/>
                                        <p:tgtEl>
                                          <p:spTgt spid="1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2"/>
                                        </p:tgtEl>
                                        <p:attrNameLst>
                                          <p:attrName>style.visibility</p:attrName>
                                        </p:attrNameLst>
                                      </p:cBhvr>
                                      <p:to>
                                        <p:strVal val="visible"/>
                                      </p:to>
                                    </p:set>
                                    <p:animEffect transition="in" filter="fade">
                                      <p:cBhvr>
                                        <p:cTn id="90" dur="500"/>
                                        <p:tgtEl>
                                          <p:spTgt spid="1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13"/>
                                        </p:tgtEl>
                                        <p:attrNameLst>
                                          <p:attrName>style.visibility</p:attrName>
                                        </p:attrNameLst>
                                      </p:cBhvr>
                                      <p:to>
                                        <p:strVal val="visible"/>
                                      </p:to>
                                    </p:set>
                                    <p:animEffect transition="in" filter="fade">
                                      <p:cBhvr>
                                        <p:cTn id="93" dur="500"/>
                                        <p:tgtEl>
                                          <p:spTgt spid="1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14"/>
                                        </p:tgtEl>
                                        <p:attrNameLst>
                                          <p:attrName>style.visibility</p:attrName>
                                        </p:attrNameLst>
                                      </p:cBhvr>
                                      <p:to>
                                        <p:strVal val="visible"/>
                                      </p:to>
                                    </p:set>
                                    <p:animEffect transition="in" filter="fade">
                                      <p:cBhvr>
                                        <p:cTn id="96" dur="500"/>
                                        <p:tgtEl>
                                          <p:spTgt spid="1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15"/>
                                        </p:tgtEl>
                                        <p:attrNameLst>
                                          <p:attrName>style.visibility</p:attrName>
                                        </p:attrNameLst>
                                      </p:cBhvr>
                                      <p:to>
                                        <p:strVal val="visible"/>
                                      </p:to>
                                    </p:set>
                                    <p:animEffect transition="in" filter="fade">
                                      <p:cBhvr>
                                        <p:cTn id="99" dur="500"/>
                                        <p:tgtEl>
                                          <p:spTgt spid="15"/>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66"/>
                                        </p:tgtEl>
                                        <p:attrNameLst>
                                          <p:attrName>style.visibility</p:attrName>
                                        </p:attrNameLst>
                                      </p:cBhvr>
                                      <p:to>
                                        <p:strVal val="visible"/>
                                      </p:to>
                                    </p:set>
                                    <p:animEffect transition="in" filter="fade">
                                      <p:cBhvr>
                                        <p:cTn id="104" dur="500"/>
                                        <p:tgtEl>
                                          <p:spTgt spid="6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83"/>
                                        </p:tgtEl>
                                        <p:attrNameLst>
                                          <p:attrName>style.visibility</p:attrName>
                                        </p:attrNameLst>
                                      </p:cBhvr>
                                      <p:to>
                                        <p:strVal val="visible"/>
                                      </p:to>
                                    </p:set>
                                    <p:animEffect transition="in" filter="fade">
                                      <p:cBhvr>
                                        <p:cTn id="107"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45" grpId="0" animBg="1"/>
      <p:bldP spid="46" grpId="0" animBg="1"/>
      <p:bldP spid="49" grpId="0" animBg="1"/>
      <p:bldP spid="56" grpId="0"/>
      <p:bldP spid="62" grpId="0"/>
      <p:bldP spid="76" grpId="0"/>
      <p:bldP spid="81" grpId="0"/>
      <p:bldP spid="83" grpId="0"/>
      <p:bldP spid="85" grpId="0"/>
      <p:bldP spid="89" grpId="0"/>
      <p:bldP spid="2" grpId="0" animBg="1"/>
      <p:bldP spid="3" grpId="0" animBg="1"/>
      <p:bldP spid="4" grpId="0" animBg="1"/>
      <p:bldP spid="5"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7BA8993-2A0C-AFCA-B009-C797112A6A3C}"/>
            </a:ext>
          </a:extLst>
        </p:cNvPr>
        <p:cNvGrpSpPr/>
        <p:nvPr/>
      </p:nvGrpSpPr>
      <p:grpSpPr>
        <a:xfrm>
          <a:off x="0" y="0"/>
          <a:ext cx="0" cy="0"/>
          <a:chOff x="0" y="0"/>
          <a:chExt cx="0" cy="0"/>
        </a:xfrm>
      </p:grpSpPr>
      <p:pic>
        <p:nvPicPr>
          <p:cNvPr id="112" name="Google Shape;112;p5">
            <a:extLst>
              <a:ext uri="{FF2B5EF4-FFF2-40B4-BE49-F238E27FC236}">
                <a16:creationId xmlns:a16="http://schemas.microsoft.com/office/drawing/2014/main" id="{333194A4-4DBD-D0C3-E289-CF129E191A67}"/>
              </a:ext>
            </a:extLst>
          </p:cNvPr>
          <p:cNvPicPr preferRelativeResize="0"/>
          <p:nvPr/>
        </p:nvPicPr>
        <p:blipFill rotWithShape="1">
          <a:blip r:embed="rId3">
            <a:alphaModFix/>
          </a:blip>
          <a:srcRect/>
          <a:stretch/>
        </p:blipFill>
        <p:spPr>
          <a:xfrm>
            <a:off x="-3571" y="0"/>
            <a:ext cx="12224773" cy="6858000"/>
          </a:xfrm>
          <a:prstGeom prst="rect">
            <a:avLst/>
          </a:prstGeom>
          <a:noFill/>
          <a:ln>
            <a:noFill/>
          </a:ln>
        </p:spPr>
      </p:pic>
      <p:pic>
        <p:nvPicPr>
          <p:cNvPr id="113" name="Google Shape;113;p5">
            <a:extLst>
              <a:ext uri="{FF2B5EF4-FFF2-40B4-BE49-F238E27FC236}">
                <a16:creationId xmlns:a16="http://schemas.microsoft.com/office/drawing/2014/main" id="{DF7F6AA4-FE68-1F00-90FB-4823341853CE}"/>
              </a:ext>
            </a:extLst>
          </p:cNvPr>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114" name="Google Shape;114;p5">
            <a:extLst>
              <a:ext uri="{FF2B5EF4-FFF2-40B4-BE49-F238E27FC236}">
                <a16:creationId xmlns:a16="http://schemas.microsoft.com/office/drawing/2014/main" id="{4576D596-DF7C-1F7C-B128-453102586124}"/>
              </a:ext>
            </a:extLst>
          </p:cNvPr>
          <p:cNvSpPr/>
          <p:nvPr/>
        </p:nvSpPr>
        <p:spPr>
          <a:xfrm>
            <a:off x="154722" y="90489"/>
            <a:ext cx="98274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ea typeface="Montserrat"/>
                <a:cs typeface="Montserrat"/>
                <a:sym typeface="Montserrat"/>
              </a:rPr>
              <a:t>Model Context Protocol (MCP)?</a:t>
            </a:r>
            <a:endParaRPr dirty="0"/>
          </a:p>
        </p:txBody>
      </p:sp>
      <p:sp>
        <p:nvSpPr>
          <p:cNvPr id="115" name="Google Shape;115;p5">
            <a:extLst>
              <a:ext uri="{FF2B5EF4-FFF2-40B4-BE49-F238E27FC236}">
                <a16:creationId xmlns:a16="http://schemas.microsoft.com/office/drawing/2014/main" id="{14797906-552F-78EA-60A2-221A7BEC6696}"/>
              </a:ext>
            </a:extLst>
          </p:cNvPr>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sp>
        <p:nvSpPr>
          <p:cNvPr id="116" name="Google Shape;116;p5">
            <a:extLst>
              <a:ext uri="{FF2B5EF4-FFF2-40B4-BE49-F238E27FC236}">
                <a16:creationId xmlns:a16="http://schemas.microsoft.com/office/drawing/2014/main" id="{BFC53742-D364-B80E-524A-549CA8058135}"/>
              </a:ext>
            </a:extLst>
          </p:cNvPr>
          <p:cNvSpPr txBox="1"/>
          <p:nvPr/>
        </p:nvSpPr>
        <p:spPr>
          <a:xfrm>
            <a:off x="166991" y="915981"/>
            <a:ext cx="11637228" cy="921900"/>
          </a:xfrm>
          <a:prstGeom prst="rect">
            <a:avLst/>
          </a:prstGeom>
          <a:noFill/>
          <a:ln>
            <a:noFill/>
          </a:ln>
        </p:spPr>
        <p:txBody>
          <a:bodyPr spcFirstLastPara="1" wrap="square" lIns="91425" tIns="45700" rIns="91425" bIns="45700" anchor="t" anchorCtr="0">
            <a:normAutofit/>
          </a:bodyPr>
          <a:lstStyle/>
          <a:p>
            <a:pPr marL="228600" lvl="0" indent="-228600">
              <a:lnSpc>
                <a:spcPct val="90000"/>
              </a:lnSpc>
              <a:buClr>
                <a:srgbClr val="1BBFD1"/>
              </a:buClr>
              <a:buSzPts val="1800"/>
              <a:buFont typeface="Arial"/>
              <a:buChar char="•"/>
            </a:pPr>
            <a:r>
              <a:rPr lang="en-US" sz="1800" dirty="0">
                <a:solidFill>
                  <a:schemeClr val="dk1"/>
                </a:solidFill>
                <a:latin typeface="Montserrat"/>
                <a:ea typeface="Montserrat"/>
                <a:cs typeface="Montserrat"/>
                <a:sym typeface="Montserrat"/>
              </a:rPr>
              <a:t>MCP is an open standard and open-source framework introduced by Anthropic to standardize how AI models interact with external tools, systems, and data sources. </a:t>
            </a:r>
            <a:endParaRPr sz="1800" dirty="0">
              <a:solidFill>
                <a:schemeClr val="dk1"/>
              </a:solidFill>
              <a:latin typeface="Montserrat"/>
              <a:ea typeface="Montserrat"/>
              <a:cs typeface="Montserrat"/>
              <a:sym typeface="Montserrat"/>
            </a:endParaRPr>
          </a:p>
        </p:txBody>
      </p:sp>
      <p:sp>
        <p:nvSpPr>
          <p:cNvPr id="2" name="Rectangle: Rounded Corners 1">
            <a:extLst>
              <a:ext uri="{FF2B5EF4-FFF2-40B4-BE49-F238E27FC236}">
                <a16:creationId xmlns:a16="http://schemas.microsoft.com/office/drawing/2014/main" id="{2AE6E7A3-3C7E-140C-F3B9-9209703FA37B}"/>
              </a:ext>
            </a:extLst>
          </p:cNvPr>
          <p:cNvSpPr/>
          <p:nvPr/>
        </p:nvSpPr>
        <p:spPr>
          <a:xfrm>
            <a:off x="6362236" y="4388148"/>
            <a:ext cx="1602296" cy="92190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AI Agent </a:t>
            </a:r>
          </a:p>
        </p:txBody>
      </p:sp>
      <p:pic>
        <p:nvPicPr>
          <p:cNvPr id="2050" name="Picture 2" descr="Gmail has a new logo that's a lot more Google | The Verge">
            <a:extLst>
              <a:ext uri="{FF2B5EF4-FFF2-40B4-BE49-F238E27FC236}">
                <a16:creationId xmlns:a16="http://schemas.microsoft.com/office/drawing/2014/main" id="{F67526D3-B748-C961-77D4-E2BA3E66308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t="30060" r="5016" b="33818"/>
          <a:stretch/>
        </p:blipFill>
        <p:spPr bwMode="auto">
          <a:xfrm>
            <a:off x="10250487" y="2972287"/>
            <a:ext cx="1452177" cy="36816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lack Logo, symbol, meaning, history, PNG, brand">
            <a:extLst>
              <a:ext uri="{FF2B5EF4-FFF2-40B4-BE49-F238E27FC236}">
                <a16:creationId xmlns:a16="http://schemas.microsoft.com/office/drawing/2014/main" id="{36A54658-8B5A-339E-06A8-B50082A5D3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2812" y="4504293"/>
            <a:ext cx="1225972" cy="68960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FDCA60FC-410E-F65D-C192-9E34E7EA43AE}"/>
              </a:ext>
            </a:extLst>
          </p:cNvPr>
          <p:cNvPicPr>
            <a:picLocks noChangeAspect="1"/>
          </p:cNvPicPr>
          <p:nvPr/>
        </p:nvPicPr>
        <p:blipFill>
          <a:blip r:embed="rId7"/>
          <a:stretch>
            <a:fillRect/>
          </a:stretch>
        </p:blipFill>
        <p:spPr>
          <a:xfrm>
            <a:off x="10192712" y="5585610"/>
            <a:ext cx="1225972" cy="817315"/>
          </a:xfrm>
          <a:prstGeom prst="rect">
            <a:avLst/>
          </a:prstGeom>
        </p:spPr>
      </p:pic>
      <p:cxnSp>
        <p:nvCxnSpPr>
          <p:cNvPr id="5" name="Straight Arrow Connector 4">
            <a:extLst>
              <a:ext uri="{FF2B5EF4-FFF2-40B4-BE49-F238E27FC236}">
                <a16:creationId xmlns:a16="http://schemas.microsoft.com/office/drawing/2014/main" id="{2F6BC43B-7BC8-FE9A-31C5-857C46FBDD62}"/>
              </a:ext>
            </a:extLst>
          </p:cNvPr>
          <p:cNvCxnSpPr>
            <a:cxnSpLocks/>
          </p:cNvCxnSpPr>
          <p:nvPr/>
        </p:nvCxnSpPr>
        <p:spPr>
          <a:xfrm flipV="1">
            <a:off x="8000851" y="3407973"/>
            <a:ext cx="2273917" cy="1156396"/>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B213223-D64E-3C18-4552-EABBDE68AA99}"/>
              </a:ext>
            </a:extLst>
          </p:cNvPr>
          <p:cNvSpPr/>
          <p:nvPr/>
        </p:nvSpPr>
        <p:spPr>
          <a:xfrm rot="19992498">
            <a:off x="8663175" y="3707975"/>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pic>
        <p:nvPicPr>
          <p:cNvPr id="19" name="Picture 4">
            <a:extLst>
              <a:ext uri="{FF2B5EF4-FFF2-40B4-BE49-F238E27FC236}">
                <a16:creationId xmlns:a16="http://schemas.microsoft.com/office/drawing/2014/main" id="{0B48F839-56C1-F97C-8EFB-E120279CCAB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8708" t="4469"/>
          <a:stretch/>
        </p:blipFill>
        <p:spPr bwMode="auto">
          <a:xfrm>
            <a:off x="8709770" y="3101232"/>
            <a:ext cx="610392" cy="5116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Gmail has a new logo that's a lot more Google | The Verge">
            <a:extLst>
              <a:ext uri="{FF2B5EF4-FFF2-40B4-BE49-F238E27FC236}">
                <a16:creationId xmlns:a16="http://schemas.microsoft.com/office/drawing/2014/main" id="{5DE79189-FDD6-CFC3-3E20-C171955616B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t="30060" r="5016" b="33818"/>
          <a:stretch/>
        </p:blipFill>
        <p:spPr bwMode="auto">
          <a:xfrm>
            <a:off x="3537389" y="3093257"/>
            <a:ext cx="1509952" cy="38281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lack Logo, symbol, meaning, history, PNG, brand">
            <a:extLst>
              <a:ext uri="{FF2B5EF4-FFF2-40B4-BE49-F238E27FC236}">
                <a16:creationId xmlns:a16="http://schemas.microsoft.com/office/drawing/2014/main" id="{4F94A50F-BB1E-4564-4789-91062A4223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7861" y="4379140"/>
            <a:ext cx="1274062" cy="71666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49027ACF-57D2-3677-9E09-E80B6A60A131}"/>
              </a:ext>
            </a:extLst>
          </p:cNvPr>
          <p:cNvPicPr>
            <a:picLocks noChangeAspect="1"/>
          </p:cNvPicPr>
          <p:nvPr/>
        </p:nvPicPr>
        <p:blipFill>
          <a:blip r:embed="rId7"/>
          <a:stretch>
            <a:fillRect/>
          </a:stretch>
        </p:blipFill>
        <p:spPr>
          <a:xfrm>
            <a:off x="3759201" y="5665366"/>
            <a:ext cx="1157258" cy="771506"/>
          </a:xfrm>
          <a:prstGeom prst="rect">
            <a:avLst/>
          </a:prstGeom>
        </p:spPr>
      </p:pic>
      <p:cxnSp>
        <p:nvCxnSpPr>
          <p:cNvPr id="11" name="Straight Arrow Connector 10">
            <a:extLst>
              <a:ext uri="{FF2B5EF4-FFF2-40B4-BE49-F238E27FC236}">
                <a16:creationId xmlns:a16="http://schemas.microsoft.com/office/drawing/2014/main" id="{170C03C9-3C31-A7A3-9A6F-A0535BB36ACF}"/>
              </a:ext>
            </a:extLst>
          </p:cNvPr>
          <p:cNvCxnSpPr>
            <a:cxnSpLocks/>
          </p:cNvCxnSpPr>
          <p:nvPr/>
        </p:nvCxnSpPr>
        <p:spPr>
          <a:xfrm flipV="1">
            <a:off x="2464155" y="3525357"/>
            <a:ext cx="1233113" cy="888214"/>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5DB8F840-DA8A-629A-8884-BED26C129437}"/>
              </a:ext>
            </a:extLst>
          </p:cNvPr>
          <p:cNvSpPr/>
          <p:nvPr/>
        </p:nvSpPr>
        <p:spPr>
          <a:xfrm>
            <a:off x="838702" y="4467862"/>
            <a:ext cx="1636421" cy="92190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AI Agent </a:t>
            </a:r>
          </a:p>
        </p:txBody>
      </p:sp>
      <p:cxnSp>
        <p:nvCxnSpPr>
          <p:cNvPr id="26" name="Straight Arrow Connector 25">
            <a:extLst>
              <a:ext uri="{FF2B5EF4-FFF2-40B4-BE49-F238E27FC236}">
                <a16:creationId xmlns:a16="http://schemas.microsoft.com/office/drawing/2014/main" id="{5594CF8C-979C-6C7D-7FE7-C15CC7BB31A6}"/>
              </a:ext>
            </a:extLst>
          </p:cNvPr>
          <p:cNvCxnSpPr>
            <a:cxnSpLocks/>
          </p:cNvCxnSpPr>
          <p:nvPr/>
        </p:nvCxnSpPr>
        <p:spPr>
          <a:xfrm>
            <a:off x="2475124" y="4770459"/>
            <a:ext cx="1062265" cy="0"/>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861083A-539C-0051-F4F3-83B7C7538B78}"/>
              </a:ext>
            </a:extLst>
          </p:cNvPr>
          <p:cNvCxnSpPr>
            <a:cxnSpLocks/>
          </p:cNvCxnSpPr>
          <p:nvPr/>
        </p:nvCxnSpPr>
        <p:spPr>
          <a:xfrm>
            <a:off x="2475124" y="5297148"/>
            <a:ext cx="1404851" cy="683433"/>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26" name="Picture 2" descr="Here's OpenAI's new logo | The Verge">
            <a:extLst>
              <a:ext uri="{FF2B5EF4-FFF2-40B4-BE49-F238E27FC236}">
                <a16:creationId xmlns:a16="http://schemas.microsoft.com/office/drawing/2014/main" id="{C4AA1415-AAD4-97F0-7DC1-FCF30D67972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5744" y="3686755"/>
            <a:ext cx="895231" cy="5994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lama 2 Model Details">
            <a:extLst>
              <a:ext uri="{FF2B5EF4-FFF2-40B4-BE49-F238E27FC236}">
                <a16:creationId xmlns:a16="http://schemas.microsoft.com/office/drawing/2014/main" id="{9C246D39-71E2-2EDA-76E4-8EBC959EFB61}"/>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5017" t="22122" r="12924" b="26288"/>
          <a:stretch>
            <a:fillRect/>
          </a:stretch>
        </p:blipFill>
        <p:spPr bwMode="auto">
          <a:xfrm>
            <a:off x="1465181" y="3710970"/>
            <a:ext cx="488749" cy="49319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0442BFE-B917-6714-3846-6488B8AD768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76221"/>
          <a:stretch>
            <a:fillRect/>
          </a:stretch>
        </p:blipFill>
        <p:spPr bwMode="auto">
          <a:xfrm>
            <a:off x="2089029" y="3713994"/>
            <a:ext cx="588367" cy="53429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Here's OpenAI's new logo | The Verge">
            <a:extLst>
              <a:ext uri="{FF2B5EF4-FFF2-40B4-BE49-F238E27FC236}">
                <a16:creationId xmlns:a16="http://schemas.microsoft.com/office/drawing/2014/main" id="{41A7CFC9-B886-FDF7-3E76-2EB6365066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61975" y="3702456"/>
            <a:ext cx="895231" cy="59941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Llama 2 Model Details">
            <a:extLst>
              <a:ext uri="{FF2B5EF4-FFF2-40B4-BE49-F238E27FC236}">
                <a16:creationId xmlns:a16="http://schemas.microsoft.com/office/drawing/2014/main" id="{B69531C4-3E54-B56D-D488-593550DBA9DC}"/>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5017" t="22122" r="12924" b="26288"/>
          <a:stretch>
            <a:fillRect/>
          </a:stretch>
        </p:blipFill>
        <p:spPr bwMode="auto">
          <a:xfrm>
            <a:off x="6811412" y="3726671"/>
            <a:ext cx="488749" cy="49319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a:extLst>
              <a:ext uri="{FF2B5EF4-FFF2-40B4-BE49-F238E27FC236}">
                <a16:creationId xmlns:a16="http://schemas.microsoft.com/office/drawing/2014/main" id="{EA1CC70D-3CC4-572B-3DF9-1BDFFF32D276}"/>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76221"/>
          <a:stretch>
            <a:fillRect/>
          </a:stretch>
        </p:blipFill>
        <p:spPr bwMode="auto">
          <a:xfrm>
            <a:off x="7435260" y="3729695"/>
            <a:ext cx="588367" cy="534299"/>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Rounded Corners 40">
            <a:extLst>
              <a:ext uri="{FF2B5EF4-FFF2-40B4-BE49-F238E27FC236}">
                <a16:creationId xmlns:a16="http://schemas.microsoft.com/office/drawing/2014/main" id="{F576F50E-B3B3-2CE3-1367-BE0483091A4A}"/>
              </a:ext>
            </a:extLst>
          </p:cNvPr>
          <p:cNvSpPr/>
          <p:nvPr/>
        </p:nvSpPr>
        <p:spPr>
          <a:xfrm>
            <a:off x="2843655" y="3525357"/>
            <a:ext cx="327415" cy="2530015"/>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TextBox 41">
            <a:extLst>
              <a:ext uri="{FF2B5EF4-FFF2-40B4-BE49-F238E27FC236}">
                <a16:creationId xmlns:a16="http://schemas.microsoft.com/office/drawing/2014/main" id="{BA5B436E-3EAC-CE20-31F3-C8622DC2016A}"/>
              </a:ext>
            </a:extLst>
          </p:cNvPr>
          <p:cNvSpPr txBox="1"/>
          <p:nvPr/>
        </p:nvSpPr>
        <p:spPr>
          <a:xfrm>
            <a:off x="2358440" y="6104483"/>
            <a:ext cx="1443024" cy="307777"/>
          </a:xfrm>
          <a:prstGeom prst="rect">
            <a:avLst/>
          </a:prstGeom>
          <a:noFill/>
        </p:spPr>
        <p:txBody>
          <a:bodyPr wrap="none" rtlCol="0">
            <a:spAutoFit/>
          </a:bodyPr>
          <a:lstStyle/>
          <a:p>
            <a:r>
              <a:rPr lang="en-CA" b="1" dirty="0">
                <a:solidFill>
                  <a:schemeClr val="accent2">
                    <a:lumMod val="75000"/>
                  </a:schemeClr>
                </a:solidFill>
                <a:latin typeface="Montserrat" panose="00000500000000000000" pitchFamily="2" charset="0"/>
              </a:rPr>
              <a:t>Custom APIs</a:t>
            </a:r>
          </a:p>
        </p:txBody>
      </p:sp>
      <p:cxnSp>
        <p:nvCxnSpPr>
          <p:cNvPr id="43" name="Straight Arrow Connector 42">
            <a:extLst>
              <a:ext uri="{FF2B5EF4-FFF2-40B4-BE49-F238E27FC236}">
                <a16:creationId xmlns:a16="http://schemas.microsoft.com/office/drawing/2014/main" id="{BC23DBA8-EB6A-D907-D84B-C25306D8EC73}"/>
              </a:ext>
            </a:extLst>
          </p:cNvPr>
          <p:cNvCxnSpPr>
            <a:cxnSpLocks/>
          </p:cNvCxnSpPr>
          <p:nvPr/>
        </p:nvCxnSpPr>
        <p:spPr>
          <a:xfrm flipV="1">
            <a:off x="8000851" y="4793028"/>
            <a:ext cx="2285883" cy="18197"/>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73BA3DA8-287F-5FEC-D3F8-EFD2B2BA82E1}"/>
              </a:ext>
            </a:extLst>
          </p:cNvPr>
          <p:cNvSpPr/>
          <p:nvPr/>
        </p:nvSpPr>
        <p:spPr>
          <a:xfrm>
            <a:off x="8691390" y="4606720"/>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cxnSp>
        <p:nvCxnSpPr>
          <p:cNvPr id="47" name="Straight Arrow Connector 46">
            <a:extLst>
              <a:ext uri="{FF2B5EF4-FFF2-40B4-BE49-F238E27FC236}">
                <a16:creationId xmlns:a16="http://schemas.microsoft.com/office/drawing/2014/main" id="{C9330793-E153-9DC9-CA0F-F22E803FA8D6}"/>
              </a:ext>
            </a:extLst>
          </p:cNvPr>
          <p:cNvCxnSpPr>
            <a:cxnSpLocks/>
            <a:endCxn id="33" idx="1"/>
          </p:cNvCxnSpPr>
          <p:nvPr/>
        </p:nvCxnSpPr>
        <p:spPr>
          <a:xfrm>
            <a:off x="8000851" y="5090373"/>
            <a:ext cx="2191861" cy="903895"/>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F3DDCB56-5AEF-3BD3-4898-D12AEEA8016D}"/>
              </a:ext>
            </a:extLst>
          </p:cNvPr>
          <p:cNvSpPr/>
          <p:nvPr/>
        </p:nvSpPr>
        <p:spPr>
          <a:xfrm rot="1449052">
            <a:off x="8622823" y="5468270"/>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sp>
        <p:nvSpPr>
          <p:cNvPr id="52" name="Rectangle: Rounded Corners 51">
            <a:extLst>
              <a:ext uri="{FF2B5EF4-FFF2-40B4-BE49-F238E27FC236}">
                <a16:creationId xmlns:a16="http://schemas.microsoft.com/office/drawing/2014/main" id="{37247F75-2180-D734-2B7E-E392669A336F}"/>
              </a:ext>
            </a:extLst>
          </p:cNvPr>
          <p:cNvSpPr/>
          <p:nvPr/>
        </p:nvSpPr>
        <p:spPr>
          <a:xfrm>
            <a:off x="8228876" y="3668730"/>
            <a:ext cx="327415" cy="2530015"/>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TextBox 52">
            <a:extLst>
              <a:ext uri="{FF2B5EF4-FFF2-40B4-BE49-F238E27FC236}">
                <a16:creationId xmlns:a16="http://schemas.microsoft.com/office/drawing/2014/main" id="{45238F95-1A6C-6F20-C87A-F0A41A149F5E}"/>
              </a:ext>
            </a:extLst>
          </p:cNvPr>
          <p:cNvSpPr txBox="1"/>
          <p:nvPr/>
        </p:nvSpPr>
        <p:spPr>
          <a:xfrm>
            <a:off x="7616287" y="6198745"/>
            <a:ext cx="1914307" cy="307777"/>
          </a:xfrm>
          <a:prstGeom prst="rect">
            <a:avLst/>
          </a:prstGeom>
          <a:noFill/>
        </p:spPr>
        <p:txBody>
          <a:bodyPr wrap="none" rtlCol="0">
            <a:spAutoFit/>
          </a:bodyPr>
          <a:lstStyle/>
          <a:p>
            <a:r>
              <a:rPr lang="en-CA" b="1" dirty="0">
                <a:solidFill>
                  <a:schemeClr val="accent2">
                    <a:lumMod val="75000"/>
                  </a:schemeClr>
                </a:solidFill>
                <a:latin typeface="Montserrat" panose="00000500000000000000" pitchFamily="2" charset="0"/>
              </a:rPr>
              <a:t>Standardized APIs</a:t>
            </a:r>
          </a:p>
        </p:txBody>
      </p:sp>
      <p:sp>
        <p:nvSpPr>
          <p:cNvPr id="58" name="TextBox 57">
            <a:extLst>
              <a:ext uri="{FF2B5EF4-FFF2-40B4-BE49-F238E27FC236}">
                <a16:creationId xmlns:a16="http://schemas.microsoft.com/office/drawing/2014/main" id="{D26A9905-B2A4-1EBF-6EA3-FC70AFE9CE5C}"/>
              </a:ext>
            </a:extLst>
          </p:cNvPr>
          <p:cNvSpPr txBox="1"/>
          <p:nvPr/>
        </p:nvSpPr>
        <p:spPr>
          <a:xfrm>
            <a:off x="1105123" y="2721642"/>
            <a:ext cx="3082895" cy="369332"/>
          </a:xfrm>
          <a:prstGeom prst="rect">
            <a:avLst/>
          </a:prstGeom>
          <a:noFill/>
        </p:spPr>
        <p:txBody>
          <a:bodyPr wrap="none" rtlCol="0">
            <a:spAutoFit/>
          </a:bodyPr>
          <a:lstStyle/>
          <a:p>
            <a:r>
              <a:rPr lang="en-CA" sz="1800" b="1" u="sng" dirty="0">
                <a:latin typeface="Montserrat" panose="00000500000000000000" pitchFamily="2" charset="0"/>
              </a:rPr>
              <a:t>Problem (Without MCP)</a:t>
            </a:r>
          </a:p>
        </p:txBody>
      </p:sp>
      <p:sp>
        <p:nvSpPr>
          <p:cNvPr id="59" name="TextBox 58">
            <a:extLst>
              <a:ext uri="{FF2B5EF4-FFF2-40B4-BE49-F238E27FC236}">
                <a16:creationId xmlns:a16="http://schemas.microsoft.com/office/drawing/2014/main" id="{0D65C32B-297E-94E3-6973-1D7DBC269C69}"/>
              </a:ext>
            </a:extLst>
          </p:cNvPr>
          <p:cNvSpPr txBox="1"/>
          <p:nvPr/>
        </p:nvSpPr>
        <p:spPr>
          <a:xfrm>
            <a:off x="7208364" y="2663701"/>
            <a:ext cx="2645276" cy="369332"/>
          </a:xfrm>
          <a:prstGeom prst="rect">
            <a:avLst/>
          </a:prstGeom>
          <a:noFill/>
        </p:spPr>
        <p:txBody>
          <a:bodyPr wrap="none" rtlCol="0">
            <a:spAutoFit/>
          </a:bodyPr>
          <a:lstStyle/>
          <a:p>
            <a:r>
              <a:rPr lang="en-CA" sz="1800" b="1" u="sng" dirty="0">
                <a:latin typeface="Montserrat" panose="00000500000000000000" pitchFamily="2" charset="0"/>
              </a:rPr>
              <a:t>Solution (With MCP)</a:t>
            </a:r>
          </a:p>
        </p:txBody>
      </p:sp>
      <p:pic>
        <p:nvPicPr>
          <p:cNvPr id="1035" name="Picture 11">
            <a:extLst>
              <a:ext uri="{FF2B5EF4-FFF2-40B4-BE49-F238E27FC236}">
                <a16:creationId xmlns:a16="http://schemas.microsoft.com/office/drawing/2014/main" id="{D40D4B7B-D208-E8FD-BE4B-B48AB4CF31D2}"/>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1963" r="-1170" b="25352"/>
          <a:stretch>
            <a:fillRect/>
          </a:stretch>
        </p:blipFill>
        <p:spPr bwMode="auto">
          <a:xfrm>
            <a:off x="5459511" y="1609603"/>
            <a:ext cx="1710313" cy="890661"/>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Model Context Protocol · GitHub">
            <a:extLst>
              <a:ext uri="{FF2B5EF4-FFF2-40B4-BE49-F238E27FC236}">
                <a16:creationId xmlns:a16="http://schemas.microsoft.com/office/drawing/2014/main" id="{660406CC-E6F7-0A46-5986-C26F4DE284A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18230" y="1474033"/>
            <a:ext cx="1167689" cy="1167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18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fade">
                                      <p:cBhvr>
                                        <p:cTn id="7" dur="500"/>
                                        <p:tgtEl>
                                          <p:spTgt spid="1035"/>
                                        </p:tgtEl>
                                      </p:cBhvr>
                                    </p:animEffect>
                                  </p:childTnLst>
                                </p:cTn>
                              </p:par>
                              <p:par>
                                <p:cTn id="8" presetID="10" presetClass="entr" presetSubtype="0" fill="hold" nodeType="withEffect">
                                  <p:stCondLst>
                                    <p:cond delay="0"/>
                                  </p:stCondLst>
                                  <p:childTnLst>
                                    <p:set>
                                      <p:cBhvr>
                                        <p:cTn id="9" dur="1" fill="hold">
                                          <p:stCondLst>
                                            <p:cond delay="0"/>
                                          </p:stCondLst>
                                        </p:cTn>
                                        <p:tgtEl>
                                          <p:spTgt spid="1037"/>
                                        </p:tgtEl>
                                        <p:attrNameLst>
                                          <p:attrName>style.visibility</p:attrName>
                                        </p:attrNameLst>
                                      </p:cBhvr>
                                      <p:to>
                                        <p:strVal val="visible"/>
                                      </p:to>
                                    </p:set>
                                    <p:animEffect transition="in" filter="fade">
                                      <p:cBhvr>
                                        <p:cTn id="10" dur="500"/>
                                        <p:tgtEl>
                                          <p:spTgt spid="103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8"/>
                                        </p:tgtEl>
                                        <p:attrNameLst>
                                          <p:attrName>style.visibility</p:attrName>
                                        </p:attrNameLst>
                                      </p:cBhvr>
                                      <p:to>
                                        <p:strVal val="visible"/>
                                      </p:to>
                                    </p:set>
                                    <p:animEffect transition="in" filter="fade">
                                      <p:cBhvr>
                                        <p:cTn id="14" dur="500"/>
                                        <p:tgtEl>
                                          <p:spTgt spid="5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500"/>
                                        <p:tgtEl>
                                          <p:spTgt spid="59"/>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nodeType="withEffect">
                                  <p:stCondLst>
                                    <p:cond delay="0"/>
                                  </p:stCondLst>
                                  <p:childTnLst>
                                    <p:set>
                                      <p:cBhvr>
                                        <p:cTn id="23" dur="1" fill="hold">
                                          <p:stCondLst>
                                            <p:cond delay="0"/>
                                          </p:stCondLst>
                                        </p:cTn>
                                        <p:tgtEl>
                                          <p:spTgt spid="1026"/>
                                        </p:tgtEl>
                                        <p:attrNameLst>
                                          <p:attrName>style.visibility</p:attrName>
                                        </p:attrNameLst>
                                      </p:cBhvr>
                                      <p:to>
                                        <p:strVal val="visible"/>
                                      </p:to>
                                    </p:set>
                                    <p:animEffect transition="in" filter="fade">
                                      <p:cBhvr>
                                        <p:cTn id="24" dur="500"/>
                                        <p:tgtEl>
                                          <p:spTgt spid="1026"/>
                                        </p:tgtEl>
                                      </p:cBhvr>
                                    </p:animEffect>
                                  </p:childTnLst>
                                </p:cTn>
                              </p:par>
                              <p:par>
                                <p:cTn id="25" presetID="10" presetClass="entr" presetSubtype="0" fill="hold" nodeType="withEffect">
                                  <p:stCondLst>
                                    <p:cond delay="0"/>
                                  </p:stCondLst>
                                  <p:childTnLst>
                                    <p:set>
                                      <p:cBhvr>
                                        <p:cTn id="26" dur="1" fill="hold">
                                          <p:stCondLst>
                                            <p:cond delay="0"/>
                                          </p:stCondLst>
                                        </p:cTn>
                                        <p:tgtEl>
                                          <p:spTgt spid="1028"/>
                                        </p:tgtEl>
                                        <p:attrNameLst>
                                          <p:attrName>style.visibility</p:attrName>
                                        </p:attrNameLst>
                                      </p:cBhvr>
                                      <p:to>
                                        <p:strVal val="visible"/>
                                      </p:to>
                                    </p:set>
                                    <p:animEffect transition="in" filter="fade">
                                      <p:cBhvr>
                                        <p:cTn id="27" dur="500"/>
                                        <p:tgtEl>
                                          <p:spTgt spid="1028"/>
                                        </p:tgtEl>
                                      </p:cBhvr>
                                    </p:animEffect>
                                  </p:childTnLst>
                                </p:cTn>
                              </p:par>
                              <p:par>
                                <p:cTn id="28" presetID="10" presetClass="entr" presetSubtype="0" fill="hold" nodeType="withEffect">
                                  <p:stCondLst>
                                    <p:cond delay="0"/>
                                  </p:stCondLst>
                                  <p:childTnLst>
                                    <p:set>
                                      <p:cBhvr>
                                        <p:cTn id="29" dur="1" fill="hold">
                                          <p:stCondLst>
                                            <p:cond delay="0"/>
                                          </p:stCondLst>
                                        </p:cTn>
                                        <p:tgtEl>
                                          <p:spTgt spid="1030"/>
                                        </p:tgtEl>
                                        <p:attrNameLst>
                                          <p:attrName>style.visibility</p:attrName>
                                        </p:attrNameLst>
                                      </p:cBhvr>
                                      <p:to>
                                        <p:strVal val="visible"/>
                                      </p:to>
                                    </p:set>
                                    <p:animEffect transition="in" filter="fade">
                                      <p:cBhvr>
                                        <p:cTn id="30" dur="500"/>
                                        <p:tgtEl>
                                          <p:spTgt spid="103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par>
                                <p:cTn id="39" presetID="10"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par>
                                <p:cTn id="47" presetID="10"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0" presetID="10" presetClass="entr" presetSubtype="0" fill="hold"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animEffect transition="in" filter="fade">
                                      <p:cBhvr>
                                        <p:cTn id="63" dur="500"/>
                                        <p:tgtEl>
                                          <p:spTgt spid="2"/>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childTnLst>
                                </p:cTn>
                              </p:par>
                              <p:par>
                                <p:cTn id="67" presetID="10"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500"/>
                                        <p:tgtEl>
                                          <p:spTgt spid="39"/>
                                        </p:tgtEl>
                                      </p:cBhvr>
                                    </p:animEffect>
                                  </p:childTnLst>
                                </p:cTn>
                              </p:par>
                              <p:par>
                                <p:cTn id="70" presetID="10" presetClass="entr" presetSubtype="0" fill="hold"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500"/>
                                        <p:tgtEl>
                                          <p:spTgt spid="4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050"/>
                                        </p:tgtEl>
                                        <p:attrNameLst>
                                          <p:attrName>style.visibility</p:attrName>
                                        </p:attrNameLst>
                                      </p:cBhvr>
                                      <p:to>
                                        <p:strVal val="visible"/>
                                      </p:to>
                                    </p:set>
                                    <p:animEffect transition="in" filter="fade">
                                      <p:cBhvr>
                                        <p:cTn id="77" dur="500"/>
                                        <p:tgtEl>
                                          <p:spTgt spid="2050"/>
                                        </p:tgtEl>
                                      </p:cBhvr>
                                    </p:animEffect>
                                  </p:childTnLst>
                                </p:cTn>
                              </p:par>
                              <p:par>
                                <p:cTn id="78" presetID="10" presetClass="entr" presetSubtype="0" fill="hold" nodeType="withEffect">
                                  <p:stCondLst>
                                    <p:cond delay="0"/>
                                  </p:stCondLst>
                                  <p:childTnLst>
                                    <p:set>
                                      <p:cBhvr>
                                        <p:cTn id="79" dur="1" fill="hold">
                                          <p:stCondLst>
                                            <p:cond delay="0"/>
                                          </p:stCondLst>
                                        </p:cTn>
                                        <p:tgtEl>
                                          <p:spTgt spid="2052"/>
                                        </p:tgtEl>
                                        <p:attrNameLst>
                                          <p:attrName>style.visibility</p:attrName>
                                        </p:attrNameLst>
                                      </p:cBhvr>
                                      <p:to>
                                        <p:strVal val="visible"/>
                                      </p:to>
                                    </p:set>
                                    <p:animEffect transition="in" filter="fade">
                                      <p:cBhvr>
                                        <p:cTn id="80" dur="500"/>
                                        <p:tgtEl>
                                          <p:spTgt spid="2052"/>
                                        </p:tgtEl>
                                      </p:cBhvr>
                                    </p:animEffect>
                                  </p:childTnLst>
                                </p:cTn>
                              </p:par>
                              <p:par>
                                <p:cTn id="81" presetID="10" presetClass="entr" presetSubtype="0" fill="hold" nodeType="with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500"/>
                                        <p:tgtEl>
                                          <p:spTgt spid="33"/>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5"/>
                                        </p:tgtEl>
                                        <p:attrNameLst>
                                          <p:attrName>style.visibility</p:attrName>
                                        </p:attrNameLst>
                                      </p:cBhvr>
                                      <p:to>
                                        <p:strVal val="visible"/>
                                      </p:to>
                                    </p:set>
                                    <p:animEffect transition="in" filter="fade">
                                      <p:cBhvr>
                                        <p:cTn id="88" dur="500"/>
                                        <p:tgtEl>
                                          <p:spTgt spid="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500"/>
                                        <p:tgtEl>
                                          <p:spTgt spid="18"/>
                                        </p:tgtEl>
                                      </p:cBhvr>
                                    </p:animEffect>
                                  </p:childTnLst>
                                </p:cTn>
                              </p:par>
                              <p:par>
                                <p:cTn id="92" presetID="10" presetClass="entr" presetSubtype="0" fill="hold" nodeType="with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500"/>
                                        <p:tgtEl>
                                          <p:spTgt spid="19"/>
                                        </p:tgtEl>
                                      </p:cBhvr>
                                    </p:animEffect>
                                  </p:childTnLst>
                                </p:cTn>
                              </p:par>
                              <p:par>
                                <p:cTn id="95" presetID="10" presetClass="entr" presetSubtype="0" fill="hold"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500"/>
                                        <p:tgtEl>
                                          <p:spTgt spid="4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500"/>
                                        <p:tgtEl>
                                          <p:spTgt spid="44"/>
                                        </p:tgtEl>
                                      </p:cBhvr>
                                    </p:animEffect>
                                  </p:childTnLst>
                                </p:cTn>
                              </p:par>
                              <p:par>
                                <p:cTn id="101" presetID="10" presetClass="entr" presetSubtype="0" fill="hold" nodeType="withEffect">
                                  <p:stCondLst>
                                    <p:cond delay="0"/>
                                  </p:stCondLst>
                                  <p:childTnLst>
                                    <p:set>
                                      <p:cBhvr>
                                        <p:cTn id="102" dur="1" fill="hold">
                                          <p:stCondLst>
                                            <p:cond delay="0"/>
                                          </p:stCondLst>
                                        </p:cTn>
                                        <p:tgtEl>
                                          <p:spTgt spid="47"/>
                                        </p:tgtEl>
                                        <p:attrNameLst>
                                          <p:attrName>style.visibility</p:attrName>
                                        </p:attrNameLst>
                                      </p:cBhvr>
                                      <p:to>
                                        <p:strVal val="visible"/>
                                      </p:to>
                                    </p:set>
                                    <p:animEffect transition="in" filter="fade">
                                      <p:cBhvr>
                                        <p:cTn id="103" dur="500"/>
                                        <p:tgtEl>
                                          <p:spTgt spid="4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fade">
                                      <p:cBhvr>
                                        <p:cTn id="106" dur="500"/>
                                        <p:tgtEl>
                                          <p:spTgt spid="4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fade">
                                      <p:cBhvr>
                                        <p:cTn id="109" dur="500"/>
                                        <p:tgtEl>
                                          <p:spTgt spid="5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53"/>
                                        </p:tgtEl>
                                        <p:attrNameLst>
                                          <p:attrName>style.visibility</p:attrName>
                                        </p:attrNameLst>
                                      </p:cBhvr>
                                      <p:to>
                                        <p:strVal val="visible"/>
                                      </p:to>
                                    </p:set>
                                    <p:animEffect transition="in" filter="fade">
                                      <p:cBhvr>
                                        <p:cTn id="11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8" grpId="0" animBg="1"/>
      <p:bldP spid="21" grpId="0" animBg="1"/>
      <p:bldP spid="41" grpId="0" animBg="1"/>
      <p:bldP spid="42" grpId="0"/>
      <p:bldP spid="44" grpId="0" animBg="1"/>
      <p:bldP spid="48" grpId="0" animBg="1"/>
      <p:bldP spid="52" grpId="0" animBg="1"/>
      <p:bldP spid="53" grpId="0"/>
      <p:bldP spid="58" grpId="0"/>
      <p:bldP spid="5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5"/>
          <p:cNvPicPr preferRelativeResize="0"/>
          <p:nvPr/>
        </p:nvPicPr>
        <p:blipFill rotWithShape="1">
          <a:blip r:embed="rId3">
            <a:alphaModFix/>
          </a:blip>
          <a:srcRect/>
          <a:stretch/>
        </p:blipFill>
        <p:spPr>
          <a:xfrm>
            <a:off x="-16387" y="0"/>
            <a:ext cx="12224773" cy="6858000"/>
          </a:xfrm>
          <a:prstGeom prst="rect">
            <a:avLst/>
          </a:prstGeom>
          <a:noFill/>
          <a:ln>
            <a:noFill/>
          </a:ln>
        </p:spPr>
      </p:pic>
      <p:pic>
        <p:nvPicPr>
          <p:cNvPr id="113" name="Google Shape;113;p5"/>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114" name="Google Shape;114;p5"/>
          <p:cNvSpPr/>
          <p:nvPr/>
        </p:nvSpPr>
        <p:spPr>
          <a:xfrm>
            <a:off x="154722" y="90489"/>
            <a:ext cx="98274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ea typeface="Montserrat"/>
                <a:cs typeface="Montserrat"/>
                <a:sym typeface="Montserrat"/>
              </a:rPr>
              <a:t>MCP by Anthropic Documentation</a:t>
            </a:r>
            <a:endParaRPr dirty="0"/>
          </a:p>
        </p:txBody>
      </p:sp>
      <p:sp>
        <p:nvSpPr>
          <p:cNvPr id="115" name="Google Shape;115;p5"/>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pic>
        <p:nvPicPr>
          <p:cNvPr id="5" name="Picture 4">
            <a:extLst>
              <a:ext uri="{FF2B5EF4-FFF2-40B4-BE49-F238E27FC236}">
                <a16:creationId xmlns:a16="http://schemas.microsoft.com/office/drawing/2014/main" id="{F7FA0F64-4433-F242-8916-6513E383748D}"/>
              </a:ext>
            </a:extLst>
          </p:cNvPr>
          <p:cNvPicPr>
            <a:picLocks noChangeAspect="1"/>
          </p:cNvPicPr>
          <p:nvPr/>
        </p:nvPicPr>
        <p:blipFill>
          <a:blip r:embed="rId5"/>
          <a:stretch>
            <a:fillRect/>
          </a:stretch>
        </p:blipFill>
        <p:spPr>
          <a:xfrm>
            <a:off x="1408252" y="1377691"/>
            <a:ext cx="8924047" cy="4888575"/>
          </a:xfrm>
          <a:prstGeom prst="rect">
            <a:avLst/>
          </a:prstGeom>
        </p:spPr>
      </p:pic>
      <p:sp>
        <p:nvSpPr>
          <p:cNvPr id="9" name="TextBox 8">
            <a:extLst>
              <a:ext uri="{FF2B5EF4-FFF2-40B4-BE49-F238E27FC236}">
                <a16:creationId xmlns:a16="http://schemas.microsoft.com/office/drawing/2014/main" id="{582B0EED-FC08-96D2-94C8-32B1387987D0}"/>
              </a:ext>
            </a:extLst>
          </p:cNvPr>
          <p:cNvSpPr txBox="1"/>
          <p:nvPr/>
        </p:nvSpPr>
        <p:spPr>
          <a:xfrm>
            <a:off x="3237346" y="907669"/>
            <a:ext cx="6123708" cy="523220"/>
          </a:xfrm>
          <a:prstGeom prst="rect">
            <a:avLst/>
          </a:prstGeom>
          <a:noFill/>
        </p:spPr>
        <p:txBody>
          <a:bodyPr wrap="square">
            <a:spAutoFit/>
          </a:bodyPr>
          <a:lstStyle/>
          <a:p>
            <a:r>
              <a:rPr lang="en-CA" dirty="0">
                <a:hlinkClick r:id="rId6"/>
              </a:rPr>
              <a:t>https://www.anthropic.com/news/model-context-protocol</a:t>
            </a:r>
            <a:endParaRPr lang="en-CA" dirty="0"/>
          </a:p>
          <a:p>
            <a:endParaRPr lang="en-CA"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2" name="Google Shape;112;p5">
            <a:extLst>
              <a:ext uri="{FF2B5EF4-FFF2-40B4-BE49-F238E27FC236}">
                <a16:creationId xmlns:a16="http://schemas.microsoft.com/office/drawing/2014/main" id="{7FB99E83-5B1A-2A31-3096-0AEE80EC89D3}"/>
              </a:ext>
            </a:extLst>
          </p:cNvPr>
          <p:cNvPicPr preferRelativeResize="0"/>
          <p:nvPr/>
        </p:nvPicPr>
        <p:blipFill rotWithShape="1">
          <a:blip r:embed="rId3">
            <a:alphaModFix/>
          </a:blip>
          <a:srcRect b="85225"/>
          <a:stretch/>
        </p:blipFill>
        <p:spPr>
          <a:xfrm>
            <a:off x="-3571" y="0"/>
            <a:ext cx="12224773" cy="1013288"/>
          </a:xfrm>
          <a:prstGeom prst="rect">
            <a:avLst/>
          </a:prstGeom>
          <a:noFill/>
          <a:ln>
            <a:noFill/>
          </a:ln>
        </p:spPr>
      </p:pic>
      <p:pic>
        <p:nvPicPr>
          <p:cNvPr id="95" name="Google Shape;95;p2"/>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96" name="Google Shape;96;p2"/>
          <p:cNvSpPr/>
          <p:nvPr/>
        </p:nvSpPr>
        <p:spPr>
          <a:xfrm>
            <a:off x="154722" y="90489"/>
            <a:ext cx="9827492"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sym typeface="Montserrat"/>
              </a:rPr>
              <a:t>Real-world MCP Application</a:t>
            </a:r>
            <a:endParaRPr dirty="0"/>
          </a:p>
        </p:txBody>
      </p:sp>
      <p:sp>
        <p:nvSpPr>
          <p:cNvPr id="97" name="Google Shape;97;p2"/>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sp>
        <p:nvSpPr>
          <p:cNvPr id="98" name="Google Shape;98;p2"/>
          <p:cNvSpPr txBox="1"/>
          <p:nvPr/>
        </p:nvSpPr>
        <p:spPr>
          <a:xfrm>
            <a:off x="206400" y="809050"/>
            <a:ext cx="11985600" cy="1469950"/>
          </a:xfrm>
          <a:prstGeom prst="rect">
            <a:avLst/>
          </a:prstGeom>
          <a:noFill/>
          <a:ln>
            <a:noFill/>
          </a:ln>
        </p:spPr>
        <p:txBody>
          <a:bodyPr spcFirstLastPara="1" wrap="square" lIns="91425" tIns="45700" rIns="91425" bIns="45700" anchor="t" anchorCtr="0">
            <a:normAutofit/>
          </a:bodyPr>
          <a:lstStyle/>
          <a:p>
            <a:pPr marL="228600" lvl="0" indent="-228600">
              <a:lnSpc>
                <a:spcPct val="90000"/>
              </a:lnSpc>
              <a:buClr>
                <a:srgbClr val="1BBFD1"/>
              </a:buClr>
              <a:buSzPts val="1800"/>
              <a:buFont typeface="Arial"/>
              <a:buChar char="•"/>
            </a:pPr>
            <a:r>
              <a:rPr lang="en-US" sz="1800" dirty="0">
                <a:solidFill>
                  <a:schemeClr val="dk1"/>
                </a:solidFill>
                <a:latin typeface="Montserrat"/>
                <a:ea typeface="Montserrat"/>
                <a:cs typeface="Montserrat"/>
                <a:sym typeface="Montserrat"/>
              </a:rPr>
              <a:t>Assume we have a simple AI agent that utilizes</a:t>
            </a:r>
            <a:r>
              <a:rPr lang="en-CA" sz="1800" dirty="0">
                <a:solidFill>
                  <a:schemeClr val="dk1"/>
                </a:solidFill>
                <a:latin typeface="Montserrat"/>
                <a:ea typeface="Montserrat"/>
                <a:cs typeface="Montserrat"/>
                <a:sym typeface="Montserrat"/>
              </a:rPr>
              <a:t> a currency conversion tool.</a:t>
            </a:r>
          </a:p>
          <a:p>
            <a:pPr marL="228600" marR="0" lvl="0" indent="-228600" algn="l" rtl="0">
              <a:lnSpc>
                <a:spcPct val="90000"/>
              </a:lnSpc>
              <a:spcBef>
                <a:spcPts val="0"/>
              </a:spcBef>
              <a:spcAft>
                <a:spcPts val="0"/>
              </a:spcAft>
              <a:buClr>
                <a:srgbClr val="1BBFD1"/>
              </a:buClr>
              <a:buSzPts val="1800"/>
              <a:buFont typeface="Arial"/>
              <a:buChar char="•"/>
            </a:pPr>
            <a:r>
              <a:rPr lang="en-US" sz="1800" dirty="0">
                <a:solidFill>
                  <a:schemeClr val="dk1"/>
                </a:solidFill>
                <a:latin typeface="Montserrat"/>
                <a:ea typeface="Montserrat"/>
                <a:cs typeface="Montserrat"/>
                <a:sym typeface="Montserrat"/>
              </a:rPr>
              <a:t>The agent will use Model Context Protocol (MCP), which is a standardized protocol that connects LLMs and AI agents to various external tools and data sources.</a:t>
            </a:r>
          </a:p>
          <a:p>
            <a:pPr marL="457200" marR="0" lvl="0" indent="0" algn="l" rtl="0">
              <a:lnSpc>
                <a:spcPct val="90000"/>
              </a:lnSpc>
              <a:spcBef>
                <a:spcPts val="0"/>
              </a:spcBef>
              <a:spcAft>
                <a:spcPts val="0"/>
              </a:spcAft>
              <a:buNone/>
            </a:pPr>
            <a:endParaRPr sz="1800" dirty="0">
              <a:solidFill>
                <a:schemeClr val="dk1"/>
              </a:solidFill>
              <a:latin typeface="Montserrat"/>
              <a:ea typeface="Montserrat"/>
              <a:cs typeface="Montserrat"/>
              <a:sym typeface="Montserrat"/>
            </a:endParaRPr>
          </a:p>
        </p:txBody>
      </p:sp>
      <p:cxnSp>
        <p:nvCxnSpPr>
          <p:cNvPr id="7" name="Straight Arrow Connector 6">
            <a:extLst>
              <a:ext uri="{FF2B5EF4-FFF2-40B4-BE49-F238E27FC236}">
                <a16:creationId xmlns:a16="http://schemas.microsoft.com/office/drawing/2014/main" id="{0ED87BBE-30AB-0AEB-7E0F-0831C1EBB9FE}"/>
              </a:ext>
            </a:extLst>
          </p:cNvPr>
          <p:cNvCxnSpPr>
            <a:cxnSpLocks/>
          </p:cNvCxnSpPr>
          <p:nvPr/>
        </p:nvCxnSpPr>
        <p:spPr>
          <a:xfrm>
            <a:off x="1734129" y="3700254"/>
            <a:ext cx="1651617" cy="0"/>
          </a:xfrm>
          <a:prstGeom prst="straightConnector1">
            <a:avLst/>
          </a:prstGeom>
          <a:ln w="57150">
            <a:solidFill>
              <a:schemeClr val="accent2">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DE225FE-2AC8-7CD9-5D74-0D4BEED8ED9B}"/>
              </a:ext>
            </a:extLst>
          </p:cNvPr>
          <p:cNvCxnSpPr>
            <a:cxnSpLocks/>
          </p:cNvCxnSpPr>
          <p:nvPr/>
        </p:nvCxnSpPr>
        <p:spPr>
          <a:xfrm>
            <a:off x="7276456" y="3809054"/>
            <a:ext cx="1111927" cy="0"/>
          </a:xfrm>
          <a:prstGeom prst="straightConnector1">
            <a:avLst/>
          </a:prstGeom>
          <a:ln w="57150">
            <a:solidFill>
              <a:schemeClr val="accent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9AE3D92F-00C6-36CC-C487-20620062D434}"/>
              </a:ext>
            </a:extLst>
          </p:cNvPr>
          <p:cNvGrpSpPr/>
          <p:nvPr/>
        </p:nvGrpSpPr>
        <p:grpSpPr>
          <a:xfrm>
            <a:off x="8480010" y="2382152"/>
            <a:ext cx="2428308" cy="2537259"/>
            <a:chOff x="7978100" y="1778923"/>
            <a:chExt cx="3449782" cy="2537259"/>
          </a:xfrm>
          <a:solidFill>
            <a:srgbClr val="002060"/>
          </a:solidFill>
        </p:grpSpPr>
        <p:sp>
          <p:nvSpPr>
            <p:cNvPr id="3" name="Rectangle: Rounded Corners 2">
              <a:extLst>
                <a:ext uri="{FF2B5EF4-FFF2-40B4-BE49-F238E27FC236}">
                  <a16:creationId xmlns:a16="http://schemas.microsoft.com/office/drawing/2014/main" id="{CA831B43-C17C-15C1-E859-DF02DDF3D460}"/>
                </a:ext>
              </a:extLst>
            </p:cNvPr>
            <p:cNvSpPr/>
            <p:nvPr/>
          </p:nvSpPr>
          <p:spPr>
            <a:xfrm>
              <a:off x="7978100" y="1778923"/>
              <a:ext cx="3449782" cy="2537259"/>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Rounded Corners 17">
              <a:extLst>
                <a:ext uri="{FF2B5EF4-FFF2-40B4-BE49-F238E27FC236}">
                  <a16:creationId xmlns:a16="http://schemas.microsoft.com/office/drawing/2014/main" id="{A1B9C8B9-88F6-6DCA-BA21-65C95FCFFE6D}"/>
                </a:ext>
              </a:extLst>
            </p:cNvPr>
            <p:cNvSpPr/>
            <p:nvPr/>
          </p:nvSpPr>
          <p:spPr>
            <a:xfrm>
              <a:off x="8557124" y="2575590"/>
              <a:ext cx="2223653" cy="714894"/>
            </a:xfrm>
            <a:prstGeom prst="roundRect">
              <a:avLst/>
            </a:prstGeom>
            <a:grp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600" kern="1200" dirty="0">
                  <a:solidFill>
                    <a:srgbClr val="FFFFFF"/>
                  </a:solidFill>
                  <a:latin typeface="Montserrat" panose="00000500000000000000" pitchFamily="2" charset="0"/>
                  <a:cs typeface="Mongolian Baiti" panose="03000500000000000000" pitchFamily="66" charset="0"/>
                </a:rPr>
                <a:t>Currency Convertor Tool </a:t>
              </a:r>
            </a:p>
          </p:txBody>
        </p:sp>
      </p:grpSp>
      <p:pic>
        <p:nvPicPr>
          <p:cNvPr id="27" name="Graphic 26" descr="User outline">
            <a:extLst>
              <a:ext uri="{FF2B5EF4-FFF2-40B4-BE49-F238E27FC236}">
                <a16:creationId xmlns:a16="http://schemas.microsoft.com/office/drawing/2014/main" id="{50171560-E6AE-39C3-5F06-32D148030D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316" y="3085876"/>
            <a:ext cx="1235813" cy="1235813"/>
          </a:xfrm>
          <a:prstGeom prst="rect">
            <a:avLst/>
          </a:prstGeom>
        </p:spPr>
      </p:pic>
      <p:sp>
        <p:nvSpPr>
          <p:cNvPr id="28" name="TextBox 27">
            <a:extLst>
              <a:ext uri="{FF2B5EF4-FFF2-40B4-BE49-F238E27FC236}">
                <a16:creationId xmlns:a16="http://schemas.microsoft.com/office/drawing/2014/main" id="{454A7541-7655-A46D-07A6-2AF5BD505CE6}"/>
              </a:ext>
            </a:extLst>
          </p:cNvPr>
          <p:cNvSpPr txBox="1"/>
          <p:nvPr/>
        </p:nvSpPr>
        <p:spPr>
          <a:xfrm>
            <a:off x="1529016" y="2871311"/>
            <a:ext cx="2165344" cy="646331"/>
          </a:xfrm>
          <a:prstGeom prst="rect">
            <a:avLst/>
          </a:prstGeom>
          <a:noFill/>
        </p:spPr>
        <p:txBody>
          <a:bodyPr wrap="square" rtlCol="0">
            <a:spAutoFit/>
          </a:bodyPr>
          <a:lstStyle/>
          <a:p>
            <a:pPr algn="ctr"/>
            <a:r>
              <a:rPr lang="en-CA" sz="1800" i="1" dirty="0">
                <a:latin typeface="Montserrat" panose="00000500000000000000" pitchFamily="2" charset="0"/>
              </a:rPr>
              <a:t>What is $1000 USD in CAD?</a:t>
            </a:r>
          </a:p>
        </p:txBody>
      </p:sp>
      <p:sp>
        <p:nvSpPr>
          <p:cNvPr id="35" name="TextBox 34">
            <a:extLst>
              <a:ext uri="{FF2B5EF4-FFF2-40B4-BE49-F238E27FC236}">
                <a16:creationId xmlns:a16="http://schemas.microsoft.com/office/drawing/2014/main" id="{E298D9C0-E379-54A3-96D8-A9746273D364}"/>
              </a:ext>
            </a:extLst>
          </p:cNvPr>
          <p:cNvSpPr txBox="1"/>
          <p:nvPr/>
        </p:nvSpPr>
        <p:spPr>
          <a:xfrm>
            <a:off x="1182976" y="5396779"/>
            <a:ext cx="9791121" cy="646331"/>
          </a:xfrm>
          <a:prstGeom prst="rect">
            <a:avLst/>
          </a:prstGeom>
          <a:noFill/>
        </p:spPr>
        <p:txBody>
          <a:bodyPr wrap="square">
            <a:spAutoFit/>
          </a:bodyPr>
          <a:lstStyle/>
          <a:p>
            <a:pPr algn="ctr"/>
            <a:r>
              <a:rPr lang="en-CA" sz="1800" b="1" dirty="0">
                <a:latin typeface="Montserrat" panose="00000500000000000000" pitchFamily="2" charset="0"/>
              </a:rPr>
              <a:t>MCP is an open protocol designed to be a standard way for models to discover &amp; interact with tools. It’s like a universal plug adapter for AI tools!</a:t>
            </a:r>
          </a:p>
        </p:txBody>
      </p:sp>
      <p:cxnSp>
        <p:nvCxnSpPr>
          <p:cNvPr id="37" name="Connector: Curved 36">
            <a:extLst>
              <a:ext uri="{FF2B5EF4-FFF2-40B4-BE49-F238E27FC236}">
                <a16:creationId xmlns:a16="http://schemas.microsoft.com/office/drawing/2014/main" id="{C326CE9A-A744-0934-E9B3-969721933C64}"/>
              </a:ext>
            </a:extLst>
          </p:cNvPr>
          <p:cNvCxnSpPr>
            <a:cxnSpLocks/>
          </p:cNvCxnSpPr>
          <p:nvPr/>
        </p:nvCxnSpPr>
        <p:spPr>
          <a:xfrm rot="5400000">
            <a:off x="5209414" y="3750368"/>
            <a:ext cx="1200331" cy="1733870"/>
          </a:xfrm>
          <a:prstGeom prst="curvedConnector2">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1028" name="Picture 4">
            <a:extLst>
              <a:ext uri="{FF2B5EF4-FFF2-40B4-BE49-F238E27FC236}">
                <a16:creationId xmlns:a16="http://schemas.microsoft.com/office/drawing/2014/main" id="{419CDA84-6E67-EB99-DC71-0B76B9B2AF2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8708" t="4469"/>
          <a:stretch/>
        </p:blipFill>
        <p:spPr bwMode="auto">
          <a:xfrm>
            <a:off x="5657024" y="2359811"/>
            <a:ext cx="1245363" cy="1043810"/>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69086399-E66D-CC8E-782A-DD0975E73E0E}"/>
              </a:ext>
            </a:extLst>
          </p:cNvPr>
          <p:cNvSpPr txBox="1"/>
          <p:nvPr/>
        </p:nvSpPr>
        <p:spPr>
          <a:xfrm>
            <a:off x="8107943" y="1992803"/>
            <a:ext cx="3035100" cy="400110"/>
          </a:xfrm>
          <a:prstGeom prst="rect">
            <a:avLst/>
          </a:prstGeom>
          <a:noFill/>
        </p:spPr>
        <p:txBody>
          <a:bodyPr wrap="square">
            <a:spAutoFit/>
          </a:bodyPr>
          <a:lstStyle/>
          <a:p>
            <a:pPr algn="ctr"/>
            <a:r>
              <a:rPr lang="en-CA" sz="2000" b="1" dirty="0">
                <a:latin typeface="Montserrat" panose="00000500000000000000" pitchFamily="2" charset="0"/>
              </a:rPr>
              <a:t>MCP server</a:t>
            </a:r>
          </a:p>
        </p:txBody>
      </p:sp>
      <p:sp>
        <p:nvSpPr>
          <p:cNvPr id="4" name="TextBox 3">
            <a:extLst>
              <a:ext uri="{FF2B5EF4-FFF2-40B4-BE49-F238E27FC236}">
                <a16:creationId xmlns:a16="http://schemas.microsoft.com/office/drawing/2014/main" id="{5182F6D3-4E62-159F-C511-CEA2194AF9AD}"/>
              </a:ext>
            </a:extLst>
          </p:cNvPr>
          <p:cNvSpPr txBox="1"/>
          <p:nvPr/>
        </p:nvSpPr>
        <p:spPr>
          <a:xfrm>
            <a:off x="-406212" y="4209575"/>
            <a:ext cx="3035100" cy="400110"/>
          </a:xfrm>
          <a:prstGeom prst="rect">
            <a:avLst/>
          </a:prstGeom>
          <a:noFill/>
        </p:spPr>
        <p:txBody>
          <a:bodyPr wrap="square">
            <a:spAutoFit/>
          </a:bodyPr>
          <a:lstStyle/>
          <a:p>
            <a:pPr algn="ctr"/>
            <a:r>
              <a:rPr lang="en-CA" sz="2000" b="1" dirty="0">
                <a:latin typeface="Montserrat" panose="00000500000000000000" pitchFamily="2" charset="0"/>
              </a:rPr>
              <a:t>Client</a:t>
            </a:r>
          </a:p>
        </p:txBody>
      </p:sp>
      <p:cxnSp>
        <p:nvCxnSpPr>
          <p:cNvPr id="6" name="Straight Arrow Connector 5">
            <a:extLst>
              <a:ext uri="{FF2B5EF4-FFF2-40B4-BE49-F238E27FC236}">
                <a16:creationId xmlns:a16="http://schemas.microsoft.com/office/drawing/2014/main" id="{2459E0C4-12C4-BF92-4405-D5B3B38F00ED}"/>
              </a:ext>
            </a:extLst>
          </p:cNvPr>
          <p:cNvCxnSpPr>
            <a:cxnSpLocks/>
          </p:cNvCxnSpPr>
          <p:nvPr/>
        </p:nvCxnSpPr>
        <p:spPr>
          <a:xfrm>
            <a:off x="1734129" y="4049081"/>
            <a:ext cx="1577726" cy="0"/>
          </a:xfrm>
          <a:prstGeom prst="straightConnector1">
            <a:avLst/>
          </a:prstGeom>
          <a:ln w="57150">
            <a:solidFill>
              <a:schemeClr val="accent2">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B20A762-961C-BA06-5A2C-DA5A82D0BE43}"/>
              </a:ext>
            </a:extLst>
          </p:cNvPr>
          <p:cNvSpPr txBox="1"/>
          <p:nvPr/>
        </p:nvSpPr>
        <p:spPr>
          <a:xfrm>
            <a:off x="1563154" y="4137023"/>
            <a:ext cx="2165344" cy="369332"/>
          </a:xfrm>
          <a:prstGeom prst="rect">
            <a:avLst/>
          </a:prstGeom>
          <a:noFill/>
        </p:spPr>
        <p:txBody>
          <a:bodyPr wrap="square" rtlCol="0">
            <a:spAutoFit/>
          </a:bodyPr>
          <a:lstStyle/>
          <a:p>
            <a:pPr algn="ctr"/>
            <a:r>
              <a:rPr lang="en-CA" sz="1800" i="1" dirty="0">
                <a:latin typeface="Montserrat" panose="00000500000000000000" pitchFamily="2" charset="0"/>
              </a:rPr>
              <a:t>C$1,370</a:t>
            </a:r>
          </a:p>
        </p:txBody>
      </p:sp>
      <p:sp>
        <p:nvSpPr>
          <p:cNvPr id="10" name="Rectangle 9">
            <a:extLst>
              <a:ext uri="{FF2B5EF4-FFF2-40B4-BE49-F238E27FC236}">
                <a16:creationId xmlns:a16="http://schemas.microsoft.com/office/drawing/2014/main" id="{C110319A-2C2A-32BF-1BD7-5AE8BECE8B12}"/>
              </a:ext>
            </a:extLst>
          </p:cNvPr>
          <p:cNvSpPr/>
          <p:nvPr/>
        </p:nvSpPr>
        <p:spPr>
          <a:xfrm>
            <a:off x="3489247" y="3451336"/>
            <a:ext cx="1349897" cy="769326"/>
          </a:xfrm>
          <a:prstGeom prst="rect">
            <a:avLst/>
          </a:prstGeom>
          <a:solidFill>
            <a:srgbClr val="0C1752"/>
          </a:solidFill>
          <a:ln w="25400" cap="flat" cmpd="sng" algn="ctr">
            <a:noFill/>
            <a:prstDash val="solid"/>
          </a:ln>
          <a:effectLst/>
        </p:spPr>
        <p:txBody>
          <a:bodyPr spcFirstLastPara="0" vert="horz" wrap="square" lIns="64770" tIns="64770" rIns="64770" bIns="64770" numCol="1" spcCol="1270" anchor="ctr" anchorCtr="0">
            <a:noAutofit/>
          </a:bodyPr>
          <a:lstStyle/>
          <a:p>
            <a:pPr algn="ctr"/>
            <a:r>
              <a:rPr lang="en-CA" sz="2400" b="1" dirty="0">
                <a:solidFill>
                  <a:schemeClr val="bg1"/>
                </a:solidFill>
                <a:latin typeface="Montserrat" panose="00000500000000000000" pitchFamily="2" charset="0"/>
              </a:rPr>
              <a:t>LLM</a:t>
            </a:r>
          </a:p>
        </p:txBody>
      </p:sp>
      <p:sp>
        <p:nvSpPr>
          <p:cNvPr id="12" name="Rectangle: Rounded Corners 11">
            <a:extLst>
              <a:ext uri="{FF2B5EF4-FFF2-40B4-BE49-F238E27FC236}">
                <a16:creationId xmlns:a16="http://schemas.microsoft.com/office/drawing/2014/main" id="{97EAD111-6E78-8A7E-47BC-4129DC686755}"/>
              </a:ext>
            </a:extLst>
          </p:cNvPr>
          <p:cNvSpPr/>
          <p:nvPr/>
        </p:nvSpPr>
        <p:spPr>
          <a:xfrm>
            <a:off x="5946669" y="3620158"/>
            <a:ext cx="1329787" cy="377792"/>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b="1" dirty="0">
                <a:latin typeface="Montserrat" panose="00000500000000000000" pitchFamily="2" charset="0"/>
              </a:rPr>
              <a:t>MCP</a:t>
            </a:r>
          </a:p>
        </p:txBody>
      </p:sp>
      <p:cxnSp>
        <p:nvCxnSpPr>
          <p:cNvPr id="13" name="Straight Arrow Connector 12">
            <a:extLst>
              <a:ext uri="{FF2B5EF4-FFF2-40B4-BE49-F238E27FC236}">
                <a16:creationId xmlns:a16="http://schemas.microsoft.com/office/drawing/2014/main" id="{06029C66-F4DA-AB4A-E327-54633869D974}"/>
              </a:ext>
            </a:extLst>
          </p:cNvPr>
          <p:cNvCxnSpPr>
            <a:cxnSpLocks/>
          </p:cNvCxnSpPr>
          <p:nvPr/>
        </p:nvCxnSpPr>
        <p:spPr>
          <a:xfrm>
            <a:off x="4873019" y="3809054"/>
            <a:ext cx="1073650" cy="0"/>
          </a:xfrm>
          <a:prstGeom prst="straightConnector1">
            <a:avLst/>
          </a:prstGeom>
          <a:ln w="57150">
            <a:solidFill>
              <a:schemeClr val="accent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par>
                                <p:cTn id="41" presetID="10" presetClass="entr" presetSubtype="0" fill="hold" nodeType="withEffect">
                                  <p:stCondLst>
                                    <p:cond delay="0"/>
                                  </p:stCondLst>
                                  <p:childTnLst>
                                    <p:set>
                                      <p:cBhvr>
                                        <p:cTn id="42" dur="1" fill="hold">
                                          <p:stCondLst>
                                            <p:cond delay="0"/>
                                          </p:stCondLst>
                                        </p:cTn>
                                        <p:tgtEl>
                                          <p:spTgt spid="1028"/>
                                        </p:tgtEl>
                                        <p:attrNameLst>
                                          <p:attrName>style.visibility</p:attrName>
                                        </p:attrNameLst>
                                      </p:cBhvr>
                                      <p:to>
                                        <p:strVal val="visible"/>
                                      </p:to>
                                    </p:set>
                                    <p:animEffect transition="in" filter="fade">
                                      <p:cBhvr>
                                        <p:cTn id="43" dur="500"/>
                                        <p:tgtEl>
                                          <p:spTgt spid="1028"/>
                                        </p:tgtEl>
                                      </p:cBhvr>
                                    </p:animEffect>
                                  </p:childTnLst>
                                </p:cTn>
                              </p:par>
                              <p:par>
                                <p:cTn id="44" presetID="10" presetClass="entr" presetSubtype="0" fill="hold"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500"/>
                                        <p:tgtEl>
                                          <p:spTgt spid="3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fade">
                                      <p:cBhvr>
                                        <p:cTn id="54" dur="500"/>
                                        <p:tgtEl>
                                          <p:spTgt spid="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5" grpId="0"/>
      <p:bldP spid="46" grpId="0"/>
      <p:bldP spid="4" grpId="0"/>
      <p:bldP spid="8" grpId="0"/>
      <p:bldP spid="10" grpId="0" animBg="1"/>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60426AC2-CE55-BC63-755B-63D54FB0E29E}"/>
            </a:ext>
          </a:extLst>
        </p:cNvPr>
        <p:cNvGrpSpPr/>
        <p:nvPr/>
      </p:nvGrpSpPr>
      <p:grpSpPr>
        <a:xfrm>
          <a:off x="0" y="0"/>
          <a:ext cx="0" cy="0"/>
          <a:chOff x="0" y="0"/>
          <a:chExt cx="0" cy="0"/>
        </a:xfrm>
      </p:grpSpPr>
      <p:pic>
        <p:nvPicPr>
          <p:cNvPr id="2" name="Google Shape;112;p5">
            <a:extLst>
              <a:ext uri="{FF2B5EF4-FFF2-40B4-BE49-F238E27FC236}">
                <a16:creationId xmlns:a16="http://schemas.microsoft.com/office/drawing/2014/main" id="{947939E8-2792-3FD7-BFF9-FD8F944E31F7}"/>
              </a:ext>
            </a:extLst>
          </p:cNvPr>
          <p:cNvPicPr preferRelativeResize="0"/>
          <p:nvPr/>
        </p:nvPicPr>
        <p:blipFill rotWithShape="1">
          <a:blip r:embed="rId3">
            <a:alphaModFix/>
          </a:blip>
          <a:srcRect b="85225"/>
          <a:stretch/>
        </p:blipFill>
        <p:spPr>
          <a:xfrm>
            <a:off x="-3571" y="0"/>
            <a:ext cx="12224773" cy="1013288"/>
          </a:xfrm>
          <a:prstGeom prst="rect">
            <a:avLst/>
          </a:prstGeom>
          <a:noFill/>
          <a:ln>
            <a:noFill/>
          </a:ln>
        </p:spPr>
      </p:pic>
      <p:pic>
        <p:nvPicPr>
          <p:cNvPr id="95" name="Google Shape;95;p2">
            <a:extLst>
              <a:ext uri="{FF2B5EF4-FFF2-40B4-BE49-F238E27FC236}">
                <a16:creationId xmlns:a16="http://schemas.microsoft.com/office/drawing/2014/main" id="{C1CFB9F9-0D9B-3ED8-294F-CF2A2EA7A014}"/>
              </a:ext>
            </a:extLst>
          </p:cNvPr>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96" name="Google Shape;96;p2">
            <a:extLst>
              <a:ext uri="{FF2B5EF4-FFF2-40B4-BE49-F238E27FC236}">
                <a16:creationId xmlns:a16="http://schemas.microsoft.com/office/drawing/2014/main" id="{B68EAB5E-02A6-49F8-4AAE-0A5D0C25BDAD}"/>
              </a:ext>
            </a:extLst>
          </p:cNvPr>
          <p:cNvSpPr/>
          <p:nvPr/>
        </p:nvSpPr>
        <p:spPr>
          <a:xfrm>
            <a:off x="154722" y="90489"/>
            <a:ext cx="9827492"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sym typeface="Montserrat"/>
              </a:rPr>
              <a:t>Agentic Frameworks</a:t>
            </a:r>
            <a:endParaRPr dirty="0"/>
          </a:p>
        </p:txBody>
      </p:sp>
      <p:sp>
        <p:nvSpPr>
          <p:cNvPr id="97" name="Google Shape;97;p2">
            <a:extLst>
              <a:ext uri="{FF2B5EF4-FFF2-40B4-BE49-F238E27FC236}">
                <a16:creationId xmlns:a16="http://schemas.microsoft.com/office/drawing/2014/main" id="{3F8A97C6-D1C1-C19A-32F7-27CE229B22BB}"/>
              </a:ext>
            </a:extLst>
          </p:cNvPr>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sp>
        <p:nvSpPr>
          <p:cNvPr id="98" name="Google Shape;98;p2">
            <a:extLst>
              <a:ext uri="{FF2B5EF4-FFF2-40B4-BE49-F238E27FC236}">
                <a16:creationId xmlns:a16="http://schemas.microsoft.com/office/drawing/2014/main" id="{C73804B7-823A-FBEE-16E9-EF9F84B38709}"/>
              </a:ext>
            </a:extLst>
          </p:cNvPr>
          <p:cNvSpPr txBox="1"/>
          <p:nvPr/>
        </p:nvSpPr>
        <p:spPr>
          <a:xfrm>
            <a:off x="206400" y="809050"/>
            <a:ext cx="11985600" cy="1469950"/>
          </a:xfrm>
          <a:prstGeom prst="rect">
            <a:avLst/>
          </a:prstGeom>
          <a:noFill/>
          <a:ln>
            <a:noFill/>
          </a:ln>
        </p:spPr>
        <p:txBody>
          <a:bodyPr spcFirstLastPara="1" wrap="square" lIns="91425" tIns="45700" rIns="91425" bIns="45700" anchor="t" anchorCtr="0">
            <a:normAutofit/>
          </a:bodyPr>
          <a:lstStyle/>
          <a:p>
            <a:pPr marL="228600" lvl="0" indent="-228600">
              <a:lnSpc>
                <a:spcPct val="90000"/>
              </a:lnSpc>
              <a:buClr>
                <a:srgbClr val="1BBFD1"/>
              </a:buClr>
              <a:buSzPts val="1800"/>
              <a:buFont typeface="Arial"/>
              <a:buChar char="•"/>
            </a:pPr>
            <a:r>
              <a:rPr lang="en-US" sz="1800" dirty="0">
                <a:solidFill>
                  <a:schemeClr val="dk1"/>
                </a:solidFill>
                <a:latin typeface="Montserrat"/>
                <a:ea typeface="Montserrat"/>
                <a:cs typeface="Montserrat"/>
                <a:sym typeface="Montserrat"/>
              </a:rPr>
              <a:t>Open-source and vendor frameworks for building agents programmatically.</a:t>
            </a:r>
          </a:p>
        </p:txBody>
      </p:sp>
      <p:sp>
        <p:nvSpPr>
          <p:cNvPr id="5" name="Shape 4">
            <a:extLst>
              <a:ext uri="{FF2B5EF4-FFF2-40B4-BE49-F238E27FC236}">
                <a16:creationId xmlns:a16="http://schemas.microsoft.com/office/drawing/2014/main" id="{E91A190D-1544-316D-C72B-E66275E97E25}"/>
              </a:ext>
            </a:extLst>
          </p:cNvPr>
          <p:cNvSpPr/>
          <p:nvPr/>
        </p:nvSpPr>
        <p:spPr>
          <a:xfrm>
            <a:off x="409110" y="14580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11" name="Shape 5">
            <a:extLst>
              <a:ext uri="{FF2B5EF4-FFF2-40B4-BE49-F238E27FC236}">
                <a16:creationId xmlns:a16="http://schemas.microsoft.com/office/drawing/2014/main" id="{929D10B9-243A-C772-8764-35305612C37C}"/>
              </a:ext>
            </a:extLst>
          </p:cNvPr>
          <p:cNvSpPr/>
          <p:nvPr/>
        </p:nvSpPr>
        <p:spPr>
          <a:xfrm>
            <a:off x="409110" y="14580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14" name="Text 6">
            <a:extLst>
              <a:ext uri="{FF2B5EF4-FFF2-40B4-BE49-F238E27FC236}">
                <a16:creationId xmlns:a16="http://schemas.microsoft.com/office/drawing/2014/main" id="{FE701376-BCA8-0E6F-A41B-D963BC9AECAD}"/>
              </a:ext>
            </a:extLst>
          </p:cNvPr>
          <p:cNvSpPr/>
          <p:nvPr/>
        </p:nvSpPr>
        <p:spPr>
          <a:xfrm>
            <a:off x="591990" y="14946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LangGraph</a:t>
            </a:r>
            <a:endParaRPr lang="en-US" sz="1467" dirty="0">
              <a:solidFill>
                <a:srgbClr val="0C1752"/>
              </a:solidFill>
              <a:latin typeface="Montserrat" panose="00000500000000000000" pitchFamily="2" charset="0"/>
            </a:endParaRPr>
          </a:p>
        </p:txBody>
      </p:sp>
      <p:sp>
        <p:nvSpPr>
          <p:cNvPr id="15" name="Text 7">
            <a:extLst>
              <a:ext uri="{FF2B5EF4-FFF2-40B4-BE49-F238E27FC236}">
                <a16:creationId xmlns:a16="http://schemas.microsoft.com/office/drawing/2014/main" id="{342EA6AD-7432-18AD-A66C-15F2933ED4D5}"/>
              </a:ext>
            </a:extLst>
          </p:cNvPr>
          <p:cNvSpPr/>
          <p:nvPr/>
        </p:nvSpPr>
        <p:spPr>
          <a:xfrm>
            <a:off x="2969430" y="14946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Py / JS</a:t>
            </a:r>
            <a:endParaRPr lang="en-US" sz="1067" dirty="0">
              <a:solidFill>
                <a:srgbClr val="0C1752"/>
              </a:solidFill>
              <a:latin typeface="Montserrat" panose="00000500000000000000" pitchFamily="2" charset="0"/>
            </a:endParaRPr>
          </a:p>
        </p:txBody>
      </p:sp>
      <p:sp>
        <p:nvSpPr>
          <p:cNvPr id="16" name="Text 8">
            <a:extLst>
              <a:ext uri="{FF2B5EF4-FFF2-40B4-BE49-F238E27FC236}">
                <a16:creationId xmlns:a16="http://schemas.microsoft.com/office/drawing/2014/main" id="{ED7407D3-9978-4AC5-068F-DA9D82DFF982}"/>
              </a:ext>
            </a:extLst>
          </p:cNvPr>
          <p:cNvSpPr/>
          <p:nvPr/>
        </p:nvSpPr>
        <p:spPr>
          <a:xfrm>
            <a:off x="591990" y="18482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Graph-based workflows, cycles, persistence, human-in-the-loop</a:t>
            </a:r>
            <a:endParaRPr lang="en-US" sz="1200" dirty="0">
              <a:solidFill>
                <a:srgbClr val="0C1752"/>
              </a:solidFill>
              <a:latin typeface="Montserrat" panose="00000500000000000000" pitchFamily="2" charset="0"/>
            </a:endParaRPr>
          </a:p>
        </p:txBody>
      </p:sp>
      <p:sp>
        <p:nvSpPr>
          <p:cNvPr id="17" name="Shape 9">
            <a:extLst>
              <a:ext uri="{FF2B5EF4-FFF2-40B4-BE49-F238E27FC236}">
                <a16:creationId xmlns:a16="http://schemas.microsoft.com/office/drawing/2014/main" id="{8442CB7B-2B6E-18D7-97ED-AE24526D9A60}"/>
              </a:ext>
            </a:extLst>
          </p:cNvPr>
          <p:cNvSpPr/>
          <p:nvPr/>
        </p:nvSpPr>
        <p:spPr>
          <a:xfrm>
            <a:off x="4249590" y="14580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19" name="Shape 10">
            <a:extLst>
              <a:ext uri="{FF2B5EF4-FFF2-40B4-BE49-F238E27FC236}">
                <a16:creationId xmlns:a16="http://schemas.microsoft.com/office/drawing/2014/main" id="{9B3399C9-BB1D-7EA5-40FA-492487B3A71E}"/>
              </a:ext>
            </a:extLst>
          </p:cNvPr>
          <p:cNvSpPr/>
          <p:nvPr/>
        </p:nvSpPr>
        <p:spPr>
          <a:xfrm>
            <a:off x="4249590" y="14580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20" name="Text 11">
            <a:extLst>
              <a:ext uri="{FF2B5EF4-FFF2-40B4-BE49-F238E27FC236}">
                <a16:creationId xmlns:a16="http://schemas.microsoft.com/office/drawing/2014/main" id="{9710B830-601E-069B-1B5E-CFC0B6A1CEB0}"/>
              </a:ext>
            </a:extLst>
          </p:cNvPr>
          <p:cNvSpPr/>
          <p:nvPr/>
        </p:nvSpPr>
        <p:spPr>
          <a:xfrm>
            <a:off x="4432470" y="14946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CrewAI</a:t>
            </a:r>
            <a:endParaRPr lang="en-US" sz="1467" dirty="0">
              <a:solidFill>
                <a:srgbClr val="0C1752"/>
              </a:solidFill>
              <a:latin typeface="Montserrat" panose="00000500000000000000" pitchFamily="2" charset="0"/>
            </a:endParaRPr>
          </a:p>
        </p:txBody>
      </p:sp>
      <p:sp>
        <p:nvSpPr>
          <p:cNvPr id="22" name="Text 12">
            <a:extLst>
              <a:ext uri="{FF2B5EF4-FFF2-40B4-BE49-F238E27FC236}">
                <a16:creationId xmlns:a16="http://schemas.microsoft.com/office/drawing/2014/main" id="{BE6ACD60-9736-9FEA-B641-3964B9EF0710}"/>
              </a:ext>
            </a:extLst>
          </p:cNvPr>
          <p:cNvSpPr/>
          <p:nvPr/>
        </p:nvSpPr>
        <p:spPr>
          <a:xfrm>
            <a:off x="6809910" y="14946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Python</a:t>
            </a:r>
            <a:endParaRPr lang="en-US" sz="1067" dirty="0">
              <a:solidFill>
                <a:srgbClr val="0C1752"/>
              </a:solidFill>
              <a:latin typeface="Montserrat" panose="00000500000000000000" pitchFamily="2" charset="0"/>
            </a:endParaRPr>
          </a:p>
        </p:txBody>
      </p:sp>
      <p:sp>
        <p:nvSpPr>
          <p:cNvPr id="23" name="Text 13">
            <a:extLst>
              <a:ext uri="{FF2B5EF4-FFF2-40B4-BE49-F238E27FC236}">
                <a16:creationId xmlns:a16="http://schemas.microsoft.com/office/drawing/2014/main" id="{3DF12469-0976-79D6-C613-E86E17C2F571}"/>
              </a:ext>
            </a:extLst>
          </p:cNvPr>
          <p:cNvSpPr/>
          <p:nvPr/>
        </p:nvSpPr>
        <p:spPr>
          <a:xfrm>
            <a:off x="4432470" y="18482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Role-based multi-agent crews, task delegation, sequential &amp; parallel flows</a:t>
            </a:r>
            <a:endParaRPr lang="en-US" sz="1200" dirty="0">
              <a:solidFill>
                <a:srgbClr val="0C1752"/>
              </a:solidFill>
              <a:latin typeface="Montserrat" panose="00000500000000000000" pitchFamily="2" charset="0"/>
            </a:endParaRPr>
          </a:p>
        </p:txBody>
      </p:sp>
      <p:sp>
        <p:nvSpPr>
          <p:cNvPr id="24" name="Shape 14">
            <a:extLst>
              <a:ext uri="{FF2B5EF4-FFF2-40B4-BE49-F238E27FC236}">
                <a16:creationId xmlns:a16="http://schemas.microsoft.com/office/drawing/2014/main" id="{7C2CEC6D-D953-7CE0-CF44-32C4BA34807C}"/>
              </a:ext>
            </a:extLst>
          </p:cNvPr>
          <p:cNvSpPr/>
          <p:nvPr/>
        </p:nvSpPr>
        <p:spPr>
          <a:xfrm>
            <a:off x="8090070" y="14580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25" name="Shape 15">
            <a:extLst>
              <a:ext uri="{FF2B5EF4-FFF2-40B4-BE49-F238E27FC236}">
                <a16:creationId xmlns:a16="http://schemas.microsoft.com/office/drawing/2014/main" id="{FDCCC0DE-257F-21E4-9A3F-8D13DDD64799}"/>
              </a:ext>
            </a:extLst>
          </p:cNvPr>
          <p:cNvSpPr/>
          <p:nvPr/>
        </p:nvSpPr>
        <p:spPr>
          <a:xfrm>
            <a:off x="8090070" y="14580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26" name="Text 16">
            <a:extLst>
              <a:ext uri="{FF2B5EF4-FFF2-40B4-BE49-F238E27FC236}">
                <a16:creationId xmlns:a16="http://schemas.microsoft.com/office/drawing/2014/main" id="{86C11581-1A7A-8A79-EFBA-9101A9373240}"/>
              </a:ext>
            </a:extLst>
          </p:cNvPr>
          <p:cNvSpPr/>
          <p:nvPr/>
        </p:nvSpPr>
        <p:spPr>
          <a:xfrm>
            <a:off x="8272950" y="14946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AutoGen (AG2)</a:t>
            </a:r>
            <a:endParaRPr lang="en-US" sz="1467" dirty="0">
              <a:solidFill>
                <a:srgbClr val="0C1752"/>
              </a:solidFill>
              <a:latin typeface="Montserrat" panose="00000500000000000000" pitchFamily="2" charset="0"/>
            </a:endParaRPr>
          </a:p>
        </p:txBody>
      </p:sp>
      <p:sp>
        <p:nvSpPr>
          <p:cNvPr id="29" name="Text 17">
            <a:extLst>
              <a:ext uri="{FF2B5EF4-FFF2-40B4-BE49-F238E27FC236}">
                <a16:creationId xmlns:a16="http://schemas.microsoft.com/office/drawing/2014/main" id="{F03FBA63-0ACC-40C9-7030-A0A698076D3C}"/>
              </a:ext>
            </a:extLst>
          </p:cNvPr>
          <p:cNvSpPr/>
          <p:nvPr/>
        </p:nvSpPr>
        <p:spPr>
          <a:xfrm>
            <a:off x="10650390" y="14946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Python</a:t>
            </a:r>
            <a:endParaRPr lang="en-US" sz="1067" dirty="0">
              <a:solidFill>
                <a:srgbClr val="0C1752"/>
              </a:solidFill>
              <a:latin typeface="Montserrat" panose="00000500000000000000" pitchFamily="2" charset="0"/>
            </a:endParaRPr>
          </a:p>
        </p:txBody>
      </p:sp>
      <p:sp>
        <p:nvSpPr>
          <p:cNvPr id="30" name="Text 18">
            <a:extLst>
              <a:ext uri="{FF2B5EF4-FFF2-40B4-BE49-F238E27FC236}">
                <a16:creationId xmlns:a16="http://schemas.microsoft.com/office/drawing/2014/main" id="{D0A23F89-8A64-4A20-36E6-BD26F2EC22F7}"/>
              </a:ext>
            </a:extLst>
          </p:cNvPr>
          <p:cNvSpPr/>
          <p:nvPr/>
        </p:nvSpPr>
        <p:spPr>
          <a:xfrm>
            <a:off x="8272950" y="18482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Microsoft — multi-agent conversations, group chat, code execution</a:t>
            </a:r>
            <a:endParaRPr lang="en-US" sz="1200" dirty="0">
              <a:solidFill>
                <a:srgbClr val="0C1752"/>
              </a:solidFill>
              <a:latin typeface="Montserrat" panose="00000500000000000000" pitchFamily="2" charset="0"/>
            </a:endParaRPr>
          </a:p>
        </p:txBody>
      </p:sp>
      <p:sp>
        <p:nvSpPr>
          <p:cNvPr id="31" name="Shape 19">
            <a:extLst>
              <a:ext uri="{FF2B5EF4-FFF2-40B4-BE49-F238E27FC236}">
                <a16:creationId xmlns:a16="http://schemas.microsoft.com/office/drawing/2014/main" id="{C1B68090-3EC5-9031-9330-1CD81EDA117A}"/>
              </a:ext>
            </a:extLst>
          </p:cNvPr>
          <p:cNvSpPr/>
          <p:nvPr/>
        </p:nvSpPr>
        <p:spPr>
          <a:xfrm>
            <a:off x="409110" y="26772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32" name="Shape 20">
            <a:extLst>
              <a:ext uri="{FF2B5EF4-FFF2-40B4-BE49-F238E27FC236}">
                <a16:creationId xmlns:a16="http://schemas.microsoft.com/office/drawing/2014/main" id="{F965FCC7-E45B-B81B-D23C-03A393A58947}"/>
              </a:ext>
            </a:extLst>
          </p:cNvPr>
          <p:cNvSpPr/>
          <p:nvPr/>
        </p:nvSpPr>
        <p:spPr>
          <a:xfrm>
            <a:off x="409110" y="26772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33" name="Text 21">
            <a:extLst>
              <a:ext uri="{FF2B5EF4-FFF2-40B4-BE49-F238E27FC236}">
                <a16:creationId xmlns:a16="http://schemas.microsoft.com/office/drawing/2014/main" id="{997921A5-568B-563E-D442-491BEC3AD9F9}"/>
              </a:ext>
            </a:extLst>
          </p:cNvPr>
          <p:cNvSpPr/>
          <p:nvPr/>
        </p:nvSpPr>
        <p:spPr>
          <a:xfrm>
            <a:off x="591990" y="27138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OpenAI Agents SDK</a:t>
            </a:r>
            <a:endParaRPr lang="en-US" sz="1467" dirty="0">
              <a:solidFill>
                <a:srgbClr val="0C1752"/>
              </a:solidFill>
              <a:latin typeface="Montserrat" panose="00000500000000000000" pitchFamily="2" charset="0"/>
            </a:endParaRPr>
          </a:p>
        </p:txBody>
      </p:sp>
      <p:sp>
        <p:nvSpPr>
          <p:cNvPr id="34" name="Text 22">
            <a:extLst>
              <a:ext uri="{FF2B5EF4-FFF2-40B4-BE49-F238E27FC236}">
                <a16:creationId xmlns:a16="http://schemas.microsoft.com/office/drawing/2014/main" id="{B3D13CBF-7FFB-585E-5ABB-762674E3E582}"/>
              </a:ext>
            </a:extLst>
          </p:cNvPr>
          <p:cNvSpPr/>
          <p:nvPr/>
        </p:nvSpPr>
        <p:spPr>
          <a:xfrm>
            <a:off x="2969430" y="27138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Python</a:t>
            </a:r>
            <a:endParaRPr lang="en-US" sz="1067" dirty="0">
              <a:solidFill>
                <a:srgbClr val="0C1752"/>
              </a:solidFill>
              <a:latin typeface="Montserrat" panose="00000500000000000000" pitchFamily="2" charset="0"/>
            </a:endParaRPr>
          </a:p>
        </p:txBody>
      </p:sp>
      <p:sp>
        <p:nvSpPr>
          <p:cNvPr id="36" name="Text 23">
            <a:extLst>
              <a:ext uri="{FF2B5EF4-FFF2-40B4-BE49-F238E27FC236}">
                <a16:creationId xmlns:a16="http://schemas.microsoft.com/office/drawing/2014/main" id="{F2F1EC3B-21BD-3D44-F11D-5950714F4BCA}"/>
              </a:ext>
            </a:extLst>
          </p:cNvPr>
          <p:cNvSpPr/>
          <p:nvPr/>
        </p:nvSpPr>
        <p:spPr>
          <a:xfrm>
            <a:off x="591990" y="30674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Native tool use, handoffs between agents, guardrails, tracing</a:t>
            </a:r>
            <a:endParaRPr lang="en-US" sz="1200" dirty="0">
              <a:solidFill>
                <a:srgbClr val="0C1752"/>
              </a:solidFill>
              <a:latin typeface="Montserrat" panose="00000500000000000000" pitchFamily="2" charset="0"/>
            </a:endParaRPr>
          </a:p>
        </p:txBody>
      </p:sp>
      <p:sp>
        <p:nvSpPr>
          <p:cNvPr id="38" name="Shape 24">
            <a:extLst>
              <a:ext uri="{FF2B5EF4-FFF2-40B4-BE49-F238E27FC236}">
                <a16:creationId xmlns:a16="http://schemas.microsoft.com/office/drawing/2014/main" id="{9C9DDF5B-816F-723E-99A7-7C5431AFF0E5}"/>
              </a:ext>
            </a:extLst>
          </p:cNvPr>
          <p:cNvSpPr/>
          <p:nvPr/>
        </p:nvSpPr>
        <p:spPr>
          <a:xfrm>
            <a:off x="4249590" y="26772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39" name="Shape 25">
            <a:extLst>
              <a:ext uri="{FF2B5EF4-FFF2-40B4-BE49-F238E27FC236}">
                <a16:creationId xmlns:a16="http://schemas.microsoft.com/office/drawing/2014/main" id="{38EE548D-B981-7BBE-48C4-BBD894F87736}"/>
              </a:ext>
            </a:extLst>
          </p:cNvPr>
          <p:cNvSpPr/>
          <p:nvPr/>
        </p:nvSpPr>
        <p:spPr>
          <a:xfrm>
            <a:off x="4249590" y="26772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40" name="Text 26">
            <a:extLst>
              <a:ext uri="{FF2B5EF4-FFF2-40B4-BE49-F238E27FC236}">
                <a16:creationId xmlns:a16="http://schemas.microsoft.com/office/drawing/2014/main" id="{476B5CE4-38E1-6838-1350-6F730A22BD0A}"/>
              </a:ext>
            </a:extLst>
          </p:cNvPr>
          <p:cNvSpPr/>
          <p:nvPr/>
        </p:nvSpPr>
        <p:spPr>
          <a:xfrm>
            <a:off x="4432470" y="27138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Claude Agent SDK</a:t>
            </a:r>
            <a:endParaRPr lang="en-US" sz="1467" dirty="0">
              <a:solidFill>
                <a:srgbClr val="0C1752"/>
              </a:solidFill>
              <a:latin typeface="Montserrat" panose="00000500000000000000" pitchFamily="2" charset="0"/>
            </a:endParaRPr>
          </a:p>
        </p:txBody>
      </p:sp>
      <p:sp>
        <p:nvSpPr>
          <p:cNvPr id="41" name="Text 27">
            <a:extLst>
              <a:ext uri="{FF2B5EF4-FFF2-40B4-BE49-F238E27FC236}">
                <a16:creationId xmlns:a16="http://schemas.microsoft.com/office/drawing/2014/main" id="{1548F343-F53C-DF50-696E-B242E0DF4BC4}"/>
              </a:ext>
            </a:extLst>
          </p:cNvPr>
          <p:cNvSpPr/>
          <p:nvPr/>
        </p:nvSpPr>
        <p:spPr>
          <a:xfrm>
            <a:off x="6809910" y="27138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Py / TS</a:t>
            </a:r>
            <a:endParaRPr lang="en-US" sz="1067" dirty="0">
              <a:solidFill>
                <a:srgbClr val="0C1752"/>
              </a:solidFill>
              <a:latin typeface="Montserrat" panose="00000500000000000000" pitchFamily="2" charset="0"/>
            </a:endParaRPr>
          </a:p>
        </p:txBody>
      </p:sp>
      <p:sp>
        <p:nvSpPr>
          <p:cNvPr id="42" name="Text 28">
            <a:extLst>
              <a:ext uri="{FF2B5EF4-FFF2-40B4-BE49-F238E27FC236}">
                <a16:creationId xmlns:a16="http://schemas.microsoft.com/office/drawing/2014/main" id="{64AF1723-A410-8805-784F-5764DF7B0BBF}"/>
              </a:ext>
            </a:extLst>
          </p:cNvPr>
          <p:cNvSpPr/>
          <p:nvPr/>
        </p:nvSpPr>
        <p:spPr>
          <a:xfrm>
            <a:off x="4432470" y="30674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Anthropic — tool use, MCP support, extended thinking, multi-turn</a:t>
            </a:r>
            <a:endParaRPr lang="en-US" sz="1200" dirty="0">
              <a:solidFill>
                <a:srgbClr val="0C1752"/>
              </a:solidFill>
              <a:latin typeface="Montserrat" panose="00000500000000000000" pitchFamily="2" charset="0"/>
            </a:endParaRPr>
          </a:p>
        </p:txBody>
      </p:sp>
      <p:sp>
        <p:nvSpPr>
          <p:cNvPr id="43" name="Shape 29">
            <a:extLst>
              <a:ext uri="{FF2B5EF4-FFF2-40B4-BE49-F238E27FC236}">
                <a16:creationId xmlns:a16="http://schemas.microsoft.com/office/drawing/2014/main" id="{AA171996-4E02-17E8-DCC5-7859E7A8C2BA}"/>
              </a:ext>
            </a:extLst>
          </p:cNvPr>
          <p:cNvSpPr/>
          <p:nvPr/>
        </p:nvSpPr>
        <p:spPr>
          <a:xfrm>
            <a:off x="8090070" y="26772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44" name="Shape 30">
            <a:extLst>
              <a:ext uri="{FF2B5EF4-FFF2-40B4-BE49-F238E27FC236}">
                <a16:creationId xmlns:a16="http://schemas.microsoft.com/office/drawing/2014/main" id="{C52109F9-57F5-D89D-A764-D3D1DE3304B1}"/>
              </a:ext>
            </a:extLst>
          </p:cNvPr>
          <p:cNvSpPr/>
          <p:nvPr/>
        </p:nvSpPr>
        <p:spPr>
          <a:xfrm>
            <a:off x="8090070" y="26772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45" name="Text 31">
            <a:extLst>
              <a:ext uri="{FF2B5EF4-FFF2-40B4-BE49-F238E27FC236}">
                <a16:creationId xmlns:a16="http://schemas.microsoft.com/office/drawing/2014/main" id="{B5992EB3-F3BF-A8EB-464E-EEBF4FDFCC91}"/>
              </a:ext>
            </a:extLst>
          </p:cNvPr>
          <p:cNvSpPr/>
          <p:nvPr/>
        </p:nvSpPr>
        <p:spPr>
          <a:xfrm>
            <a:off x="8272950" y="27138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Google ADK</a:t>
            </a:r>
            <a:endParaRPr lang="en-US" sz="1467" dirty="0">
              <a:solidFill>
                <a:srgbClr val="0C1752"/>
              </a:solidFill>
              <a:latin typeface="Montserrat" panose="00000500000000000000" pitchFamily="2" charset="0"/>
            </a:endParaRPr>
          </a:p>
        </p:txBody>
      </p:sp>
      <p:sp>
        <p:nvSpPr>
          <p:cNvPr id="47" name="Text 32">
            <a:extLst>
              <a:ext uri="{FF2B5EF4-FFF2-40B4-BE49-F238E27FC236}">
                <a16:creationId xmlns:a16="http://schemas.microsoft.com/office/drawing/2014/main" id="{4F41CFA9-86CD-AEFF-AC68-8DA30D5F4D65}"/>
              </a:ext>
            </a:extLst>
          </p:cNvPr>
          <p:cNvSpPr/>
          <p:nvPr/>
        </p:nvSpPr>
        <p:spPr>
          <a:xfrm>
            <a:off x="10650390" y="27138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Python</a:t>
            </a:r>
            <a:endParaRPr lang="en-US" sz="1067" dirty="0">
              <a:solidFill>
                <a:srgbClr val="0C1752"/>
              </a:solidFill>
              <a:latin typeface="Montserrat" panose="00000500000000000000" pitchFamily="2" charset="0"/>
            </a:endParaRPr>
          </a:p>
        </p:txBody>
      </p:sp>
      <p:sp>
        <p:nvSpPr>
          <p:cNvPr id="48" name="Text 33">
            <a:extLst>
              <a:ext uri="{FF2B5EF4-FFF2-40B4-BE49-F238E27FC236}">
                <a16:creationId xmlns:a16="http://schemas.microsoft.com/office/drawing/2014/main" id="{D125777F-72C3-E54D-C2F4-7117B83E6DCA}"/>
              </a:ext>
            </a:extLst>
          </p:cNvPr>
          <p:cNvSpPr/>
          <p:nvPr/>
        </p:nvSpPr>
        <p:spPr>
          <a:xfrm>
            <a:off x="8272950" y="30674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Google — multi-agent, A2A protocol, Vertex AI integration</a:t>
            </a:r>
            <a:endParaRPr lang="en-US" sz="1200" dirty="0">
              <a:solidFill>
                <a:srgbClr val="0C1752"/>
              </a:solidFill>
              <a:latin typeface="Montserrat" panose="00000500000000000000" pitchFamily="2" charset="0"/>
            </a:endParaRPr>
          </a:p>
        </p:txBody>
      </p:sp>
      <p:sp>
        <p:nvSpPr>
          <p:cNvPr id="49" name="Shape 34">
            <a:extLst>
              <a:ext uri="{FF2B5EF4-FFF2-40B4-BE49-F238E27FC236}">
                <a16:creationId xmlns:a16="http://schemas.microsoft.com/office/drawing/2014/main" id="{08A6B3E9-07D8-F319-970B-B54AD96A48B6}"/>
              </a:ext>
            </a:extLst>
          </p:cNvPr>
          <p:cNvSpPr/>
          <p:nvPr/>
        </p:nvSpPr>
        <p:spPr>
          <a:xfrm>
            <a:off x="409110" y="38964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50" name="Shape 35">
            <a:extLst>
              <a:ext uri="{FF2B5EF4-FFF2-40B4-BE49-F238E27FC236}">
                <a16:creationId xmlns:a16="http://schemas.microsoft.com/office/drawing/2014/main" id="{B1730AC6-5663-6BBD-AC2F-553669E387BE}"/>
              </a:ext>
            </a:extLst>
          </p:cNvPr>
          <p:cNvSpPr/>
          <p:nvPr/>
        </p:nvSpPr>
        <p:spPr>
          <a:xfrm>
            <a:off x="409110" y="38964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51" name="Text 36">
            <a:extLst>
              <a:ext uri="{FF2B5EF4-FFF2-40B4-BE49-F238E27FC236}">
                <a16:creationId xmlns:a16="http://schemas.microsoft.com/office/drawing/2014/main" id="{9CFE6E20-E8BD-820C-6D2C-D52D0013F6B9}"/>
              </a:ext>
            </a:extLst>
          </p:cNvPr>
          <p:cNvSpPr/>
          <p:nvPr/>
        </p:nvSpPr>
        <p:spPr>
          <a:xfrm>
            <a:off x="591990" y="39330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Semantic Kernel</a:t>
            </a:r>
            <a:endParaRPr lang="en-US" sz="1467" dirty="0">
              <a:solidFill>
                <a:srgbClr val="0C1752"/>
              </a:solidFill>
              <a:latin typeface="Montserrat" panose="00000500000000000000" pitchFamily="2" charset="0"/>
            </a:endParaRPr>
          </a:p>
        </p:txBody>
      </p:sp>
      <p:sp>
        <p:nvSpPr>
          <p:cNvPr id="52" name="Text 37">
            <a:extLst>
              <a:ext uri="{FF2B5EF4-FFF2-40B4-BE49-F238E27FC236}">
                <a16:creationId xmlns:a16="http://schemas.microsoft.com/office/drawing/2014/main" id="{9E2B86DD-851B-6529-7E9D-965F930BA0DA}"/>
              </a:ext>
            </a:extLst>
          </p:cNvPr>
          <p:cNvSpPr/>
          <p:nvPr/>
        </p:nvSpPr>
        <p:spPr>
          <a:xfrm>
            <a:off x="2969430" y="39330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Multi</a:t>
            </a:r>
            <a:endParaRPr lang="en-US" sz="1067" dirty="0">
              <a:solidFill>
                <a:srgbClr val="0C1752"/>
              </a:solidFill>
              <a:latin typeface="Montserrat" panose="00000500000000000000" pitchFamily="2" charset="0"/>
            </a:endParaRPr>
          </a:p>
        </p:txBody>
      </p:sp>
      <p:sp>
        <p:nvSpPr>
          <p:cNvPr id="53" name="Text 38">
            <a:extLst>
              <a:ext uri="{FF2B5EF4-FFF2-40B4-BE49-F238E27FC236}">
                <a16:creationId xmlns:a16="http://schemas.microsoft.com/office/drawing/2014/main" id="{8D147614-1081-6AD2-BE74-AC47928E4A20}"/>
              </a:ext>
            </a:extLst>
          </p:cNvPr>
          <p:cNvSpPr/>
          <p:nvPr/>
        </p:nvSpPr>
        <p:spPr>
          <a:xfrm>
            <a:off x="591990" y="42866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Microsoft — enterprise AI orchestration, .NET/Java/Python, plugins</a:t>
            </a:r>
            <a:endParaRPr lang="en-US" sz="1200" dirty="0">
              <a:solidFill>
                <a:srgbClr val="0C1752"/>
              </a:solidFill>
              <a:latin typeface="Montserrat" panose="00000500000000000000" pitchFamily="2" charset="0"/>
            </a:endParaRPr>
          </a:p>
        </p:txBody>
      </p:sp>
      <p:sp>
        <p:nvSpPr>
          <p:cNvPr id="54" name="Shape 39">
            <a:extLst>
              <a:ext uri="{FF2B5EF4-FFF2-40B4-BE49-F238E27FC236}">
                <a16:creationId xmlns:a16="http://schemas.microsoft.com/office/drawing/2014/main" id="{64873813-ACB5-0B4B-9160-A6DC957E982A}"/>
              </a:ext>
            </a:extLst>
          </p:cNvPr>
          <p:cNvSpPr/>
          <p:nvPr/>
        </p:nvSpPr>
        <p:spPr>
          <a:xfrm>
            <a:off x="4249590" y="38964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55" name="Shape 40">
            <a:extLst>
              <a:ext uri="{FF2B5EF4-FFF2-40B4-BE49-F238E27FC236}">
                <a16:creationId xmlns:a16="http://schemas.microsoft.com/office/drawing/2014/main" id="{18DF14AA-1C27-B9AB-9782-7A7A8D5102F4}"/>
              </a:ext>
            </a:extLst>
          </p:cNvPr>
          <p:cNvSpPr/>
          <p:nvPr/>
        </p:nvSpPr>
        <p:spPr>
          <a:xfrm>
            <a:off x="4249590" y="38964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56" name="Text 41">
            <a:extLst>
              <a:ext uri="{FF2B5EF4-FFF2-40B4-BE49-F238E27FC236}">
                <a16:creationId xmlns:a16="http://schemas.microsoft.com/office/drawing/2014/main" id="{BDA6EC01-EDEA-B96F-7D3A-53B1CBDD5599}"/>
              </a:ext>
            </a:extLst>
          </p:cNvPr>
          <p:cNvSpPr/>
          <p:nvPr/>
        </p:nvSpPr>
        <p:spPr>
          <a:xfrm>
            <a:off x="4432470" y="39330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Haystack</a:t>
            </a:r>
            <a:endParaRPr lang="en-US" sz="1467" dirty="0">
              <a:solidFill>
                <a:srgbClr val="0C1752"/>
              </a:solidFill>
              <a:latin typeface="Montserrat" panose="00000500000000000000" pitchFamily="2" charset="0"/>
            </a:endParaRPr>
          </a:p>
        </p:txBody>
      </p:sp>
      <p:sp>
        <p:nvSpPr>
          <p:cNvPr id="57" name="Text 42">
            <a:extLst>
              <a:ext uri="{FF2B5EF4-FFF2-40B4-BE49-F238E27FC236}">
                <a16:creationId xmlns:a16="http://schemas.microsoft.com/office/drawing/2014/main" id="{C021B738-8624-6A8E-EDAE-9A2CB40AF469}"/>
              </a:ext>
            </a:extLst>
          </p:cNvPr>
          <p:cNvSpPr/>
          <p:nvPr/>
        </p:nvSpPr>
        <p:spPr>
          <a:xfrm>
            <a:off x="6809910" y="39330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Python</a:t>
            </a:r>
            <a:endParaRPr lang="en-US" sz="1067" dirty="0">
              <a:solidFill>
                <a:srgbClr val="0C1752"/>
              </a:solidFill>
              <a:latin typeface="Montserrat" panose="00000500000000000000" pitchFamily="2" charset="0"/>
            </a:endParaRPr>
          </a:p>
        </p:txBody>
      </p:sp>
      <p:sp>
        <p:nvSpPr>
          <p:cNvPr id="58" name="Text 43">
            <a:extLst>
              <a:ext uri="{FF2B5EF4-FFF2-40B4-BE49-F238E27FC236}">
                <a16:creationId xmlns:a16="http://schemas.microsoft.com/office/drawing/2014/main" id="{AC490FFF-4855-9C7D-0045-0D8E1456EF8A}"/>
              </a:ext>
            </a:extLst>
          </p:cNvPr>
          <p:cNvSpPr/>
          <p:nvPr/>
        </p:nvSpPr>
        <p:spPr>
          <a:xfrm>
            <a:off x="4432470" y="42866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Deepset — RAG &amp; NLP pipelines, modular components, document processing</a:t>
            </a:r>
            <a:endParaRPr lang="en-US" sz="1200" dirty="0">
              <a:solidFill>
                <a:srgbClr val="0C1752"/>
              </a:solidFill>
              <a:latin typeface="Montserrat" panose="00000500000000000000" pitchFamily="2" charset="0"/>
            </a:endParaRPr>
          </a:p>
        </p:txBody>
      </p:sp>
      <p:sp>
        <p:nvSpPr>
          <p:cNvPr id="59" name="Shape 44">
            <a:extLst>
              <a:ext uri="{FF2B5EF4-FFF2-40B4-BE49-F238E27FC236}">
                <a16:creationId xmlns:a16="http://schemas.microsoft.com/office/drawing/2014/main" id="{EB56CA53-B5D7-BB81-6926-D1250B965A7D}"/>
              </a:ext>
            </a:extLst>
          </p:cNvPr>
          <p:cNvSpPr/>
          <p:nvPr/>
        </p:nvSpPr>
        <p:spPr>
          <a:xfrm>
            <a:off x="8090070" y="38964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60" name="Shape 45">
            <a:extLst>
              <a:ext uri="{FF2B5EF4-FFF2-40B4-BE49-F238E27FC236}">
                <a16:creationId xmlns:a16="http://schemas.microsoft.com/office/drawing/2014/main" id="{B179E08C-B4F1-DE59-B81E-72AE05C07413}"/>
              </a:ext>
            </a:extLst>
          </p:cNvPr>
          <p:cNvSpPr/>
          <p:nvPr/>
        </p:nvSpPr>
        <p:spPr>
          <a:xfrm>
            <a:off x="8090070" y="38964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61" name="Text 46">
            <a:extLst>
              <a:ext uri="{FF2B5EF4-FFF2-40B4-BE49-F238E27FC236}">
                <a16:creationId xmlns:a16="http://schemas.microsoft.com/office/drawing/2014/main" id="{78F64DAD-C88D-0445-3B00-7D5C5E1C1791}"/>
              </a:ext>
            </a:extLst>
          </p:cNvPr>
          <p:cNvSpPr/>
          <p:nvPr/>
        </p:nvSpPr>
        <p:spPr>
          <a:xfrm>
            <a:off x="8272950" y="39330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Smolagents</a:t>
            </a:r>
            <a:endParaRPr lang="en-US" sz="1467" dirty="0">
              <a:solidFill>
                <a:srgbClr val="0C1752"/>
              </a:solidFill>
              <a:latin typeface="Montserrat" panose="00000500000000000000" pitchFamily="2" charset="0"/>
            </a:endParaRPr>
          </a:p>
        </p:txBody>
      </p:sp>
      <p:sp>
        <p:nvSpPr>
          <p:cNvPr id="62" name="Text 47">
            <a:extLst>
              <a:ext uri="{FF2B5EF4-FFF2-40B4-BE49-F238E27FC236}">
                <a16:creationId xmlns:a16="http://schemas.microsoft.com/office/drawing/2014/main" id="{4FE72C9C-564A-09DF-5B69-BCD623EE7C2C}"/>
              </a:ext>
            </a:extLst>
          </p:cNvPr>
          <p:cNvSpPr/>
          <p:nvPr/>
        </p:nvSpPr>
        <p:spPr>
          <a:xfrm>
            <a:off x="10650390" y="39330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Python</a:t>
            </a:r>
            <a:endParaRPr lang="en-US" sz="1067" dirty="0">
              <a:solidFill>
                <a:srgbClr val="0C1752"/>
              </a:solidFill>
              <a:latin typeface="Montserrat" panose="00000500000000000000" pitchFamily="2" charset="0"/>
            </a:endParaRPr>
          </a:p>
        </p:txBody>
      </p:sp>
      <p:sp>
        <p:nvSpPr>
          <p:cNvPr id="63" name="Text 48">
            <a:extLst>
              <a:ext uri="{FF2B5EF4-FFF2-40B4-BE49-F238E27FC236}">
                <a16:creationId xmlns:a16="http://schemas.microsoft.com/office/drawing/2014/main" id="{4A70DA2C-F8CB-C494-72F0-7107F47DD7AB}"/>
              </a:ext>
            </a:extLst>
          </p:cNvPr>
          <p:cNvSpPr/>
          <p:nvPr/>
        </p:nvSpPr>
        <p:spPr>
          <a:xfrm>
            <a:off x="8272950" y="42866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Hugging Face — lightweight, code-first agents, minimal abstractions</a:t>
            </a:r>
            <a:endParaRPr lang="en-US" sz="1200" dirty="0">
              <a:solidFill>
                <a:srgbClr val="0C1752"/>
              </a:solidFill>
              <a:latin typeface="Montserrat" panose="00000500000000000000" pitchFamily="2" charset="0"/>
            </a:endParaRPr>
          </a:p>
        </p:txBody>
      </p:sp>
      <p:sp>
        <p:nvSpPr>
          <p:cNvPr id="64" name="Shape 49">
            <a:extLst>
              <a:ext uri="{FF2B5EF4-FFF2-40B4-BE49-F238E27FC236}">
                <a16:creationId xmlns:a16="http://schemas.microsoft.com/office/drawing/2014/main" id="{A613B423-A0D1-5DFA-626A-A320B9084A76}"/>
              </a:ext>
            </a:extLst>
          </p:cNvPr>
          <p:cNvSpPr/>
          <p:nvPr/>
        </p:nvSpPr>
        <p:spPr>
          <a:xfrm>
            <a:off x="409110" y="51156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65" name="Shape 50">
            <a:extLst>
              <a:ext uri="{FF2B5EF4-FFF2-40B4-BE49-F238E27FC236}">
                <a16:creationId xmlns:a16="http://schemas.microsoft.com/office/drawing/2014/main" id="{692ED0AF-AB5F-8134-7698-4232AB471FFF}"/>
              </a:ext>
            </a:extLst>
          </p:cNvPr>
          <p:cNvSpPr/>
          <p:nvPr/>
        </p:nvSpPr>
        <p:spPr>
          <a:xfrm>
            <a:off x="409110" y="51156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66" name="Text 51">
            <a:extLst>
              <a:ext uri="{FF2B5EF4-FFF2-40B4-BE49-F238E27FC236}">
                <a16:creationId xmlns:a16="http://schemas.microsoft.com/office/drawing/2014/main" id="{0B19F8CA-F410-60DE-850C-1718B059CF1B}"/>
              </a:ext>
            </a:extLst>
          </p:cNvPr>
          <p:cNvSpPr/>
          <p:nvPr/>
        </p:nvSpPr>
        <p:spPr>
          <a:xfrm>
            <a:off x="591990" y="51522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LlamaIndex</a:t>
            </a:r>
            <a:endParaRPr lang="en-US" sz="1467" dirty="0">
              <a:solidFill>
                <a:srgbClr val="0C1752"/>
              </a:solidFill>
              <a:latin typeface="Montserrat" panose="00000500000000000000" pitchFamily="2" charset="0"/>
            </a:endParaRPr>
          </a:p>
        </p:txBody>
      </p:sp>
      <p:sp>
        <p:nvSpPr>
          <p:cNvPr id="67" name="Text 52">
            <a:extLst>
              <a:ext uri="{FF2B5EF4-FFF2-40B4-BE49-F238E27FC236}">
                <a16:creationId xmlns:a16="http://schemas.microsoft.com/office/drawing/2014/main" id="{A59C2C9A-8F5A-0366-4770-3410DDDB4756}"/>
              </a:ext>
            </a:extLst>
          </p:cNvPr>
          <p:cNvSpPr/>
          <p:nvPr/>
        </p:nvSpPr>
        <p:spPr>
          <a:xfrm>
            <a:off x="2969430" y="51522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Py / TS</a:t>
            </a:r>
            <a:endParaRPr lang="en-US" sz="1067" dirty="0">
              <a:solidFill>
                <a:srgbClr val="0C1752"/>
              </a:solidFill>
              <a:latin typeface="Montserrat" panose="00000500000000000000" pitchFamily="2" charset="0"/>
            </a:endParaRPr>
          </a:p>
        </p:txBody>
      </p:sp>
      <p:sp>
        <p:nvSpPr>
          <p:cNvPr id="68" name="Text 53">
            <a:extLst>
              <a:ext uri="{FF2B5EF4-FFF2-40B4-BE49-F238E27FC236}">
                <a16:creationId xmlns:a16="http://schemas.microsoft.com/office/drawing/2014/main" id="{D92DD902-AFFE-FC74-4A4F-B4F122242E70}"/>
              </a:ext>
            </a:extLst>
          </p:cNvPr>
          <p:cNvSpPr/>
          <p:nvPr/>
        </p:nvSpPr>
        <p:spPr>
          <a:xfrm>
            <a:off x="591990" y="55058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Data framework — RAG agents, knowledge graphs, multi-step query engine</a:t>
            </a:r>
            <a:endParaRPr lang="en-US" sz="1200" dirty="0">
              <a:solidFill>
                <a:srgbClr val="0C1752"/>
              </a:solidFill>
              <a:latin typeface="Montserrat" panose="00000500000000000000" pitchFamily="2" charset="0"/>
            </a:endParaRPr>
          </a:p>
        </p:txBody>
      </p:sp>
      <p:sp>
        <p:nvSpPr>
          <p:cNvPr id="69" name="Shape 54">
            <a:extLst>
              <a:ext uri="{FF2B5EF4-FFF2-40B4-BE49-F238E27FC236}">
                <a16:creationId xmlns:a16="http://schemas.microsoft.com/office/drawing/2014/main" id="{D77B68AE-B683-26F4-C4EA-C57FB4018E06}"/>
              </a:ext>
            </a:extLst>
          </p:cNvPr>
          <p:cNvSpPr/>
          <p:nvPr/>
        </p:nvSpPr>
        <p:spPr>
          <a:xfrm>
            <a:off x="4249590" y="51156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70" name="Shape 55">
            <a:extLst>
              <a:ext uri="{FF2B5EF4-FFF2-40B4-BE49-F238E27FC236}">
                <a16:creationId xmlns:a16="http://schemas.microsoft.com/office/drawing/2014/main" id="{4C3D3778-995D-EFB5-44A4-12F4F9790DE3}"/>
              </a:ext>
            </a:extLst>
          </p:cNvPr>
          <p:cNvSpPr/>
          <p:nvPr/>
        </p:nvSpPr>
        <p:spPr>
          <a:xfrm>
            <a:off x="4249590" y="51156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71" name="Text 56">
            <a:extLst>
              <a:ext uri="{FF2B5EF4-FFF2-40B4-BE49-F238E27FC236}">
                <a16:creationId xmlns:a16="http://schemas.microsoft.com/office/drawing/2014/main" id="{FB6BFE3E-3F2B-36D2-B377-C1893081D92A}"/>
              </a:ext>
            </a:extLst>
          </p:cNvPr>
          <p:cNvSpPr/>
          <p:nvPr/>
        </p:nvSpPr>
        <p:spPr>
          <a:xfrm>
            <a:off x="4432470" y="51522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Agno (Phidata)</a:t>
            </a:r>
            <a:endParaRPr lang="en-US" sz="1467" dirty="0">
              <a:solidFill>
                <a:srgbClr val="0C1752"/>
              </a:solidFill>
              <a:latin typeface="Montserrat" panose="00000500000000000000" pitchFamily="2" charset="0"/>
            </a:endParaRPr>
          </a:p>
        </p:txBody>
      </p:sp>
      <p:sp>
        <p:nvSpPr>
          <p:cNvPr id="72" name="Text 57">
            <a:extLst>
              <a:ext uri="{FF2B5EF4-FFF2-40B4-BE49-F238E27FC236}">
                <a16:creationId xmlns:a16="http://schemas.microsoft.com/office/drawing/2014/main" id="{22AD50E0-5A00-1EE2-B7AF-A3144CA486B0}"/>
              </a:ext>
            </a:extLst>
          </p:cNvPr>
          <p:cNvSpPr/>
          <p:nvPr/>
        </p:nvSpPr>
        <p:spPr>
          <a:xfrm>
            <a:off x="6809910" y="51522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Python</a:t>
            </a:r>
            <a:endParaRPr lang="en-US" sz="1067" dirty="0">
              <a:solidFill>
                <a:srgbClr val="0C1752"/>
              </a:solidFill>
              <a:latin typeface="Montserrat" panose="00000500000000000000" pitchFamily="2" charset="0"/>
            </a:endParaRPr>
          </a:p>
        </p:txBody>
      </p:sp>
      <p:sp>
        <p:nvSpPr>
          <p:cNvPr id="73" name="Text 58">
            <a:extLst>
              <a:ext uri="{FF2B5EF4-FFF2-40B4-BE49-F238E27FC236}">
                <a16:creationId xmlns:a16="http://schemas.microsoft.com/office/drawing/2014/main" id="{D984E3FB-8335-7529-3DEF-82B35860C4B4}"/>
              </a:ext>
            </a:extLst>
          </p:cNvPr>
          <p:cNvSpPr/>
          <p:nvPr/>
        </p:nvSpPr>
        <p:spPr>
          <a:xfrm>
            <a:off x="4432470" y="55058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Model-agnostic, multi-modal, built-in memory &amp; knowledge, fast</a:t>
            </a:r>
            <a:endParaRPr lang="en-US" sz="1200" dirty="0">
              <a:solidFill>
                <a:srgbClr val="0C1752"/>
              </a:solidFill>
              <a:latin typeface="Montserrat" panose="00000500000000000000" pitchFamily="2" charset="0"/>
            </a:endParaRPr>
          </a:p>
        </p:txBody>
      </p:sp>
      <p:sp>
        <p:nvSpPr>
          <p:cNvPr id="74" name="Shape 59">
            <a:extLst>
              <a:ext uri="{FF2B5EF4-FFF2-40B4-BE49-F238E27FC236}">
                <a16:creationId xmlns:a16="http://schemas.microsoft.com/office/drawing/2014/main" id="{63E22BD3-1CFE-11A4-94D9-11218D5AC590}"/>
              </a:ext>
            </a:extLst>
          </p:cNvPr>
          <p:cNvSpPr/>
          <p:nvPr/>
        </p:nvSpPr>
        <p:spPr>
          <a:xfrm>
            <a:off x="8090070" y="5115670"/>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solidFill>
                <a:srgbClr val="0C1752"/>
              </a:solidFill>
              <a:latin typeface="Montserrat" panose="00000500000000000000" pitchFamily="2" charset="0"/>
            </a:endParaRPr>
          </a:p>
        </p:txBody>
      </p:sp>
      <p:sp>
        <p:nvSpPr>
          <p:cNvPr id="75" name="Shape 60">
            <a:extLst>
              <a:ext uri="{FF2B5EF4-FFF2-40B4-BE49-F238E27FC236}">
                <a16:creationId xmlns:a16="http://schemas.microsoft.com/office/drawing/2014/main" id="{2CF01762-5B68-E395-57A4-E890890FF18A}"/>
              </a:ext>
            </a:extLst>
          </p:cNvPr>
          <p:cNvSpPr/>
          <p:nvPr/>
        </p:nvSpPr>
        <p:spPr>
          <a:xfrm>
            <a:off x="8090070" y="5115670"/>
            <a:ext cx="73152" cy="1036320"/>
          </a:xfrm>
          <a:prstGeom prst="rect">
            <a:avLst/>
          </a:prstGeom>
          <a:solidFill>
            <a:srgbClr val="0C1752"/>
          </a:solidFill>
          <a:ln/>
        </p:spPr>
        <p:txBody>
          <a:bodyPr/>
          <a:lstStyle/>
          <a:p>
            <a:endParaRPr lang="en-CA" sz="2400">
              <a:solidFill>
                <a:srgbClr val="0C1752"/>
              </a:solidFill>
              <a:latin typeface="Montserrat" panose="00000500000000000000" pitchFamily="2" charset="0"/>
            </a:endParaRPr>
          </a:p>
        </p:txBody>
      </p:sp>
      <p:sp>
        <p:nvSpPr>
          <p:cNvPr id="76" name="Text 61">
            <a:extLst>
              <a:ext uri="{FF2B5EF4-FFF2-40B4-BE49-F238E27FC236}">
                <a16:creationId xmlns:a16="http://schemas.microsoft.com/office/drawing/2014/main" id="{9E143DFD-92DC-59EC-D644-E0D7227624B8}"/>
              </a:ext>
            </a:extLst>
          </p:cNvPr>
          <p:cNvSpPr/>
          <p:nvPr/>
        </p:nvSpPr>
        <p:spPr>
          <a:xfrm>
            <a:off x="8272950" y="5152246"/>
            <a:ext cx="2438400" cy="304800"/>
          </a:xfrm>
          <a:prstGeom prst="rect">
            <a:avLst/>
          </a:prstGeom>
          <a:noFill/>
          <a:ln/>
        </p:spPr>
        <p:txBody>
          <a:bodyPr wrap="square" lIns="0" tIns="0" rIns="0" bIns="0" rtlCol="0" anchor="ctr"/>
          <a:lstStyle/>
          <a:p>
            <a:r>
              <a:rPr lang="en-US" sz="1467" b="1" dirty="0">
                <a:solidFill>
                  <a:srgbClr val="0C1752"/>
                </a:solidFill>
                <a:latin typeface="Montserrat" panose="00000500000000000000" pitchFamily="2" charset="0"/>
                <a:ea typeface="Calibri" pitchFamily="34" charset="-122"/>
                <a:cs typeface="Calibri" pitchFamily="34" charset="-120"/>
              </a:rPr>
              <a:t>Pydantic AI</a:t>
            </a:r>
            <a:endParaRPr lang="en-US" sz="1467" dirty="0">
              <a:solidFill>
                <a:srgbClr val="0C1752"/>
              </a:solidFill>
              <a:latin typeface="Montserrat" panose="00000500000000000000" pitchFamily="2" charset="0"/>
            </a:endParaRPr>
          </a:p>
        </p:txBody>
      </p:sp>
      <p:sp>
        <p:nvSpPr>
          <p:cNvPr id="77" name="Text 62">
            <a:extLst>
              <a:ext uri="{FF2B5EF4-FFF2-40B4-BE49-F238E27FC236}">
                <a16:creationId xmlns:a16="http://schemas.microsoft.com/office/drawing/2014/main" id="{72E3DD01-7D5C-5FE3-BDA0-63E3CB3FB76A}"/>
              </a:ext>
            </a:extLst>
          </p:cNvPr>
          <p:cNvSpPr/>
          <p:nvPr/>
        </p:nvSpPr>
        <p:spPr>
          <a:xfrm>
            <a:off x="10650390" y="5152246"/>
            <a:ext cx="853440" cy="304800"/>
          </a:xfrm>
          <a:prstGeom prst="rect">
            <a:avLst/>
          </a:prstGeom>
          <a:noFill/>
          <a:ln/>
        </p:spPr>
        <p:txBody>
          <a:bodyPr wrap="square" lIns="0" tIns="0" rIns="0" bIns="0" rtlCol="0" anchor="ctr"/>
          <a:lstStyle/>
          <a:p>
            <a:pPr algn="r"/>
            <a:r>
              <a:rPr lang="en-US" sz="1067" dirty="0">
                <a:solidFill>
                  <a:srgbClr val="0C1752"/>
                </a:solidFill>
                <a:latin typeface="Montserrat" panose="00000500000000000000" pitchFamily="2" charset="0"/>
                <a:ea typeface="Consolas" pitchFamily="34" charset="-122"/>
                <a:cs typeface="Consolas" pitchFamily="34" charset="-120"/>
              </a:rPr>
              <a:t>Python</a:t>
            </a:r>
            <a:endParaRPr lang="en-US" sz="1067" dirty="0">
              <a:solidFill>
                <a:srgbClr val="0C1752"/>
              </a:solidFill>
              <a:latin typeface="Montserrat" panose="00000500000000000000" pitchFamily="2" charset="0"/>
            </a:endParaRPr>
          </a:p>
        </p:txBody>
      </p:sp>
      <p:sp>
        <p:nvSpPr>
          <p:cNvPr id="78" name="Text 63">
            <a:extLst>
              <a:ext uri="{FF2B5EF4-FFF2-40B4-BE49-F238E27FC236}">
                <a16:creationId xmlns:a16="http://schemas.microsoft.com/office/drawing/2014/main" id="{9AE86E15-E0EC-D9E7-1CEF-4F954FBD723E}"/>
              </a:ext>
            </a:extLst>
          </p:cNvPr>
          <p:cNvSpPr/>
          <p:nvPr/>
        </p:nvSpPr>
        <p:spPr>
          <a:xfrm>
            <a:off x="8272950" y="5505814"/>
            <a:ext cx="3230880" cy="585216"/>
          </a:xfrm>
          <a:prstGeom prst="rect">
            <a:avLst/>
          </a:prstGeom>
          <a:noFill/>
          <a:ln/>
        </p:spPr>
        <p:txBody>
          <a:bodyPr wrap="square" lIns="0" tIns="0" rIns="0" bIns="0" rtlCol="0" anchor="ctr"/>
          <a:lstStyle/>
          <a:p>
            <a:r>
              <a:rPr lang="en-US" sz="1200" dirty="0">
                <a:solidFill>
                  <a:srgbClr val="0C1752"/>
                </a:solidFill>
                <a:latin typeface="Montserrat" panose="00000500000000000000" pitchFamily="2" charset="0"/>
                <a:ea typeface="Calibri" pitchFamily="34" charset="-122"/>
                <a:cs typeface="Calibri" pitchFamily="34" charset="-120"/>
              </a:rPr>
              <a:t>Type-safe agent building, structured outputs, dependency injection</a:t>
            </a:r>
            <a:endParaRPr lang="en-US" sz="1200" dirty="0">
              <a:solidFill>
                <a:srgbClr val="0C1752"/>
              </a:solidFill>
              <a:latin typeface="Montserrat" panose="00000500000000000000" pitchFamily="2" charset="0"/>
            </a:endParaRPr>
          </a:p>
        </p:txBody>
      </p:sp>
    </p:spTree>
    <p:extLst>
      <p:ext uri="{BB962C8B-B14F-4D97-AF65-F5344CB8AC3E}">
        <p14:creationId xmlns:p14="http://schemas.microsoft.com/office/powerpoint/2010/main" val="2651836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C9D5B126-AF0D-705A-F31A-4AEABA87B28B}"/>
            </a:ext>
          </a:extLst>
        </p:cNvPr>
        <p:cNvGrpSpPr/>
        <p:nvPr/>
      </p:nvGrpSpPr>
      <p:grpSpPr>
        <a:xfrm>
          <a:off x="0" y="0"/>
          <a:ext cx="0" cy="0"/>
          <a:chOff x="0" y="0"/>
          <a:chExt cx="0" cy="0"/>
        </a:xfrm>
      </p:grpSpPr>
      <p:pic>
        <p:nvPicPr>
          <p:cNvPr id="2" name="Google Shape;112;p5">
            <a:extLst>
              <a:ext uri="{FF2B5EF4-FFF2-40B4-BE49-F238E27FC236}">
                <a16:creationId xmlns:a16="http://schemas.microsoft.com/office/drawing/2014/main" id="{E62DE1FE-C511-EDA5-A53B-E657EBCDE814}"/>
              </a:ext>
            </a:extLst>
          </p:cNvPr>
          <p:cNvPicPr preferRelativeResize="0"/>
          <p:nvPr/>
        </p:nvPicPr>
        <p:blipFill rotWithShape="1">
          <a:blip r:embed="rId3">
            <a:alphaModFix/>
          </a:blip>
          <a:srcRect b="85225"/>
          <a:stretch/>
        </p:blipFill>
        <p:spPr>
          <a:xfrm>
            <a:off x="-3571" y="0"/>
            <a:ext cx="12224773" cy="1013288"/>
          </a:xfrm>
          <a:prstGeom prst="rect">
            <a:avLst/>
          </a:prstGeom>
          <a:noFill/>
          <a:ln>
            <a:noFill/>
          </a:ln>
        </p:spPr>
      </p:pic>
      <p:pic>
        <p:nvPicPr>
          <p:cNvPr id="95" name="Google Shape;95;p2">
            <a:extLst>
              <a:ext uri="{FF2B5EF4-FFF2-40B4-BE49-F238E27FC236}">
                <a16:creationId xmlns:a16="http://schemas.microsoft.com/office/drawing/2014/main" id="{0E914AFC-7F02-F01D-DE2C-3FE722A76BB1}"/>
              </a:ext>
            </a:extLst>
          </p:cNvPr>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96" name="Google Shape;96;p2">
            <a:extLst>
              <a:ext uri="{FF2B5EF4-FFF2-40B4-BE49-F238E27FC236}">
                <a16:creationId xmlns:a16="http://schemas.microsoft.com/office/drawing/2014/main" id="{74F565B2-F12A-1437-CEB9-C4229A34AC4F}"/>
              </a:ext>
            </a:extLst>
          </p:cNvPr>
          <p:cNvSpPr/>
          <p:nvPr/>
        </p:nvSpPr>
        <p:spPr>
          <a:xfrm>
            <a:off x="154722" y="90489"/>
            <a:ext cx="9827492"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sym typeface="Montserrat"/>
              </a:rPr>
              <a:t>No-code/Low-Code Agentic Platforms</a:t>
            </a:r>
            <a:endParaRPr dirty="0"/>
          </a:p>
        </p:txBody>
      </p:sp>
      <p:sp>
        <p:nvSpPr>
          <p:cNvPr id="97" name="Google Shape;97;p2">
            <a:extLst>
              <a:ext uri="{FF2B5EF4-FFF2-40B4-BE49-F238E27FC236}">
                <a16:creationId xmlns:a16="http://schemas.microsoft.com/office/drawing/2014/main" id="{63E83344-817D-8974-A0EB-E8A8602FC29F}"/>
              </a:ext>
            </a:extLst>
          </p:cNvPr>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sp>
        <p:nvSpPr>
          <p:cNvPr id="98" name="Google Shape;98;p2">
            <a:extLst>
              <a:ext uri="{FF2B5EF4-FFF2-40B4-BE49-F238E27FC236}">
                <a16:creationId xmlns:a16="http://schemas.microsoft.com/office/drawing/2014/main" id="{F462FC59-298A-E2F3-CC1F-F9AD4DD786A3}"/>
              </a:ext>
            </a:extLst>
          </p:cNvPr>
          <p:cNvSpPr txBox="1"/>
          <p:nvPr/>
        </p:nvSpPr>
        <p:spPr>
          <a:xfrm>
            <a:off x="206400" y="809050"/>
            <a:ext cx="11985600" cy="1469950"/>
          </a:xfrm>
          <a:prstGeom prst="rect">
            <a:avLst/>
          </a:prstGeom>
          <a:noFill/>
          <a:ln>
            <a:noFill/>
          </a:ln>
        </p:spPr>
        <p:txBody>
          <a:bodyPr spcFirstLastPara="1" wrap="square" lIns="91425" tIns="45700" rIns="91425" bIns="45700" anchor="t" anchorCtr="0">
            <a:normAutofit/>
          </a:bodyPr>
          <a:lstStyle/>
          <a:p>
            <a:pPr marL="228600" indent="-228600">
              <a:lnSpc>
                <a:spcPct val="90000"/>
              </a:lnSpc>
              <a:buClr>
                <a:srgbClr val="1BBFD1"/>
              </a:buClr>
              <a:buSzPts val="1800"/>
              <a:buFont typeface="Arial"/>
              <a:buChar char="•"/>
            </a:pPr>
            <a:r>
              <a:rPr lang="en-US" dirty="0">
                <a:solidFill>
                  <a:schemeClr val="dk1"/>
                </a:solidFill>
                <a:latin typeface="Montserrat"/>
              </a:rPr>
              <a:t>Visual builders and platforms that let you create agents without writing code.</a:t>
            </a:r>
          </a:p>
        </p:txBody>
      </p:sp>
      <p:sp>
        <p:nvSpPr>
          <p:cNvPr id="3" name="Shape 4">
            <a:extLst>
              <a:ext uri="{FF2B5EF4-FFF2-40B4-BE49-F238E27FC236}">
                <a16:creationId xmlns:a16="http://schemas.microsoft.com/office/drawing/2014/main" id="{237468D3-A911-B43D-06BA-ACDA69ED2E5D}"/>
              </a:ext>
            </a:extLst>
          </p:cNvPr>
          <p:cNvSpPr/>
          <p:nvPr/>
        </p:nvSpPr>
        <p:spPr>
          <a:xfrm>
            <a:off x="487680" y="12782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4" name="Shape 5">
            <a:extLst>
              <a:ext uri="{FF2B5EF4-FFF2-40B4-BE49-F238E27FC236}">
                <a16:creationId xmlns:a16="http://schemas.microsoft.com/office/drawing/2014/main" id="{492811E1-EABB-AABB-864B-5FAAA38FF0F9}"/>
              </a:ext>
            </a:extLst>
          </p:cNvPr>
          <p:cNvSpPr/>
          <p:nvPr/>
        </p:nvSpPr>
        <p:spPr>
          <a:xfrm>
            <a:off x="487680" y="1278226"/>
            <a:ext cx="73152" cy="1036320"/>
          </a:xfrm>
          <a:prstGeom prst="rect">
            <a:avLst/>
          </a:prstGeom>
          <a:solidFill>
            <a:srgbClr val="10B981"/>
          </a:solidFill>
          <a:ln/>
        </p:spPr>
        <p:txBody>
          <a:bodyPr/>
          <a:lstStyle/>
          <a:p>
            <a:endParaRPr lang="en-CA" sz="2400">
              <a:latin typeface="Montserrat" panose="00000500000000000000" pitchFamily="2" charset="0"/>
            </a:endParaRPr>
          </a:p>
        </p:txBody>
      </p:sp>
      <p:sp>
        <p:nvSpPr>
          <p:cNvPr id="6" name="Text 6">
            <a:extLst>
              <a:ext uri="{FF2B5EF4-FFF2-40B4-BE49-F238E27FC236}">
                <a16:creationId xmlns:a16="http://schemas.microsoft.com/office/drawing/2014/main" id="{0BC647D5-2448-9F85-88C9-282503C26509}"/>
              </a:ext>
            </a:extLst>
          </p:cNvPr>
          <p:cNvSpPr/>
          <p:nvPr/>
        </p:nvSpPr>
        <p:spPr>
          <a:xfrm>
            <a:off x="670560" y="13148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n8n</a:t>
            </a:r>
            <a:endParaRPr lang="en-US" sz="1467" dirty="0">
              <a:latin typeface="Montserrat" panose="00000500000000000000" pitchFamily="2" charset="0"/>
            </a:endParaRPr>
          </a:p>
        </p:txBody>
      </p:sp>
      <p:sp>
        <p:nvSpPr>
          <p:cNvPr id="7" name="Text 7">
            <a:extLst>
              <a:ext uri="{FF2B5EF4-FFF2-40B4-BE49-F238E27FC236}">
                <a16:creationId xmlns:a16="http://schemas.microsoft.com/office/drawing/2014/main" id="{1FBD0449-8AB3-2AC4-BFEF-1F5C743C463F}"/>
              </a:ext>
            </a:extLst>
          </p:cNvPr>
          <p:cNvSpPr/>
          <p:nvPr/>
        </p:nvSpPr>
        <p:spPr>
          <a:xfrm>
            <a:off x="3048000" y="1314802"/>
            <a:ext cx="853440" cy="304800"/>
          </a:xfrm>
          <a:prstGeom prst="rect">
            <a:avLst/>
          </a:prstGeom>
          <a:noFill/>
          <a:ln/>
        </p:spPr>
        <p:txBody>
          <a:bodyPr wrap="square" lIns="0" tIns="0" rIns="0" bIns="0" rtlCol="0" anchor="ctr"/>
          <a:lstStyle/>
          <a:p>
            <a:pPr algn="r"/>
            <a:r>
              <a:rPr lang="en-US" sz="1067" b="1" dirty="0">
                <a:solidFill>
                  <a:srgbClr val="10B981"/>
                </a:solidFill>
                <a:latin typeface="Montserrat" panose="00000500000000000000" pitchFamily="2" charset="0"/>
                <a:ea typeface="Calibri" pitchFamily="34" charset="-122"/>
                <a:cs typeface="Calibri" pitchFamily="34" charset="-120"/>
              </a:rPr>
              <a:t>Open</a:t>
            </a:r>
            <a:endParaRPr lang="en-US" sz="1067" dirty="0">
              <a:latin typeface="Montserrat" panose="00000500000000000000" pitchFamily="2" charset="0"/>
            </a:endParaRPr>
          </a:p>
        </p:txBody>
      </p:sp>
      <p:sp>
        <p:nvSpPr>
          <p:cNvPr id="8" name="Text 8">
            <a:extLst>
              <a:ext uri="{FF2B5EF4-FFF2-40B4-BE49-F238E27FC236}">
                <a16:creationId xmlns:a16="http://schemas.microsoft.com/office/drawing/2014/main" id="{23AE1C03-3FFE-6000-8B3B-38173E281339}"/>
              </a:ext>
            </a:extLst>
          </p:cNvPr>
          <p:cNvSpPr/>
          <p:nvPr/>
        </p:nvSpPr>
        <p:spPr>
          <a:xfrm>
            <a:off x="670560" y="16683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Open-source workflow automation, 400+ integrations, AI agent nodes</a:t>
            </a:r>
            <a:endParaRPr lang="en-US" sz="1200" dirty="0">
              <a:latin typeface="Montserrat" panose="00000500000000000000" pitchFamily="2" charset="0"/>
            </a:endParaRPr>
          </a:p>
        </p:txBody>
      </p:sp>
      <p:sp>
        <p:nvSpPr>
          <p:cNvPr id="9" name="Shape 9">
            <a:extLst>
              <a:ext uri="{FF2B5EF4-FFF2-40B4-BE49-F238E27FC236}">
                <a16:creationId xmlns:a16="http://schemas.microsoft.com/office/drawing/2014/main" id="{FAD83386-50DF-8E42-8C23-20391620E94F}"/>
              </a:ext>
            </a:extLst>
          </p:cNvPr>
          <p:cNvSpPr/>
          <p:nvPr/>
        </p:nvSpPr>
        <p:spPr>
          <a:xfrm>
            <a:off x="4328160" y="12782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10" name="Shape 10">
            <a:extLst>
              <a:ext uri="{FF2B5EF4-FFF2-40B4-BE49-F238E27FC236}">
                <a16:creationId xmlns:a16="http://schemas.microsoft.com/office/drawing/2014/main" id="{B4EEA911-E3F9-868F-5D2D-DA9A6CCDD4D6}"/>
              </a:ext>
            </a:extLst>
          </p:cNvPr>
          <p:cNvSpPr/>
          <p:nvPr/>
        </p:nvSpPr>
        <p:spPr>
          <a:xfrm>
            <a:off x="4328160" y="1278226"/>
            <a:ext cx="73152" cy="1036320"/>
          </a:xfrm>
          <a:prstGeom prst="rect">
            <a:avLst/>
          </a:prstGeom>
          <a:solidFill>
            <a:srgbClr val="10B981"/>
          </a:solidFill>
          <a:ln/>
        </p:spPr>
        <p:txBody>
          <a:bodyPr/>
          <a:lstStyle/>
          <a:p>
            <a:endParaRPr lang="en-CA" sz="2400">
              <a:latin typeface="Montserrat" panose="00000500000000000000" pitchFamily="2" charset="0"/>
            </a:endParaRPr>
          </a:p>
        </p:txBody>
      </p:sp>
      <p:sp>
        <p:nvSpPr>
          <p:cNvPr id="12" name="Text 11">
            <a:extLst>
              <a:ext uri="{FF2B5EF4-FFF2-40B4-BE49-F238E27FC236}">
                <a16:creationId xmlns:a16="http://schemas.microsoft.com/office/drawing/2014/main" id="{EB492A82-8985-E075-DBD6-7E308C231B74}"/>
              </a:ext>
            </a:extLst>
          </p:cNvPr>
          <p:cNvSpPr/>
          <p:nvPr/>
        </p:nvSpPr>
        <p:spPr>
          <a:xfrm>
            <a:off x="4511040" y="13148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Flowise</a:t>
            </a:r>
            <a:endParaRPr lang="en-US" sz="1467" dirty="0">
              <a:latin typeface="Montserrat" panose="00000500000000000000" pitchFamily="2" charset="0"/>
            </a:endParaRPr>
          </a:p>
        </p:txBody>
      </p:sp>
      <p:sp>
        <p:nvSpPr>
          <p:cNvPr id="13" name="Text 12">
            <a:extLst>
              <a:ext uri="{FF2B5EF4-FFF2-40B4-BE49-F238E27FC236}">
                <a16:creationId xmlns:a16="http://schemas.microsoft.com/office/drawing/2014/main" id="{46A023CC-3D66-B84E-C40B-A8AE973DAF4C}"/>
              </a:ext>
            </a:extLst>
          </p:cNvPr>
          <p:cNvSpPr/>
          <p:nvPr/>
        </p:nvSpPr>
        <p:spPr>
          <a:xfrm>
            <a:off x="6888480" y="1314802"/>
            <a:ext cx="853440" cy="304800"/>
          </a:xfrm>
          <a:prstGeom prst="rect">
            <a:avLst/>
          </a:prstGeom>
          <a:noFill/>
          <a:ln/>
        </p:spPr>
        <p:txBody>
          <a:bodyPr wrap="square" lIns="0" tIns="0" rIns="0" bIns="0" rtlCol="0" anchor="ctr"/>
          <a:lstStyle/>
          <a:p>
            <a:pPr algn="r"/>
            <a:r>
              <a:rPr lang="en-US" sz="1067" b="1" dirty="0">
                <a:solidFill>
                  <a:srgbClr val="10B981"/>
                </a:solidFill>
                <a:latin typeface="Montserrat" panose="00000500000000000000" pitchFamily="2" charset="0"/>
                <a:ea typeface="Calibri" pitchFamily="34" charset="-122"/>
                <a:cs typeface="Calibri" pitchFamily="34" charset="-120"/>
              </a:rPr>
              <a:t>Open</a:t>
            </a:r>
            <a:endParaRPr lang="en-US" sz="1067" dirty="0">
              <a:latin typeface="Montserrat" panose="00000500000000000000" pitchFamily="2" charset="0"/>
            </a:endParaRPr>
          </a:p>
        </p:txBody>
      </p:sp>
      <p:sp>
        <p:nvSpPr>
          <p:cNvPr id="18" name="Text 13">
            <a:extLst>
              <a:ext uri="{FF2B5EF4-FFF2-40B4-BE49-F238E27FC236}">
                <a16:creationId xmlns:a16="http://schemas.microsoft.com/office/drawing/2014/main" id="{1B7157B3-7065-1A26-712D-7CD79847BB52}"/>
              </a:ext>
            </a:extLst>
          </p:cNvPr>
          <p:cNvSpPr/>
          <p:nvPr/>
        </p:nvSpPr>
        <p:spPr>
          <a:xfrm>
            <a:off x="4511040" y="16683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Open-source, drag-and-drop LLM flow builder, LangChain-based</a:t>
            </a:r>
            <a:endParaRPr lang="en-US" sz="1200" dirty="0">
              <a:latin typeface="Montserrat" panose="00000500000000000000" pitchFamily="2" charset="0"/>
            </a:endParaRPr>
          </a:p>
        </p:txBody>
      </p:sp>
      <p:sp>
        <p:nvSpPr>
          <p:cNvPr id="21" name="Shape 14">
            <a:extLst>
              <a:ext uri="{FF2B5EF4-FFF2-40B4-BE49-F238E27FC236}">
                <a16:creationId xmlns:a16="http://schemas.microsoft.com/office/drawing/2014/main" id="{7C2D8631-1C91-26C2-DDAC-2DB2A058C15C}"/>
              </a:ext>
            </a:extLst>
          </p:cNvPr>
          <p:cNvSpPr/>
          <p:nvPr/>
        </p:nvSpPr>
        <p:spPr>
          <a:xfrm>
            <a:off x="8168640" y="12782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27" name="Shape 15">
            <a:extLst>
              <a:ext uri="{FF2B5EF4-FFF2-40B4-BE49-F238E27FC236}">
                <a16:creationId xmlns:a16="http://schemas.microsoft.com/office/drawing/2014/main" id="{3609DB28-5FF6-5379-6EB8-D6AD361D9F8C}"/>
              </a:ext>
            </a:extLst>
          </p:cNvPr>
          <p:cNvSpPr/>
          <p:nvPr/>
        </p:nvSpPr>
        <p:spPr>
          <a:xfrm>
            <a:off x="8168640" y="1278226"/>
            <a:ext cx="73152" cy="1036320"/>
          </a:xfrm>
          <a:prstGeom prst="rect">
            <a:avLst/>
          </a:prstGeom>
          <a:solidFill>
            <a:srgbClr val="10B981"/>
          </a:solidFill>
          <a:ln/>
        </p:spPr>
        <p:txBody>
          <a:bodyPr/>
          <a:lstStyle/>
          <a:p>
            <a:endParaRPr lang="en-CA" sz="2400">
              <a:latin typeface="Montserrat" panose="00000500000000000000" pitchFamily="2" charset="0"/>
            </a:endParaRPr>
          </a:p>
        </p:txBody>
      </p:sp>
      <p:sp>
        <p:nvSpPr>
          <p:cNvPr id="28" name="Text 16">
            <a:extLst>
              <a:ext uri="{FF2B5EF4-FFF2-40B4-BE49-F238E27FC236}">
                <a16:creationId xmlns:a16="http://schemas.microsoft.com/office/drawing/2014/main" id="{FBD07BBE-AD9E-D272-6D1A-849F8B29A07E}"/>
              </a:ext>
            </a:extLst>
          </p:cNvPr>
          <p:cNvSpPr/>
          <p:nvPr/>
        </p:nvSpPr>
        <p:spPr>
          <a:xfrm>
            <a:off x="8351520" y="13148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Langflow</a:t>
            </a:r>
            <a:endParaRPr lang="en-US" sz="1467" dirty="0">
              <a:latin typeface="Montserrat" panose="00000500000000000000" pitchFamily="2" charset="0"/>
            </a:endParaRPr>
          </a:p>
        </p:txBody>
      </p:sp>
      <p:sp>
        <p:nvSpPr>
          <p:cNvPr id="35" name="Text 17">
            <a:extLst>
              <a:ext uri="{FF2B5EF4-FFF2-40B4-BE49-F238E27FC236}">
                <a16:creationId xmlns:a16="http://schemas.microsoft.com/office/drawing/2014/main" id="{B56F063F-A948-AB7D-3806-3F42915E60E8}"/>
              </a:ext>
            </a:extLst>
          </p:cNvPr>
          <p:cNvSpPr/>
          <p:nvPr/>
        </p:nvSpPr>
        <p:spPr>
          <a:xfrm>
            <a:off x="10728960" y="1314802"/>
            <a:ext cx="853440" cy="304800"/>
          </a:xfrm>
          <a:prstGeom prst="rect">
            <a:avLst/>
          </a:prstGeom>
          <a:noFill/>
          <a:ln/>
        </p:spPr>
        <p:txBody>
          <a:bodyPr wrap="square" lIns="0" tIns="0" rIns="0" bIns="0" rtlCol="0" anchor="ctr"/>
          <a:lstStyle/>
          <a:p>
            <a:pPr algn="r"/>
            <a:r>
              <a:rPr lang="en-US" sz="1067" b="1" dirty="0">
                <a:solidFill>
                  <a:srgbClr val="10B981"/>
                </a:solidFill>
                <a:latin typeface="Montserrat" panose="00000500000000000000" pitchFamily="2" charset="0"/>
                <a:ea typeface="Calibri" pitchFamily="34" charset="-122"/>
                <a:cs typeface="Calibri" pitchFamily="34" charset="-120"/>
              </a:rPr>
              <a:t>Open</a:t>
            </a:r>
            <a:endParaRPr lang="en-US" sz="1067" dirty="0">
              <a:latin typeface="Montserrat" panose="00000500000000000000" pitchFamily="2" charset="0"/>
            </a:endParaRPr>
          </a:p>
        </p:txBody>
      </p:sp>
      <p:sp>
        <p:nvSpPr>
          <p:cNvPr id="37" name="Text 18">
            <a:extLst>
              <a:ext uri="{FF2B5EF4-FFF2-40B4-BE49-F238E27FC236}">
                <a16:creationId xmlns:a16="http://schemas.microsoft.com/office/drawing/2014/main" id="{79EF94C6-A889-8362-686A-D1478CE0D197}"/>
              </a:ext>
            </a:extLst>
          </p:cNvPr>
          <p:cNvSpPr/>
          <p:nvPr/>
        </p:nvSpPr>
        <p:spPr>
          <a:xfrm>
            <a:off x="8351520" y="16683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Visual IDE for LangChain, supports custom Python components</a:t>
            </a:r>
            <a:endParaRPr lang="en-US" sz="1200" dirty="0">
              <a:latin typeface="Montserrat" panose="00000500000000000000" pitchFamily="2" charset="0"/>
            </a:endParaRPr>
          </a:p>
        </p:txBody>
      </p:sp>
      <p:sp>
        <p:nvSpPr>
          <p:cNvPr id="46" name="Shape 19">
            <a:extLst>
              <a:ext uri="{FF2B5EF4-FFF2-40B4-BE49-F238E27FC236}">
                <a16:creationId xmlns:a16="http://schemas.microsoft.com/office/drawing/2014/main" id="{E9BBBEF4-2FBF-21F9-E208-15FB04063677}"/>
              </a:ext>
            </a:extLst>
          </p:cNvPr>
          <p:cNvSpPr/>
          <p:nvPr/>
        </p:nvSpPr>
        <p:spPr>
          <a:xfrm>
            <a:off x="487680" y="24974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79" name="Shape 20">
            <a:extLst>
              <a:ext uri="{FF2B5EF4-FFF2-40B4-BE49-F238E27FC236}">
                <a16:creationId xmlns:a16="http://schemas.microsoft.com/office/drawing/2014/main" id="{137DEAF6-4B98-8B9E-633B-5AB7FCEB5EAC}"/>
              </a:ext>
            </a:extLst>
          </p:cNvPr>
          <p:cNvSpPr/>
          <p:nvPr/>
        </p:nvSpPr>
        <p:spPr>
          <a:xfrm>
            <a:off x="487680" y="2497426"/>
            <a:ext cx="73152" cy="1036320"/>
          </a:xfrm>
          <a:prstGeom prst="rect">
            <a:avLst/>
          </a:prstGeom>
          <a:solidFill>
            <a:srgbClr val="10B981"/>
          </a:solidFill>
          <a:ln/>
        </p:spPr>
        <p:txBody>
          <a:bodyPr/>
          <a:lstStyle/>
          <a:p>
            <a:endParaRPr lang="en-CA" sz="2400">
              <a:latin typeface="Montserrat" panose="00000500000000000000" pitchFamily="2" charset="0"/>
            </a:endParaRPr>
          </a:p>
        </p:txBody>
      </p:sp>
      <p:sp>
        <p:nvSpPr>
          <p:cNvPr id="80" name="Text 21">
            <a:extLst>
              <a:ext uri="{FF2B5EF4-FFF2-40B4-BE49-F238E27FC236}">
                <a16:creationId xmlns:a16="http://schemas.microsoft.com/office/drawing/2014/main" id="{5E0F53BA-C23E-0BB5-0AFA-8ACC28E941E9}"/>
              </a:ext>
            </a:extLst>
          </p:cNvPr>
          <p:cNvSpPr/>
          <p:nvPr/>
        </p:nvSpPr>
        <p:spPr>
          <a:xfrm>
            <a:off x="670560" y="25340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Dify</a:t>
            </a:r>
            <a:endParaRPr lang="en-US" sz="1467" dirty="0">
              <a:latin typeface="Montserrat" panose="00000500000000000000" pitchFamily="2" charset="0"/>
            </a:endParaRPr>
          </a:p>
        </p:txBody>
      </p:sp>
      <p:sp>
        <p:nvSpPr>
          <p:cNvPr id="81" name="Text 22">
            <a:extLst>
              <a:ext uri="{FF2B5EF4-FFF2-40B4-BE49-F238E27FC236}">
                <a16:creationId xmlns:a16="http://schemas.microsoft.com/office/drawing/2014/main" id="{85759E38-4F5E-7F5D-A640-5E2EBC7D97DD}"/>
              </a:ext>
            </a:extLst>
          </p:cNvPr>
          <p:cNvSpPr/>
          <p:nvPr/>
        </p:nvSpPr>
        <p:spPr>
          <a:xfrm>
            <a:off x="3048000" y="2534002"/>
            <a:ext cx="853440" cy="304800"/>
          </a:xfrm>
          <a:prstGeom prst="rect">
            <a:avLst/>
          </a:prstGeom>
          <a:noFill/>
          <a:ln/>
        </p:spPr>
        <p:txBody>
          <a:bodyPr wrap="square" lIns="0" tIns="0" rIns="0" bIns="0" rtlCol="0" anchor="ctr"/>
          <a:lstStyle/>
          <a:p>
            <a:pPr algn="r"/>
            <a:r>
              <a:rPr lang="en-US" sz="1067" b="1" dirty="0">
                <a:solidFill>
                  <a:srgbClr val="10B981"/>
                </a:solidFill>
                <a:latin typeface="Montserrat" panose="00000500000000000000" pitchFamily="2" charset="0"/>
                <a:ea typeface="Calibri" pitchFamily="34" charset="-122"/>
                <a:cs typeface="Calibri" pitchFamily="34" charset="-120"/>
              </a:rPr>
              <a:t>Open</a:t>
            </a:r>
            <a:endParaRPr lang="en-US" sz="1067" dirty="0">
              <a:latin typeface="Montserrat" panose="00000500000000000000" pitchFamily="2" charset="0"/>
            </a:endParaRPr>
          </a:p>
        </p:txBody>
      </p:sp>
      <p:sp>
        <p:nvSpPr>
          <p:cNvPr id="82" name="Text 23">
            <a:extLst>
              <a:ext uri="{FF2B5EF4-FFF2-40B4-BE49-F238E27FC236}">
                <a16:creationId xmlns:a16="http://schemas.microsoft.com/office/drawing/2014/main" id="{FE8AD0F7-1D7B-E001-079A-63F43D141E72}"/>
              </a:ext>
            </a:extLst>
          </p:cNvPr>
          <p:cNvSpPr/>
          <p:nvPr/>
        </p:nvSpPr>
        <p:spPr>
          <a:xfrm>
            <a:off x="670560" y="28875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Open-source LLMOps platform, RAG pipeline builder, prompt IDE</a:t>
            </a:r>
            <a:endParaRPr lang="en-US" sz="1200" dirty="0">
              <a:latin typeface="Montserrat" panose="00000500000000000000" pitchFamily="2" charset="0"/>
            </a:endParaRPr>
          </a:p>
        </p:txBody>
      </p:sp>
      <p:sp>
        <p:nvSpPr>
          <p:cNvPr id="83" name="Shape 24">
            <a:extLst>
              <a:ext uri="{FF2B5EF4-FFF2-40B4-BE49-F238E27FC236}">
                <a16:creationId xmlns:a16="http://schemas.microsoft.com/office/drawing/2014/main" id="{CB6D2AD4-2EDF-4FEF-4E97-DFC458FA1244}"/>
              </a:ext>
            </a:extLst>
          </p:cNvPr>
          <p:cNvSpPr/>
          <p:nvPr/>
        </p:nvSpPr>
        <p:spPr>
          <a:xfrm>
            <a:off x="4328160" y="24974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84" name="Shape 25">
            <a:extLst>
              <a:ext uri="{FF2B5EF4-FFF2-40B4-BE49-F238E27FC236}">
                <a16:creationId xmlns:a16="http://schemas.microsoft.com/office/drawing/2014/main" id="{E03EFBE5-CEBE-6A82-A982-1691EE23272C}"/>
              </a:ext>
            </a:extLst>
          </p:cNvPr>
          <p:cNvSpPr/>
          <p:nvPr/>
        </p:nvSpPr>
        <p:spPr>
          <a:xfrm>
            <a:off x="4328160" y="2497426"/>
            <a:ext cx="73152" cy="1036320"/>
          </a:xfrm>
          <a:prstGeom prst="rect">
            <a:avLst/>
          </a:prstGeom>
          <a:solidFill>
            <a:srgbClr val="8B5CF6"/>
          </a:solidFill>
          <a:ln/>
        </p:spPr>
        <p:txBody>
          <a:bodyPr/>
          <a:lstStyle/>
          <a:p>
            <a:endParaRPr lang="en-CA" sz="2400">
              <a:latin typeface="Montserrat" panose="00000500000000000000" pitchFamily="2" charset="0"/>
            </a:endParaRPr>
          </a:p>
        </p:txBody>
      </p:sp>
      <p:sp>
        <p:nvSpPr>
          <p:cNvPr id="85" name="Text 26">
            <a:extLst>
              <a:ext uri="{FF2B5EF4-FFF2-40B4-BE49-F238E27FC236}">
                <a16:creationId xmlns:a16="http://schemas.microsoft.com/office/drawing/2014/main" id="{675B9845-40AD-1289-6ADF-D8ED7B6A2590}"/>
              </a:ext>
            </a:extLst>
          </p:cNvPr>
          <p:cNvSpPr/>
          <p:nvPr/>
        </p:nvSpPr>
        <p:spPr>
          <a:xfrm>
            <a:off x="4511040" y="25340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Zapier AI</a:t>
            </a:r>
            <a:endParaRPr lang="en-US" sz="1467" dirty="0">
              <a:latin typeface="Montserrat" panose="00000500000000000000" pitchFamily="2" charset="0"/>
            </a:endParaRPr>
          </a:p>
        </p:txBody>
      </p:sp>
      <p:sp>
        <p:nvSpPr>
          <p:cNvPr id="86" name="Text 27">
            <a:extLst>
              <a:ext uri="{FF2B5EF4-FFF2-40B4-BE49-F238E27FC236}">
                <a16:creationId xmlns:a16="http://schemas.microsoft.com/office/drawing/2014/main" id="{C0FE1408-AD6E-2E24-A50B-AEACEA38A8EB}"/>
              </a:ext>
            </a:extLst>
          </p:cNvPr>
          <p:cNvSpPr/>
          <p:nvPr/>
        </p:nvSpPr>
        <p:spPr>
          <a:xfrm>
            <a:off x="6888480" y="2534002"/>
            <a:ext cx="853440" cy="304800"/>
          </a:xfrm>
          <a:prstGeom prst="rect">
            <a:avLst/>
          </a:prstGeom>
          <a:noFill/>
          <a:ln/>
        </p:spPr>
        <p:txBody>
          <a:bodyPr wrap="square" lIns="0" tIns="0" rIns="0" bIns="0" rtlCol="0" anchor="ctr"/>
          <a:lstStyle/>
          <a:p>
            <a:pPr algn="r"/>
            <a:r>
              <a:rPr lang="en-US" sz="1067" b="1" dirty="0">
                <a:solidFill>
                  <a:srgbClr val="8B5CF6"/>
                </a:solidFill>
                <a:latin typeface="Montserrat" panose="00000500000000000000" pitchFamily="2" charset="0"/>
                <a:ea typeface="Calibri" pitchFamily="34" charset="-122"/>
                <a:cs typeface="Calibri" pitchFamily="34" charset="-120"/>
              </a:rPr>
              <a:t>SaaS</a:t>
            </a:r>
            <a:endParaRPr lang="en-US" sz="1067" dirty="0">
              <a:latin typeface="Montserrat" panose="00000500000000000000" pitchFamily="2" charset="0"/>
            </a:endParaRPr>
          </a:p>
        </p:txBody>
      </p:sp>
      <p:sp>
        <p:nvSpPr>
          <p:cNvPr id="87" name="Text 28">
            <a:extLst>
              <a:ext uri="{FF2B5EF4-FFF2-40B4-BE49-F238E27FC236}">
                <a16:creationId xmlns:a16="http://schemas.microsoft.com/office/drawing/2014/main" id="{A9D554FB-BC96-790C-8D94-7D8AA79B13AE}"/>
              </a:ext>
            </a:extLst>
          </p:cNvPr>
          <p:cNvSpPr/>
          <p:nvPr/>
        </p:nvSpPr>
        <p:spPr>
          <a:xfrm>
            <a:off x="4511040" y="28875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AI-powered automation across 6,000+ apps, natural language setup</a:t>
            </a:r>
            <a:endParaRPr lang="en-US" sz="1200" dirty="0">
              <a:latin typeface="Montserrat" panose="00000500000000000000" pitchFamily="2" charset="0"/>
            </a:endParaRPr>
          </a:p>
        </p:txBody>
      </p:sp>
      <p:sp>
        <p:nvSpPr>
          <p:cNvPr id="88" name="Shape 29">
            <a:extLst>
              <a:ext uri="{FF2B5EF4-FFF2-40B4-BE49-F238E27FC236}">
                <a16:creationId xmlns:a16="http://schemas.microsoft.com/office/drawing/2014/main" id="{032A1834-DA0A-FC63-74E9-F3FC804907A1}"/>
              </a:ext>
            </a:extLst>
          </p:cNvPr>
          <p:cNvSpPr/>
          <p:nvPr/>
        </p:nvSpPr>
        <p:spPr>
          <a:xfrm>
            <a:off x="8168640" y="24974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89" name="Shape 30">
            <a:extLst>
              <a:ext uri="{FF2B5EF4-FFF2-40B4-BE49-F238E27FC236}">
                <a16:creationId xmlns:a16="http://schemas.microsoft.com/office/drawing/2014/main" id="{E3CEE307-D54A-A381-7056-23C3B9AC29C9}"/>
              </a:ext>
            </a:extLst>
          </p:cNvPr>
          <p:cNvSpPr/>
          <p:nvPr/>
        </p:nvSpPr>
        <p:spPr>
          <a:xfrm>
            <a:off x="8168640" y="2497426"/>
            <a:ext cx="73152" cy="1036320"/>
          </a:xfrm>
          <a:prstGeom prst="rect">
            <a:avLst/>
          </a:prstGeom>
          <a:solidFill>
            <a:srgbClr val="8B5CF6"/>
          </a:solidFill>
          <a:ln/>
        </p:spPr>
        <p:txBody>
          <a:bodyPr/>
          <a:lstStyle/>
          <a:p>
            <a:endParaRPr lang="en-CA" sz="2400">
              <a:latin typeface="Montserrat" panose="00000500000000000000" pitchFamily="2" charset="0"/>
            </a:endParaRPr>
          </a:p>
        </p:txBody>
      </p:sp>
      <p:sp>
        <p:nvSpPr>
          <p:cNvPr id="90" name="Text 31">
            <a:extLst>
              <a:ext uri="{FF2B5EF4-FFF2-40B4-BE49-F238E27FC236}">
                <a16:creationId xmlns:a16="http://schemas.microsoft.com/office/drawing/2014/main" id="{2906EA01-42BF-3499-E259-E19597B4CFB5}"/>
              </a:ext>
            </a:extLst>
          </p:cNvPr>
          <p:cNvSpPr/>
          <p:nvPr/>
        </p:nvSpPr>
        <p:spPr>
          <a:xfrm>
            <a:off x="8351520" y="25340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Botpress</a:t>
            </a:r>
            <a:endParaRPr lang="en-US" sz="1467" dirty="0">
              <a:latin typeface="Montserrat" panose="00000500000000000000" pitchFamily="2" charset="0"/>
            </a:endParaRPr>
          </a:p>
        </p:txBody>
      </p:sp>
      <p:sp>
        <p:nvSpPr>
          <p:cNvPr id="91" name="Text 32">
            <a:extLst>
              <a:ext uri="{FF2B5EF4-FFF2-40B4-BE49-F238E27FC236}">
                <a16:creationId xmlns:a16="http://schemas.microsoft.com/office/drawing/2014/main" id="{88E001AC-2AD3-D26D-9A49-B369B72C596F}"/>
              </a:ext>
            </a:extLst>
          </p:cNvPr>
          <p:cNvSpPr/>
          <p:nvPr/>
        </p:nvSpPr>
        <p:spPr>
          <a:xfrm>
            <a:off x="10728960" y="2534002"/>
            <a:ext cx="853440" cy="304800"/>
          </a:xfrm>
          <a:prstGeom prst="rect">
            <a:avLst/>
          </a:prstGeom>
          <a:noFill/>
          <a:ln/>
        </p:spPr>
        <p:txBody>
          <a:bodyPr wrap="square" lIns="0" tIns="0" rIns="0" bIns="0" rtlCol="0" anchor="ctr"/>
          <a:lstStyle/>
          <a:p>
            <a:pPr algn="r"/>
            <a:r>
              <a:rPr lang="en-US" sz="1067" b="1" dirty="0">
                <a:solidFill>
                  <a:srgbClr val="8B5CF6"/>
                </a:solidFill>
                <a:latin typeface="Montserrat" panose="00000500000000000000" pitchFamily="2" charset="0"/>
                <a:ea typeface="Calibri" pitchFamily="34" charset="-122"/>
                <a:cs typeface="Calibri" pitchFamily="34" charset="-120"/>
              </a:rPr>
              <a:t>SaaS</a:t>
            </a:r>
            <a:endParaRPr lang="en-US" sz="1067" dirty="0">
              <a:latin typeface="Montserrat" panose="00000500000000000000" pitchFamily="2" charset="0"/>
            </a:endParaRPr>
          </a:p>
        </p:txBody>
      </p:sp>
      <p:sp>
        <p:nvSpPr>
          <p:cNvPr id="92" name="Text 33">
            <a:extLst>
              <a:ext uri="{FF2B5EF4-FFF2-40B4-BE49-F238E27FC236}">
                <a16:creationId xmlns:a16="http://schemas.microsoft.com/office/drawing/2014/main" id="{050F521E-C4A1-EB15-B044-F01F4580A86C}"/>
              </a:ext>
            </a:extLst>
          </p:cNvPr>
          <p:cNvSpPr/>
          <p:nvPr/>
        </p:nvSpPr>
        <p:spPr>
          <a:xfrm>
            <a:off x="8351520" y="28875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Conversational AI platform, visual flow builder, multi-channel</a:t>
            </a:r>
            <a:endParaRPr lang="en-US" sz="1200" dirty="0">
              <a:latin typeface="Montserrat" panose="00000500000000000000" pitchFamily="2" charset="0"/>
            </a:endParaRPr>
          </a:p>
        </p:txBody>
      </p:sp>
      <p:sp>
        <p:nvSpPr>
          <p:cNvPr id="93" name="Shape 34">
            <a:extLst>
              <a:ext uri="{FF2B5EF4-FFF2-40B4-BE49-F238E27FC236}">
                <a16:creationId xmlns:a16="http://schemas.microsoft.com/office/drawing/2014/main" id="{9D3FF005-BBA0-D53D-0F66-782D8BD65874}"/>
              </a:ext>
            </a:extLst>
          </p:cNvPr>
          <p:cNvSpPr/>
          <p:nvPr/>
        </p:nvSpPr>
        <p:spPr>
          <a:xfrm>
            <a:off x="487680" y="37166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94" name="Shape 35">
            <a:extLst>
              <a:ext uri="{FF2B5EF4-FFF2-40B4-BE49-F238E27FC236}">
                <a16:creationId xmlns:a16="http://schemas.microsoft.com/office/drawing/2014/main" id="{F88BDB7D-E7E1-5464-07E3-115D5C65358F}"/>
              </a:ext>
            </a:extLst>
          </p:cNvPr>
          <p:cNvSpPr/>
          <p:nvPr/>
        </p:nvSpPr>
        <p:spPr>
          <a:xfrm>
            <a:off x="487680" y="3716626"/>
            <a:ext cx="73152" cy="1036320"/>
          </a:xfrm>
          <a:prstGeom prst="rect">
            <a:avLst/>
          </a:prstGeom>
          <a:solidFill>
            <a:srgbClr val="8B5CF6"/>
          </a:solidFill>
          <a:ln/>
        </p:spPr>
        <p:txBody>
          <a:bodyPr/>
          <a:lstStyle/>
          <a:p>
            <a:endParaRPr lang="en-CA" sz="2400">
              <a:latin typeface="Montserrat" panose="00000500000000000000" pitchFamily="2" charset="0"/>
            </a:endParaRPr>
          </a:p>
        </p:txBody>
      </p:sp>
      <p:sp>
        <p:nvSpPr>
          <p:cNvPr id="99" name="Text 36">
            <a:extLst>
              <a:ext uri="{FF2B5EF4-FFF2-40B4-BE49-F238E27FC236}">
                <a16:creationId xmlns:a16="http://schemas.microsoft.com/office/drawing/2014/main" id="{32404ED9-9E62-EFE6-4929-31812E646603}"/>
              </a:ext>
            </a:extLst>
          </p:cNvPr>
          <p:cNvSpPr/>
          <p:nvPr/>
        </p:nvSpPr>
        <p:spPr>
          <a:xfrm>
            <a:off x="670560" y="37532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Relevance AI</a:t>
            </a:r>
            <a:endParaRPr lang="en-US" sz="1467" dirty="0">
              <a:latin typeface="Montserrat" panose="00000500000000000000" pitchFamily="2" charset="0"/>
            </a:endParaRPr>
          </a:p>
        </p:txBody>
      </p:sp>
      <p:sp>
        <p:nvSpPr>
          <p:cNvPr id="100" name="Text 37">
            <a:extLst>
              <a:ext uri="{FF2B5EF4-FFF2-40B4-BE49-F238E27FC236}">
                <a16:creationId xmlns:a16="http://schemas.microsoft.com/office/drawing/2014/main" id="{913CC16C-C5B8-3C6E-5879-8EF3C8552DCF}"/>
              </a:ext>
            </a:extLst>
          </p:cNvPr>
          <p:cNvSpPr/>
          <p:nvPr/>
        </p:nvSpPr>
        <p:spPr>
          <a:xfrm>
            <a:off x="3048000" y="3753202"/>
            <a:ext cx="853440" cy="304800"/>
          </a:xfrm>
          <a:prstGeom prst="rect">
            <a:avLst/>
          </a:prstGeom>
          <a:noFill/>
          <a:ln/>
        </p:spPr>
        <p:txBody>
          <a:bodyPr wrap="square" lIns="0" tIns="0" rIns="0" bIns="0" rtlCol="0" anchor="ctr"/>
          <a:lstStyle/>
          <a:p>
            <a:pPr algn="r"/>
            <a:r>
              <a:rPr lang="en-US" sz="1067" b="1" dirty="0">
                <a:solidFill>
                  <a:srgbClr val="8B5CF6"/>
                </a:solidFill>
                <a:latin typeface="Montserrat" panose="00000500000000000000" pitchFamily="2" charset="0"/>
                <a:ea typeface="Calibri" pitchFamily="34" charset="-122"/>
                <a:cs typeface="Calibri" pitchFamily="34" charset="-120"/>
              </a:rPr>
              <a:t>SaaS</a:t>
            </a:r>
            <a:endParaRPr lang="en-US" sz="1067" dirty="0">
              <a:latin typeface="Montserrat" panose="00000500000000000000" pitchFamily="2" charset="0"/>
            </a:endParaRPr>
          </a:p>
        </p:txBody>
      </p:sp>
      <p:sp>
        <p:nvSpPr>
          <p:cNvPr id="101" name="Text 38">
            <a:extLst>
              <a:ext uri="{FF2B5EF4-FFF2-40B4-BE49-F238E27FC236}">
                <a16:creationId xmlns:a16="http://schemas.microsoft.com/office/drawing/2014/main" id="{6CC09E44-B842-6BB3-DFB3-3AF2522C3EFF}"/>
              </a:ext>
            </a:extLst>
          </p:cNvPr>
          <p:cNvSpPr/>
          <p:nvPr/>
        </p:nvSpPr>
        <p:spPr>
          <a:xfrm>
            <a:off x="670560" y="41067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No-code AI workforce, multi-step agent builder, tool integration</a:t>
            </a:r>
            <a:endParaRPr lang="en-US" sz="1200" dirty="0">
              <a:latin typeface="Montserrat" panose="00000500000000000000" pitchFamily="2" charset="0"/>
            </a:endParaRPr>
          </a:p>
        </p:txBody>
      </p:sp>
      <p:sp>
        <p:nvSpPr>
          <p:cNvPr id="102" name="Shape 39">
            <a:extLst>
              <a:ext uri="{FF2B5EF4-FFF2-40B4-BE49-F238E27FC236}">
                <a16:creationId xmlns:a16="http://schemas.microsoft.com/office/drawing/2014/main" id="{683DA98D-D451-9DD9-952C-D06F924774BD}"/>
              </a:ext>
            </a:extLst>
          </p:cNvPr>
          <p:cNvSpPr/>
          <p:nvPr/>
        </p:nvSpPr>
        <p:spPr>
          <a:xfrm>
            <a:off x="4328160" y="37166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103" name="Shape 40">
            <a:extLst>
              <a:ext uri="{FF2B5EF4-FFF2-40B4-BE49-F238E27FC236}">
                <a16:creationId xmlns:a16="http://schemas.microsoft.com/office/drawing/2014/main" id="{E2C73B76-383C-F599-F039-A2351975C569}"/>
              </a:ext>
            </a:extLst>
          </p:cNvPr>
          <p:cNvSpPr/>
          <p:nvPr/>
        </p:nvSpPr>
        <p:spPr>
          <a:xfrm>
            <a:off x="4328160" y="3716626"/>
            <a:ext cx="73152" cy="1036320"/>
          </a:xfrm>
          <a:prstGeom prst="rect">
            <a:avLst/>
          </a:prstGeom>
          <a:solidFill>
            <a:srgbClr val="8B5CF6"/>
          </a:solidFill>
          <a:ln/>
        </p:spPr>
        <p:txBody>
          <a:bodyPr/>
          <a:lstStyle/>
          <a:p>
            <a:endParaRPr lang="en-CA" sz="2400">
              <a:latin typeface="Montserrat" panose="00000500000000000000" pitchFamily="2" charset="0"/>
            </a:endParaRPr>
          </a:p>
        </p:txBody>
      </p:sp>
      <p:sp>
        <p:nvSpPr>
          <p:cNvPr id="104" name="Text 41">
            <a:extLst>
              <a:ext uri="{FF2B5EF4-FFF2-40B4-BE49-F238E27FC236}">
                <a16:creationId xmlns:a16="http://schemas.microsoft.com/office/drawing/2014/main" id="{1A387313-C811-3EDC-750E-270E0B7A161B}"/>
              </a:ext>
            </a:extLst>
          </p:cNvPr>
          <p:cNvSpPr/>
          <p:nvPr/>
        </p:nvSpPr>
        <p:spPr>
          <a:xfrm>
            <a:off x="4511040" y="37532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Lindy</a:t>
            </a:r>
            <a:endParaRPr lang="en-US" sz="1467" dirty="0">
              <a:latin typeface="Montserrat" panose="00000500000000000000" pitchFamily="2" charset="0"/>
            </a:endParaRPr>
          </a:p>
        </p:txBody>
      </p:sp>
      <p:sp>
        <p:nvSpPr>
          <p:cNvPr id="105" name="Text 42">
            <a:extLst>
              <a:ext uri="{FF2B5EF4-FFF2-40B4-BE49-F238E27FC236}">
                <a16:creationId xmlns:a16="http://schemas.microsoft.com/office/drawing/2014/main" id="{4D19EB18-2307-B4E4-8EFD-300B0DAA9E31}"/>
              </a:ext>
            </a:extLst>
          </p:cNvPr>
          <p:cNvSpPr/>
          <p:nvPr/>
        </p:nvSpPr>
        <p:spPr>
          <a:xfrm>
            <a:off x="6888480" y="3753202"/>
            <a:ext cx="853440" cy="304800"/>
          </a:xfrm>
          <a:prstGeom prst="rect">
            <a:avLst/>
          </a:prstGeom>
          <a:noFill/>
          <a:ln/>
        </p:spPr>
        <p:txBody>
          <a:bodyPr wrap="square" lIns="0" tIns="0" rIns="0" bIns="0" rtlCol="0" anchor="ctr"/>
          <a:lstStyle/>
          <a:p>
            <a:pPr algn="r"/>
            <a:r>
              <a:rPr lang="en-US" sz="1067" b="1" dirty="0">
                <a:solidFill>
                  <a:srgbClr val="8B5CF6"/>
                </a:solidFill>
                <a:latin typeface="Montserrat" panose="00000500000000000000" pitchFamily="2" charset="0"/>
                <a:ea typeface="Calibri" pitchFamily="34" charset="-122"/>
                <a:cs typeface="Calibri" pitchFamily="34" charset="-120"/>
              </a:rPr>
              <a:t>SaaS</a:t>
            </a:r>
            <a:endParaRPr lang="en-US" sz="1067" dirty="0">
              <a:latin typeface="Montserrat" panose="00000500000000000000" pitchFamily="2" charset="0"/>
            </a:endParaRPr>
          </a:p>
        </p:txBody>
      </p:sp>
      <p:sp>
        <p:nvSpPr>
          <p:cNvPr id="106" name="Text 43">
            <a:extLst>
              <a:ext uri="{FF2B5EF4-FFF2-40B4-BE49-F238E27FC236}">
                <a16:creationId xmlns:a16="http://schemas.microsoft.com/office/drawing/2014/main" id="{BEA65575-FF4F-6D75-3E5C-3D418FC229A4}"/>
              </a:ext>
            </a:extLst>
          </p:cNvPr>
          <p:cNvSpPr/>
          <p:nvPr/>
        </p:nvSpPr>
        <p:spPr>
          <a:xfrm>
            <a:off x="4511040" y="41067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Personal AI assistants, trigger-based workflows, 3,000+ integrations</a:t>
            </a:r>
            <a:endParaRPr lang="en-US" sz="1200" dirty="0">
              <a:latin typeface="Montserrat" panose="00000500000000000000" pitchFamily="2" charset="0"/>
            </a:endParaRPr>
          </a:p>
        </p:txBody>
      </p:sp>
      <p:sp>
        <p:nvSpPr>
          <p:cNvPr id="107" name="Shape 44">
            <a:extLst>
              <a:ext uri="{FF2B5EF4-FFF2-40B4-BE49-F238E27FC236}">
                <a16:creationId xmlns:a16="http://schemas.microsoft.com/office/drawing/2014/main" id="{B9A4FE25-5E6D-DED9-D472-A7AC7E22A23D}"/>
              </a:ext>
            </a:extLst>
          </p:cNvPr>
          <p:cNvSpPr/>
          <p:nvPr/>
        </p:nvSpPr>
        <p:spPr>
          <a:xfrm>
            <a:off x="8168640" y="37166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108" name="Shape 45">
            <a:extLst>
              <a:ext uri="{FF2B5EF4-FFF2-40B4-BE49-F238E27FC236}">
                <a16:creationId xmlns:a16="http://schemas.microsoft.com/office/drawing/2014/main" id="{804A2A64-ECE0-8813-86CA-47113C586E3A}"/>
              </a:ext>
            </a:extLst>
          </p:cNvPr>
          <p:cNvSpPr/>
          <p:nvPr/>
        </p:nvSpPr>
        <p:spPr>
          <a:xfrm>
            <a:off x="8168640" y="3716626"/>
            <a:ext cx="73152" cy="1036320"/>
          </a:xfrm>
          <a:prstGeom prst="rect">
            <a:avLst/>
          </a:prstGeom>
          <a:solidFill>
            <a:srgbClr val="1B2A4A"/>
          </a:solidFill>
          <a:ln/>
        </p:spPr>
        <p:txBody>
          <a:bodyPr/>
          <a:lstStyle/>
          <a:p>
            <a:endParaRPr lang="en-CA" sz="2400">
              <a:latin typeface="Montserrat" panose="00000500000000000000" pitchFamily="2" charset="0"/>
            </a:endParaRPr>
          </a:p>
        </p:txBody>
      </p:sp>
      <p:sp>
        <p:nvSpPr>
          <p:cNvPr id="109" name="Text 46">
            <a:extLst>
              <a:ext uri="{FF2B5EF4-FFF2-40B4-BE49-F238E27FC236}">
                <a16:creationId xmlns:a16="http://schemas.microsoft.com/office/drawing/2014/main" id="{978E9988-4D9B-7103-7C7C-C8CC71799DAD}"/>
              </a:ext>
            </a:extLst>
          </p:cNvPr>
          <p:cNvSpPr/>
          <p:nvPr/>
        </p:nvSpPr>
        <p:spPr>
          <a:xfrm>
            <a:off x="8351520" y="37532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Vertex AI Agent Builder</a:t>
            </a:r>
            <a:endParaRPr lang="en-US" sz="1467" dirty="0">
              <a:latin typeface="Montserrat" panose="00000500000000000000" pitchFamily="2" charset="0"/>
            </a:endParaRPr>
          </a:p>
        </p:txBody>
      </p:sp>
      <p:sp>
        <p:nvSpPr>
          <p:cNvPr id="110" name="Text 47">
            <a:extLst>
              <a:ext uri="{FF2B5EF4-FFF2-40B4-BE49-F238E27FC236}">
                <a16:creationId xmlns:a16="http://schemas.microsoft.com/office/drawing/2014/main" id="{D71F26E0-6E89-5145-2375-D616499C999D}"/>
              </a:ext>
            </a:extLst>
          </p:cNvPr>
          <p:cNvSpPr/>
          <p:nvPr/>
        </p:nvSpPr>
        <p:spPr>
          <a:xfrm>
            <a:off x="10728960" y="3753202"/>
            <a:ext cx="853440" cy="304800"/>
          </a:xfrm>
          <a:prstGeom prst="rect">
            <a:avLst/>
          </a:prstGeom>
          <a:noFill/>
          <a:ln/>
        </p:spPr>
        <p:txBody>
          <a:bodyPr wrap="square" lIns="0" tIns="0" rIns="0" bIns="0" rtlCol="0" anchor="ctr"/>
          <a:lstStyle/>
          <a:p>
            <a:pPr algn="r"/>
            <a:r>
              <a:rPr lang="en-US" sz="1067" b="1" dirty="0">
                <a:solidFill>
                  <a:srgbClr val="1B2A4A"/>
                </a:solidFill>
                <a:latin typeface="Montserrat" panose="00000500000000000000" pitchFamily="2" charset="0"/>
                <a:ea typeface="Calibri" pitchFamily="34" charset="-122"/>
                <a:cs typeface="Calibri" pitchFamily="34" charset="-120"/>
              </a:rPr>
              <a:t>Ent.</a:t>
            </a:r>
            <a:endParaRPr lang="en-US" sz="1067" dirty="0">
              <a:latin typeface="Montserrat" panose="00000500000000000000" pitchFamily="2" charset="0"/>
            </a:endParaRPr>
          </a:p>
        </p:txBody>
      </p:sp>
      <p:sp>
        <p:nvSpPr>
          <p:cNvPr id="111" name="Text 48">
            <a:extLst>
              <a:ext uri="{FF2B5EF4-FFF2-40B4-BE49-F238E27FC236}">
                <a16:creationId xmlns:a16="http://schemas.microsoft.com/office/drawing/2014/main" id="{D333F904-1F9F-AB4F-808C-D98C0370FAF8}"/>
              </a:ext>
            </a:extLst>
          </p:cNvPr>
          <p:cNvSpPr/>
          <p:nvPr/>
        </p:nvSpPr>
        <p:spPr>
          <a:xfrm>
            <a:off x="8351520" y="41067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Google Cloud — enterprise agents, grounding, Gemini-powered</a:t>
            </a:r>
            <a:endParaRPr lang="en-US" sz="1200" dirty="0">
              <a:latin typeface="Montserrat" panose="00000500000000000000" pitchFamily="2" charset="0"/>
            </a:endParaRPr>
          </a:p>
        </p:txBody>
      </p:sp>
      <p:sp>
        <p:nvSpPr>
          <p:cNvPr id="112" name="Shape 49">
            <a:extLst>
              <a:ext uri="{FF2B5EF4-FFF2-40B4-BE49-F238E27FC236}">
                <a16:creationId xmlns:a16="http://schemas.microsoft.com/office/drawing/2014/main" id="{1688393A-5E05-CA19-46F9-9C667B0DB1C9}"/>
              </a:ext>
            </a:extLst>
          </p:cNvPr>
          <p:cNvSpPr/>
          <p:nvPr/>
        </p:nvSpPr>
        <p:spPr>
          <a:xfrm>
            <a:off x="487680" y="49358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113" name="Shape 50">
            <a:extLst>
              <a:ext uri="{FF2B5EF4-FFF2-40B4-BE49-F238E27FC236}">
                <a16:creationId xmlns:a16="http://schemas.microsoft.com/office/drawing/2014/main" id="{DD8908CF-AC8F-1981-D64E-E9CD1DDF1D72}"/>
              </a:ext>
            </a:extLst>
          </p:cNvPr>
          <p:cNvSpPr/>
          <p:nvPr/>
        </p:nvSpPr>
        <p:spPr>
          <a:xfrm>
            <a:off x="487680" y="4935826"/>
            <a:ext cx="73152" cy="1036320"/>
          </a:xfrm>
          <a:prstGeom prst="rect">
            <a:avLst/>
          </a:prstGeom>
          <a:solidFill>
            <a:srgbClr val="1B2A4A"/>
          </a:solidFill>
          <a:ln/>
        </p:spPr>
        <p:txBody>
          <a:bodyPr/>
          <a:lstStyle/>
          <a:p>
            <a:endParaRPr lang="en-CA" sz="2400">
              <a:latin typeface="Montserrat" panose="00000500000000000000" pitchFamily="2" charset="0"/>
            </a:endParaRPr>
          </a:p>
        </p:txBody>
      </p:sp>
      <p:sp>
        <p:nvSpPr>
          <p:cNvPr id="114" name="Text 51">
            <a:extLst>
              <a:ext uri="{FF2B5EF4-FFF2-40B4-BE49-F238E27FC236}">
                <a16:creationId xmlns:a16="http://schemas.microsoft.com/office/drawing/2014/main" id="{F5BFCE84-F48D-DE88-CB02-525395715462}"/>
              </a:ext>
            </a:extLst>
          </p:cNvPr>
          <p:cNvSpPr/>
          <p:nvPr/>
        </p:nvSpPr>
        <p:spPr>
          <a:xfrm>
            <a:off x="670560" y="49724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Azure Copilot Studio</a:t>
            </a:r>
            <a:endParaRPr lang="en-US" sz="1467" dirty="0">
              <a:latin typeface="Montserrat" panose="00000500000000000000" pitchFamily="2" charset="0"/>
            </a:endParaRPr>
          </a:p>
        </p:txBody>
      </p:sp>
      <p:sp>
        <p:nvSpPr>
          <p:cNvPr id="115" name="Text 52">
            <a:extLst>
              <a:ext uri="{FF2B5EF4-FFF2-40B4-BE49-F238E27FC236}">
                <a16:creationId xmlns:a16="http://schemas.microsoft.com/office/drawing/2014/main" id="{EA790905-6EDD-0CEA-267A-BD381A34F09B}"/>
              </a:ext>
            </a:extLst>
          </p:cNvPr>
          <p:cNvSpPr/>
          <p:nvPr/>
        </p:nvSpPr>
        <p:spPr>
          <a:xfrm>
            <a:off x="3048000" y="4972402"/>
            <a:ext cx="853440" cy="304800"/>
          </a:xfrm>
          <a:prstGeom prst="rect">
            <a:avLst/>
          </a:prstGeom>
          <a:noFill/>
          <a:ln/>
        </p:spPr>
        <p:txBody>
          <a:bodyPr wrap="square" lIns="0" tIns="0" rIns="0" bIns="0" rtlCol="0" anchor="ctr"/>
          <a:lstStyle/>
          <a:p>
            <a:pPr algn="r"/>
            <a:r>
              <a:rPr lang="en-US" sz="1067" b="1" dirty="0">
                <a:solidFill>
                  <a:srgbClr val="1B2A4A"/>
                </a:solidFill>
                <a:latin typeface="Montserrat" panose="00000500000000000000" pitchFamily="2" charset="0"/>
                <a:ea typeface="Calibri" pitchFamily="34" charset="-122"/>
                <a:cs typeface="Calibri" pitchFamily="34" charset="-120"/>
              </a:rPr>
              <a:t>Ent.</a:t>
            </a:r>
            <a:endParaRPr lang="en-US" sz="1067" dirty="0">
              <a:latin typeface="Montserrat" panose="00000500000000000000" pitchFamily="2" charset="0"/>
            </a:endParaRPr>
          </a:p>
        </p:txBody>
      </p:sp>
      <p:sp>
        <p:nvSpPr>
          <p:cNvPr id="116" name="Text 53">
            <a:extLst>
              <a:ext uri="{FF2B5EF4-FFF2-40B4-BE49-F238E27FC236}">
                <a16:creationId xmlns:a16="http://schemas.microsoft.com/office/drawing/2014/main" id="{5C28CA84-125E-2C11-0BB3-FCE7D2E8F59C}"/>
              </a:ext>
            </a:extLst>
          </p:cNvPr>
          <p:cNvSpPr/>
          <p:nvPr/>
        </p:nvSpPr>
        <p:spPr>
          <a:xfrm>
            <a:off x="670560" y="53259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Microsoft — enterprise copilots, Power Platform integration</a:t>
            </a:r>
            <a:endParaRPr lang="en-US" sz="1200" dirty="0">
              <a:latin typeface="Montserrat" panose="00000500000000000000" pitchFamily="2" charset="0"/>
            </a:endParaRPr>
          </a:p>
        </p:txBody>
      </p:sp>
      <p:sp>
        <p:nvSpPr>
          <p:cNvPr id="117" name="Shape 54">
            <a:extLst>
              <a:ext uri="{FF2B5EF4-FFF2-40B4-BE49-F238E27FC236}">
                <a16:creationId xmlns:a16="http://schemas.microsoft.com/office/drawing/2014/main" id="{E580A2A7-2F36-A355-1A31-F8AAE0B477F3}"/>
              </a:ext>
            </a:extLst>
          </p:cNvPr>
          <p:cNvSpPr/>
          <p:nvPr/>
        </p:nvSpPr>
        <p:spPr>
          <a:xfrm>
            <a:off x="4328160" y="49358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118" name="Shape 55">
            <a:extLst>
              <a:ext uri="{FF2B5EF4-FFF2-40B4-BE49-F238E27FC236}">
                <a16:creationId xmlns:a16="http://schemas.microsoft.com/office/drawing/2014/main" id="{FCD1C9A2-D010-470D-6923-9079CECFD315}"/>
              </a:ext>
            </a:extLst>
          </p:cNvPr>
          <p:cNvSpPr/>
          <p:nvPr/>
        </p:nvSpPr>
        <p:spPr>
          <a:xfrm>
            <a:off x="4328160" y="4935826"/>
            <a:ext cx="73152" cy="1036320"/>
          </a:xfrm>
          <a:prstGeom prst="rect">
            <a:avLst/>
          </a:prstGeom>
          <a:solidFill>
            <a:srgbClr val="1B2A4A"/>
          </a:solidFill>
          <a:ln/>
        </p:spPr>
        <p:txBody>
          <a:bodyPr/>
          <a:lstStyle/>
          <a:p>
            <a:endParaRPr lang="en-CA" sz="2400">
              <a:latin typeface="Montserrat" panose="00000500000000000000" pitchFamily="2" charset="0"/>
            </a:endParaRPr>
          </a:p>
        </p:txBody>
      </p:sp>
      <p:sp>
        <p:nvSpPr>
          <p:cNvPr id="119" name="Text 56">
            <a:extLst>
              <a:ext uri="{FF2B5EF4-FFF2-40B4-BE49-F238E27FC236}">
                <a16:creationId xmlns:a16="http://schemas.microsoft.com/office/drawing/2014/main" id="{429B9D7C-6C46-368C-1F67-78E95121DBCC}"/>
              </a:ext>
            </a:extLst>
          </p:cNvPr>
          <p:cNvSpPr/>
          <p:nvPr/>
        </p:nvSpPr>
        <p:spPr>
          <a:xfrm>
            <a:off x="4511040" y="49724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IBM Watsonx</a:t>
            </a:r>
            <a:endParaRPr lang="en-US" sz="1467" dirty="0">
              <a:latin typeface="Montserrat" panose="00000500000000000000" pitchFamily="2" charset="0"/>
            </a:endParaRPr>
          </a:p>
        </p:txBody>
      </p:sp>
      <p:sp>
        <p:nvSpPr>
          <p:cNvPr id="120" name="Text 57">
            <a:extLst>
              <a:ext uri="{FF2B5EF4-FFF2-40B4-BE49-F238E27FC236}">
                <a16:creationId xmlns:a16="http://schemas.microsoft.com/office/drawing/2014/main" id="{DC61458C-62BA-BB69-0FDF-9F79B9577163}"/>
              </a:ext>
            </a:extLst>
          </p:cNvPr>
          <p:cNvSpPr/>
          <p:nvPr/>
        </p:nvSpPr>
        <p:spPr>
          <a:xfrm>
            <a:off x="6888480" y="4972402"/>
            <a:ext cx="853440" cy="304800"/>
          </a:xfrm>
          <a:prstGeom prst="rect">
            <a:avLst/>
          </a:prstGeom>
          <a:noFill/>
          <a:ln/>
        </p:spPr>
        <p:txBody>
          <a:bodyPr wrap="square" lIns="0" tIns="0" rIns="0" bIns="0" rtlCol="0" anchor="ctr"/>
          <a:lstStyle/>
          <a:p>
            <a:pPr algn="r"/>
            <a:r>
              <a:rPr lang="en-US" sz="1067" b="1" dirty="0">
                <a:solidFill>
                  <a:srgbClr val="1B2A4A"/>
                </a:solidFill>
                <a:latin typeface="Montserrat" panose="00000500000000000000" pitchFamily="2" charset="0"/>
                <a:ea typeface="Calibri" pitchFamily="34" charset="-122"/>
                <a:cs typeface="Calibri" pitchFamily="34" charset="-120"/>
              </a:rPr>
              <a:t>Ent.</a:t>
            </a:r>
            <a:endParaRPr lang="en-US" sz="1067" dirty="0">
              <a:latin typeface="Montserrat" panose="00000500000000000000" pitchFamily="2" charset="0"/>
            </a:endParaRPr>
          </a:p>
        </p:txBody>
      </p:sp>
      <p:sp>
        <p:nvSpPr>
          <p:cNvPr id="121" name="Text 58">
            <a:extLst>
              <a:ext uri="{FF2B5EF4-FFF2-40B4-BE49-F238E27FC236}">
                <a16:creationId xmlns:a16="http://schemas.microsoft.com/office/drawing/2014/main" id="{2448E961-C9D6-2EC0-5940-6B52C838C992}"/>
              </a:ext>
            </a:extLst>
          </p:cNvPr>
          <p:cNvSpPr/>
          <p:nvPr/>
        </p:nvSpPr>
        <p:spPr>
          <a:xfrm>
            <a:off x="4511040" y="53259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Enterprise AI, governance, on-prem/cloud deployment, compliance</a:t>
            </a:r>
            <a:endParaRPr lang="en-US" sz="1200" dirty="0">
              <a:latin typeface="Montserrat" panose="00000500000000000000" pitchFamily="2" charset="0"/>
            </a:endParaRPr>
          </a:p>
        </p:txBody>
      </p:sp>
      <p:sp>
        <p:nvSpPr>
          <p:cNvPr id="122" name="Shape 59">
            <a:extLst>
              <a:ext uri="{FF2B5EF4-FFF2-40B4-BE49-F238E27FC236}">
                <a16:creationId xmlns:a16="http://schemas.microsoft.com/office/drawing/2014/main" id="{E6193C39-46AC-7765-2429-49C80B65D283}"/>
              </a:ext>
            </a:extLst>
          </p:cNvPr>
          <p:cNvSpPr/>
          <p:nvPr/>
        </p:nvSpPr>
        <p:spPr>
          <a:xfrm>
            <a:off x="8168640" y="4935826"/>
            <a:ext cx="3596640" cy="10363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123" name="Shape 60">
            <a:extLst>
              <a:ext uri="{FF2B5EF4-FFF2-40B4-BE49-F238E27FC236}">
                <a16:creationId xmlns:a16="http://schemas.microsoft.com/office/drawing/2014/main" id="{71464E76-203C-FDF7-4D47-CDFB91072E34}"/>
              </a:ext>
            </a:extLst>
          </p:cNvPr>
          <p:cNvSpPr/>
          <p:nvPr/>
        </p:nvSpPr>
        <p:spPr>
          <a:xfrm>
            <a:off x="8168640" y="4935826"/>
            <a:ext cx="73152" cy="1036320"/>
          </a:xfrm>
          <a:prstGeom prst="rect">
            <a:avLst/>
          </a:prstGeom>
          <a:solidFill>
            <a:srgbClr val="1B2A4A"/>
          </a:solidFill>
          <a:ln/>
        </p:spPr>
        <p:txBody>
          <a:bodyPr/>
          <a:lstStyle/>
          <a:p>
            <a:endParaRPr lang="en-CA" sz="2400">
              <a:latin typeface="Montserrat" panose="00000500000000000000" pitchFamily="2" charset="0"/>
            </a:endParaRPr>
          </a:p>
        </p:txBody>
      </p:sp>
      <p:sp>
        <p:nvSpPr>
          <p:cNvPr id="124" name="Text 61">
            <a:extLst>
              <a:ext uri="{FF2B5EF4-FFF2-40B4-BE49-F238E27FC236}">
                <a16:creationId xmlns:a16="http://schemas.microsoft.com/office/drawing/2014/main" id="{7DDB1265-8A8B-4EBD-0EF7-42084CAAEDE9}"/>
              </a:ext>
            </a:extLst>
          </p:cNvPr>
          <p:cNvSpPr/>
          <p:nvPr/>
        </p:nvSpPr>
        <p:spPr>
          <a:xfrm>
            <a:off x="8351520" y="4972402"/>
            <a:ext cx="2438400" cy="304800"/>
          </a:xfrm>
          <a:prstGeom prst="rect">
            <a:avLst/>
          </a:prstGeom>
          <a:noFill/>
          <a:ln/>
        </p:spPr>
        <p:txBody>
          <a:bodyPr wrap="square" lIns="0" tIns="0" rIns="0" bIns="0" rtlCol="0" anchor="ctr"/>
          <a:lstStyle/>
          <a:p>
            <a:r>
              <a:rPr lang="en-US" sz="1467" b="1" dirty="0">
                <a:solidFill>
                  <a:srgbClr val="1B2A4A"/>
                </a:solidFill>
                <a:latin typeface="Montserrat" panose="00000500000000000000" pitchFamily="2" charset="0"/>
                <a:ea typeface="Calibri" pitchFamily="34" charset="-122"/>
                <a:cs typeface="Calibri" pitchFamily="34" charset="-120"/>
              </a:rPr>
              <a:t>Stack AI</a:t>
            </a:r>
            <a:endParaRPr lang="en-US" sz="1467" dirty="0">
              <a:latin typeface="Montserrat" panose="00000500000000000000" pitchFamily="2" charset="0"/>
            </a:endParaRPr>
          </a:p>
        </p:txBody>
      </p:sp>
      <p:sp>
        <p:nvSpPr>
          <p:cNvPr id="125" name="Text 62">
            <a:extLst>
              <a:ext uri="{FF2B5EF4-FFF2-40B4-BE49-F238E27FC236}">
                <a16:creationId xmlns:a16="http://schemas.microsoft.com/office/drawing/2014/main" id="{6C9089A2-9FFC-26CD-123E-952F826272A7}"/>
              </a:ext>
            </a:extLst>
          </p:cNvPr>
          <p:cNvSpPr/>
          <p:nvPr/>
        </p:nvSpPr>
        <p:spPr>
          <a:xfrm>
            <a:off x="10728960" y="4972402"/>
            <a:ext cx="853440" cy="304800"/>
          </a:xfrm>
          <a:prstGeom prst="rect">
            <a:avLst/>
          </a:prstGeom>
          <a:noFill/>
          <a:ln/>
        </p:spPr>
        <p:txBody>
          <a:bodyPr wrap="square" lIns="0" tIns="0" rIns="0" bIns="0" rtlCol="0" anchor="ctr"/>
          <a:lstStyle/>
          <a:p>
            <a:pPr algn="r"/>
            <a:r>
              <a:rPr lang="en-US" sz="1067" b="1" dirty="0">
                <a:solidFill>
                  <a:srgbClr val="1B2A4A"/>
                </a:solidFill>
                <a:latin typeface="Montserrat" panose="00000500000000000000" pitchFamily="2" charset="0"/>
                <a:ea typeface="Calibri" pitchFamily="34" charset="-122"/>
                <a:cs typeface="Calibri" pitchFamily="34" charset="-120"/>
              </a:rPr>
              <a:t>Ent.</a:t>
            </a:r>
            <a:endParaRPr lang="en-US" sz="1067" dirty="0">
              <a:latin typeface="Montserrat" panose="00000500000000000000" pitchFamily="2" charset="0"/>
            </a:endParaRPr>
          </a:p>
        </p:txBody>
      </p:sp>
      <p:sp>
        <p:nvSpPr>
          <p:cNvPr id="126" name="Text 63">
            <a:extLst>
              <a:ext uri="{FF2B5EF4-FFF2-40B4-BE49-F238E27FC236}">
                <a16:creationId xmlns:a16="http://schemas.microsoft.com/office/drawing/2014/main" id="{6C9E78B8-775A-CE25-B3C9-65221C31853D}"/>
              </a:ext>
            </a:extLst>
          </p:cNvPr>
          <p:cNvSpPr/>
          <p:nvPr/>
        </p:nvSpPr>
        <p:spPr>
          <a:xfrm>
            <a:off x="8351520" y="5325970"/>
            <a:ext cx="3230880" cy="585216"/>
          </a:xfrm>
          <a:prstGeom prst="rect">
            <a:avLst/>
          </a:prstGeom>
          <a:noFill/>
          <a:ln/>
        </p:spPr>
        <p:txBody>
          <a:bodyPr wrap="square" lIns="0" tIns="0" rIns="0" bIns="0" rtlCol="0" anchor="ctr"/>
          <a:lstStyle/>
          <a:p>
            <a:r>
              <a:rPr lang="en-US" sz="1200" dirty="0">
                <a:solidFill>
                  <a:srgbClr val="334155"/>
                </a:solidFill>
                <a:latin typeface="Montserrat" panose="00000500000000000000" pitchFamily="2" charset="0"/>
                <a:ea typeface="Calibri" pitchFamily="34" charset="-122"/>
                <a:cs typeface="Calibri" pitchFamily="34" charset="-120"/>
              </a:rPr>
              <a:t>Enterprise no-code, SOC 2, HIPAA, custom model deployment</a:t>
            </a:r>
            <a:endParaRPr lang="en-US" sz="1200" dirty="0">
              <a:latin typeface="Montserrat" panose="00000500000000000000" pitchFamily="2" charset="0"/>
            </a:endParaRPr>
          </a:p>
        </p:txBody>
      </p:sp>
    </p:spTree>
    <p:extLst>
      <p:ext uri="{BB962C8B-B14F-4D97-AF65-F5344CB8AC3E}">
        <p14:creationId xmlns:p14="http://schemas.microsoft.com/office/powerpoint/2010/main" val="2613593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D8119-7316-DCCD-8529-89E696261DB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F8B20D-38DE-5853-3A46-478AAC00AA86}"/>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2590D81-BD50-189A-6CC1-2F60C37A78AF}"/>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4B9C261F-2FE1-3933-13ED-22A8DEA29FED}"/>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PROMPT ENGINEERING</a:t>
            </a:r>
          </a:p>
        </p:txBody>
      </p:sp>
      <p:pic>
        <p:nvPicPr>
          <p:cNvPr id="5" name="Picture 4">
            <a:extLst>
              <a:ext uri="{FF2B5EF4-FFF2-40B4-BE49-F238E27FC236}">
                <a16:creationId xmlns:a16="http://schemas.microsoft.com/office/drawing/2014/main" id="{9CFF56D5-8E7B-B4BF-143C-DBAB3836B1F0}"/>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934868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A0AF0-F86C-94D4-AAA6-5E8436A2245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CB30408-F074-D832-A3A0-E25D3D34DADB}"/>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C21935F2-0703-162F-14BA-812C94212932}"/>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E4C690D-E529-18C5-5690-87D18FE71422}"/>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What is Prompt Engineering?</a:t>
            </a:r>
          </a:p>
        </p:txBody>
      </p:sp>
      <p:sp>
        <p:nvSpPr>
          <p:cNvPr id="9" name="TextBox 8">
            <a:extLst>
              <a:ext uri="{FF2B5EF4-FFF2-40B4-BE49-F238E27FC236}">
                <a16:creationId xmlns:a16="http://schemas.microsoft.com/office/drawing/2014/main" id="{CA4FB8CB-C147-4A2E-3D2C-9C3F6CCE7DA3}"/>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Text Placeholder 2">
            <a:extLst>
              <a:ext uri="{FF2B5EF4-FFF2-40B4-BE49-F238E27FC236}">
                <a16:creationId xmlns:a16="http://schemas.microsoft.com/office/drawing/2014/main" id="{01796F8B-9DA9-613E-7780-54E66F3E50A9}"/>
              </a:ext>
            </a:extLst>
          </p:cNvPr>
          <p:cNvSpPr txBox="1">
            <a:spLocks/>
          </p:cNvSpPr>
          <p:nvPr/>
        </p:nvSpPr>
        <p:spPr>
          <a:xfrm>
            <a:off x="154722" y="843061"/>
            <a:ext cx="11926147" cy="1656067"/>
          </a:xfrm>
          <a:prstGeom prst="rect">
            <a:avLst/>
          </a:prstGeom>
        </p:spPr>
        <p:txBody>
          <a:bodyPr vert="horz" lIns="60960" tIns="30480" rIns="60960" bIns="30480" rtlCol="0">
            <a:noAutofit/>
          </a:bodyPr>
          <a:lstStyle>
            <a:defPPr>
              <a:defRPr lang="en-US"/>
            </a:defPPr>
            <a:lvl1pPr defTabSz="914446">
              <a:lnSpc>
                <a:spcPct val="120000"/>
              </a:lnSpc>
              <a:spcBef>
                <a:spcPts val="1000"/>
              </a:spcBef>
              <a:spcAft>
                <a:spcPts val="333"/>
              </a:spcAft>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1pPr>
            <a:lvl2pPr marL="800140" lvl="1" indent="-342917" defTabSz="914446">
              <a:lnSpc>
                <a:spcPct val="120000"/>
              </a:lnSpc>
              <a:spcBef>
                <a:spcPts val="1000"/>
              </a:spcBef>
              <a:spcAft>
                <a:spcPts val="333"/>
              </a:spcAft>
              <a:buFont typeface="+mj-lt"/>
              <a:buAutoNum type="arabicPeriod"/>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Clr>
                <a:srgbClr val="11CCDD"/>
              </a:buClr>
              <a:buFont typeface="Arial" panose="020B0604020202020204" pitchFamily="34" charset="0"/>
              <a:buChar char="•"/>
            </a:pPr>
            <a:r>
              <a:rPr lang="en-US" dirty="0"/>
              <a:t>Prompt engineering is the practice of designing and optimizing text input to generative AI models to obtain desired responses.</a:t>
            </a:r>
          </a:p>
          <a:p>
            <a:pPr marL="342900" indent="-342900">
              <a:buClr>
                <a:srgbClr val="11CCDD"/>
              </a:buClr>
              <a:buFont typeface="Arial" panose="020B0604020202020204" pitchFamily="34" charset="0"/>
              <a:buChar char="•"/>
            </a:pPr>
            <a:r>
              <a:rPr lang="en-US" dirty="0"/>
              <a:t>It is the art of communicating with a generative AI model.</a:t>
            </a:r>
          </a:p>
        </p:txBody>
      </p:sp>
      <p:sp>
        <p:nvSpPr>
          <p:cNvPr id="3" name="TextBox 2">
            <a:extLst>
              <a:ext uri="{FF2B5EF4-FFF2-40B4-BE49-F238E27FC236}">
                <a16:creationId xmlns:a16="http://schemas.microsoft.com/office/drawing/2014/main" id="{0881566C-5DE7-6203-E3A4-44648661F3FF}"/>
              </a:ext>
            </a:extLst>
          </p:cNvPr>
          <p:cNvSpPr txBox="1"/>
          <p:nvPr/>
        </p:nvSpPr>
        <p:spPr>
          <a:xfrm>
            <a:off x="3634989" y="2014200"/>
            <a:ext cx="5835146" cy="1200329"/>
          </a:xfrm>
          <a:prstGeom prst="rect">
            <a:avLst/>
          </a:prstGeom>
          <a:noFill/>
        </p:spPr>
        <p:txBody>
          <a:bodyPr wrap="square">
            <a:spAutoFit/>
          </a:bodyPr>
          <a:lstStyle>
            <a:defPPr>
              <a:defRPr lang="en-US"/>
            </a:defPPr>
            <a:lvl1pPr>
              <a:defRPr sz="2000" b="1" i="0">
                <a:solidFill>
                  <a:srgbClr val="16191F"/>
                </a:solidFill>
                <a:effectLst/>
                <a:latin typeface="Montserrat" panose="00000500000000000000" pitchFamily="2" charset="0"/>
              </a:defRPr>
            </a:lvl1pPr>
          </a:lstStyle>
          <a:p>
            <a:pPr defTabSz="914446"/>
            <a:endParaRPr lang="en-US" sz="2400" i="1" dirty="0">
              <a:solidFill>
                <a:srgbClr val="0C1752"/>
              </a:solidFill>
              <a:latin typeface="Cambria" panose="02040503050406030204"/>
            </a:endParaRPr>
          </a:p>
          <a:p>
            <a:pPr defTabSz="914446"/>
            <a:r>
              <a:rPr lang="en-US" sz="2400" i="1" dirty="0">
                <a:solidFill>
                  <a:srgbClr val="0C1752"/>
                </a:solidFill>
                <a:latin typeface="Cambria" panose="02040503050406030204"/>
              </a:rPr>
              <a:t>“Recommend a book.”</a:t>
            </a:r>
          </a:p>
          <a:p>
            <a:pPr defTabSz="914446"/>
            <a:endParaRPr lang="en-US" sz="2400" i="1" dirty="0">
              <a:solidFill>
                <a:srgbClr val="0C1752"/>
              </a:solidFill>
              <a:latin typeface="Cambria" panose="02040503050406030204"/>
            </a:endParaRPr>
          </a:p>
        </p:txBody>
      </p:sp>
      <p:cxnSp>
        <p:nvCxnSpPr>
          <p:cNvPr id="4" name="Straight Arrow Connector 3">
            <a:extLst>
              <a:ext uri="{FF2B5EF4-FFF2-40B4-BE49-F238E27FC236}">
                <a16:creationId xmlns:a16="http://schemas.microsoft.com/office/drawing/2014/main" id="{A0BDB679-5B33-11DC-645E-A1D5C8331D51}"/>
              </a:ext>
            </a:extLst>
          </p:cNvPr>
          <p:cNvCxnSpPr>
            <a:cxnSpLocks/>
          </p:cNvCxnSpPr>
          <p:nvPr/>
        </p:nvCxnSpPr>
        <p:spPr>
          <a:xfrm>
            <a:off x="3437938" y="2435839"/>
            <a:ext cx="0" cy="2189480"/>
          </a:xfrm>
          <a:prstGeom prst="straightConnector1">
            <a:avLst/>
          </a:prstGeom>
          <a:ln w="76200">
            <a:solidFill>
              <a:srgbClr val="11CCDD"/>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3EF05BC-C16E-D505-C9E5-58DB52BB443C}"/>
              </a:ext>
            </a:extLst>
          </p:cNvPr>
          <p:cNvSpPr txBox="1"/>
          <p:nvPr/>
        </p:nvSpPr>
        <p:spPr>
          <a:xfrm>
            <a:off x="307900" y="2492773"/>
            <a:ext cx="2932989" cy="1569660"/>
          </a:xfrm>
          <a:prstGeom prst="rect">
            <a:avLst/>
          </a:prstGeom>
          <a:noFill/>
        </p:spPr>
        <p:txBody>
          <a:bodyPr wrap="square">
            <a:spAutoFit/>
          </a:bodyPr>
          <a:lstStyle/>
          <a:p>
            <a:pPr defTabSz="914446"/>
            <a:r>
              <a:rPr lang="en-US" sz="2400" dirty="0">
                <a:solidFill>
                  <a:srgbClr val="D56E48"/>
                </a:solidFill>
                <a:latin typeface="Cambria" panose="02040503050406030204"/>
              </a:rPr>
              <a:t>High-quality prompts guide the AI model to generate better outputs.</a:t>
            </a:r>
          </a:p>
        </p:txBody>
      </p:sp>
      <p:sp>
        <p:nvSpPr>
          <p:cNvPr id="10" name="TextBox 9">
            <a:extLst>
              <a:ext uri="{FF2B5EF4-FFF2-40B4-BE49-F238E27FC236}">
                <a16:creationId xmlns:a16="http://schemas.microsoft.com/office/drawing/2014/main" id="{17608CE1-C802-3AD4-9BD3-5EF82ABC1F39}"/>
              </a:ext>
            </a:extLst>
          </p:cNvPr>
          <p:cNvSpPr txBox="1"/>
          <p:nvPr/>
        </p:nvSpPr>
        <p:spPr>
          <a:xfrm>
            <a:off x="3634989" y="3258204"/>
            <a:ext cx="4267965" cy="461665"/>
          </a:xfrm>
          <a:prstGeom prst="rect">
            <a:avLst/>
          </a:prstGeom>
          <a:noFill/>
        </p:spPr>
        <p:txBody>
          <a:bodyPr wrap="square">
            <a:spAutoFit/>
          </a:bodyPr>
          <a:lstStyle>
            <a:defPPr>
              <a:defRPr lang="en-US"/>
            </a:defPPr>
            <a:lvl1pPr>
              <a:defRPr sz="3600" b="1" i="1">
                <a:solidFill>
                  <a:srgbClr val="16191F"/>
                </a:solidFill>
                <a:effectLst/>
                <a:latin typeface="+mj-lt"/>
              </a:defRPr>
            </a:lvl1pPr>
          </a:lstStyle>
          <a:p>
            <a:pPr defTabSz="914446"/>
            <a:r>
              <a:rPr lang="en-US" sz="2400" dirty="0">
                <a:solidFill>
                  <a:srgbClr val="0C1752"/>
                </a:solidFill>
                <a:latin typeface="Cambria" panose="02040503050406030204"/>
              </a:rPr>
              <a:t>“Recommend a fiction book.”</a:t>
            </a:r>
          </a:p>
        </p:txBody>
      </p:sp>
      <p:sp>
        <p:nvSpPr>
          <p:cNvPr id="11" name="TextBox 10">
            <a:extLst>
              <a:ext uri="{FF2B5EF4-FFF2-40B4-BE49-F238E27FC236}">
                <a16:creationId xmlns:a16="http://schemas.microsoft.com/office/drawing/2014/main" id="{49F17129-31C3-811D-9CED-725667C877AE}"/>
              </a:ext>
            </a:extLst>
          </p:cNvPr>
          <p:cNvSpPr txBox="1"/>
          <p:nvPr/>
        </p:nvSpPr>
        <p:spPr>
          <a:xfrm>
            <a:off x="3634989" y="4194432"/>
            <a:ext cx="8434387" cy="461665"/>
          </a:xfrm>
          <a:prstGeom prst="rect">
            <a:avLst/>
          </a:prstGeom>
          <a:noFill/>
        </p:spPr>
        <p:txBody>
          <a:bodyPr wrap="square">
            <a:spAutoFit/>
          </a:bodyPr>
          <a:lstStyle>
            <a:defPPr>
              <a:defRPr lang="en-US"/>
            </a:defPPr>
            <a:lvl1pPr>
              <a:defRPr sz="3600" b="1" i="1">
                <a:solidFill>
                  <a:srgbClr val="16191F"/>
                </a:solidFill>
                <a:effectLst/>
                <a:latin typeface="+mj-lt"/>
              </a:defRPr>
            </a:lvl1pPr>
          </a:lstStyle>
          <a:p>
            <a:pPr defTabSz="914446"/>
            <a:r>
              <a:rPr lang="en-US" sz="2400" dirty="0">
                <a:solidFill>
                  <a:srgbClr val="0C1752"/>
                </a:solidFill>
                <a:latin typeface="Cambria" panose="02040503050406030204"/>
              </a:rPr>
              <a:t>“Recommend a historical fiction book set in World War II.” </a:t>
            </a:r>
          </a:p>
        </p:txBody>
      </p:sp>
    </p:spTree>
    <p:extLst>
      <p:ext uri="{BB962C8B-B14F-4D97-AF65-F5344CB8AC3E}">
        <p14:creationId xmlns:p14="http://schemas.microsoft.com/office/powerpoint/2010/main" val="132988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D6971-7BD5-6E22-DF3D-E7EDCCF0DD2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7831AE2-B350-CC8D-E298-1AAA611C5231}"/>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74F8267A-B817-F697-7E5E-229925F7BCAF}"/>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C517F12-E9DE-419F-4FC4-2B20CE54B453}"/>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Prompt Components </a:t>
            </a:r>
          </a:p>
        </p:txBody>
      </p:sp>
      <p:sp>
        <p:nvSpPr>
          <p:cNvPr id="9" name="TextBox 8">
            <a:extLst>
              <a:ext uri="{FF2B5EF4-FFF2-40B4-BE49-F238E27FC236}">
                <a16:creationId xmlns:a16="http://schemas.microsoft.com/office/drawing/2014/main" id="{FA456E24-AAF7-E9CF-040B-E405D8ED1616}"/>
              </a:ext>
            </a:extLst>
          </p:cNvPr>
          <p:cNvSpPr txBox="1"/>
          <p:nvPr/>
        </p:nvSpPr>
        <p:spPr>
          <a:xfrm rot="5400000">
            <a:off x="9505627" y="3450945"/>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2" name="TextBox 31">
            <a:extLst>
              <a:ext uri="{FF2B5EF4-FFF2-40B4-BE49-F238E27FC236}">
                <a16:creationId xmlns:a16="http://schemas.microsoft.com/office/drawing/2014/main" id="{AD9EBC69-DF22-0171-2DC8-CE15CA8C7CF2}"/>
              </a:ext>
            </a:extLst>
          </p:cNvPr>
          <p:cNvSpPr txBox="1"/>
          <p:nvPr/>
        </p:nvSpPr>
        <p:spPr>
          <a:xfrm>
            <a:off x="5578437" y="843386"/>
            <a:ext cx="6391313" cy="5847755"/>
          </a:xfrm>
          <a:prstGeom prst="rect">
            <a:avLst/>
          </a:prstGeom>
          <a:noFill/>
        </p:spPr>
        <p:txBody>
          <a:bodyPr wrap="square" rtlCol="0">
            <a:spAutoFit/>
          </a:bodyPr>
          <a:lstStyle/>
          <a:p>
            <a:pPr defTabSz="914446"/>
            <a:r>
              <a:rPr lang="en-US" sz="1700" b="1" dirty="0">
                <a:solidFill>
                  <a:srgbClr val="0C1752"/>
                </a:solidFill>
                <a:latin typeface="Montserrat" panose="00000500000000000000" pitchFamily="2" charset="0"/>
              </a:rPr>
              <a:t>Context: </a:t>
            </a:r>
          </a:p>
          <a:p>
            <a:pPr defTabSz="914446"/>
            <a:r>
              <a:rPr lang="en-US" sz="1700" dirty="0">
                <a:solidFill>
                  <a:srgbClr val="0C1752"/>
                </a:solidFill>
                <a:latin typeface="Montserrat" panose="00000500000000000000" pitchFamily="2" charset="0"/>
              </a:rPr>
              <a:t>You are a Smart Home Energy Advisor who helps homeowners reduce energy use.</a:t>
            </a:r>
          </a:p>
          <a:p>
            <a:pPr defTabSz="914446"/>
            <a:endParaRPr lang="en-US" sz="1700" b="1" dirty="0">
              <a:solidFill>
                <a:srgbClr val="0C1752"/>
              </a:solidFill>
              <a:latin typeface="Montserrat" panose="00000500000000000000" pitchFamily="2" charset="0"/>
            </a:endParaRPr>
          </a:p>
          <a:p>
            <a:pPr defTabSz="914446"/>
            <a:endParaRPr lang="en-US" sz="1700" b="1" dirty="0">
              <a:solidFill>
                <a:srgbClr val="0C1752"/>
              </a:solidFill>
              <a:latin typeface="Montserrat" panose="00000500000000000000" pitchFamily="2" charset="0"/>
            </a:endParaRPr>
          </a:p>
          <a:p>
            <a:pPr defTabSz="914446"/>
            <a:r>
              <a:rPr lang="en-US" sz="1700" b="1" dirty="0">
                <a:solidFill>
                  <a:srgbClr val="0C1752"/>
                </a:solidFill>
                <a:latin typeface="Montserrat" panose="00000500000000000000" pitchFamily="2" charset="0"/>
              </a:rPr>
              <a:t>Instruction: </a:t>
            </a:r>
            <a:r>
              <a:rPr lang="en-US" sz="1700" dirty="0">
                <a:solidFill>
                  <a:srgbClr val="0C1752"/>
                </a:solidFill>
                <a:latin typeface="Montserrat" panose="00000500000000000000" pitchFamily="2" charset="0"/>
              </a:rPr>
              <a:t>When given a household prompt, provide practical, prioritized advice.</a:t>
            </a:r>
          </a:p>
          <a:p>
            <a:pPr defTabSz="914446"/>
            <a:endParaRPr lang="en-US" sz="1700" b="1" dirty="0">
              <a:solidFill>
                <a:srgbClr val="0C1752"/>
              </a:solidFill>
              <a:latin typeface="Montserrat" panose="00000500000000000000" pitchFamily="2" charset="0"/>
            </a:endParaRPr>
          </a:p>
          <a:p>
            <a:pPr defTabSz="914446"/>
            <a:endParaRPr lang="en-US" sz="1700" b="1" dirty="0">
              <a:solidFill>
                <a:srgbClr val="0C1752"/>
              </a:solidFill>
              <a:latin typeface="Montserrat" panose="00000500000000000000" pitchFamily="2" charset="0"/>
            </a:endParaRPr>
          </a:p>
          <a:p>
            <a:pPr defTabSz="914446"/>
            <a:endParaRPr lang="en-US" sz="1700" b="1" dirty="0">
              <a:solidFill>
                <a:srgbClr val="0C1752"/>
              </a:solidFill>
              <a:latin typeface="Montserrat" panose="00000500000000000000" pitchFamily="2" charset="0"/>
            </a:endParaRPr>
          </a:p>
          <a:p>
            <a:pPr defTabSz="914446"/>
            <a:r>
              <a:rPr lang="en-US" sz="1700" b="1" dirty="0">
                <a:solidFill>
                  <a:srgbClr val="0C1752"/>
                </a:solidFill>
                <a:latin typeface="Montserrat" panose="00000500000000000000" pitchFamily="2" charset="0"/>
              </a:rPr>
              <a:t>Input: </a:t>
            </a:r>
            <a:r>
              <a:rPr lang="en-US" sz="1700" dirty="0">
                <a:solidFill>
                  <a:srgbClr val="0C1752"/>
                </a:solidFill>
                <a:latin typeface="Montserrat" panose="00000500000000000000" pitchFamily="2" charset="0"/>
              </a:rPr>
              <a:t>You will receive a question about energy usage or device efficiency.</a:t>
            </a:r>
          </a:p>
          <a:p>
            <a:pPr defTabSz="914446"/>
            <a:endParaRPr lang="en-US" sz="1700" b="1" dirty="0">
              <a:solidFill>
                <a:srgbClr val="0C1752"/>
              </a:solidFill>
              <a:latin typeface="Montserrat" panose="00000500000000000000" pitchFamily="2" charset="0"/>
            </a:endParaRPr>
          </a:p>
          <a:p>
            <a:pPr defTabSz="914446"/>
            <a:endParaRPr lang="en-US" sz="1700" b="1" dirty="0">
              <a:solidFill>
                <a:srgbClr val="0C1752"/>
              </a:solidFill>
              <a:latin typeface="Montserrat" panose="00000500000000000000" pitchFamily="2" charset="0"/>
            </a:endParaRPr>
          </a:p>
          <a:p>
            <a:pPr defTabSz="914446"/>
            <a:endParaRPr lang="en-US" sz="1700" b="1" dirty="0">
              <a:solidFill>
                <a:srgbClr val="0C1752"/>
              </a:solidFill>
              <a:latin typeface="Montserrat" panose="00000500000000000000" pitchFamily="2" charset="0"/>
            </a:endParaRPr>
          </a:p>
          <a:p>
            <a:pPr defTabSz="914446"/>
            <a:r>
              <a:rPr lang="en-US" sz="1700" b="1" dirty="0">
                <a:solidFill>
                  <a:srgbClr val="0C1752"/>
                </a:solidFill>
                <a:latin typeface="Montserrat" panose="00000500000000000000" pitchFamily="2" charset="0"/>
              </a:rPr>
              <a:t>Output: </a:t>
            </a:r>
            <a:r>
              <a:rPr lang="en-US" sz="1700" dirty="0">
                <a:solidFill>
                  <a:srgbClr val="0C1752"/>
                </a:solidFill>
                <a:latin typeface="Montserrat" panose="00000500000000000000" pitchFamily="2" charset="0"/>
              </a:rPr>
              <a:t>Respond with (1) A short, clear recommendation list (2-4 bullets), (2) One quick win that can be done today</a:t>
            </a:r>
          </a:p>
          <a:p>
            <a:pPr defTabSz="914446"/>
            <a:endParaRPr lang="en-US" sz="1700" b="1" dirty="0">
              <a:solidFill>
                <a:srgbClr val="0C1752"/>
              </a:solidFill>
              <a:latin typeface="Montserrat" panose="00000500000000000000" pitchFamily="2" charset="0"/>
            </a:endParaRPr>
          </a:p>
          <a:p>
            <a:pPr defTabSz="914446"/>
            <a:endParaRPr lang="en-US" sz="1700" b="1" dirty="0">
              <a:solidFill>
                <a:srgbClr val="0C1752"/>
              </a:solidFill>
              <a:latin typeface="Montserrat" panose="00000500000000000000" pitchFamily="2" charset="0"/>
            </a:endParaRPr>
          </a:p>
          <a:p>
            <a:pPr defTabSz="914446"/>
            <a:r>
              <a:rPr lang="en-US" sz="1700" b="1" dirty="0">
                <a:solidFill>
                  <a:srgbClr val="0C1752"/>
                </a:solidFill>
                <a:latin typeface="Montserrat" panose="00000500000000000000" pitchFamily="2" charset="0"/>
              </a:rPr>
              <a:t> </a:t>
            </a:r>
          </a:p>
          <a:p>
            <a:pPr defTabSz="914446"/>
            <a:endParaRPr lang="en-US" sz="1700" dirty="0">
              <a:solidFill>
                <a:srgbClr val="0C1752"/>
              </a:solidFill>
              <a:latin typeface="Montserrat" panose="00000500000000000000" pitchFamily="2" charset="0"/>
            </a:endParaRPr>
          </a:p>
        </p:txBody>
      </p:sp>
      <p:sp>
        <p:nvSpPr>
          <p:cNvPr id="33" name="TextBox 32">
            <a:extLst>
              <a:ext uri="{FF2B5EF4-FFF2-40B4-BE49-F238E27FC236}">
                <a16:creationId xmlns:a16="http://schemas.microsoft.com/office/drawing/2014/main" id="{DD9BB976-F224-F9BD-464A-597AA196D487}"/>
              </a:ext>
            </a:extLst>
          </p:cNvPr>
          <p:cNvSpPr txBox="1"/>
          <p:nvPr/>
        </p:nvSpPr>
        <p:spPr>
          <a:xfrm>
            <a:off x="7342667" y="2744777"/>
            <a:ext cx="4446811" cy="471924"/>
          </a:xfrm>
          <a:prstGeom prst="rect">
            <a:avLst/>
          </a:prstGeom>
        </p:spPr>
        <p:txBody>
          <a:bodyPr/>
          <a:lstStyle>
            <a:defPPr>
              <a:defRPr lang="en-US"/>
            </a:defPPr>
            <a:lvl1pPr indent="0" algn="ctr" defTabSz="609585">
              <a:spcBef>
                <a:spcPct val="20000"/>
              </a:spcBef>
              <a:buFont typeface="Arial"/>
              <a:buNone/>
              <a:defRPr sz="1600" b="1">
                <a:solidFill>
                  <a:srgbClr val="062E6D"/>
                </a:solidFill>
                <a:latin typeface="Cambria Math" panose="02040503050406030204" pitchFamily="18" charset="0"/>
              </a:defRPr>
            </a:lvl1pPr>
            <a:lvl2pPr marL="990575" indent="-380990" defTabSz="609585">
              <a:spcBef>
                <a:spcPct val="20000"/>
              </a:spcBef>
              <a:buFont typeface="Arial"/>
              <a:buChar char="–"/>
              <a:defRPr sz="2133"/>
            </a:lvl2pPr>
            <a:lvl3pPr marL="1523962" indent="-304792" defTabSz="609585">
              <a:spcBef>
                <a:spcPct val="20000"/>
              </a:spcBef>
              <a:buFont typeface="Arial"/>
              <a:buChar char="•"/>
              <a:defRPr sz="2133"/>
            </a:lvl3pPr>
            <a:lvl4pPr marL="2133547" indent="-304792" defTabSz="609585">
              <a:spcBef>
                <a:spcPct val="20000"/>
              </a:spcBef>
              <a:buFont typeface="Arial"/>
              <a:buChar char="–"/>
              <a:defRPr sz="2133"/>
            </a:lvl4pPr>
            <a:lvl5pPr marL="2743131" indent="-304792" defTabSz="609585">
              <a:spcBef>
                <a:spcPct val="20000"/>
              </a:spcBef>
              <a:buFont typeface="Arial"/>
              <a:buChar char="»"/>
              <a:defRPr sz="2133"/>
            </a:lvl5pPr>
            <a:lvl6pPr marL="3352716" indent="-304792" defTabSz="609585">
              <a:spcBef>
                <a:spcPct val="20000"/>
              </a:spcBef>
              <a:buFont typeface="Arial"/>
              <a:buChar char="•"/>
              <a:defRPr sz="2667"/>
            </a:lvl6pPr>
            <a:lvl7pPr marL="3962301" indent="-304792" defTabSz="609585">
              <a:spcBef>
                <a:spcPct val="20000"/>
              </a:spcBef>
              <a:buFont typeface="Arial"/>
              <a:buChar char="•"/>
              <a:defRPr sz="2667"/>
            </a:lvl7pPr>
            <a:lvl8pPr marL="4571886" indent="-304792" defTabSz="609585">
              <a:spcBef>
                <a:spcPct val="20000"/>
              </a:spcBef>
              <a:buFont typeface="Arial"/>
              <a:buChar char="•"/>
              <a:defRPr sz="2667"/>
            </a:lvl8pPr>
            <a:lvl9pPr marL="5181470" indent="-304792" defTabSz="609585">
              <a:spcBef>
                <a:spcPct val="20000"/>
              </a:spcBef>
              <a:buFont typeface="Arial"/>
              <a:buChar char="•"/>
              <a:defRPr sz="2667"/>
            </a:lvl9pPr>
          </a:lstStyle>
          <a:p>
            <a:pPr defTabSz="406410"/>
            <a:endParaRPr lang="en-US" dirty="0">
              <a:solidFill>
                <a:srgbClr val="017ACD"/>
              </a:solidFill>
              <a:latin typeface="Montserrat" panose="00000500000000000000" pitchFamily="2" charset="0"/>
            </a:endParaRPr>
          </a:p>
        </p:txBody>
      </p:sp>
      <p:sp>
        <p:nvSpPr>
          <p:cNvPr id="34" name="TextBox 33">
            <a:extLst>
              <a:ext uri="{FF2B5EF4-FFF2-40B4-BE49-F238E27FC236}">
                <a16:creationId xmlns:a16="http://schemas.microsoft.com/office/drawing/2014/main" id="{67922287-A721-7CA9-BA44-C8D32C8A4CD6}"/>
              </a:ext>
            </a:extLst>
          </p:cNvPr>
          <p:cNvSpPr txBox="1"/>
          <p:nvPr/>
        </p:nvSpPr>
        <p:spPr>
          <a:xfrm>
            <a:off x="8845364" y="1831736"/>
            <a:ext cx="1136850" cy="379656"/>
          </a:xfrm>
          <a:prstGeom prst="rect">
            <a:avLst/>
          </a:prstGeom>
          <a:noFill/>
        </p:spPr>
        <p:txBody>
          <a:bodyPr wrap="none" rtlCol="0">
            <a:spAutoFit/>
          </a:bodyPr>
          <a:lstStyle/>
          <a:p>
            <a:pPr defTabSz="914446"/>
            <a:r>
              <a:rPr lang="en-US" sz="1867" i="1" dirty="0">
                <a:solidFill>
                  <a:srgbClr val="D56E48"/>
                </a:solidFill>
                <a:latin typeface="Montserrat" panose="00000500000000000000" pitchFamily="2" charset="0"/>
              </a:rPr>
              <a:t>Context</a:t>
            </a:r>
          </a:p>
        </p:txBody>
      </p:sp>
      <p:sp>
        <p:nvSpPr>
          <p:cNvPr id="35" name="TextBox 34">
            <a:extLst>
              <a:ext uri="{FF2B5EF4-FFF2-40B4-BE49-F238E27FC236}">
                <a16:creationId xmlns:a16="http://schemas.microsoft.com/office/drawing/2014/main" id="{005F6A14-67E8-65F2-5116-71FCFB5B8971}"/>
              </a:ext>
            </a:extLst>
          </p:cNvPr>
          <p:cNvSpPr txBox="1"/>
          <p:nvPr/>
        </p:nvSpPr>
        <p:spPr>
          <a:xfrm>
            <a:off x="7121189" y="2917181"/>
            <a:ext cx="1500732" cy="379656"/>
          </a:xfrm>
          <a:prstGeom prst="rect">
            <a:avLst/>
          </a:prstGeom>
          <a:noFill/>
        </p:spPr>
        <p:txBody>
          <a:bodyPr wrap="none" rtlCol="0">
            <a:spAutoFit/>
          </a:bodyPr>
          <a:lstStyle/>
          <a:p>
            <a:pPr defTabSz="914446"/>
            <a:r>
              <a:rPr lang="en-US" sz="1867" i="1" dirty="0">
                <a:solidFill>
                  <a:srgbClr val="D56E48"/>
                </a:solidFill>
                <a:latin typeface="Montserrat" panose="00000500000000000000" pitchFamily="2" charset="0"/>
              </a:rPr>
              <a:t>Instruction</a:t>
            </a:r>
          </a:p>
        </p:txBody>
      </p:sp>
      <p:sp>
        <p:nvSpPr>
          <p:cNvPr id="36" name="TextBox 35">
            <a:extLst>
              <a:ext uri="{FF2B5EF4-FFF2-40B4-BE49-F238E27FC236}">
                <a16:creationId xmlns:a16="http://schemas.microsoft.com/office/drawing/2014/main" id="{E929A758-964D-6060-8C21-9CB048C9D375}"/>
              </a:ext>
            </a:extLst>
          </p:cNvPr>
          <p:cNvSpPr txBox="1"/>
          <p:nvPr/>
        </p:nvSpPr>
        <p:spPr>
          <a:xfrm>
            <a:off x="8865744" y="4256228"/>
            <a:ext cx="1521570" cy="379656"/>
          </a:xfrm>
          <a:prstGeom prst="rect">
            <a:avLst/>
          </a:prstGeom>
          <a:noFill/>
        </p:spPr>
        <p:txBody>
          <a:bodyPr wrap="none" rtlCol="0">
            <a:spAutoFit/>
          </a:bodyPr>
          <a:lstStyle/>
          <a:p>
            <a:pPr defTabSz="914446"/>
            <a:r>
              <a:rPr lang="en-US" sz="1867" i="1" dirty="0">
                <a:solidFill>
                  <a:srgbClr val="D56E48"/>
                </a:solidFill>
                <a:latin typeface="Montserrat" panose="00000500000000000000" pitchFamily="2" charset="0"/>
              </a:rPr>
              <a:t>Input Data</a:t>
            </a:r>
          </a:p>
        </p:txBody>
      </p:sp>
      <p:sp>
        <p:nvSpPr>
          <p:cNvPr id="37" name="TextBox 36">
            <a:extLst>
              <a:ext uri="{FF2B5EF4-FFF2-40B4-BE49-F238E27FC236}">
                <a16:creationId xmlns:a16="http://schemas.microsoft.com/office/drawing/2014/main" id="{75104FBC-2960-2EAC-66A7-ACE43CD75800}"/>
              </a:ext>
            </a:extLst>
          </p:cNvPr>
          <p:cNvSpPr txBox="1"/>
          <p:nvPr/>
        </p:nvSpPr>
        <p:spPr>
          <a:xfrm>
            <a:off x="7198756" y="5813289"/>
            <a:ext cx="2230098" cy="379656"/>
          </a:xfrm>
          <a:prstGeom prst="rect">
            <a:avLst/>
          </a:prstGeom>
          <a:noFill/>
        </p:spPr>
        <p:txBody>
          <a:bodyPr wrap="none" rtlCol="0">
            <a:spAutoFit/>
          </a:bodyPr>
          <a:lstStyle/>
          <a:p>
            <a:pPr defTabSz="914446"/>
            <a:r>
              <a:rPr lang="en-US" sz="1867" i="1" dirty="0">
                <a:solidFill>
                  <a:srgbClr val="D56E48"/>
                </a:solidFill>
                <a:latin typeface="Montserrat" panose="00000500000000000000" pitchFamily="2" charset="0"/>
              </a:rPr>
              <a:t>Output Indicator</a:t>
            </a:r>
          </a:p>
        </p:txBody>
      </p:sp>
      <p:sp>
        <p:nvSpPr>
          <p:cNvPr id="38" name="Text Placeholder 19">
            <a:extLst>
              <a:ext uri="{FF2B5EF4-FFF2-40B4-BE49-F238E27FC236}">
                <a16:creationId xmlns:a16="http://schemas.microsoft.com/office/drawing/2014/main" id="{FD92B5FB-3D78-856A-A558-416DA8F1866A}"/>
              </a:ext>
            </a:extLst>
          </p:cNvPr>
          <p:cNvSpPr txBox="1">
            <a:spLocks/>
          </p:cNvSpPr>
          <p:nvPr/>
        </p:nvSpPr>
        <p:spPr>
          <a:xfrm>
            <a:off x="96074" y="844237"/>
            <a:ext cx="4891221" cy="1263679"/>
          </a:xfrm>
          <a:prstGeom prst="rect">
            <a:avLst/>
          </a:prstGeom>
          <a:solidFill>
            <a:schemeClr val="bg1"/>
          </a:solidFill>
          <a:ln>
            <a:solidFill>
              <a:schemeClr val="tx2">
                <a:lumMod val="20000"/>
                <a:lumOff val="80000"/>
              </a:schemeClr>
            </a:solidFill>
          </a:ln>
          <a:effectLst>
            <a:glow rad="50800">
              <a:schemeClr val="tx1">
                <a:alpha val="5000"/>
              </a:schemeClr>
            </a:glow>
            <a:innerShdw dist="50800" dir="10800000">
              <a:schemeClr val="accent2"/>
            </a:innerShdw>
          </a:effectLst>
        </p:spPr>
        <p:txBody>
          <a:bodyPr vert="horz" wrap="square" lIns="365760" tIns="274320" rIns="182880" bIns="274320" rtlCol="0">
            <a:spAutoFit/>
          </a:bodyPr>
          <a:lstStyle>
            <a:lvl1pPr marL="2286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1pPr>
            <a:lvl2pPr marL="457200" indent="-228600" algn="l" defTabSz="914400" rtl="0" eaLnBrk="1" latinLnBrk="0" hangingPunct="1">
              <a:lnSpc>
                <a:spcPct val="100000"/>
              </a:lnSpc>
              <a:spcBef>
                <a:spcPts val="400"/>
              </a:spcBef>
              <a:spcAft>
                <a:spcPts val="1200"/>
              </a:spcAft>
              <a:buClr>
                <a:srgbClr val="0B8ECC"/>
              </a:buClr>
              <a:buSzPct val="9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2pPr>
            <a:lvl3pPr marL="685800" indent="-228600" algn="l" defTabSz="914400" rtl="0" eaLnBrk="1" latinLnBrk="0" hangingPunct="1">
              <a:lnSpc>
                <a:spcPct val="100000"/>
              </a:lnSpc>
              <a:spcBef>
                <a:spcPts val="400"/>
              </a:spcBef>
              <a:spcAft>
                <a:spcPts val="1200"/>
              </a:spcAft>
              <a:buClr>
                <a:srgbClr val="0B8ECC"/>
              </a:buClr>
              <a:buSzPct val="10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3pPr>
            <a:lvl4pPr marL="16002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4pPr>
            <a:lvl5pPr marL="20574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09630">
              <a:lnSpc>
                <a:spcPct val="120000"/>
              </a:lnSpc>
              <a:spcBef>
                <a:spcPts val="333"/>
              </a:spcBef>
              <a:spcAft>
                <a:spcPts val="333"/>
              </a:spcAft>
              <a:buNone/>
            </a:pPr>
            <a:r>
              <a:rPr lang="en-US" sz="2000" b="1" dirty="0">
                <a:solidFill>
                  <a:srgbClr val="000000"/>
                </a:solidFill>
                <a:latin typeface="Montserrat" panose="00000500000000000000" pitchFamily="2" charset="0"/>
              </a:rPr>
              <a:t>Context: </a:t>
            </a:r>
            <a:r>
              <a:rPr lang="en-US" sz="2000" dirty="0">
                <a:solidFill>
                  <a:srgbClr val="000000"/>
                </a:solidFill>
                <a:latin typeface="Montserrat" panose="00000500000000000000" pitchFamily="2" charset="0"/>
              </a:rPr>
              <a:t> Set the scene, who is the AI, what's the situation?</a:t>
            </a:r>
          </a:p>
        </p:txBody>
      </p:sp>
      <p:sp>
        <p:nvSpPr>
          <p:cNvPr id="39" name="Text Placeholder 19">
            <a:extLst>
              <a:ext uri="{FF2B5EF4-FFF2-40B4-BE49-F238E27FC236}">
                <a16:creationId xmlns:a16="http://schemas.microsoft.com/office/drawing/2014/main" id="{5A657087-C8C0-0CD7-73B2-9CB892A1121E}"/>
              </a:ext>
            </a:extLst>
          </p:cNvPr>
          <p:cNvSpPr txBox="1">
            <a:spLocks/>
          </p:cNvSpPr>
          <p:nvPr/>
        </p:nvSpPr>
        <p:spPr>
          <a:xfrm>
            <a:off x="94700" y="1918567"/>
            <a:ext cx="4891221" cy="1169551"/>
          </a:xfrm>
          <a:prstGeom prst="rect">
            <a:avLst/>
          </a:prstGeom>
          <a:solidFill>
            <a:schemeClr val="bg1"/>
          </a:solidFill>
          <a:ln>
            <a:solidFill>
              <a:schemeClr val="tx2">
                <a:lumMod val="20000"/>
                <a:lumOff val="80000"/>
              </a:schemeClr>
            </a:solidFill>
          </a:ln>
          <a:effectLst>
            <a:glow rad="50800">
              <a:schemeClr val="tx1">
                <a:alpha val="5000"/>
              </a:schemeClr>
            </a:glow>
            <a:innerShdw dist="50800" dir="10800000">
              <a:schemeClr val="accent3"/>
            </a:innerShdw>
          </a:effectLst>
        </p:spPr>
        <p:txBody>
          <a:bodyPr vert="horz" wrap="square" lIns="365760" tIns="274320" rIns="182880" bIns="274320" rtlCol="0">
            <a:spAutoFit/>
          </a:bodyPr>
          <a:lstStyle>
            <a:lvl1pPr marL="2286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1pPr>
            <a:lvl2pPr marL="457200" indent="-228600" algn="l" defTabSz="914400" rtl="0" eaLnBrk="1" latinLnBrk="0" hangingPunct="1">
              <a:lnSpc>
                <a:spcPct val="100000"/>
              </a:lnSpc>
              <a:spcBef>
                <a:spcPts val="400"/>
              </a:spcBef>
              <a:spcAft>
                <a:spcPts val="1200"/>
              </a:spcAft>
              <a:buClr>
                <a:srgbClr val="0B8ECC"/>
              </a:buClr>
              <a:buSzPct val="9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2pPr>
            <a:lvl3pPr marL="685800" indent="-228600" algn="l" defTabSz="914400" rtl="0" eaLnBrk="1" latinLnBrk="0" hangingPunct="1">
              <a:lnSpc>
                <a:spcPct val="100000"/>
              </a:lnSpc>
              <a:spcBef>
                <a:spcPts val="400"/>
              </a:spcBef>
              <a:spcAft>
                <a:spcPts val="1200"/>
              </a:spcAft>
              <a:buClr>
                <a:srgbClr val="0B8ECC"/>
              </a:buClr>
              <a:buSzPct val="10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3pPr>
            <a:lvl4pPr marL="16002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4pPr>
            <a:lvl5pPr marL="20574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09630">
              <a:spcBef>
                <a:spcPts val="267"/>
              </a:spcBef>
              <a:spcAft>
                <a:spcPts val="800"/>
              </a:spcAft>
              <a:buNone/>
            </a:pPr>
            <a:r>
              <a:rPr lang="en-US" sz="2000" b="1" dirty="0">
                <a:solidFill>
                  <a:srgbClr val="000000"/>
                </a:solidFill>
                <a:latin typeface="Montserrat" panose="00000500000000000000" pitchFamily="2" charset="0"/>
              </a:rPr>
              <a:t>Instruction: </a:t>
            </a:r>
            <a:r>
              <a:rPr lang="en-US" sz="2000" dirty="0">
                <a:solidFill>
                  <a:srgbClr val="000000"/>
                </a:solidFill>
                <a:latin typeface="Montserrat" panose="00000500000000000000" pitchFamily="2" charset="0"/>
              </a:rPr>
              <a:t>A clear statement of the desired goal.</a:t>
            </a:r>
          </a:p>
        </p:txBody>
      </p:sp>
      <p:sp>
        <p:nvSpPr>
          <p:cNvPr id="40" name="Text Placeholder 19">
            <a:extLst>
              <a:ext uri="{FF2B5EF4-FFF2-40B4-BE49-F238E27FC236}">
                <a16:creationId xmlns:a16="http://schemas.microsoft.com/office/drawing/2014/main" id="{35ABA1B7-19E2-A145-44A4-3D6EC9C7D3C4}"/>
              </a:ext>
            </a:extLst>
          </p:cNvPr>
          <p:cNvSpPr txBox="1">
            <a:spLocks/>
          </p:cNvSpPr>
          <p:nvPr/>
        </p:nvSpPr>
        <p:spPr>
          <a:xfrm>
            <a:off x="92402" y="2987818"/>
            <a:ext cx="4891221" cy="1263679"/>
          </a:xfrm>
          <a:prstGeom prst="rect">
            <a:avLst/>
          </a:prstGeom>
          <a:solidFill>
            <a:schemeClr val="bg1"/>
          </a:solidFill>
          <a:ln>
            <a:solidFill>
              <a:schemeClr val="tx2">
                <a:lumMod val="20000"/>
                <a:lumOff val="80000"/>
              </a:schemeClr>
            </a:solidFill>
          </a:ln>
          <a:effectLst>
            <a:glow rad="50800">
              <a:schemeClr val="tx1">
                <a:alpha val="5000"/>
              </a:schemeClr>
            </a:glow>
            <a:innerShdw dist="50800" dir="10800000">
              <a:schemeClr val="accent4"/>
            </a:innerShdw>
          </a:effectLst>
        </p:spPr>
        <p:txBody>
          <a:bodyPr vert="horz" wrap="square" lIns="365760" tIns="274320" rIns="182880" bIns="274320" rtlCol="0">
            <a:spAutoFit/>
          </a:bodyPr>
          <a:lstStyle>
            <a:lvl1pPr marL="2286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1pPr>
            <a:lvl2pPr marL="457200" indent="-228600" algn="l" defTabSz="914400" rtl="0" eaLnBrk="1" latinLnBrk="0" hangingPunct="1">
              <a:lnSpc>
                <a:spcPct val="100000"/>
              </a:lnSpc>
              <a:spcBef>
                <a:spcPts val="400"/>
              </a:spcBef>
              <a:spcAft>
                <a:spcPts val="1200"/>
              </a:spcAft>
              <a:buClr>
                <a:srgbClr val="0B8ECC"/>
              </a:buClr>
              <a:buSzPct val="9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2pPr>
            <a:lvl3pPr marL="685800" indent="-228600" algn="l" defTabSz="914400" rtl="0" eaLnBrk="1" latinLnBrk="0" hangingPunct="1">
              <a:lnSpc>
                <a:spcPct val="100000"/>
              </a:lnSpc>
              <a:spcBef>
                <a:spcPts val="400"/>
              </a:spcBef>
              <a:spcAft>
                <a:spcPts val="1200"/>
              </a:spcAft>
              <a:buClr>
                <a:srgbClr val="0B8ECC"/>
              </a:buClr>
              <a:buSzPct val="10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3pPr>
            <a:lvl4pPr marL="16002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4pPr>
            <a:lvl5pPr marL="20574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09630">
              <a:lnSpc>
                <a:spcPct val="120000"/>
              </a:lnSpc>
              <a:spcBef>
                <a:spcPts val="333"/>
              </a:spcBef>
              <a:spcAft>
                <a:spcPts val="333"/>
              </a:spcAft>
              <a:buNone/>
            </a:pPr>
            <a:r>
              <a:rPr lang="en-US" sz="2000" b="1" dirty="0">
                <a:solidFill>
                  <a:srgbClr val="000000"/>
                </a:solidFill>
                <a:latin typeface="Montserrat" panose="00000500000000000000" pitchFamily="2" charset="0"/>
              </a:rPr>
              <a:t>Input Data: </a:t>
            </a:r>
            <a:r>
              <a:rPr lang="en-US" sz="2000" dirty="0">
                <a:solidFill>
                  <a:srgbClr val="000000"/>
                </a:solidFill>
                <a:latin typeface="Montserrat" panose="00000500000000000000" pitchFamily="2" charset="0"/>
              </a:rPr>
              <a:t>The data or content to analyze.</a:t>
            </a:r>
          </a:p>
        </p:txBody>
      </p:sp>
      <p:sp>
        <p:nvSpPr>
          <p:cNvPr id="41" name="Text Placeholder 19">
            <a:extLst>
              <a:ext uri="{FF2B5EF4-FFF2-40B4-BE49-F238E27FC236}">
                <a16:creationId xmlns:a16="http://schemas.microsoft.com/office/drawing/2014/main" id="{979358D0-B32D-3DD2-9EA1-5051625EDE8B}"/>
              </a:ext>
            </a:extLst>
          </p:cNvPr>
          <p:cNvSpPr txBox="1">
            <a:spLocks/>
          </p:cNvSpPr>
          <p:nvPr/>
        </p:nvSpPr>
        <p:spPr>
          <a:xfrm>
            <a:off x="92401" y="4057069"/>
            <a:ext cx="4891221" cy="1258678"/>
          </a:xfrm>
          <a:prstGeom prst="rect">
            <a:avLst/>
          </a:prstGeom>
          <a:solidFill>
            <a:schemeClr val="bg1"/>
          </a:solidFill>
          <a:ln>
            <a:solidFill>
              <a:schemeClr val="tx2">
                <a:lumMod val="20000"/>
                <a:lumOff val="80000"/>
              </a:schemeClr>
            </a:solidFill>
          </a:ln>
          <a:effectLst>
            <a:glow rad="50800">
              <a:schemeClr val="tx1">
                <a:alpha val="5000"/>
              </a:schemeClr>
            </a:glow>
            <a:innerShdw dist="50800" dir="10800000">
              <a:schemeClr val="tx2"/>
            </a:innerShdw>
          </a:effectLst>
        </p:spPr>
        <p:txBody>
          <a:bodyPr vert="horz" wrap="square" lIns="365760" tIns="274320" rIns="182880" bIns="274320" rtlCol="0">
            <a:spAutoFit/>
          </a:bodyPr>
          <a:lstStyle>
            <a:lvl1pPr marL="2286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1pPr>
            <a:lvl2pPr marL="457200" indent="-228600" algn="l" defTabSz="914400" rtl="0" eaLnBrk="1" latinLnBrk="0" hangingPunct="1">
              <a:lnSpc>
                <a:spcPct val="100000"/>
              </a:lnSpc>
              <a:spcBef>
                <a:spcPts val="400"/>
              </a:spcBef>
              <a:spcAft>
                <a:spcPts val="1200"/>
              </a:spcAft>
              <a:buClr>
                <a:srgbClr val="0B8ECC"/>
              </a:buClr>
              <a:buSzPct val="9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2pPr>
            <a:lvl3pPr marL="685800" indent="-228600" algn="l" defTabSz="914400" rtl="0" eaLnBrk="1" latinLnBrk="0" hangingPunct="1">
              <a:lnSpc>
                <a:spcPct val="100000"/>
              </a:lnSpc>
              <a:spcBef>
                <a:spcPts val="400"/>
              </a:spcBef>
              <a:spcAft>
                <a:spcPts val="1200"/>
              </a:spcAft>
              <a:buClr>
                <a:srgbClr val="0B8ECC"/>
              </a:buClr>
              <a:buSzPct val="100000"/>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3pPr>
            <a:lvl4pPr marL="16002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4pPr>
            <a:lvl5pPr marL="2057400" indent="-228600" algn="l" defTabSz="914400" rtl="0" eaLnBrk="1" latinLnBrk="0" hangingPunct="1">
              <a:lnSpc>
                <a:spcPct val="100000"/>
              </a:lnSpc>
              <a:spcBef>
                <a:spcPts val="400"/>
              </a:spcBef>
              <a:spcAft>
                <a:spcPts val="1200"/>
              </a:spcAft>
              <a:buClr>
                <a:srgbClr val="0B8ECC"/>
              </a:buClr>
              <a:buFont typeface="Arial" panose="020B0604020202020204" pitchFamily="34" charset="0"/>
              <a:buChar char="•"/>
              <a:defRPr sz="1800" kern="1200">
                <a:solidFill>
                  <a:schemeClr val="tx1"/>
                </a:solidFill>
                <a:latin typeface="+mn-lt"/>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609630">
              <a:lnSpc>
                <a:spcPct val="120000"/>
              </a:lnSpc>
              <a:spcBef>
                <a:spcPts val="333"/>
              </a:spcBef>
              <a:spcAft>
                <a:spcPts val="333"/>
              </a:spcAft>
              <a:buNone/>
            </a:pPr>
            <a:r>
              <a:rPr lang="en-US" sz="2000" b="1" dirty="0">
                <a:solidFill>
                  <a:srgbClr val="000000"/>
                </a:solidFill>
                <a:latin typeface="Montserrat" panose="00000500000000000000" pitchFamily="2" charset="0"/>
              </a:rPr>
              <a:t>Output Indicator: </a:t>
            </a:r>
            <a:r>
              <a:rPr lang="en-US" sz="2000" dirty="0">
                <a:solidFill>
                  <a:srgbClr val="000000"/>
                </a:solidFill>
                <a:latin typeface="Montserrat" panose="00000500000000000000" pitchFamily="2" charset="0"/>
              </a:rPr>
              <a:t>Define the expected format and structure</a:t>
            </a:r>
          </a:p>
        </p:txBody>
      </p:sp>
      <p:cxnSp>
        <p:nvCxnSpPr>
          <p:cNvPr id="42" name="Connector: Elbow 41">
            <a:extLst>
              <a:ext uri="{FF2B5EF4-FFF2-40B4-BE49-F238E27FC236}">
                <a16:creationId xmlns:a16="http://schemas.microsoft.com/office/drawing/2014/main" id="{A0058166-79A5-51DC-4F51-3F82CFA43ACE}"/>
              </a:ext>
            </a:extLst>
          </p:cNvPr>
          <p:cNvCxnSpPr>
            <a:cxnSpLocks/>
          </p:cNvCxnSpPr>
          <p:nvPr/>
        </p:nvCxnSpPr>
        <p:spPr>
          <a:xfrm>
            <a:off x="7785207" y="1666866"/>
            <a:ext cx="1052655" cy="373985"/>
          </a:xfrm>
          <a:prstGeom prst="bentConnector3">
            <a:avLst>
              <a:gd name="adj1" fmla="val -2046"/>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BF0B8A4A-5B47-ABC6-BEAF-79FE88CB4CAC}"/>
              </a:ext>
            </a:extLst>
          </p:cNvPr>
          <p:cNvCxnSpPr>
            <a:cxnSpLocks/>
          </p:cNvCxnSpPr>
          <p:nvPr/>
        </p:nvCxnSpPr>
        <p:spPr>
          <a:xfrm>
            <a:off x="6068534" y="2746285"/>
            <a:ext cx="1052655" cy="373985"/>
          </a:xfrm>
          <a:prstGeom prst="bentConnector3">
            <a:avLst>
              <a:gd name="adj1" fmla="val -2046"/>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C3E79204-107F-82A3-F613-43058C365F48}"/>
              </a:ext>
            </a:extLst>
          </p:cNvPr>
          <p:cNvCxnSpPr>
            <a:cxnSpLocks/>
          </p:cNvCxnSpPr>
          <p:nvPr/>
        </p:nvCxnSpPr>
        <p:spPr>
          <a:xfrm>
            <a:off x="7813089" y="4079946"/>
            <a:ext cx="1052655" cy="373985"/>
          </a:xfrm>
          <a:prstGeom prst="bentConnector3">
            <a:avLst>
              <a:gd name="adj1" fmla="val -2046"/>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C7FA7A86-41AF-DCE4-29F3-E6B74EBEC148}"/>
              </a:ext>
            </a:extLst>
          </p:cNvPr>
          <p:cNvCxnSpPr>
            <a:cxnSpLocks/>
          </p:cNvCxnSpPr>
          <p:nvPr/>
        </p:nvCxnSpPr>
        <p:spPr>
          <a:xfrm>
            <a:off x="6098188" y="5640629"/>
            <a:ext cx="1052655" cy="373985"/>
          </a:xfrm>
          <a:prstGeom prst="bentConnector3">
            <a:avLst>
              <a:gd name="adj1" fmla="val -2046"/>
            </a:avLst>
          </a:prstGeom>
          <a:ln w="57150">
            <a:solidFill>
              <a:srgbClr val="D56E48"/>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980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fade">
                                      <p:cBhvr>
                                        <p:cTn id="12" dur="500"/>
                                        <p:tgtEl>
                                          <p:spTgt spid="32">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2">
                                            <p:txEl>
                                              <p:pRg st="0" end="0"/>
                                            </p:txEl>
                                          </p:spTgt>
                                        </p:tgtEl>
                                        <p:attrNameLst>
                                          <p:attrName>style.visibility</p:attrName>
                                        </p:attrNameLst>
                                      </p:cBhvr>
                                      <p:to>
                                        <p:strVal val="visible"/>
                                      </p:to>
                                    </p:set>
                                    <p:animEffect transition="in" filter="fade">
                                      <p:cBhvr>
                                        <p:cTn id="15" dur="500"/>
                                        <p:tgtEl>
                                          <p:spTgt spid="32">
                                            <p:txEl>
                                              <p:pRg st="0" end="0"/>
                                            </p:txEl>
                                          </p:spTgt>
                                        </p:tgtEl>
                                      </p:cBhvr>
                                    </p:animEffect>
                                  </p:childTnLst>
                                </p:cTn>
                              </p:par>
                              <p:par>
                                <p:cTn id="16" presetID="2" presetClass="entr" presetSubtype="4" fill="hold" nodeType="withEffect">
                                  <p:stCondLst>
                                    <p:cond delay="0"/>
                                  </p:stCondLst>
                                  <p:childTnLst>
                                    <p:set>
                                      <p:cBhvr>
                                        <p:cTn id="17" dur="1" fill="hold">
                                          <p:stCondLst>
                                            <p:cond delay="0"/>
                                          </p:stCondLst>
                                        </p:cTn>
                                        <p:tgtEl>
                                          <p:spTgt spid="42"/>
                                        </p:tgtEl>
                                        <p:attrNameLst>
                                          <p:attrName>style.visibility</p:attrName>
                                        </p:attrNameLst>
                                      </p:cBhvr>
                                      <p:to>
                                        <p:strVal val="visible"/>
                                      </p:to>
                                    </p:set>
                                    <p:anim calcmode="lin" valueType="num">
                                      <p:cBhvr additive="base">
                                        <p:cTn id="18" dur="500" fill="hold"/>
                                        <p:tgtEl>
                                          <p:spTgt spid="42"/>
                                        </p:tgtEl>
                                        <p:attrNameLst>
                                          <p:attrName>ppt_x</p:attrName>
                                        </p:attrNameLst>
                                      </p:cBhvr>
                                      <p:tavLst>
                                        <p:tav tm="0">
                                          <p:val>
                                            <p:strVal val="#ppt_x"/>
                                          </p:val>
                                        </p:tav>
                                        <p:tav tm="100000">
                                          <p:val>
                                            <p:strVal val="#ppt_x"/>
                                          </p:val>
                                        </p:tav>
                                      </p:tavLst>
                                    </p:anim>
                                    <p:anim calcmode="lin" valueType="num">
                                      <p:cBhvr additive="base">
                                        <p:cTn id="19" dur="500" fill="hold"/>
                                        <p:tgtEl>
                                          <p:spTgt spid="42"/>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 calcmode="lin" valueType="num">
                                      <p:cBhvr additive="base">
                                        <p:cTn id="22" dur="500" fill="hold"/>
                                        <p:tgtEl>
                                          <p:spTgt spid="34"/>
                                        </p:tgtEl>
                                        <p:attrNameLst>
                                          <p:attrName>ppt_x</p:attrName>
                                        </p:attrNameLst>
                                      </p:cBhvr>
                                      <p:tavLst>
                                        <p:tav tm="0">
                                          <p:val>
                                            <p:strVal val="#ppt_x"/>
                                          </p:val>
                                        </p:tav>
                                        <p:tav tm="100000">
                                          <p:val>
                                            <p:strVal val="#ppt_x"/>
                                          </p:val>
                                        </p:tav>
                                      </p:tavLst>
                                    </p:anim>
                                    <p:anim calcmode="lin" valueType="num">
                                      <p:cBhvr additive="base">
                                        <p:cTn id="23"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00"/>
                                        <p:tgtEl>
                                          <p:spTgt spid="3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2">
                                            <p:txEl>
                                              <p:pRg st="4" end="4"/>
                                            </p:txEl>
                                          </p:spTgt>
                                        </p:tgtEl>
                                        <p:attrNameLst>
                                          <p:attrName>style.visibility</p:attrName>
                                        </p:attrNameLst>
                                      </p:cBhvr>
                                      <p:to>
                                        <p:strVal val="visible"/>
                                      </p:to>
                                    </p:set>
                                    <p:animEffect transition="in" filter="fade">
                                      <p:cBhvr>
                                        <p:cTn id="33" dur="500"/>
                                        <p:tgtEl>
                                          <p:spTgt spid="32">
                                            <p:txEl>
                                              <p:pRg st="4" end="4"/>
                                            </p:txEl>
                                          </p:spTgt>
                                        </p:tgtEl>
                                      </p:cBhvr>
                                    </p:animEffect>
                                  </p:childTnLst>
                                </p:cTn>
                              </p:par>
                              <p:par>
                                <p:cTn id="34" presetID="2" presetClass="entr" presetSubtype="4" fill="hold" nodeType="withEffect">
                                  <p:stCondLst>
                                    <p:cond delay="0"/>
                                  </p:stCondLst>
                                  <p:childTnLst>
                                    <p:set>
                                      <p:cBhvr>
                                        <p:cTn id="35" dur="1" fill="hold">
                                          <p:stCondLst>
                                            <p:cond delay="0"/>
                                          </p:stCondLst>
                                        </p:cTn>
                                        <p:tgtEl>
                                          <p:spTgt spid="43"/>
                                        </p:tgtEl>
                                        <p:attrNameLst>
                                          <p:attrName>style.visibility</p:attrName>
                                        </p:attrNameLst>
                                      </p:cBhvr>
                                      <p:to>
                                        <p:strVal val="visible"/>
                                      </p:to>
                                    </p:set>
                                    <p:anim calcmode="lin" valueType="num">
                                      <p:cBhvr additive="base">
                                        <p:cTn id="36" dur="500" fill="hold"/>
                                        <p:tgtEl>
                                          <p:spTgt spid="43"/>
                                        </p:tgtEl>
                                        <p:attrNameLst>
                                          <p:attrName>ppt_x</p:attrName>
                                        </p:attrNameLst>
                                      </p:cBhvr>
                                      <p:tavLst>
                                        <p:tav tm="0">
                                          <p:val>
                                            <p:strVal val="#ppt_x"/>
                                          </p:val>
                                        </p:tav>
                                        <p:tav tm="100000">
                                          <p:val>
                                            <p:strVal val="#ppt_x"/>
                                          </p:val>
                                        </p:tav>
                                      </p:tavLst>
                                    </p:anim>
                                    <p:anim calcmode="lin" valueType="num">
                                      <p:cBhvr additive="base">
                                        <p:cTn id="37" dur="500" fill="hold"/>
                                        <p:tgtEl>
                                          <p:spTgt spid="43"/>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 calcmode="lin" valueType="num">
                                      <p:cBhvr additive="base">
                                        <p:cTn id="40" dur="500" fill="hold"/>
                                        <p:tgtEl>
                                          <p:spTgt spid="35"/>
                                        </p:tgtEl>
                                        <p:attrNameLst>
                                          <p:attrName>ppt_x</p:attrName>
                                        </p:attrNameLst>
                                      </p:cBhvr>
                                      <p:tavLst>
                                        <p:tav tm="0">
                                          <p:val>
                                            <p:strVal val="#ppt_x"/>
                                          </p:val>
                                        </p:tav>
                                        <p:tav tm="100000">
                                          <p:val>
                                            <p:strVal val="#ppt_x"/>
                                          </p:val>
                                        </p:tav>
                                      </p:tavLst>
                                    </p:anim>
                                    <p:anim calcmode="lin" valueType="num">
                                      <p:cBhvr additive="base">
                                        <p:cTn id="41"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00"/>
                                        <p:tgtEl>
                                          <p:spTgt spid="4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2">
                                            <p:txEl>
                                              <p:pRg st="8" end="8"/>
                                            </p:txEl>
                                          </p:spTgt>
                                        </p:tgtEl>
                                        <p:attrNameLst>
                                          <p:attrName>style.visibility</p:attrName>
                                        </p:attrNameLst>
                                      </p:cBhvr>
                                      <p:to>
                                        <p:strVal val="visible"/>
                                      </p:to>
                                    </p:set>
                                    <p:animEffect transition="in" filter="fade">
                                      <p:cBhvr>
                                        <p:cTn id="51" dur="500"/>
                                        <p:tgtEl>
                                          <p:spTgt spid="32">
                                            <p:txEl>
                                              <p:pRg st="8" end="8"/>
                                            </p:txEl>
                                          </p:spTgt>
                                        </p:tgtEl>
                                      </p:cBhvr>
                                    </p:animEffect>
                                  </p:childTnLst>
                                </p:cTn>
                              </p:par>
                              <p:par>
                                <p:cTn id="52" presetID="2" presetClass="entr" presetSubtype="4" fill="hold" nodeType="withEffect">
                                  <p:stCondLst>
                                    <p:cond delay="0"/>
                                  </p:stCondLst>
                                  <p:childTnLst>
                                    <p:set>
                                      <p:cBhvr>
                                        <p:cTn id="53" dur="1" fill="hold">
                                          <p:stCondLst>
                                            <p:cond delay="0"/>
                                          </p:stCondLst>
                                        </p:cTn>
                                        <p:tgtEl>
                                          <p:spTgt spid="44"/>
                                        </p:tgtEl>
                                        <p:attrNameLst>
                                          <p:attrName>style.visibility</p:attrName>
                                        </p:attrNameLst>
                                      </p:cBhvr>
                                      <p:to>
                                        <p:strVal val="visible"/>
                                      </p:to>
                                    </p:set>
                                    <p:anim calcmode="lin" valueType="num">
                                      <p:cBhvr additive="base">
                                        <p:cTn id="54" dur="500" fill="hold"/>
                                        <p:tgtEl>
                                          <p:spTgt spid="44"/>
                                        </p:tgtEl>
                                        <p:attrNameLst>
                                          <p:attrName>ppt_x</p:attrName>
                                        </p:attrNameLst>
                                      </p:cBhvr>
                                      <p:tavLst>
                                        <p:tav tm="0">
                                          <p:val>
                                            <p:strVal val="#ppt_x"/>
                                          </p:val>
                                        </p:tav>
                                        <p:tav tm="100000">
                                          <p:val>
                                            <p:strVal val="#ppt_x"/>
                                          </p:val>
                                        </p:tav>
                                      </p:tavLst>
                                    </p:anim>
                                    <p:anim calcmode="lin" valueType="num">
                                      <p:cBhvr additive="base">
                                        <p:cTn id="55" dur="500" fill="hold"/>
                                        <p:tgtEl>
                                          <p:spTgt spid="44"/>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 calcmode="lin" valueType="num">
                                      <p:cBhvr additive="base">
                                        <p:cTn id="58" dur="500" fill="hold"/>
                                        <p:tgtEl>
                                          <p:spTgt spid="36"/>
                                        </p:tgtEl>
                                        <p:attrNameLst>
                                          <p:attrName>ppt_x</p:attrName>
                                        </p:attrNameLst>
                                      </p:cBhvr>
                                      <p:tavLst>
                                        <p:tav tm="0">
                                          <p:val>
                                            <p:strVal val="#ppt_x"/>
                                          </p:val>
                                        </p:tav>
                                        <p:tav tm="100000">
                                          <p:val>
                                            <p:strVal val="#ppt_x"/>
                                          </p:val>
                                        </p:tav>
                                      </p:tavLst>
                                    </p:anim>
                                    <p:anim calcmode="lin" valueType="num">
                                      <p:cBhvr additive="base">
                                        <p:cTn id="59"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41"/>
                                        </p:tgtEl>
                                        <p:attrNameLst>
                                          <p:attrName>style.visibility</p:attrName>
                                        </p:attrNameLst>
                                      </p:cBhvr>
                                      <p:to>
                                        <p:strVal val="visible"/>
                                      </p:to>
                                    </p:set>
                                    <p:animEffect transition="in" filter="fade">
                                      <p:cBhvr>
                                        <p:cTn id="64" dur="500"/>
                                        <p:tgtEl>
                                          <p:spTgt spid="41"/>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32">
                                            <p:txEl>
                                              <p:pRg st="12" end="12"/>
                                            </p:txEl>
                                          </p:spTgt>
                                        </p:tgtEl>
                                        <p:attrNameLst>
                                          <p:attrName>style.visibility</p:attrName>
                                        </p:attrNameLst>
                                      </p:cBhvr>
                                      <p:to>
                                        <p:strVal val="visible"/>
                                      </p:to>
                                    </p:set>
                                    <p:anim calcmode="lin" valueType="num">
                                      <p:cBhvr additive="base">
                                        <p:cTn id="69" dur="500" fill="hold"/>
                                        <p:tgtEl>
                                          <p:spTgt spid="32">
                                            <p:txEl>
                                              <p:pRg st="12" end="12"/>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32">
                                            <p:txEl>
                                              <p:pRg st="12" end="12"/>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45"/>
                                        </p:tgtEl>
                                        <p:attrNameLst>
                                          <p:attrName>style.visibility</p:attrName>
                                        </p:attrNameLst>
                                      </p:cBhvr>
                                      <p:to>
                                        <p:strVal val="visible"/>
                                      </p:to>
                                    </p:set>
                                    <p:anim calcmode="lin" valueType="num">
                                      <p:cBhvr additive="base">
                                        <p:cTn id="73" dur="500" fill="hold"/>
                                        <p:tgtEl>
                                          <p:spTgt spid="45"/>
                                        </p:tgtEl>
                                        <p:attrNameLst>
                                          <p:attrName>ppt_x</p:attrName>
                                        </p:attrNameLst>
                                      </p:cBhvr>
                                      <p:tavLst>
                                        <p:tav tm="0">
                                          <p:val>
                                            <p:strVal val="#ppt_x"/>
                                          </p:val>
                                        </p:tav>
                                        <p:tav tm="100000">
                                          <p:val>
                                            <p:strVal val="#ppt_x"/>
                                          </p:val>
                                        </p:tav>
                                      </p:tavLst>
                                    </p:anim>
                                    <p:anim calcmode="lin" valueType="num">
                                      <p:cBhvr additive="base">
                                        <p:cTn id="74" dur="500" fill="hold"/>
                                        <p:tgtEl>
                                          <p:spTgt spid="45"/>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 calcmode="lin" valueType="num">
                                      <p:cBhvr additive="base">
                                        <p:cTn id="77" dur="500" fill="hold"/>
                                        <p:tgtEl>
                                          <p:spTgt spid="37"/>
                                        </p:tgtEl>
                                        <p:attrNameLst>
                                          <p:attrName>ppt_x</p:attrName>
                                        </p:attrNameLst>
                                      </p:cBhvr>
                                      <p:tavLst>
                                        <p:tav tm="0">
                                          <p:val>
                                            <p:strVal val="#ppt_x"/>
                                          </p:val>
                                        </p:tav>
                                        <p:tav tm="100000">
                                          <p:val>
                                            <p:strVal val="#ppt_x"/>
                                          </p:val>
                                        </p:tav>
                                      </p:tavLst>
                                    </p:anim>
                                    <p:anim calcmode="lin" valueType="num">
                                      <p:cBhvr additive="base">
                                        <p:cTn id="7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7" grpId="0"/>
      <p:bldP spid="38" grpId="0" animBg="1"/>
      <p:bldP spid="39" grpId="0" animBg="1"/>
      <p:bldP spid="40" grpId="0" animBg="1"/>
      <p:bldP spid="4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C2E2C-FE04-E3F8-B8AA-50762A95894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A43217-E728-83F0-1A2D-36544F900389}"/>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1721EE94-A89E-B6AF-ED8F-C008F0A339A3}"/>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30A7BB07-E7C1-6A4B-400D-354DCFA9092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Prompting Essentials</a:t>
            </a:r>
          </a:p>
        </p:txBody>
      </p:sp>
      <p:sp>
        <p:nvSpPr>
          <p:cNvPr id="9" name="TextBox 8">
            <a:extLst>
              <a:ext uri="{FF2B5EF4-FFF2-40B4-BE49-F238E27FC236}">
                <a16:creationId xmlns:a16="http://schemas.microsoft.com/office/drawing/2014/main" id="{00A01F1F-FBAF-2487-4897-3A7668F989B4}"/>
              </a:ext>
            </a:extLst>
          </p:cNvPr>
          <p:cNvSpPr txBox="1"/>
          <p:nvPr/>
        </p:nvSpPr>
        <p:spPr>
          <a:xfrm rot="5400000">
            <a:off x="9505627" y="3450945"/>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2" name="Diagram 1">
            <a:extLst>
              <a:ext uri="{FF2B5EF4-FFF2-40B4-BE49-F238E27FC236}">
                <a16:creationId xmlns:a16="http://schemas.microsoft.com/office/drawing/2014/main" id="{BDB2E059-44E8-0568-E24E-877B7B8393BD}"/>
              </a:ext>
            </a:extLst>
          </p:cNvPr>
          <p:cNvGraphicFramePr/>
          <p:nvPr>
            <p:extLst>
              <p:ext uri="{D42A27DB-BD31-4B8C-83A1-F6EECF244321}">
                <p14:modId xmlns:p14="http://schemas.microsoft.com/office/powerpoint/2010/main" val="4025131035"/>
              </p:ext>
            </p:extLst>
          </p:nvPr>
        </p:nvGraphicFramePr>
        <p:xfrm>
          <a:off x="55549" y="474092"/>
          <a:ext cx="12080902" cy="56050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75135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graphicEl>
                                              <a:dgm id="{C990541E-9525-4B2C-8234-06662E7CEDC6}"/>
                                            </p:graphicEl>
                                          </p:spTgt>
                                        </p:tgtEl>
                                        <p:attrNameLst>
                                          <p:attrName>style.visibility</p:attrName>
                                        </p:attrNameLst>
                                      </p:cBhvr>
                                      <p:to>
                                        <p:strVal val="visible"/>
                                      </p:to>
                                    </p:set>
                                    <p:animEffect transition="in" filter="fade">
                                      <p:cBhvr>
                                        <p:cTn id="7" dur="500"/>
                                        <p:tgtEl>
                                          <p:spTgt spid="2">
                                            <p:graphicEl>
                                              <a:dgm id="{C990541E-9525-4B2C-8234-06662E7CEDC6}"/>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graphicEl>
                                              <a:dgm id="{657AFCB1-7251-4BA4-9D06-5F2257B5DE2A}"/>
                                            </p:graphicEl>
                                          </p:spTgt>
                                        </p:tgtEl>
                                        <p:attrNameLst>
                                          <p:attrName>style.visibility</p:attrName>
                                        </p:attrNameLst>
                                      </p:cBhvr>
                                      <p:to>
                                        <p:strVal val="visible"/>
                                      </p:to>
                                    </p:set>
                                    <p:animEffect transition="in" filter="fade">
                                      <p:cBhvr>
                                        <p:cTn id="12" dur="500"/>
                                        <p:tgtEl>
                                          <p:spTgt spid="2">
                                            <p:graphicEl>
                                              <a:dgm id="{657AFCB1-7251-4BA4-9D06-5F2257B5DE2A}"/>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graphicEl>
                                              <a:dgm id="{4992DE3B-5367-48F3-A222-767B0D598C85}"/>
                                            </p:graphicEl>
                                          </p:spTgt>
                                        </p:tgtEl>
                                        <p:attrNameLst>
                                          <p:attrName>style.visibility</p:attrName>
                                        </p:attrNameLst>
                                      </p:cBhvr>
                                      <p:to>
                                        <p:strVal val="visible"/>
                                      </p:to>
                                    </p:set>
                                    <p:animEffect transition="in" filter="fade">
                                      <p:cBhvr>
                                        <p:cTn id="17" dur="500"/>
                                        <p:tgtEl>
                                          <p:spTgt spid="2">
                                            <p:graphicEl>
                                              <a:dgm id="{4992DE3B-5367-48F3-A222-767B0D598C85}"/>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graphicEl>
                                              <a:dgm id="{319D02D5-205D-48D9-91D0-F518019683EA}"/>
                                            </p:graphicEl>
                                          </p:spTgt>
                                        </p:tgtEl>
                                        <p:attrNameLst>
                                          <p:attrName>style.visibility</p:attrName>
                                        </p:attrNameLst>
                                      </p:cBhvr>
                                      <p:to>
                                        <p:strVal val="visible"/>
                                      </p:to>
                                    </p:set>
                                    <p:animEffect transition="in" filter="fade">
                                      <p:cBhvr>
                                        <p:cTn id="22" dur="500"/>
                                        <p:tgtEl>
                                          <p:spTgt spid="2">
                                            <p:graphicEl>
                                              <a:dgm id="{319D02D5-205D-48D9-91D0-F518019683EA}"/>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graphicEl>
                                              <a:dgm id="{70B3777D-9AB4-4C20-A928-FB7A9E2B8412}"/>
                                            </p:graphicEl>
                                          </p:spTgt>
                                        </p:tgtEl>
                                        <p:attrNameLst>
                                          <p:attrName>style.visibility</p:attrName>
                                        </p:attrNameLst>
                                      </p:cBhvr>
                                      <p:to>
                                        <p:strVal val="visible"/>
                                      </p:to>
                                    </p:set>
                                    <p:animEffect transition="in" filter="fade">
                                      <p:cBhvr>
                                        <p:cTn id="27" dur="500"/>
                                        <p:tgtEl>
                                          <p:spTgt spid="2">
                                            <p:graphicEl>
                                              <a:dgm id="{70B3777D-9AB4-4C20-A928-FB7A9E2B841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graphicEl>
                                              <a:dgm id="{F9129A72-9A16-4BF9-8A53-1E4B13A9BCA3}"/>
                                            </p:graphicEl>
                                          </p:spTgt>
                                        </p:tgtEl>
                                        <p:attrNameLst>
                                          <p:attrName>style.visibility</p:attrName>
                                        </p:attrNameLst>
                                      </p:cBhvr>
                                      <p:to>
                                        <p:strVal val="visible"/>
                                      </p:to>
                                    </p:set>
                                    <p:animEffect transition="in" filter="fade">
                                      <p:cBhvr>
                                        <p:cTn id="32" dur="500"/>
                                        <p:tgtEl>
                                          <p:spTgt spid="2">
                                            <p:graphicEl>
                                              <a:dgm id="{F9129A72-9A16-4BF9-8A53-1E4B13A9BCA3}"/>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graphicEl>
                                              <a:dgm id="{6052F529-2232-4925-A816-29D992A53351}"/>
                                            </p:graphicEl>
                                          </p:spTgt>
                                        </p:tgtEl>
                                        <p:attrNameLst>
                                          <p:attrName>style.visibility</p:attrName>
                                        </p:attrNameLst>
                                      </p:cBhvr>
                                      <p:to>
                                        <p:strVal val="visible"/>
                                      </p:to>
                                    </p:set>
                                    <p:animEffect transition="in" filter="fade">
                                      <p:cBhvr>
                                        <p:cTn id="37" dur="500"/>
                                        <p:tgtEl>
                                          <p:spTgt spid="2">
                                            <p:graphicEl>
                                              <a:dgm id="{6052F529-2232-4925-A816-29D992A5335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Sub>
          <a:bldDgm bld="one"/>
        </p:bldSub>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194D2-5952-405A-2A68-9821FF5F90B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A628F88-E3BB-7197-D425-61C7EF080E44}"/>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8061B388-0C07-604F-6EE7-CDD62DECBC6A}"/>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302F81CA-ED81-97AB-4302-AD173CD0809C}"/>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Prompt Engineering Techniques: Zero-Shot Prompting</a:t>
            </a:r>
          </a:p>
        </p:txBody>
      </p:sp>
      <p:sp>
        <p:nvSpPr>
          <p:cNvPr id="9" name="TextBox 8">
            <a:extLst>
              <a:ext uri="{FF2B5EF4-FFF2-40B4-BE49-F238E27FC236}">
                <a16:creationId xmlns:a16="http://schemas.microsoft.com/office/drawing/2014/main" id="{25889F7E-5203-0721-8B20-1FB9823D3683}"/>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Text Placeholder 2">
            <a:extLst>
              <a:ext uri="{FF2B5EF4-FFF2-40B4-BE49-F238E27FC236}">
                <a16:creationId xmlns:a16="http://schemas.microsoft.com/office/drawing/2014/main" id="{8F70B963-FC2D-A549-F643-4B24C5CE41F4}"/>
              </a:ext>
            </a:extLst>
          </p:cNvPr>
          <p:cNvSpPr txBox="1">
            <a:spLocks/>
          </p:cNvSpPr>
          <p:nvPr/>
        </p:nvSpPr>
        <p:spPr>
          <a:xfrm>
            <a:off x="192213" y="821544"/>
            <a:ext cx="11840155" cy="1656067"/>
          </a:xfrm>
          <a:prstGeom prst="rect">
            <a:avLst/>
          </a:prstGeom>
        </p:spPr>
        <p:txBody>
          <a:bodyPr vert="horz" lIns="60960" tIns="30480" rIns="60960" bIns="30480" rtlCol="0">
            <a:noAutofit/>
          </a:bodyPr>
          <a:lstStyle>
            <a:defPPr>
              <a:defRPr lang="en-US"/>
            </a:defPPr>
            <a:lvl1pPr marL="342900" indent="-342900" defTabSz="914446">
              <a:lnSpc>
                <a:spcPct val="120000"/>
              </a:lnSpc>
              <a:spcBef>
                <a:spcPts val="1000"/>
              </a:spcBef>
              <a:spcAft>
                <a:spcPts val="333"/>
              </a:spcAft>
              <a:buClr>
                <a:srgbClr val="11CCDD"/>
              </a:buClr>
              <a:buFont typeface="Arial" panose="020B0604020202020204" pitchFamily="34" charset="0"/>
              <a:buChar char="•"/>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1pPr>
            <a:lvl2pPr marL="800140" lvl="1" indent="-342917" defTabSz="914446">
              <a:lnSpc>
                <a:spcPct val="120000"/>
              </a:lnSpc>
              <a:spcBef>
                <a:spcPts val="1000"/>
              </a:spcBef>
              <a:spcAft>
                <a:spcPts val="333"/>
              </a:spcAft>
              <a:buFont typeface="+mj-lt"/>
              <a:buAutoNum type="arabicPeriod"/>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dirty="0"/>
              <a:t>Zero-shot prompting refers to the ability of a generative AI model to generate responses without being provided with any prior examples.</a:t>
            </a:r>
          </a:p>
          <a:p>
            <a:r>
              <a:rPr lang="en-US" sz="1800" dirty="0"/>
              <a:t>The model relies on its broad general knowledge learned from its training data to complete the task. </a:t>
            </a:r>
          </a:p>
        </p:txBody>
      </p:sp>
      <p:sp>
        <p:nvSpPr>
          <p:cNvPr id="3" name="TextBox 2">
            <a:extLst>
              <a:ext uri="{FF2B5EF4-FFF2-40B4-BE49-F238E27FC236}">
                <a16:creationId xmlns:a16="http://schemas.microsoft.com/office/drawing/2014/main" id="{78BBCD39-729B-3442-716D-DDF2773AC26C}"/>
              </a:ext>
            </a:extLst>
          </p:cNvPr>
          <p:cNvSpPr txBox="1"/>
          <p:nvPr/>
        </p:nvSpPr>
        <p:spPr>
          <a:xfrm>
            <a:off x="229677" y="2581475"/>
            <a:ext cx="4566541" cy="2308324"/>
          </a:xfrm>
          <a:prstGeom prst="rect">
            <a:avLst/>
          </a:prstGeom>
          <a:noFill/>
        </p:spPr>
        <p:txBody>
          <a:bodyPr wrap="square">
            <a:spAutoFit/>
          </a:bodyPr>
          <a:lstStyle/>
          <a:p>
            <a:pPr defTabSz="914446"/>
            <a:r>
              <a:rPr lang="en-US" b="1" dirty="0">
                <a:solidFill>
                  <a:srgbClr val="0C1752"/>
                </a:solidFill>
                <a:latin typeface="Montserrat" panose="00000500000000000000" pitchFamily="2" charset="0"/>
              </a:rPr>
              <a:t>User prompt:</a:t>
            </a:r>
            <a:r>
              <a:rPr lang="en-US" dirty="0">
                <a:solidFill>
                  <a:srgbClr val="0C1752"/>
                </a:solidFill>
                <a:latin typeface="Montserrat" panose="00000500000000000000" pitchFamily="2" charset="0"/>
              </a:rPr>
              <a:t> </a:t>
            </a:r>
          </a:p>
          <a:p>
            <a:pPr defTabSz="914446"/>
            <a:r>
              <a:rPr lang="en-US" i="1" dirty="0">
                <a:solidFill>
                  <a:srgbClr val="0C1752"/>
                </a:solidFill>
                <a:latin typeface="Montserrat" panose="00000500000000000000" pitchFamily="2" charset="0"/>
              </a:rPr>
              <a:t>“Tell me the sentiment of the following headline and categorize it as either positive, negative or neutral: </a:t>
            </a:r>
          </a:p>
          <a:p>
            <a:pPr defTabSz="914446"/>
            <a:endParaRPr lang="en-US" i="1" dirty="0">
              <a:solidFill>
                <a:srgbClr val="0C1752"/>
              </a:solidFill>
              <a:latin typeface="Montserrat" panose="00000500000000000000" pitchFamily="2" charset="0"/>
            </a:endParaRPr>
          </a:p>
          <a:p>
            <a:pPr defTabSz="914446"/>
            <a:r>
              <a:rPr lang="en-US" i="1" dirty="0">
                <a:solidFill>
                  <a:srgbClr val="0C1752"/>
                </a:solidFill>
                <a:latin typeface="Montserrat" panose="00000500000000000000" pitchFamily="2" charset="0"/>
              </a:rPr>
              <a:t>New airline between Seattle and San Francisco offers a great opportunity for both passengers and investors.”</a:t>
            </a:r>
            <a:endParaRPr lang="en-US" dirty="0">
              <a:solidFill>
                <a:srgbClr val="0C1752"/>
              </a:solidFill>
              <a:latin typeface="Montserrat" panose="00000500000000000000" pitchFamily="2" charset="0"/>
            </a:endParaRPr>
          </a:p>
        </p:txBody>
      </p:sp>
      <p:sp>
        <p:nvSpPr>
          <p:cNvPr id="4" name="Rectangle: Rounded Corners 3">
            <a:extLst>
              <a:ext uri="{FF2B5EF4-FFF2-40B4-BE49-F238E27FC236}">
                <a16:creationId xmlns:a16="http://schemas.microsoft.com/office/drawing/2014/main" id="{3351059D-1571-B7B5-6E00-21740757C332}"/>
              </a:ext>
            </a:extLst>
          </p:cNvPr>
          <p:cNvSpPr/>
          <p:nvPr/>
        </p:nvSpPr>
        <p:spPr>
          <a:xfrm>
            <a:off x="5805555" y="3343652"/>
            <a:ext cx="2073713" cy="771331"/>
          </a:xfrm>
          <a:prstGeom prst="roundRect">
            <a:avLst/>
          </a:prstGeom>
          <a:solidFill>
            <a:srgbClr val="D56E48"/>
          </a:solidFill>
          <a:ln>
            <a:solidFill>
              <a:srgbClr val="D56E48"/>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r>
              <a:rPr lang="en-US" b="1" dirty="0">
                <a:solidFill>
                  <a:srgbClr val="FFFFFF"/>
                </a:solidFill>
                <a:latin typeface="Montserrat" panose="00000500000000000000" pitchFamily="2" charset="0"/>
              </a:rPr>
              <a:t>Generative AI model </a:t>
            </a:r>
          </a:p>
        </p:txBody>
      </p:sp>
      <p:cxnSp>
        <p:nvCxnSpPr>
          <p:cNvPr id="8" name="Straight Arrow Connector 7">
            <a:extLst>
              <a:ext uri="{FF2B5EF4-FFF2-40B4-BE49-F238E27FC236}">
                <a16:creationId xmlns:a16="http://schemas.microsoft.com/office/drawing/2014/main" id="{6E2B6A8C-33C0-BA9C-0651-43A37D802FAF}"/>
              </a:ext>
            </a:extLst>
          </p:cNvPr>
          <p:cNvCxnSpPr>
            <a:cxnSpLocks/>
          </p:cNvCxnSpPr>
          <p:nvPr/>
        </p:nvCxnSpPr>
        <p:spPr>
          <a:xfrm>
            <a:off x="4984461" y="3729317"/>
            <a:ext cx="6904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BB1FD4C-C843-BE2F-F6B9-8DBFC0179D63}"/>
              </a:ext>
            </a:extLst>
          </p:cNvPr>
          <p:cNvCxnSpPr>
            <a:cxnSpLocks/>
          </p:cNvCxnSpPr>
          <p:nvPr/>
        </p:nvCxnSpPr>
        <p:spPr>
          <a:xfrm>
            <a:off x="8038051" y="3701623"/>
            <a:ext cx="6904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46FC2E8-F1B2-2CA9-6A40-1CEC62240C28}"/>
              </a:ext>
            </a:extLst>
          </p:cNvPr>
          <p:cNvSpPr txBox="1"/>
          <p:nvPr/>
        </p:nvSpPr>
        <p:spPr>
          <a:xfrm>
            <a:off x="8887299" y="3378458"/>
            <a:ext cx="1461277" cy="646331"/>
          </a:xfrm>
          <a:prstGeom prst="rect">
            <a:avLst/>
          </a:prstGeom>
          <a:noFill/>
        </p:spPr>
        <p:txBody>
          <a:bodyPr wrap="square">
            <a:spAutoFit/>
          </a:bodyPr>
          <a:lstStyle>
            <a:defPPr>
              <a:defRPr lang="en-US"/>
            </a:defPPr>
            <a:lvl1pPr>
              <a:defRPr b="1" i="0">
                <a:solidFill>
                  <a:srgbClr val="16191F"/>
                </a:solidFill>
                <a:effectLst/>
                <a:latin typeface="Montserrat" panose="00000500000000000000" pitchFamily="2" charset="0"/>
              </a:defRPr>
            </a:lvl1pPr>
          </a:lstStyle>
          <a:p>
            <a:pPr defTabSz="914446"/>
            <a:r>
              <a:rPr lang="en-US" dirty="0">
                <a:solidFill>
                  <a:srgbClr val="0C1752"/>
                </a:solidFill>
              </a:rPr>
              <a:t>Output: </a:t>
            </a:r>
          </a:p>
          <a:p>
            <a:pPr defTabSz="914446"/>
            <a:r>
              <a:rPr lang="en-US" b="0" dirty="0">
                <a:solidFill>
                  <a:srgbClr val="0C1752"/>
                </a:solidFill>
              </a:rPr>
              <a:t>Positive</a:t>
            </a:r>
          </a:p>
        </p:txBody>
      </p:sp>
      <p:pic>
        <p:nvPicPr>
          <p:cNvPr id="12" name="Picture 4" descr="ChatGPT Logo and symbol, meaning, history, PNG, brand">
            <a:extLst>
              <a:ext uri="{FF2B5EF4-FFF2-40B4-BE49-F238E27FC236}">
                <a16:creationId xmlns:a16="http://schemas.microsoft.com/office/drawing/2014/main" id="{24C2DFF3-7C38-90C0-0A90-0A2F650C45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4453" y="2336220"/>
            <a:ext cx="1466086" cy="824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01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85B9B-C69E-EC81-21F0-BD6F14E1C8F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8BA4C29-8FD4-9752-13F1-D2FE9F0111F4}"/>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D1E6E1FD-6E83-567E-6663-3FB84CE5B528}"/>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46ADABE-386B-C801-2305-AE4B91CFC52E}"/>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Prompt Engineering Techniques: Few-Shot Prompting</a:t>
            </a:r>
          </a:p>
        </p:txBody>
      </p:sp>
      <p:sp>
        <p:nvSpPr>
          <p:cNvPr id="9" name="TextBox 8">
            <a:extLst>
              <a:ext uri="{FF2B5EF4-FFF2-40B4-BE49-F238E27FC236}">
                <a16:creationId xmlns:a16="http://schemas.microsoft.com/office/drawing/2014/main" id="{6E4BA370-2D50-4936-695E-502493768142}"/>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Text Placeholder 2">
            <a:extLst>
              <a:ext uri="{FF2B5EF4-FFF2-40B4-BE49-F238E27FC236}">
                <a16:creationId xmlns:a16="http://schemas.microsoft.com/office/drawing/2014/main" id="{F8BD57C7-BF25-88B8-F523-FAD0CE3B2B88}"/>
              </a:ext>
            </a:extLst>
          </p:cNvPr>
          <p:cNvSpPr txBox="1">
            <a:spLocks/>
          </p:cNvSpPr>
          <p:nvPr/>
        </p:nvSpPr>
        <p:spPr>
          <a:xfrm>
            <a:off x="177495" y="728764"/>
            <a:ext cx="11355493" cy="1656067"/>
          </a:xfrm>
          <a:prstGeom prst="rect">
            <a:avLst/>
          </a:prstGeom>
        </p:spPr>
        <p:txBody>
          <a:bodyPr vert="horz" lIns="60960" tIns="30480" rIns="60960" bIns="30480" rtlCol="0">
            <a:noAutofit/>
          </a:bodyPr>
          <a:lstStyle>
            <a:defPPr>
              <a:defRPr lang="en-US"/>
            </a:defPPr>
            <a:lvl1pPr marL="342900" indent="-342900" defTabSz="914446">
              <a:lnSpc>
                <a:spcPct val="120000"/>
              </a:lnSpc>
              <a:spcBef>
                <a:spcPts val="1000"/>
              </a:spcBef>
              <a:spcAft>
                <a:spcPts val="333"/>
              </a:spcAft>
              <a:buClr>
                <a:srgbClr val="11CCDD"/>
              </a:buClr>
              <a:buFont typeface="Arial" panose="020B0604020202020204" pitchFamily="34" charset="0"/>
              <a:buChar char="•"/>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1pPr>
            <a:lvl2pPr marL="800140" lvl="1" indent="-342917" defTabSz="914446">
              <a:lnSpc>
                <a:spcPct val="120000"/>
              </a:lnSpc>
              <a:spcBef>
                <a:spcPts val="1000"/>
              </a:spcBef>
              <a:spcAft>
                <a:spcPts val="333"/>
              </a:spcAft>
              <a:buFont typeface="+mj-lt"/>
              <a:buAutoNum type="arabicPeriod"/>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dirty="0"/>
              <a:t>Few-shot prompting (in-context learning) involves providing a few example pairs of input and desired output to the generative AI model to guide its responses. </a:t>
            </a:r>
          </a:p>
        </p:txBody>
      </p:sp>
      <p:sp>
        <p:nvSpPr>
          <p:cNvPr id="10" name="TextBox 9">
            <a:extLst>
              <a:ext uri="{FF2B5EF4-FFF2-40B4-BE49-F238E27FC236}">
                <a16:creationId xmlns:a16="http://schemas.microsoft.com/office/drawing/2014/main" id="{0DB7FFA6-A895-BA82-E61B-0EB1C652997B}"/>
              </a:ext>
            </a:extLst>
          </p:cNvPr>
          <p:cNvSpPr txBox="1"/>
          <p:nvPr/>
        </p:nvSpPr>
        <p:spPr>
          <a:xfrm>
            <a:off x="9173460" y="3091928"/>
            <a:ext cx="1461277" cy="646331"/>
          </a:xfrm>
          <a:prstGeom prst="rect">
            <a:avLst/>
          </a:prstGeom>
          <a:noFill/>
        </p:spPr>
        <p:txBody>
          <a:bodyPr wrap="square">
            <a:spAutoFit/>
          </a:bodyPr>
          <a:lstStyle>
            <a:defPPr>
              <a:defRPr lang="en-US"/>
            </a:defPPr>
            <a:lvl1pPr>
              <a:defRPr b="1" i="0">
                <a:solidFill>
                  <a:srgbClr val="16191F"/>
                </a:solidFill>
                <a:effectLst/>
                <a:latin typeface="Montserrat" panose="00000500000000000000" pitchFamily="2" charset="0"/>
              </a:defRPr>
            </a:lvl1pPr>
          </a:lstStyle>
          <a:p>
            <a:pPr defTabSz="914446"/>
            <a:r>
              <a:rPr lang="en-US" dirty="0">
                <a:solidFill>
                  <a:srgbClr val="0C1752"/>
                </a:solidFill>
              </a:rPr>
              <a:t>Output: </a:t>
            </a:r>
          </a:p>
          <a:p>
            <a:pPr defTabSz="914446"/>
            <a:r>
              <a:rPr lang="en-US" b="0" dirty="0">
                <a:solidFill>
                  <a:srgbClr val="0C1752"/>
                </a:solidFill>
              </a:rPr>
              <a:t>Positive</a:t>
            </a:r>
          </a:p>
        </p:txBody>
      </p:sp>
      <p:sp>
        <p:nvSpPr>
          <p:cNvPr id="12" name="TextBox 11">
            <a:extLst>
              <a:ext uri="{FF2B5EF4-FFF2-40B4-BE49-F238E27FC236}">
                <a16:creationId xmlns:a16="http://schemas.microsoft.com/office/drawing/2014/main" id="{A214E518-8894-ADB7-7FFB-8721EC4CFE2A}"/>
              </a:ext>
            </a:extLst>
          </p:cNvPr>
          <p:cNvSpPr txBox="1"/>
          <p:nvPr/>
        </p:nvSpPr>
        <p:spPr>
          <a:xfrm>
            <a:off x="573413" y="1743451"/>
            <a:ext cx="5582573" cy="3693319"/>
          </a:xfrm>
          <a:prstGeom prst="rect">
            <a:avLst/>
          </a:prstGeom>
          <a:noFill/>
        </p:spPr>
        <p:txBody>
          <a:bodyPr wrap="square">
            <a:spAutoFit/>
          </a:bodyPr>
          <a:lstStyle>
            <a:defPPr>
              <a:defRPr lang="en-US"/>
            </a:defPPr>
            <a:lvl1pPr>
              <a:defRPr b="1" i="0">
                <a:solidFill>
                  <a:srgbClr val="16191F"/>
                </a:solidFill>
                <a:effectLst/>
                <a:latin typeface="Montserrat" panose="00000500000000000000" pitchFamily="2" charset="0"/>
              </a:defRPr>
            </a:lvl1pPr>
          </a:lstStyle>
          <a:p>
            <a:pPr defTabSz="914446"/>
            <a:r>
              <a:rPr lang="en-US" dirty="0">
                <a:solidFill>
                  <a:srgbClr val="0C1752"/>
                </a:solidFill>
              </a:rPr>
              <a:t>User prompt: </a:t>
            </a:r>
          </a:p>
          <a:p>
            <a:pPr defTabSz="914446"/>
            <a:r>
              <a:rPr lang="en-US" b="0" i="1" dirty="0">
                <a:solidFill>
                  <a:srgbClr val="0C1752"/>
                </a:solidFill>
              </a:rPr>
              <a:t>“Tell me the sentiment of the following. Here are some examples: </a:t>
            </a:r>
          </a:p>
          <a:p>
            <a:pPr defTabSz="914446"/>
            <a:endParaRPr lang="en-US" b="0" i="1" dirty="0">
              <a:solidFill>
                <a:srgbClr val="0C1752"/>
              </a:solidFill>
            </a:endParaRPr>
          </a:p>
          <a:p>
            <a:pPr defTabSz="914446"/>
            <a:r>
              <a:rPr lang="en-US" b="0" i="1" dirty="0">
                <a:solidFill>
                  <a:srgbClr val="0C1752"/>
                </a:solidFill>
              </a:rPr>
              <a:t>Apple stock declined 2% today</a:t>
            </a:r>
          </a:p>
          <a:p>
            <a:pPr defTabSz="914446"/>
            <a:r>
              <a:rPr lang="en-US" b="0" i="1" dirty="0">
                <a:solidFill>
                  <a:srgbClr val="0C1752"/>
                </a:solidFill>
              </a:rPr>
              <a:t>Answer: Negative </a:t>
            </a:r>
          </a:p>
          <a:p>
            <a:pPr defTabSz="914446"/>
            <a:endParaRPr lang="en-US" b="0" i="1" dirty="0">
              <a:solidFill>
                <a:srgbClr val="0C1752"/>
              </a:solidFill>
            </a:endParaRPr>
          </a:p>
          <a:p>
            <a:pPr defTabSz="914446"/>
            <a:r>
              <a:rPr lang="en-US" b="0" i="1" dirty="0">
                <a:solidFill>
                  <a:srgbClr val="0C1752"/>
                </a:solidFill>
              </a:rPr>
              <a:t>Tesla stock gained 5% after successful self-driving demo</a:t>
            </a:r>
          </a:p>
          <a:p>
            <a:pPr defTabSz="914446"/>
            <a:r>
              <a:rPr lang="en-US" b="0" i="1" dirty="0">
                <a:solidFill>
                  <a:srgbClr val="0C1752"/>
                </a:solidFill>
              </a:rPr>
              <a:t>Answer: Positive </a:t>
            </a:r>
          </a:p>
          <a:p>
            <a:pPr defTabSz="914446"/>
            <a:endParaRPr lang="en-US" b="0" i="1" dirty="0">
              <a:solidFill>
                <a:srgbClr val="0C1752"/>
              </a:solidFill>
            </a:endParaRPr>
          </a:p>
          <a:p>
            <a:pPr defTabSz="914446"/>
            <a:r>
              <a:rPr lang="en-US" b="0" i="1" dirty="0">
                <a:solidFill>
                  <a:srgbClr val="0C1752"/>
                </a:solidFill>
              </a:rPr>
              <a:t>OpenAI expanded its userbase to 100 million</a:t>
            </a:r>
          </a:p>
          <a:p>
            <a:pPr defTabSz="914446"/>
            <a:r>
              <a:rPr lang="en-US" b="0" i="1" dirty="0">
                <a:solidFill>
                  <a:srgbClr val="0C1752"/>
                </a:solidFill>
              </a:rPr>
              <a:t>Answer:”</a:t>
            </a:r>
          </a:p>
        </p:txBody>
      </p:sp>
      <p:sp>
        <p:nvSpPr>
          <p:cNvPr id="13" name="Rectangle: Rounded Corners 12">
            <a:extLst>
              <a:ext uri="{FF2B5EF4-FFF2-40B4-BE49-F238E27FC236}">
                <a16:creationId xmlns:a16="http://schemas.microsoft.com/office/drawing/2014/main" id="{4480CDF9-B37F-5615-2098-0FB8D8BB33FC}"/>
              </a:ext>
            </a:extLst>
          </p:cNvPr>
          <p:cNvSpPr/>
          <p:nvPr/>
        </p:nvSpPr>
        <p:spPr>
          <a:xfrm>
            <a:off x="5985871" y="3043334"/>
            <a:ext cx="2073713" cy="771331"/>
          </a:xfrm>
          <a:prstGeom prst="roundRect">
            <a:avLst/>
          </a:prstGeom>
          <a:solidFill>
            <a:srgbClr val="D56E48"/>
          </a:solidFill>
          <a:ln>
            <a:solidFill>
              <a:srgbClr val="D56E48"/>
            </a:solid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r>
              <a:rPr lang="en-US" b="1" dirty="0">
                <a:solidFill>
                  <a:srgbClr val="FFFFFF"/>
                </a:solidFill>
                <a:latin typeface="Montserrat" panose="00000500000000000000" pitchFamily="2" charset="0"/>
              </a:rPr>
              <a:t>Generative AI model </a:t>
            </a:r>
          </a:p>
        </p:txBody>
      </p:sp>
      <p:cxnSp>
        <p:nvCxnSpPr>
          <p:cNvPr id="14" name="Straight Arrow Connector 13">
            <a:extLst>
              <a:ext uri="{FF2B5EF4-FFF2-40B4-BE49-F238E27FC236}">
                <a16:creationId xmlns:a16="http://schemas.microsoft.com/office/drawing/2014/main" id="{72DE06DB-19F2-9724-8B06-2A0B502B62EA}"/>
              </a:ext>
            </a:extLst>
          </p:cNvPr>
          <p:cNvCxnSpPr>
            <a:cxnSpLocks/>
          </p:cNvCxnSpPr>
          <p:nvPr/>
        </p:nvCxnSpPr>
        <p:spPr>
          <a:xfrm>
            <a:off x="5164777" y="3428999"/>
            <a:ext cx="6904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8696446-02BD-E5AF-C94A-C280697C3E97}"/>
              </a:ext>
            </a:extLst>
          </p:cNvPr>
          <p:cNvCxnSpPr>
            <a:cxnSpLocks/>
          </p:cNvCxnSpPr>
          <p:nvPr/>
        </p:nvCxnSpPr>
        <p:spPr>
          <a:xfrm>
            <a:off x="8218367" y="3401305"/>
            <a:ext cx="690465"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4" descr="ChatGPT Logo and symbol, meaning, history, PNG, brand">
            <a:extLst>
              <a:ext uri="{FF2B5EF4-FFF2-40B4-BE49-F238E27FC236}">
                <a16:creationId xmlns:a16="http://schemas.microsoft.com/office/drawing/2014/main" id="{5330302F-9DFA-0296-58FB-AD5DBF89DD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4769" y="2035902"/>
            <a:ext cx="1466086" cy="824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5711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392DA-C36F-C8F9-9CB9-7DDC62745E0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706B050-BF30-BC5C-6469-2F7DA84AB1C6}"/>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DF9CEF9D-70DA-43B9-85CB-3E96A9EF819C}"/>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31495ACA-26D1-3853-51A3-9BAD879B86B9}"/>
              </a:ext>
            </a:extLst>
          </p:cNvPr>
          <p:cNvSpPr/>
          <p:nvPr/>
        </p:nvSpPr>
        <p:spPr>
          <a:xfrm>
            <a:off x="154721" y="90489"/>
            <a:ext cx="10389815"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Prompt Engineering Techniques: Chain-of-Thought</a:t>
            </a:r>
          </a:p>
        </p:txBody>
      </p:sp>
      <p:sp>
        <p:nvSpPr>
          <p:cNvPr id="9" name="TextBox 8">
            <a:extLst>
              <a:ext uri="{FF2B5EF4-FFF2-40B4-BE49-F238E27FC236}">
                <a16:creationId xmlns:a16="http://schemas.microsoft.com/office/drawing/2014/main" id="{5497DFF2-67A1-1ED8-7FCE-A63A757349F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Text Placeholder 2">
            <a:extLst>
              <a:ext uri="{FF2B5EF4-FFF2-40B4-BE49-F238E27FC236}">
                <a16:creationId xmlns:a16="http://schemas.microsoft.com/office/drawing/2014/main" id="{A252E9F1-26E6-DA5A-75BA-8CA39DACA1E9}"/>
              </a:ext>
            </a:extLst>
          </p:cNvPr>
          <p:cNvSpPr txBox="1">
            <a:spLocks/>
          </p:cNvSpPr>
          <p:nvPr/>
        </p:nvSpPr>
        <p:spPr>
          <a:xfrm>
            <a:off x="154721" y="915489"/>
            <a:ext cx="11622456" cy="1656067"/>
          </a:xfrm>
          <a:prstGeom prst="rect">
            <a:avLst/>
          </a:prstGeom>
        </p:spPr>
        <p:txBody>
          <a:bodyPr vert="horz" lIns="60960" tIns="30480" rIns="60960" bIns="30480" rtlCol="0">
            <a:noAutofit/>
          </a:bodyPr>
          <a:lstStyle>
            <a:defPPr>
              <a:defRPr lang="en-US"/>
            </a:defPPr>
            <a:lvl1pPr marL="342900" indent="-342900" defTabSz="914446">
              <a:lnSpc>
                <a:spcPct val="120000"/>
              </a:lnSpc>
              <a:spcBef>
                <a:spcPts val="1000"/>
              </a:spcBef>
              <a:spcAft>
                <a:spcPts val="333"/>
              </a:spcAft>
              <a:buClr>
                <a:srgbClr val="11CCDD"/>
              </a:buClr>
              <a:buFont typeface="Arial" panose="020B0604020202020204" pitchFamily="34" charset="0"/>
              <a:buChar char="•"/>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1pPr>
            <a:lvl2pPr marL="800140" lvl="1" indent="-342917" defTabSz="914446">
              <a:lnSpc>
                <a:spcPct val="120000"/>
              </a:lnSpc>
              <a:spcBef>
                <a:spcPts val="1000"/>
              </a:spcBef>
              <a:spcAft>
                <a:spcPts val="333"/>
              </a:spcAft>
              <a:buFont typeface="+mj-lt"/>
              <a:buAutoNum type="arabicPeriod"/>
              <a:defRPr sz="2000">
                <a:solidFill>
                  <a:srgbClr val="000000"/>
                </a:solidFill>
                <a:latin typeface="Montserrat" panose="00000500000000000000" pitchFamily="2" charset="0"/>
                <a:ea typeface="Tahoma" panose="020B0604030504040204" pitchFamily="34" charset="0"/>
                <a:cs typeface="Tahoma" panose="020B0604030504040204" pitchFamily="34" charset="0"/>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t>Chain-of-thought prompting is a technique that improves the reasoning abilities of AI  models by breaking down complex questions or tasks into smaller manageable steps. </a:t>
            </a:r>
          </a:p>
          <a:p>
            <a:r>
              <a:rPr lang="en-US" sz="1600" dirty="0"/>
              <a:t>It mimics how humans' reason and solve problems by systematically breaking down the decision-making process.</a:t>
            </a:r>
          </a:p>
        </p:txBody>
      </p:sp>
      <p:pic>
        <p:nvPicPr>
          <p:cNvPr id="3" name="Picture 2">
            <a:extLst>
              <a:ext uri="{FF2B5EF4-FFF2-40B4-BE49-F238E27FC236}">
                <a16:creationId xmlns:a16="http://schemas.microsoft.com/office/drawing/2014/main" id="{AEF272F2-BE06-B8FE-BACC-114351C8123A}"/>
              </a:ext>
            </a:extLst>
          </p:cNvPr>
          <p:cNvPicPr>
            <a:picLocks noChangeAspect="1"/>
          </p:cNvPicPr>
          <p:nvPr/>
        </p:nvPicPr>
        <p:blipFill>
          <a:blip r:embed="rId4"/>
          <a:srcRect l="3155" t="12399" r="4292"/>
          <a:stretch/>
        </p:blipFill>
        <p:spPr>
          <a:xfrm>
            <a:off x="617090" y="3645431"/>
            <a:ext cx="5117548" cy="2269963"/>
          </a:xfrm>
          <a:prstGeom prst="rect">
            <a:avLst/>
          </a:prstGeom>
        </p:spPr>
      </p:pic>
      <p:pic>
        <p:nvPicPr>
          <p:cNvPr id="4" name="Picture 3">
            <a:extLst>
              <a:ext uri="{FF2B5EF4-FFF2-40B4-BE49-F238E27FC236}">
                <a16:creationId xmlns:a16="http://schemas.microsoft.com/office/drawing/2014/main" id="{24D4C3A0-3C15-F7E8-FBD7-7BF367A6EAD1}"/>
              </a:ext>
            </a:extLst>
          </p:cNvPr>
          <p:cNvPicPr>
            <a:picLocks noChangeAspect="1"/>
          </p:cNvPicPr>
          <p:nvPr/>
        </p:nvPicPr>
        <p:blipFill>
          <a:blip r:embed="rId5"/>
          <a:srcRect r="5468"/>
          <a:stretch/>
        </p:blipFill>
        <p:spPr>
          <a:xfrm>
            <a:off x="6157405" y="3590205"/>
            <a:ext cx="4972665" cy="2249146"/>
          </a:xfrm>
          <a:prstGeom prst="rect">
            <a:avLst/>
          </a:prstGeom>
        </p:spPr>
      </p:pic>
      <p:sp>
        <p:nvSpPr>
          <p:cNvPr id="8" name="TextBox 7">
            <a:extLst>
              <a:ext uri="{FF2B5EF4-FFF2-40B4-BE49-F238E27FC236}">
                <a16:creationId xmlns:a16="http://schemas.microsoft.com/office/drawing/2014/main" id="{83AFBAC3-2688-2E88-3385-7ED75BE80DBC}"/>
              </a:ext>
            </a:extLst>
          </p:cNvPr>
          <p:cNvSpPr txBox="1"/>
          <p:nvPr/>
        </p:nvSpPr>
        <p:spPr>
          <a:xfrm>
            <a:off x="1054051" y="3057513"/>
            <a:ext cx="3303065" cy="420564"/>
          </a:xfrm>
          <a:prstGeom prst="rect">
            <a:avLst/>
          </a:prstGeom>
          <a:noFill/>
        </p:spPr>
        <p:txBody>
          <a:bodyPr wrap="square">
            <a:spAutoFit/>
          </a:bodyPr>
          <a:lstStyle/>
          <a:p>
            <a:pPr defTabSz="914446"/>
            <a:r>
              <a:rPr lang="en-US" sz="2133" b="1" dirty="0">
                <a:solidFill>
                  <a:srgbClr val="0C1752"/>
                </a:solidFill>
                <a:latin typeface="Montserrat" panose="00000500000000000000" pitchFamily="2" charset="0"/>
              </a:rPr>
              <a:t>Standard Prompting</a:t>
            </a:r>
            <a:endParaRPr lang="en-US" sz="2133" dirty="0">
              <a:solidFill>
                <a:srgbClr val="0C1752"/>
              </a:solidFill>
              <a:latin typeface="Montserrat" panose="00000500000000000000" pitchFamily="2" charset="0"/>
            </a:endParaRPr>
          </a:p>
        </p:txBody>
      </p:sp>
      <p:sp>
        <p:nvSpPr>
          <p:cNvPr id="10" name="TextBox 9">
            <a:extLst>
              <a:ext uri="{FF2B5EF4-FFF2-40B4-BE49-F238E27FC236}">
                <a16:creationId xmlns:a16="http://schemas.microsoft.com/office/drawing/2014/main" id="{625B8907-C961-B1E4-1E9B-7664078A8B98}"/>
              </a:ext>
            </a:extLst>
          </p:cNvPr>
          <p:cNvSpPr txBox="1"/>
          <p:nvPr/>
        </p:nvSpPr>
        <p:spPr>
          <a:xfrm>
            <a:off x="6634366" y="3057513"/>
            <a:ext cx="4642733" cy="420564"/>
          </a:xfrm>
          <a:prstGeom prst="rect">
            <a:avLst/>
          </a:prstGeom>
          <a:noFill/>
        </p:spPr>
        <p:txBody>
          <a:bodyPr wrap="square">
            <a:spAutoFit/>
          </a:bodyPr>
          <a:lstStyle>
            <a:defPPr>
              <a:defRPr lang="en-US"/>
            </a:defPPr>
            <a:lvl1pPr>
              <a:defRPr sz="2800" b="1" i="0">
                <a:solidFill>
                  <a:srgbClr val="16191F"/>
                </a:solidFill>
                <a:effectLst/>
                <a:latin typeface="+mj-lt"/>
              </a:defRPr>
            </a:lvl1pPr>
          </a:lstStyle>
          <a:p>
            <a:pPr defTabSz="914446"/>
            <a:r>
              <a:rPr lang="en-US" sz="2133" dirty="0">
                <a:solidFill>
                  <a:srgbClr val="0C1752"/>
                </a:solidFill>
                <a:latin typeface="Montserrat" panose="00000500000000000000" pitchFamily="2" charset="0"/>
              </a:rPr>
              <a:t>Chain-of-thought Prompting</a:t>
            </a:r>
          </a:p>
        </p:txBody>
      </p:sp>
    </p:spTree>
    <p:extLst>
      <p:ext uri="{BB962C8B-B14F-4D97-AF65-F5344CB8AC3E}">
        <p14:creationId xmlns:p14="http://schemas.microsoft.com/office/powerpoint/2010/main" val="2990049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09FB-E671-B17D-77BB-65311A51D4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45C378-4A8E-9187-A206-DB4730F915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A225B6F-0705-62E5-DF16-79898F062A86}"/>
              </a:ext>
            </a:extLst>
          </p:cNvPr>
          <p:cNvPicPr>
            <a:picLocks noChangeAspect="1"/>
          </p:cNvPicPr>
          <p:nvPr/>
        </p:nvPicPr>
        <p:blipFill>
          <a:blip r:embed="rId2"/>
          <a:stretch>
            <a:fillRect/>
          </a:stretch>
        </p:blipFill>
        <p:spPr>
          <a:xfrm>
            <a:off x="3496990" y="1992488"/>
            <a:ext cx="5198017" cy="1436512"/>
          </a:xfrm>
          <a:prstGeom prst="rect">
            <a:avLst/>
          </a:prstGeom>
        </p:spPr>
      </p:pic>
      <p:sp>
        <p:nvSpPr>
          <p:cNvPr id="6" name="Rectangle 5">
            <a:extLst>
              <a:ext uri="{FF2B5EF4-FFF2-40B4-BE49-F238E27FC236}">
                <a16:creationId xmlns:a16="http://schemas.microsoft.com/office/drawing/2014/main" id="{AEA9FA6F-A71D-92D5-9E16-A91F986E09CE}"/>
              </a:ext>
            </a:extLst>
          </p:cNvPr>
          <p:cNvSpPr/>
          <p:nvPr/>
        </p:nvSpPr>
        <p:spPr>
          <a:xfrm>
            <a:off x="3306715" y="3495040"/>
            <a:ext cx="5578566" cy="707886"/>
          </a:xfrm>
          <a:prstGeom prst="rect">
            <a:avLst/>
          </a:prstGeom>
        </p:spPr>
        <p:txBody>
          <a:bodyPr wrap="square">
            <a:spAutoFit/>
          </a:bodyPr>
          <a:lstStyle/>
          <a:p>
            <a:pPr algn="ctr"/>
            <a:r>
              <a:rPr lang="en-US" sz="4000" dirty="0">
                <a:solidFill>
                  <a:schemeClr val="bg1"/>
                </a:solidFill>
                <a:latin typeface="Montserrat" charset="0"/>
                <a:ea typeface="Montserrat" charset="0"/>
                <a:cs typeface="Montserrat" charset="0"/>
              </a:rPr>
              <a:t>Thank you!</a:t>
            </a:r>
          </a:p>
        </p:txBody>
      </p:sp>
    </p:spTree>
    <p:extLst>
      <p:ext uri="{BB962C8B-B14F-4D97-AF65-F5344CB8AC3E}">
        <p14:creationId xmlns:p14="http://schemas.microsoft.com/office/powerpoint/2010/main" val="259615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6123</TotalTime>
  <Words>3525</Words>
  <Application>Microsoft Office PowerPoint</Application>
  <PresentationFormat>Widescreen</PresentationFormat>
  <Paragraphs>506</Paragraphs>
  <Slides>40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Calibri</vt:lpstr>
      <vt:lpstr>Calibri Light</vt:lpstr>
      <vt:lpstr>Cambria</vt:lpstr>
      <vt:lpstr>Consolas</vt:lpstr>
      <vt:lpstr>Courier New</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kukesh kodess</dc:creator>
  <cp:lastModifiedBy>Ryan Ahmed</cp:lastModifiedBy>
  <cp:revision>572</cp:revision>
  <dcterms:created xsi:type="dcterms:W3CDTF">2019-11-18T17:58:36Z</dcterms:created>
  <dcterms:modified xsi:type="dcterms:W3CDTF">2026-03-03T03:56:06Z</dcterms:modified>
</cp:coreProperties>
</file>