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2194560" cy="45720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SaaS MONTHLY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Executive Performance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</a:rPr>
              <a:t>30 months of growth, retention &amp; customer health  •  Jan-2023 – Jun-2025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Georgia"/>
              </a:rPr>
              <a:t>$14.43M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Total MRR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457200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466344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Georgia"/>
              </a:rPr>
              <a:t>+1,144%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516636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MRR growth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457200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66344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Georgia"/>
              </a:rPr>
              <a:t>75.6K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516636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Active subs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457200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466344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Georgia"/>
              </a:rPr>
              <a:t>107.9%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516636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Net Rev Retention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457200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466344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Georgia"/>
              </a:rPr>
              <a:t>41.6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516636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Avg NPS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Prepared with Claude Cowork — Data Plugin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What we analyzed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09728" cy="1280160"/>
          </a:xfrm>
          <a:prstGeom prst="rect">
            <a:avLst/>
          </a:prstGeom>
          <a:solidFill>
            <a:srgbClr val="2E6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0B2545"/>
                </a:solidFill>
                <a:latin typeface="Georgia"/>
              </a:rPr>
              <a:t>480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monthly observations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32588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325880"/>
            <a:ext cx="109728" cy="1280160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1490472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0B2545"/>
                </a:solidFill>
                <a:latin typeface="Georgia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1031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months of history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8" y="132588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8" y="1325880"/>
            <a:ext cx="109728" cy="128016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8" y="1490472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0B2545"/>
                </a:solidFill>
                <a:latin typeface="Georgia"/>
              </a:rPr>
              <a:t>4 ×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8" y="21031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regions × plan tiers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34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Fields captured each month per region × plan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3200400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282696"/>
            <a:ext cx="301752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0" y="3246120"/>
            <a:ext cx="1371600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8768" y="3282696"/>
            <a:ext cx="118872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3246120"/>
            <a:ext cx="6583680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3282696"/>
            <a:ext cx="64008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Definition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57016"/>
            <a:ext cx="32004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593592"/>
            <a:ext cx="301752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month / region / 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3557016"/>
            <a:ext cx="13716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8" y="3593592"/>
            <a:ext cx="118872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dimensions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3557016"/>
            <a:ext cx="65836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30368" y="3593592"/>
            <a:ext cx="64008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Period (Jan-23…Jun-25), market, subscription tier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867912"/>
            <a:ext cx="32004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904488"/>
            <a:ext cx="301752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new_subscribers / churned_subscribers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0" y="3867912"/>
            <a:ext cx="13716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58768" y="3904488"/>
            <a:ext cx="118872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metrics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3867912"/>
            <a:ext cx="658368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0368" y="3904488"/>
            <a:ext cx="64008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Subscriber inflows and outflows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178808"/>
            <a:ext cx="32004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215384"/>
            <a:ext cx="301752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active_subscribers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40" y="4178808"/>
            <a:ext cx="13716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58768" y="4215384"/>
            <a:ext cx="118872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metric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4178808"/>
            <a:ext cx="65836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30368" y="4215384"/>
            <a:ext cx="64008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End-of-month customer base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489704"/>
            <a:ext cx="32004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4526280"/>
            <a:ext cx="301752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arpu_usd / mrr_usd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49040" y="4489704"/>
            <a:ext cx="13716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58768" y="4526280"/>
            <a:ext cx="118872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metrics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4489704"/>
            <a:ext cx="658368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30368" y="4526280"/>
            <a:ext cx="64008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Revenue per user and total recurring revenue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800600"/>
            <a:ext cx="32004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837176"/>
            <a:ext cx="301752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net_revenue_retention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40" y="4800600"/>
            <a:ext cx="13716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58768" y="4837176"/>
            <a:ext cx="118872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metric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4800600"/>
            <a:ext cx="65836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30368" y="4837176"/>
            <a:ext cx="64008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&gt;1 indicates expansion (upsell / upgrade)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111496"/>
            <a:ext cx="32004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5148072"/>
            <a:ext cx="301752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marketing_spend_usd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40" y="5111496"/>
            <a:ext cx="13716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58768" y="5148072"/>
            <a:ext cx="118872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metric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5111496"/>
            <a:ext cx="658368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30368" y="5148072"/>
            <a:ext cx="64008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Monthly marketing spend (per region)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422392"/>
            <a:ext cx="32004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5458968"/>
            <a:ext cx="301752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support_tickets / nps_score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49040" y="5422392"/>
            <a:ext cx="13716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58768" y="5458968"/>
            <a:ext cx="118872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metrics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20640" y="5422392"/>
            <a:ext cx="65836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30368" y="5458968"/>
            <a:ext cx="64008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Operational load &amp; customer satisfaction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Quality check: 0 missing values · 0 duplicate region-plan-month rows · clean dataset.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SaaS Monthly Metrics  •  Executive Briefing  •  Jan-2023 → Jun-2025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Statistical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Mean, median, spread &amp; outliers across all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316736"/>
            <a:ext cx="25968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80160"/>
            <a:ext cx="1143000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1316736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280160"/>
            <a:ext cx="1143000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316736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280160"/>
            <a:ext cx="1143000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1316736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Std Dev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280160"/>
            <a:ext cx="960120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1316736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280160"/>
            <a:ext cx="960120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4112" y="1316736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1280160"/>
            <a:ext cx="960120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1316736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280160"/>
            <a:ext cx="1143000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74352" y="1316736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44200" y="1280160"/>
            <a:ext cx="1325880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17352" y="1316736"/>
            <a:ext cx="117957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Outliers (IQR)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1591056"/>
            <a:ext cx="27432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1627632"/>
            <a:ext cx="25968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new_subscribers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1591056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64992" y="1627632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222.7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1591056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1627632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219.0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1591056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50992" y="1627632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47.2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1591056"/>
            <a:ext cx="96012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3992" y="1627632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105.0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1591056"/>
            <a:ext cx="96012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54112" y="1627632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186.8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591056"/>
            <a:ext cx="96012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1627632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253.0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1591056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74352" y="1627632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344.0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744200" y="1591056"/>
            <a:ext cx="132588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17352" y="1627632"/>
            <a:ext cx="117957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1901952"/>
            <a:ext cx="27432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1938528"/>
            <a:ext cx="25968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churned_subscribers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1901952"/>
            <a:ext cx="1143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64992" y="1938528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90.7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34840" y="1901952"/>
            <a:ext cx="1143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07992" y="1938528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89.0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1901952"/>
            <a:ext cx="1143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50992" y="1938528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53.4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20840" y="1901952"/>
            <a:ext cx="960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93992" y="1938528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0.00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80960" y="1901952"/>
            <a:ext cx="960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54112" y="1938528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44.0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41080" y="1901952"/>
            <a:ext cx="960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14232" y="1938528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134.0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01200" y="1901952"/>
            <a:ext cx="1143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74352" y="1938528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219.0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44200" y="1901952"/>
            <a:ext cx="13258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817352" y="1938528"/>
            <a:ext cx="117957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2212848"/>
            <a:ext cx="27432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" y="2249424"/>
            <a:ext cx="25968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active_subscribers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91840" y="2212848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64992" y="2249424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2.8K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34840" y="2212848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07992" y="2249424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2.8K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77840" y="2212848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50992" y="2249424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1.3K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20840" y="2212848"/>
            <a:ext cx="96012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93992" y="2249424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173.0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80960" y="2212848"/>
            <a:ext cx="96012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54112" y="2249424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1.9K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41080" y="2212848"/>
            <a:ext cx="96012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14232" y="2249424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3.7K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01200" y="2212848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74352" y="2249424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6.5K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744200" y="2212848"/>
            <a:ext cx="132588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817352" y="2249424"/>
            <a:ext cx="117957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0B2545"/>
                </a:solidFill>
                <a:latin typeface="Calibri"/>
              </a:rPr>
              <a:t>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2523744"/>
            <a:ext cx="27432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1792" y="2560320"/>
            <a:ext cx="25968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arpu_usd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91840" y="2523744"/>
            <a:ext cx="1143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64992" y="2560320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162.0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434840" y="2523744"/>
            <a:ext cx="1143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07992" y="2560320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96.8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77840" y="2523744"/>
            <a:ext cx="1143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50992" y="2560320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154.2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20840" y="2523744"/>
            <a:ext cx="960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93992" y="2560320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26.2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80960" y="2523744"/>
            <a:ext cx="960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754112" y="2560320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50.8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641080" y="2523744"/>
            <a:ext cx="960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714232" y="2560320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208.1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01200" y="2523744"/>
            <a:ext cx="1143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674352" y="2560320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448.5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744200" y="2523744"/>
            <a:ext cx="13258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817352" y="2560320"/>
            <a:ext cx="117957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0B2545"/>
                </a:solidFill>
                <a:latin typeface="Calibri"/>
              </a:rPr>
              <a:t>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8640" y="2834640"/>
            <a:ext cx="27432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1792" y="2871216"/>
            <a:ext cx="25968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mrr_usd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91840" y="2834640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364992" y="2871216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468.1K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434840" y="2834640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07992" y="2871216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224.3K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577840" y="2834640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650992" y="2871216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581.9K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720840" y="2834640"/>
            <a:ext cx="96012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793992" y="2871216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28.1K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680960" y="2834640"/>
            <a:ext cx="96012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754112" y="2871216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100.6K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641080" y="2834640"/>
            <a:ext cx="96012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714232" y="2871216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552.3K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601200" y="2834640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674352" y="2871216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2.90M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744200" y="2834640"/>
            <a:ext cx="132588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817352" y="2871216"/>
            <a:ext cx="117957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0B2545"/>
                </a:solidFill>
                <a:latin typeface="Calibri"/>
              </a:rPr>
              <a:t>57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8640" y="3145536"/>
            <a:ext cx="27432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21792" y="3182112"/>
            <a:ext cx="25968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net_revenue_retention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291840" y="3145536"/>
            <a:ext cx="1143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364992" y="3182112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1.07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434840" y="3145536"/>
            <a:ext cx="1143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07992" y="3182112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1.07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577840" y="3145536"/>
            <a:ext cx="1143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650992" y="3182112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0.04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720840" y="3145536"/>
            <a:ext cx="960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793992" y="3182112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0.98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680960" y="3145536"/>
            <a:ext cx="960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754112" y="3182112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1.04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641080" y="3145536"/>
            <a:ext cx="960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714232" y="3182112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1.10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601200" y="3145536"/>
            <a:ext cx="1143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674352" y="3182112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1.16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744200" y="3145536"/>
            <a:ext cx="13258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817352" y="3182112"/>
            <a:ext cx="117957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48640" y="3456432"/>
            <a:ext cx="27432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21792" y="3493008"/>
            <a:ext cx="25968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marketing_spend_usd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291840" y="3456432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364992" y="3493008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45.0K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434840" y="3456432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507992" y="3493008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45.6K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577840" y="3456432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650992" y="3493008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5.8K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720840" y="3456432"/>
            <a:ext cx="96012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793992" y="3493008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33.6K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680960" y="3456432"/>
            <a:ext cx="96012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754112" y="3493008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40.7K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641080" y="3456432"/>
            <a:ext cx="96012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714232" y="3493008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49.4K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601200" y="3456432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674352" y="3493008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58.8K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744200" y="3456432"/>
            <a:ext cx="132588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817352" y="3493008"/>
            <a:ext cx="117957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48640" y="3767328"/>
            <a:ext cx="27432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21792" y="3803904"/>
            <a:ext cx="25968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support_tickets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291840" y="3767328"/>
            <a:ext cx="1143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364992" y="3803904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24.7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434840" y="3767328"/>
            <a:ext cx="1143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507992" y="3803904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24.0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577840" y="3767328"/>
            <a:ext cx="1143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650992" y="3803904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15.4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720840" y="3767328"/>
            <a:ext cx="960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793992" y="3803904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0.00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680960" y="3767328"/>
            <a:ext cx="960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754112" y="3803904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13.0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641080" y="3767328"/>
            <a:ext cx="960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714232" y="3803904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35.0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601200" y="3767328"/>
            <a:ext cx="1143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674352" y="3803904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70.0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0744200" y="3767328"/>
            <a:ext cx="13258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0817352" y="3803904"/>
            <a:ext cx="117957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0B2545"/>
                </a:solidFill>
                <a:latin typeface="Calibri"/>
              </a:rPr>
              <a:t>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48640" y="4078224"/>
            <a:ext cx="27432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21792" y="4114800"/>
            <a:ext cx="25968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nps_score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291840" y="4078224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364992" y="4114800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30.1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434840" y="4078224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507992" y="4114800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29.9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577840" y="4078224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650992" y="4114800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8.73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720840" y="4078224"/>
            <a:ext cx="96012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793992" y="4114800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9.20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680960" y="4078224"/>
            <a:ext cx="96012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754112" y="4114800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24.1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641080" y="4078224"/>
            <a:ext cx="96012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714232" y="4114800"/>
            <a:ext cx="81381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35.8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601200" y="4078224"/>
            <a:ext cx="114300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674352" y="4114800"/>
            <a:ext cx="99669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55.2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744200" y="4078224"/>
            <a:ext cx="1325880" cy="310896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817352" y="4114800"/>
            <a:ext cx="1179576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0B2545"/>
                </a:solidFill>
                <a:latin typeface="Calibri"/>
              </a:rPr>
              <a:t>1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8640" y="5212080"/>
            <a:ext cx="109728" cy="960120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777240" y="5285232"/>
            <a:ext cx="10698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Outlier interpretation (1.5 × IQR rule)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77240" y="5577840"/>
            <a:ext cx="10698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MRR shows 57 high outliers (~12% of rows) and ARPU shows 6 — both driven by Enterprise-tier records. These are expected business outliers, not data-quality issues. New/churned subscribers, NRR, marketing spend and NPS are well-bounded with at most one outlier each.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SaaS Monthly Metrics  •  Executive Briefing  •  Jan-2023 → Jun-2025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Headline KPIs · Jun-2025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Six numbers leadership should remember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69417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776472"/>
            <a:ext cx="3694176" cy="109728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314553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TOTAL MRR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3145536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0B2545"/>
                </a:solidFill>
                <a:latin typeface="Georgia"/>
              </a:rPr>
              <a:t>$14.43M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31455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F172A"/>
                </a:solidFill>
                <a:latin typeface="Calibri"/>
              </a:rPr>
              <a:t>+4.38% MoM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554480"/>
            <a:ext cx="369417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3776472"/>
            <a:ext cx="3694176" cy="109728"/>
          </a:xfrm>
          <a:prstGeom prst="rect">
            <a:avLst/>
          </a:prstGeom>
          <a:solidFill>
            <a:srgbClr val="2E6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783080"/>
            <a:ext cx="314553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MRR GROWTH SINCE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194560"/>
            <a:ext cx="3145536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0B2545"/>
                </a:solidFill>
                <a:latin typeface="Georgia"/>
              </a:rPr>
              <a:t>+1,144%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337560"/>
            <a:ext cx="31455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F172A"/>
                </a:solidFill>
                <a:latin typeface="Calibri"/>
              </a:rPr>
              <a:t>30 consecutive months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1554480"/>
            <a:ext cx="369417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6" y="3776472"/>
            <a:ext cx="3694176" cy="109728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6" y="1783080"/>
            <a:ext cx="314553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ACTIVE SUBSCRIBERS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2194560"/>
            <a:ext cx="3145536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0B2545"/>
                </a:solidFill>
                <a:latin typeface="Georgia"/>
              </a:rPr>
              <a:t>75.6K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3337560"/>
            <a:ext cx="31455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F172A"/>
                </a:solidFill>
                <a:latin typeface="Calibri"/>
              </a:rPr>
              <a:t>5.2× the Jan-2023 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50792"/>
            <a:ext cx="369417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6272784"/>
            <a:ext cx="3694176" cy="109728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79392"/>
            <a:ext cx="314553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MONTHLY CHURN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90872"/>
            <a:ext cx="3145536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0B2545"/>
                </a:solidFill>
                <a:latin typeface="Georgia"/>
              </a:rPr>
              <a:t>2.77%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33872"/>
            <a:ext cx="31455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F172A"/>
                </a:solidFill>
                <a:latin typeface="Calibri"/>
              </a:rPr>
              <a:t>Healthy for SaaS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8" y="4050792"/>
            <a:ext cx="369417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07408" y="6272784"/>
            <a:ext cx="3694176" cy="109728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4279392"/>
            <a:ext cx="314553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NET REVENUE RETENTION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4690872"/>
            <a:ext cx="3145536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0B2545"/>
                </a:solidFill>
                <a:latin typeface="Georgia"/>
              </a:rPr>
              <a:t>107.9%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5833872"/>
            <a:ext cx="31455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F172A"/>
                </a:solidFill>
                <a:latin typeface="Calibri"/>
              </a:rPr>
              <a:t>Above 1.00 → net expansion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66176" y="4050792"/>
            <a:ext cx="369417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66176" y="6272784"/>
            <a:ext cx="3694176" cy="109728"/>
          </a:xfrm>
          <a:prstGeom prst="rect">
            <a:avLst/>
          </a:prstGeom>
          <a:solidFill>
            <a:srgbClr val="2EB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0496" y="4279392"/>
            <a:ext cx="314553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AVERAGE NPS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0496" y="4690872"/>
            <a:ext cx="3145536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0B2545"/>
                </a:solidFill>
                <a:latin typeface="Georgia"/>
              </a:rPr>
              <a:t>41.6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5833872"/>
            <a:ext cx="31455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F172A"/>
                </a:solidFill>
                <a:latin typeface="Calibri"/>
              </a:rPr>
              <a:t>Trending upward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SaaS Monthly Metrics  •  Executive Briefing  •  Jan-2023 → Jun-2025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Revenue Growth: MRR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Total MRR scaled 1143.62% across 30 months</a:t>
            </a:r>
          </a:p>
        </p:txBody>
      </p:sp>
      <p:pic>
        <p:nvPicPr>
          <p:cNvPr id="6" name="Picture 5" descr="01_mrr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863840" cy="36738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0" y="1280160"/>
            <a:ext cx="3108960" cy="493776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280160"/>
            <a:ext cx="109728" cy="4937760"/>
          </a:xfrm>
          <a:prstGeom prst="rect">
            <a:avLst/>
          </a:prstGeom>
          <a:solidFill>
            <a:srgbClr val="2E6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1417320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E6FE6"/>
                </a:solidFill>
                <a:latin typeface="Calibri"/>
              </a:rPr>
              <a:t>WHAT TO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1874519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Starting MRR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130551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Georgia"/>
              </a:rPr>
              <a:t>$1.16M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651759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Latest MRR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907791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Georgia"/>
              </a:rPr>
              <a:t>$14.43M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3428999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MoM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3685031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Georgia"/>
              </a:rPr>
              <a:t>+4.38%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206239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Cumulative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462271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Georgia"/>
              </a:rPr>
              <a:t>+1143.62%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4983479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Months covered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5239511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Georgia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SaaS Monthly Metrics  •  Executive Briefing  •  Jan-2023 → Jun-2025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Where the revenue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Region and plan-tier composition over time</a:t>
            </a:r>
          </a:p>
        </p:txBody>
      </p:sp>
      <p:pic>
        <p:nvPicPr>
          <p:cNvPr id="6" name="Picture 5" descr="02_mrr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852160" cy="2722838"/>
          </a:xfrm>
          <a:prstGeom prst="rect">
            <a:avLst/>
          </a:prstGeom>
        </p:spPr>
      </p:pic>
      <p:pic>
        <p:nvPicPr>
          <p:cNvPr id="7" name="Picture 6" descr="03_mrr_by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852160" cy="27228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109728" cy="1097280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212080"/>
            <a:ext cx="10698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8640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North America leads in absolute MRR, but every region is on the same upward trajectory — growth is not concentration risk. By plan, Enterprise contributes the largest share of revenue while Basic adds breadth at the top of the funnel.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SaaS Monthly Metrics  •  Executive Briefing  •  Jan-2023 → Jun-2025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Subscriber Growth vs.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Net adds positive every month; churn rate held under 3%</a:t>
            </a:r>
          </a:p>
        </p:txBody>
      </p:sp>
      <p:pic>
        <p:nvPicPr>
          <p:cNvPr id="6" name="Picture 5" descr="05_new_vs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772400" cy="2468880"/>
          </a:xfrm>
          <a:prstGeom prst="rect">
            <a:avLst/>
          </a:prstGeom>
        </p:spPr>
      </p:pic>
      <p:pic>
        <p:nvPicPr>
          <p:cNvPr id="7" name="Picture 6" descr="04_active_subs_by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4760"/>
            <a:ext cx="7772400" cy="2468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0" y="1234440"/>
            <a:ext cx="3200400" cy="50292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95360" y="1234440"/>
            <a:ext cx="109728" cy="5029200"/>
          </a:xfrm>
          <a:prstGeom prst="rect">
            <a:avLst/>
          </a:prstGeom>
          <a:solidFill>
            <a:srgbClr val="2EB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137160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EBD85"/>
                </a:solidFill>
                <a:latin typeface="Calibri"/>
              </a:rPr>
              <a:t>RETENTION SCORECARD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178308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Georgia"/>
              </a:rPr>
              <a:t>4.3K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24028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New subscribers (latest month)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862072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Georgia"/>
              </a:rPr>
              <a:t>2.2K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3319272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Churned subscribers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941064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Georgia"/>
              </a:rPr>
              <a:t>2.77%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4398264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Monthly logo churn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5020056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Georgia"/>
              </a:rPr>
              <a:t>75.6K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5477256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Active subscribers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SaaS Monthly Metrics  •  Executive Briefing  •  Jan-2023 → Jun-2025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Revenue Quality: ARPU &amp; Net Revenue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Premium tiers drive both pricing power and expansion</a:t>
            </a:r>
          </a:p>
        </p:txBody>
      </p:sp>
      <p:pic>
        <p:nvPicPr>
          <p:cNvPr id="6" name="Picture 5" descr="06_arpu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943600" cy="3619102"/>
          </a:xfrm>
          <a:prstGeom prst="rect">
            <a:avLst/>
          </a:prstGeom>
        </p:spPr>
      </p:pic>
      <p:pic>
        <p:nvPicPr>
          <p:cNvPr id="7" name="Picture 6" descr="07_nrr_box_by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5486400" cy="28126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2E6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7784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ARPU is essentially plan-driven (≈$30 Basic → ≈$420 Enterprise) with negligible variance across regions, simplifying pricing strategy. NRR exceeds 1.10 (best-in-class) consistently for Enterprise and Business plans — clear evidence of expansion revenue.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SaaS Monthly Metrics  •  Executive Briefing  •  Jan-2023 → Jun-2025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Customer Health &amp; Marketing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NPS, support load, and where marketing spend pays off</a:t>
            </a:r>
          </a:p>
        </p:txBody>
      </p:sp>
      <p:pic>
        <p:nvPicPr>
          <p:cNvPr id="6" name="Picture 5" descr="08_np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852160" cy="3628091"/>
          </a:xfrm>
          <a:prstGeom prst="rect">
            <a:avLst/>
          </a:prstGeom>
        </p:spPr>
      </p:pic>
      <p:pic>
        <p:nvPicPr>
          <p:cNvPr id="7" name="Picture 6" descr="09_marketing_e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852160" cy="31813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7784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Higher tiers consistently report stronger NPS — premium support pays off. Marketing-spend → new-subscriber correlation is positive but weak (r ≈ 0.30): there are clear efficiency gaps between regions worth re-balancing.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SaaS Monthly Metrics  •  Executive Briefing  •  Jan-2023 → Jun-2025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Key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Five moves to compound growth from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" cy="877824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7315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3B5B1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9966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Double-down on Enterprise.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65960"/>
            <a:ext cx="9966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Highest ARPU, highest NRR (&gt;1.10), strongest NPS. Allocate more product, sales, and CS resources here — this is where every dollar compounds.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11064240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109728" cy="877824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79192"/>
            <a:ext cx="7315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3B5B1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06040"/>
            <a:ext cx="9966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Rebalance marketing spend.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26080"/>
            <a:ext cx="9966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Spend → new-subscribers correlation is weak (r ≈ 0.30). Re-allocate budget from low-yield region/plan combos to high-yield ones; introduce CAC-by-segment reporting.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11064240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109728" cy="877824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39312"/>
            <a:ext cx="7315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3B5B1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566160"/>
            <a:ext cx="9966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Invest in self-serve &amp; support.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86200"/>
            <a:ext cx="9966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Tickets correlate strongly with active subscribers — scale will create load. Invest now in self-serve content, in-product help, and a support headcount plan.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34840"/>
            <a:ext cx="11064240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434840"/>
            <a:ext cx="109728" cy="877824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99432"/>
            <a:ext cx="7315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3B5B1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26280"/>
            <a:ext cx="9966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Protect Basic tier retention.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46320"/>
            <a:ext cx="9966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Basic carries the lowest NPS and highest gross churn share. Pilot onboarding, plan-upgrade nudges, and value reinforcement to convert Basic into Pro.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94960"/>
            <a:ext cx="11064240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394960"/>
            <a:ext cx="109728" cy="877824"/>
          </a:xfrm>
          <a:prstGeom prst="rect">
            <a:avLst/>
          </a:prstGeom>
          <a:solidFill>
            <a:srgbClr val="13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59552"/>
            <a:ext cx="7315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3B5B1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486400"/>
            <a:ext cx="9966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Expand MENA &amp; APAC.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806440"/>
            <a:ext cx="9966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Both regions are growing fast off smaller bases with healthy NRR — disproportionate upside if we add localized sales and partnerships.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SaaS Monthly Metrics  •  Executive Briefing  •  Jan-2023 → Jun-2025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